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embedTrueTypeFonts="1">
  <p:sldMasterIdLst>
    <p:sldMasterId id="2147483648" r:id="rId1"/>
  </p:sldMasterIdLst>
  <p:notesMasterIdLst>
    <p:notesMasterId r:id="rId33"/>
  </p:notesMasterIdLst>
  <p:handoutMasterIdLst>
    <p:handoutMasterId r:id="rId34"/>
  </p:handoutMasterIdLst>
  <p:sldIdLst>
    <p:sldId id="257" r:id="rId2"/>
    <p:sldId id="258" r:id="rId3"/>
    <p:sldId id="259" r:id="rId4"/>
    <p:sldId id="260" r:id="rId5"/>
    <p:sldId id="261" r:id="rId6"/>
    <p:sldId id="263" r:id="rId7"/>
    <p:sldId id="264" r:id="rId8"/>
    <p:sldId id="266" r:id="rId9"/>
    <p:sldId id="267" r:id="rId10"/>
    <p:sldId id="268" r:id="rId11"/>
    <p:sldId id="269" r:id="rId12"/>
    <p:sldId id="270" r:id="rId13"/>
    <p:sldId id="271" r:id="rId14"/>
    <p:sldId id="262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4" r:id="rId26"/>
    <p:sldId id="285" r:id="rId27"/>
    <p:sldId id="286" r:id="rId28"/>
    <p:sldId id="282" r:id="rId29"/>
    <p:sldId id="283" r:id="rId30"/>
    <p:sldId id="287" r:id="rId31"/>
    <p:sldId id="288" r:id="rId32"/>
  </p:sldIdLst>
  <p:sldSz cx="9144000" cy="5143500" type="screen16x9"/>
  <p:notesSz cx="6858000" cy="9144000"/>
  <p:embeddedFontLst>
    <p:embeddedFont>
      <p:font typeface="APL385 Unicode" panose="020B0709000202000203" pitchFamily="49" charset="0"/>
      <p:regular r:id="rId35"/>
    </p:embeddedFont>
    <p:embeddedFont>
      <p:font typeface="Sarabun" panose="00000500000000000000" pitchFamily="2" charset="-34"/>
      <p:regular r:id="rId36"/>
      <p:bold r:id="rId37"/>
      <p:italic r:id="rId38"/>
      <p:boldItalic r:id="rId39"/>
    </p:embeddedFont>
    <p:embeddedFont>
      <p:font typeface="Wingdings 2" panose="05020102010507070707" pitchFamily="18" charset="2"/>
      <p:regular r:id="rId4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5A6D8F"/>
    <a:srgbClr val="3B475E"/>
    <a:srgbClr val="ED7F00"/>
    <a:srgbClr val="FDFDF5"/>
    <a:srgbClr val="F6F6D9"/>
    <a:srgbClr val="BBB5D6"/>
    <a:srgbClr val="928ABD"/>
    <a:srgbClr val="373535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71" autoAdjust="0"/>
    <p:restoredTop sz="95508" autoAdjust="0"/>
  </p:normalViewPr>
  <p:slideViewPr>
    <p:cSldViewPr snapToGrid="0">
      <p:cViewPr varScale="1">
        <p:scale>
          <a:sx n="139" d="100"/>
          <a:sy n="139" d="100"/>
        </p:scale>
        <p:origin x="738" y="11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9" d="100"/>
          <a:sy n="69" d="100"/>
        </p:scale>
        <p:origin x="2693" y="77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5.fntdata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schemas.openxmlformats.org/officeDocument/2006/relationships/font" Target="NUL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4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A6A3BD-28BD-4949-B52F-24E999822598}" type="datetimeFigureOut">
              <a:rPr lang="en-GB" smtClean="0">
                <a:latin typeface="Sarabun" panose="00000500000000000000" pitchFamily="2" charset="-34"/>
              </a:rPr>
              <a:t>20/08/2025</a:t>
            </a:fld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7370AB-76A5-41F1-9753-9FE7E667F0C0}" type="slidenum">
              <a:rPr lang="en-GB" smtClean="0">
                <a:latin typeface="Sarabun" panose="00000500000000000000" pitchFamily="2" charset="-34"/>
              </a:rPr>
              <a:t>‹#›</a:t>
            </a:fld>
            <a:endParaRPr lang="en-GB" dirty="0">
              <a:latin typeface="Sarabun" panose="00000500000000000000" pitchFamily="2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56471822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Sarabun" panose="00000500000000000000" pitchFamily="2" charset="-34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Sarabun" panose="00000500000000000000" pitchFamily="2" charset="-34"/>
              </a:defRPr>
            </a:lvl1pPr>
          </a:lstStyle>
          <a:p>
            <a:fld id="{CDEAEF8A-5BB8-41C8-B8C2-160617C17EF4}" type="datetimeFigureOut">
              <a:rPr lang="en-GB" smtClean="0"/>
              <a:pPr/>
              <a:t>20/08/2025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Sarabun" panose="00000500000000000000" pitchFamily="2" charset="-34"/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Sarabun" panose="00000500000000000000" pitchFamily="2" charset="-34"/>
              </a:defRPr>
            </a:lvl1pPr>
          </a:lstStyle>
          <a:p>
            <a:fld id="{4320660A-27FD-4528-AE7F-EC6080404EE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2133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45060" y="1688053"/>
            <a:ext cx="5073517" cy="1767394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algn="l">
              <a:lnSpc>
                <a:spcPct val="100000"/>
              </a:lnSpc>
              <a:defRPr sz="3600" b="0">
                <a:solidFill>
                  <a:srgbClr val="3B475E"/>
                </a:solidFill>
                <a:latin typeface="Sarabun" panose="00000500000000000000" pitchFamily="2" charset="-34"/>
              </a:defRPr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445061" y="3741620"/>
            <a:ext cx="5073516" cy="1024109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 i="1" baseline="0">
                <a:solidFill>
                  <a:srgbClr val="3B475E"/>
                </a:solidFill>
                <a:latin typeface="Sarabun" panose="00000500000000000000" pitchFamily="2" charset="-34"/>
              </a:defRPr>
            </a:lvl1pPr>
          </a:lstStyle>
          <a:p>
            <a:pPr lvl="0"/>
            <a:r>
              <a:rPr lang="en-US" dirty="0"/>
              <a:t>Presenter</a:t>
            </a:r>
          </a:p>
        </p:txBody>
      </p:sp>
      <p:sp useBgFill="1">
        <p:nvSpPr>
          <p:cNvPr id="3" name="Rounded Rectangle 2"/>
          <p:cNvSpPr/>
          <p:nvPr userDrawn="1"/>
        </p:nvSpPr>
        <p:spPr>
          <a:xfrm>
            <a:off x="8616917" y="51470"/>
            <a:ext cx="405045" cy="2700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Sarabun" panose="00000500000000000000" pitchFamily="2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A7F93E-0AC9-4994-C087-EC47479093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51227" y="679296"/>
            <a:ext cx="2306274" cy="381037"/>
          </a:xfrm>
          <a:prstGeom prst="rect">
            <a:avLst/>
          </a:prstGeom>
        </p:spPr>
      </p:pic>
      <p:sp>
        <p:nvSpPr>
          <p:cNvPr id="10" name="Media Placeholder 3">
            <a:extLst>
              <a:ext uri="{FF2B5EF4-FFF2-40B4-BE49-F238E27FC236}">
                <a16:creationId xmlns:a16="http://schemas.microsoft.com/office/drawing/2014/main" id="{A8C42A55-8D9A-E8BD-8457-92C7015F8BD3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FE235E-8BE2-78BC-2D0F-81A926E2507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5094961"/>
            <a:ext cx="9144000" cy="4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373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56DBA27B-8304-4CFA-81F2-07D6954C9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7"/>
            <a:ext cx="8462127" cy="3129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/>
            </a:lvl1pPr>
            <a:lvl2pPr>
              <a:spcBef>
                <a:spcPts val="0"/>
              </a:spcBef>
              <a:buClr>
                <a:srgbClr val="FF6600"/>
              </a:buClr>
              <a:defRPr/>
            </a:lvl2pPr>
            <a:lvl3pPr>
              <a:spcBef>
                <a:spcPts val="0"/>
              </a:spcBef>
              <a:buClr>
                <a:srgbClr val="FF6600"/>
              </a:buClr>
              <a:defRPr/>
            </a:lvl3pPr>
            <a:lvl4pPr>
              <a:spcBef>
                <a:spcPts val="0"/>
              </a:spcBef>
              <a:buClr>
                <a:srgbClr val="FFA336"/>
              </a:buClr>
              <a:defRPr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228F4D49-482B-40A2-86AF-43C7452AA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07968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" name="Media Placeholder 3">
            <a:extLst>
              <a:ext uri="{FF2B5EF4-FFF2-40B4-BE49-F238E27FC236}">
                <a16:creationId xmlns:a16="http://schemas.microsoft.com/office/drawing/2014/main" id="{41860E7C-CA2A-CCFE-19A9-6DCDEE29B22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231835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BE1C07FA-679D-46C0-86F7-8D17779A01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264925"/>
            <a:ext cx="4104000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1pPr>
            <a:lvl2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2pPr>
            <a:lvl3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3pPr>
            <a:lvl4pPr>
              <a:spcBef>
                <a:spcPts val="0"/>
              </a:spcBef>
              <a:defRPr>
                <a:latin typeface="Sarabun" panose="00000500000000000000" pitchFamily="2" charset="-34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4BF5B9E-EBC4-409F-984B-6D47D81EDF48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747260" y="1264925"/>
            <a:ext cx="4104641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1pPr>
            <a:lvl2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2pPr>
            <a:lvl3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3pPr>
            <a:lvl4pPr>
              <a:spcBef>
                <a:spcPts val="0"/>
              </a:spcBef>
              <a:defRPr>
                <a:latin typeface="Sarabun" panose="00000500000000000000" pitchFamily="2" charset="-34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1378A4D6-E4A6-4021-9A3E-CD1962CFE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54350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CFE9A372-03E3-E60F-6496-867B43D28DDD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1414322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4C4900D4-E042-4F52-A837-0B504DD6A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27846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6AE5AD0B-78DA-96AF-6F08-3574B654A51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4226472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2ADF6038-2E5A-469C-35D8-0A0580CF19AD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14476942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3528" y="267657"/>
            <a:ext cx="7005527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3527" y="1264925"/>
            <a:ext cx="8528373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9B4391E-A2CA-4E7C-B5A9-A31CF000D3E5}"/>
              </a:ext>
            </a:extLst>
          </p:cNvPr>
          <p:cNvSpPr txBox="1">
            <a:spLocks/>
          </p:cNvSpPr>
          <p:nvPr userDrawn="1"/>
        </p:nvSpPr>
        <p:spPr>
          <a:xfrm>
            <a:off x="710852" y="4745354"/>
            <a:ext cx="7066640" cy="39814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17550" indent="-35560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SzPct val="60000"/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079500" indent="-36195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SzPct val="75000"/>
              <a:buFont typeface="Wingdings" panose="05000000000000000000" pitchFamily="2" charset="2"/>
              <a:buChar char="§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433513" indent="-354013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Font typeface="Calibri" panose="020F0502020204030204" pitchFamily="34" charset="0"/>
              <a:buChar char="–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spcBef>
                <a:spcPts val="0"/>
              </a:spcBef>
            </a:pPr>
            <a:r>
              <a:rPr lang="en-US" sz="1600" dirty="0">
                <a:solidFill>
                  <a:srgbClr val="282828"/>
                </a:solidFill>
                <a:latin typeface="Sarabun" panose="00000500000000000000" pitchFamily="2" charset="-34"/>
              </a:rPr>
              <a:t>APL Bootcamp – Part 10</a:t>
            </a:r>
          </a:p>
        </p:txBody>
      </p:sp>
      <p:sp>
        <p:nvSpPr>
          <p:cNvPr id="49" name="Date Placeholder 3"/>
          <p:cNvSpPr txBox="1">
            <a:spLocks/>
          </p:cNvSpPr>
          <p:nvPr userDrawn="1"/>
        </p:nvSpPr>
        <p:spPr>
          <a:xfrm>
            <a:off x="45720" y="4743900"/>
            <a:ext cx="665132" cy="399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2000" b="0" kern="1200">
                <a:solidFill>
                  <a:schemeClr val="bg1"/>
                </a:solidFill>
                <a:latin typeface="Klavika Medium" panose="02000603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02EDF88B-1B61-4481-9BD6-D2E23BF0DCD8}" type="slidenum">
              <a:rPr lang="en-GB" sz="1600" baseline="0" smtClean="0">
                <a:solidFill>
                  <a:srgbClr val="FF6A13"/>
                </a:solidFill>
                <a:latin typeface="Sarabun" panose="00000500000000000000" pitchFamily="2" charset="-34"/>
              </a:rPr>
              <a:pPr algn="l"/>
              <a:t>‹#›</a:t>
            </a:fld>
            <a:endParaRPr lang="en-GB" sz="1600" baseline="0" dirty="0">
              <a:solidFill>
                <a:srgbClr val="FF6A13"/>
              </a:solidFill>
              <a:latin typeface="Sarabun" panose="00000500000000000000" pitchFamily="2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920957-0551-8F72-773E-84D867F26A5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400"/>
          <a:stretch/>
        </p:blipFill>
        <p:spPr>
          <a:xfrm>
            <a:off x="0" y="5097467"/>
            <a:ext cx="9144000" cy="457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FEC5741-2586-9026-BBB0-7FC530AB64E7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8067022" y="4818698"/>
            <a:ext cx="938248" cy="155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740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0" r:id="rId2"/>
    <p:sldLayoutId id="2147483652" r:id="rId3"/>
    <p:sldLayoutId id="2147483654" r:id="rId4"/>
    <p:sldLayoutId id="2147483655" r:id="rId5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rgbClr val="3B475E"/>
          </a:solidFill>
          <a:latin typeface="Sarabun" panose="00000500000000000000" pitchFamily="2" charset="-34"/>
          <a:ea typeface="+mj-ea"/>
          <a:cs typeface="Calibri" panose="020F0502020204030204" pitchFamily="34" charset="0"/>
        </a:defRPr>
      </a:lvl1pPr>
    </p:titleStyle>
    <p:bodyStyle>
      <a:lvl1pPr marL="458788" indent="-45878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24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1pPr>
      <a:lvl2pPr marL="858838" indent="-40163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lang="en-US" sz="2000" kern="1200" dirty="0" smtClean="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18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3pPr>
      <a:lvl4pPr marL="1655763" indent="-284163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14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4pPr>
      <a:lvl5pPr marL="1828800" indent="0" algn="l" defTabSz="914400" rtl="0" eaLnBrk="1" latinLnBrk="0" hangingPunct="1">
        <a:spcBef>
          <a:spcPct val="20000"/>
        </a:spcBef>
        <a:buClr>
          <a:srgbClr val="FF9421"/>
        </a:buClr>
        <a:buFont typeface="Calibri" panose="020F050202020403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A6417-55D0-46BB-0DFF-8D4AA0A71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APL Bootcamp - Errors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68C988-130F-A25A-2390-AB59A78D53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4559DFF-3665-0E31-55C7-92F3BEB5DA9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8878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ADBEFC-CBA5-BC9E-A5DA-C99A86BDCB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  <a:defRPr/>
            </a:pPr>
            <a:r>
              <a:rPr lang="en-GB" dirty="0"/>
              <a:t>When an unhandled exception occurs, APL suspends execution: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	∇ A DIVIDE B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[1] 	 '</a:t>
            </a:r>
            <a:r>
              <a:rPr lang="en-GB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Answer:',A÷B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 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	∇</a:t>
            </a:r>
            <a:br>
              <a:rPr lang="en-GB" dirty="0">
                <a:latin typeface="APL385 Unicode" panose="020B0709000202000203" pitchFamily="49" charset="0"/>
              </a:rPr>
            </a:b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  DIVIDE  0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DOMAIN ERROR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DIVIDE[1] '</a:t>
            </a: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Answer:',A÷B</a:t>
            </a: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               ∧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C3A5D85-953F-31C3-9AA3-C910882C4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Trapping Errors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B01DCF8-54D6-9F74-1815-270DE2B9F7A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4100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06DD404-19A4-5B58-BF0E-369F23584F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  <a:defRPr/>
            </a:pPr>
            <a:r>
              <a:rPr lang="en-GB" dirty="0"/>
              <a:t>We can inspect the environment using system commands and variables.</a:t>
            </a:r>
          </a:p>
          <a:p>
            <a:pPr marL="0" indent="0">
              <a:buNone/>
              <a:defRPr/>
            </a:pPr>
            <a:endParaRPr lang="en-GB" sz="1600" dirty="0"/>
          </a:p>
          <a:p>
            <a:pPr marL="0" indent="0"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)SI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#.DIVIDE[1] *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tx1"/>
                </a:solidFill>
                <a:latin typeface="+mj-lt"/>
              </a:rPr>
              <a:t>⎕DM contains the error message</a:t>
            </a:r>
          </a:p>
          <a:p>
            <a:pPr marL="0" indent="0"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]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disp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⎕DM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┌→──────────────────────────────────────────────────────┐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│ ┌→───────────┐ ┌→──────────────────────┐ ┌→─────────┐ 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│ │DOMAIN ERROR│ │DIVIDE[1] '</a:t>
            </a:r>
            <a:r>
              <a:rPr lang="en-GB" dirty="0" err="1">
                <a:solidFill>
                  <a:schemeClr val="tx1"/>
                </a:solidFill>
                <a:latin typeface="APL385 Unicode" panose="020B0709000202000203" pitchFamily="49" charset="0"/>
              </a:rPr>
              <a:t>Answer:',A÷B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│ │         ∧│ 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│ └────────────┘ └───────────────────────┘ └──────────┘ 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└∊──────────────────────────────────────────────────────┘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34FB74-8D98-66B0-96A1-399B9CED5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Trapping Errors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49EB40A-D13F-D2A2-4C4A-649AE22E3D4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22753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E2F2446-DFCD-FB7D-E892-6E5C0BC121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/>
            </a:pPr>
            <a:r>
              <a:rPr lang="en-GB" dirty="0"/>
              <a:t>There are 2 ways to trap errors in </a:t>
            </a:r>
            <a:r>
              <a:rPr lang="en-GB" dirty="0" err="1"/>
              <a:t>Tfns</a:t>
            </a:r>
            <a:r>
              <a:rPr lang="en-GB" dirty="0"/>
              <a:t>:</a:t>
            </a:r>
          </a:p>
          <a:p>
            <a:pPr>
              <a:defRPr/>
            </a:pPr>
            <a:r>
              <a:rPr lang="en-GB" dirty="0"/>
              <a:t>Setting the system variable </a:t>
            </a:r>
            <a:r>
              <a:rPr lang="en-GB" dirty="0">
                <a:latin typeface="APL385 Unicode" panose="020B0709000202000203" pitchFamily="49" charset="0"/>
              </a:rPr>
              <a:t>⎕TRAP</a:t>
            </a:r>
          </a:p>
          <a:p>
            <a:pPr>
              <a:defRPr/>
            </a:pPr>
            <a:r>
              <a:rPr lang="en-GB" dirty="0"/>
              <a:t>Using the :Trap / :</a:t>
            </a:r>
            <a:r>
              <a:rPr lang="en-GB" dirty="0" err="1"/>
              <a:t>EndTrap</a:t>
            </a:r>
            <a:r>
              <a:rPr lang="en-GB" dirty="0"/>
              <a:t> control structure</a:t>
            </a:r>
          </a:p>
          <a:p>
            <a:pPr marL="0" indent="0">
              <a:buNone/>
              <a:defRPr/>
            </a:pPr>
            <a:r>
              <a:rPr lang="en-GB" dirty="0"/>
              <a:t>And one way in </a:t>
            </a:r>
            <a:r>
              <a:rPr lang="en-GB" dirty="0" err="1"/>
              <a:t>dfns</a:t>
            </a:r>
            <a:r>
              <a:rPr lang="en-GB" dirty="0"/>
              <a:t>:</a:t>
            </a:r>
          </a:p>
          <a:p>
            <a:pPr>
              <a:defRPr/>
            </a:pPr>
            <a:r>
              <a:rPr lang="en-GB" dirty="0"/>
              <a:t>Error guards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6A17810-DF6D-EF86-A72D-293D45569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defRPr/>
            </a:pPr>
            <a:r>
              <a:rPr lang="en-GB" dirty="0"/>
              <a:t>There are 2 ways to trap errors in </a:t>
            </a:r>
            <a:r>
              <a:rPr lang="en-GB" dirty="0" err="1"/>
              <a:t>Tfns</a:t>
            </a:r>
            <a:r>
              <a:rPr lang="en-GB" dirty="0"/>
              <a:t>:</a:t>
            </a:r>
            <a:br>
              <a:rPr lang="en-GB" dirty="0"/>
            </a:br>
            <a:r>
              <a:rPr lang="en-GB" dirty="0"/>
              <a:t>Setting the system variable </a:t>
            </a:r>
            <a:r>
              <a:rPr lang="en-GB" dirty="0">
                <a:latin typeface="APL385 Unicode" panose="020B0709000202000203" pitchFamily="49" charset="0"/>
              </a:rPr>
              <a:t>⎕TRAP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/>
              <a:t>Using the :Trap / :</a:t>
            </a:r>
            <a:r>
              <a:rPr lang="en-GB" dirty="0" err="1"/>
              <a:t>EndTrap</a:t>
            </a:r>
            <a:r>
              <a:rPr lang="en-GB" dirty="0"/>
              <a:t> control structure</a:t>
            </a:r>
            <a:br>
              <a:rPr lang="en-GB" dirty="0"/>
            </a:br>
            <a:r>
              <a:rPr lang="en-GB" dirty="0"/>
              <a:t>And one way in </a:t>
            </a:r>
            <a:r>
              <a:rPr lang="en-GB" dirty="0" err="1"/>
              <a:t>dfns</a:t>
            </a:r>
            <a:r>
              <a:rPr lang="en-GB" dirty="0"/>
              <a:t>:</a:t>
            </a:r>
            <a:br>
              <a:rPr lang="en-GB" dirty="0"/>
            </a:br>
            <a:r>
              <a:rPr lang="en-GB" dirty="0"/>
              <a:t>Error guards</a:t>
            </a:r>
            <a:br>
              <a:rPr lang="en-GB" dirty="0"/>
            </a:br>
            <a:br>
              <a:rPr lang="en-GB" dirty="0"/>
            </a:br>
            <a:r>
              <a:rPr lang="en-GB" dirty="0"/>
              <a:t>Trapping Errors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5745268-1A93-8E89-138B-4EB8D4DA6D0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8165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18C9FC5-518C-6E09-1AB5-151FE1E467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dirty="0"/>
              <a:t>The system variable </a:t>
            </a:r>
            <a:r>
              <a:rPr lang="da-DK" dirty="0">
                <a:solidFill>
                  <a:srgbClr val="FF6600"/>
                </a:solidFill>
                <a:latin typeface="APL385 Unicode" panose="020B0709000202000203" pitchFamily="49" charset="0"/>
              </a:rPr>
              <a:t>⎕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TRAP</a:t>
            </a:r>
            <a:r>
              <a:rPr lang="en-GB" dirty="0">
                <a:solidFill>
                  <a:srgbClr val="FF6600"/>
                </a:solidFill>
              </a:rPr>
              <a:t> </a:t>
            </a:r>
            <a:r>
              <a:rPr lang="en-GB" dirty="0"/>
              <a:t>declares how errors should be handled. To trap all DOMAIN ERRORS and output a custom message to the session:</a:t>
            </a:r>
          </a:p>
          <a:p>
            <a:pPr marL="0" indent="0">
              <a:buNone/>
              <a:defRPr/>
            </a:pPr>
            <a:endParaRPr lang="en-GB" dirty="0"/>
          </a:p>
          <a:p>
            <a:pPr marL="0" indent="0">
              <a:buNone/>
              <a:defRPr/>
            </a:pPr>
            <a:r>
              <a:rPr lang="en-GB" sz="1800" dirty="0">
                <a:latin typeface="APL385 Unicode" panose="020B0709000202000203" pitchFamily="49" charset="0"/>
              </a:rPr>
              <a:t>	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⎕TRAP←11 'E' '⎕←''Division by 0!'''</a:t>
            </a:r>
          </a:p>
          <a:p>
            <a:pPr marL="0" indent="0">
              <a:buNone/>
              <a:defRPr/>
            </a:pPr>
            <a:r>
              <a:rPr lang="en-GB" sz="1800" dirty="0">
                <a:latin typeface="APL385 Unicode" panose="020B0709000202000203" pitchFamily="49" charset="0"/>
              </a:rPr>
              <a:t>	</a:t>
            </a:r>
            <a:r>
              <a:rPr lang="en-GB" sz="18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2÷0</a:t>
            </a:r>
          </a:p>
          <a:p>
            <a:pPr marL="0" indent="0">
              <a:buNone/>
              <a:defRPr/>
            </a:pPr>
            <a:r>
              <a:rPr lang="en-GB" sz="18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Division by 0!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EA6EFD7-9F1E-5998-6E66-DF4DB575B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73BD4E3-763F-D1BB-2968-3AC2A010DFB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69419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330A3-1493-E55E-89C6-B438F3F13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DA8FA2D-7AEF-0E2F-C2CC-00120F3E35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dirty="0"/>
              <a:t>There may be several sections in </a:t>
            </a:r>
            <a:r>
              <a:rPr lang="en-GB" dirty="0">
                <a:latin typeface="APL385 Unicode" panose="020B0709000202000203" pitchFamily="49" charset="0"/>
              </a:rPr>
              <a:t>⎕TRAP</a:t>
            </a:r>
            <a:r>
              <a:rPr lang="en-GB" dirty="0"/>
              <a:t>.</a:t>
            </a:r>
          </a:p>
          <a:p>
            <a:pPr marL="0" indent="0">
              <a:buNone/>
              <a:defRPr/>
            </a:pPr>
            <a:r>
              <a:rPr lang="en-GB" dirty="0"/>
              <a:t>Each section of the </a:t>
            </a:r>
            <a:r>
              <a:rPr lang="en-GB" dirty="0">
                <a:latin typeface="APL385 Unicode" panose="020B0709000202000203" pitchFamily="49" charset="0"/>
              </a:rPr>
              <a:t>⎕TRAP</a:t>
            </a:r>
            <a:r>
              <a:rPr lang="en-GB" dirty="0"/>
              <a:t> statement is made of 2 or 3 parts:</a:t>
            </a:r>
          </a:p>
          <a:p>
            <a:pPr marL="385763" indent="-385763">
              <a:buAutoNum type="arabicPeriod"/>
              <a:defRPr/>
            </a:pPr>
            <a:r>
              <a:rPr lang="en-GB" dirty="0"/>
              <a:t>The error number(s) to trap</a:t>
            </a:r>
          </a:p>
          <a:p>
            <a:pPr marL="385763" indent="-385763">
              <a:buAutoNum type="arabicPeriod"/>
              <a:defRPr/>
            </a:pPr>
            <a:r>
              <a:rPr lang="en-GB" dirty="0"/>
              <a:t>Action code</a:t>
            </a:r>
          </a:p>
          <a:p>
            <a:pPr marL="385763" indent="-385763">
              <a:buAutoNum type="arabicPeriod"/>
              <a:defRPr/>
            </a:pPr>
            <a:r>
              <a:rPr lang="en-GB" dirty="0"/>
              <a:t>What to do (if the action requires it)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8C62B08-0211-668D-94C0-ECB896A38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E2E6641-1B17-8694-E74B-C669DA1116A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32833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378E5-C3A1-17E0-E34B-DB7529D99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268E3ED-5B8E-4CD6-8DBA-1E107BF1D6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  <a:defRPr/>
            </a:pPr>
            <a:r>
              <a:rPr lang="en-GB" dirty="0"/>
              <a:t>The error number(s) to trap</a:t>
            </a:r>
          </a:p>
          <a:p>
            <a:pPr marL="0" indent="0">
              <a:buNone/>
              <a:defRPr/>
            </a:pPr>
            <a:r>
              <a:rPr lang="en-GB" dirty="0"/>
              <a:t>To see all possible errors try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⍪⎕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em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¨⍳99</a:t>
            </a:r>
          </a:p>
          <a:p>
            <a:pPr marL="0" indent="0">
              <a:buNone/>
              <a:defRPr/>
            </a:pPr>
            <a:r>
              <a:rPr lang="en-GB" dirty="0"/>
              <a:t>Not all errors are generated by APL</a:t>
            </a:r>
          </a:p>
          <a:p>
            <a:pPr marL="0" indent="0">
              <a:buNone/>
              <a:defRPr/>
            </a:pPr>
            <a:r>
              <a:rPr lang="en-GB" dirty="0"/>
              <a:t>Some errors (e.g. SYSTEM ERROR) are not trappable.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C45EF35-8A90-D2A4-104D-13BF57ECF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7422E91-4A91-CFBC-2A75-47D92DAE97D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27016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9E3F3-39A1-3453-1568-B61AB780A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B7A5CE5-7F9E-5C19-90E6-E7E71E2520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85763" indent="-385763">
              <a:buAutoNum type="arabicPeriod"/>
              <a:defRPr/>
            </a:pPr>
            <a:r>
              <a:rPr lang="en-GB" dirty="0"/>
              <a:t>The error number(s) to trap (range 0-1008)</a:t>
            </a:r>
          </a:p>
          <a:p>
            <a:pPr marL="0" indent="0">
              <a:buNone/>
              <a:defRPr/>
            </a:pPr>
            <a:r>
              <a:rPr lang="en-GB" dirty="0"/>
              <a:t>The numbers 1-99 are generated by APL.</a:t>
            </a:r>
          </a:p>
          <a:p>
            <a:pPr marL="0" indent="0">
              <a:buNone/>
              <a:defRPr/>
            </a:pPr>
            <a:r>
              <a:rPr lang="en-GB" dirty="0"/>
              <a:t>The numbers 1-999 can be generated by the user.</a:t>
            </a:r>
          </a:p>
          <a:p>
            <a:pPr marL="0" indent="0">
              <a:buNone/>
              <a:defRPr/>
            </a:pPr>
            <a:r>
              <a:rPr lang="en-GB" dirty="0"/>
              <a:t>Error 0 means </a:t>
            </a:r>
            <a:r>
              <a:rPr lang="en-GB" dirty="0">
                <a:solidFill>
                  <a:srgbClr val="FF6600"/>
                </a:solidFill>
              </a:rPr>
              <a:t>“Any error”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pPr marL="0" indent="0">
              <a:buNone/>
              <a:defRPr/>
            </a:pPr>
            <a:r>
              <a:rPr lang="en-GB" dirty="0"/>
              <a:t>Errors 1001-1008 are interrupts (e.g. break)</a:t>
            </a:r>
          </a:p>
          <a:p>
            <a:pPr marL="0" indent="0">
              <a:buNone/>
              <a:defRPr/>
            </a:pPr>
            <a:r>
              <a:rPr lang="en-GB" dirty="0"/>
              <a:t>Error 1000 means </a:t>
            </a:r>
            <a:r>
              <a:rPr lang="en-GB" dirty="0">
                <a:solidFill>
                  <a:srgbClr val="FF6600"/>
                </a:solidFill>
              </a:rPr>
              <a:t>“any interrupt”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60F0F-BB49-D62C-0491-6A8E974C6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DF4774A-8252-04B8-0D83-DFFA262BAEE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77873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DA55C-1ECA-32B7-A133-1A407C7F6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CBE225B-3F2F-AE5D-F82E-5E4B8DC6F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385763" indent="-385763">
              <a:buAutoNum type="arabicPeriod"/>
              <a:defRPr/>
            </a:pPr>
            <a:r>
              <a:rPr lang="en-GB" dirty="0"/>
              <a:t>The error number(s) to trap (range 0-1008)</a:t>
            </a:r>
          </a:p>
          <a:p>
            <a:pPr marL="0" indent="0">
              <a:buNone/>
              <a:defRPr/>
            </a:pPr>
            <a:r>
              <a:rPr lang="en-GB" dirty="0"/>
              <a:t>Search by error message with </a:t>
            </a:r>
            <a:r>
              <a:rPr lang="en-GB" dirty="0">
                <a:latin typeface="APL385 Unicode" panose="020B0709000202000203" pitchFamily="49" charset="0"/>
              </a:rPr>
              <a:t>]</a:t>
            </a:r>
            <a:r>
              <a:rPr lang="en-GB" dirty="0" err="1">
                <a:latin typeface="APL385 Unicode" panose="020B0709000202000203" pitchFamily="49" charset="0"/>
              </a:rPr>
              <a:t>aplcart</a:t>
            </a:r>
            <a:r>
              <a:rPr lang="en-GB" dirty="0">
                <a:latin typeface="APL385 Unicode" panose="020B0709000202000203" pitchFamily="49" charset="0"/>
              </a:rPr>
              <a:t> :message</a:t>
            </a:r>
          </a:p>
          <a:p>
            <a:pPr marL="0" indent="0">
              <a:buNone/>
              <a:defRPr/>
            </a:pPr>
            <a:endParaRPr lang="en-GB" dirty="0"/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]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aplcart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:domain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 err="1">
                <a:latin typeface="APL385 Unicode" panose="020B0709000202000203" pitchFamily="49" charset="0"/>
              </a:rPr>
              <a:t>X,Y,Z:any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 err="1">
                <a:latin typeface="APL385 Unicode" panose="020B0709000202000203" pitchFamily="49" charset="0"/>
              </a:rPr>
              <a:t>M,N:num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 err="1">
                <a:latin typeface="APL385 Unicode" panose="020B0709000202000203" pitchFamily="49" charset="0"/>
              </a:rPr>
              <a:t>I,J:int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 err="1">
                <a:latin typeface="APL385 Unicode" panose="020B0709000202000203" pitchFamily="49" charset="0"/>
              </a:rPr>
              <a:t>A,B:Bool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 err="1">
                <a:latin typeface="APL385 Unicode" panose="020B0709000202000203" pitchFamily="49" charset="0"/>
              </a:rPr>
              <a:t>C,D:char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────────────────────────────────────────────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11::DOMAIN ERROR  Type or value not </a:t>
            </a:r>
            <a:r>
              <a:rPr lang="en-GB" dirty="0" err="1">
                <a:latin typeface="APL385 Unicode" panose="020B0709000202000203" pitchFamily="49" charset="0"/>
              </a:rPr>
              <a:t>permitte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────────────────────────────────────────────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Showing 1 of 1 matches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CCD3E7F-1DE9-CF03-B74F-767EAB052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050F12F-204A-39FE-80ED-6E23C82D1E4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74158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ABBBE-AA6C-552A-1AFE-D48B9D0CB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FB05F44-BB7D-39AE-4D86-322D457E33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457200" indent="-457200">
              <a:buFont typeface="+mj-lt"/>
              <a:buAutoNum type="arabicPeriod" startAt="2"/>
              <a:defRPr/>
            </a:pPr>
            <a:r>
              <a:rPr lang="en-GB" dirty="0"/>
              <a:t>Action code</a:t>
            </a:r>
          </a:p>
          <a:p>
            <a:pPr marL="0" indent="0">
              <a:buNone/>
              <a:defRPr/>
            </a:pPr>
            <a:r>
              <a:rPr lang="en-GB" dirty="0"/>
              <a:t>A single character, one of:</a:t>
            </a: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6600"/>
                </a:solidFill>
              </a:rPr>
              <a:t>E</a:t>
            </a:r>
            <a:r>
              <a:rPr lang="en-GB" dirty="0"/>
              <a:t>: execute expression</a:t>
            </a: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6600"/>
                </a:solidFill>
              </a:rPr>
              <a:t>C</a:t>
            </a:r>
            <a:r>
              <a:rPr lang="en-GB" dirty="0"/>
              <a:t>: cut back stack to where </a:t>
            </a:r>
            <a:r>
              <a:rPr lang="en-GB" dirty="0">
                <a:latin typeface="APL385 Unicode" panose="020B0709000202000203" pitchFamily="49" charset="0"/>
              </a:rPr>
              <a:t>⎕TRAP</a:t>
            </a:r>
            <a:r>
              <a:rPr lang="en-GB" dirty="0"/>
              <a:t> is localized and then execute expression</a:t>
            </a: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6600"/>
                </a:solidFill>
              </a:rPr>
              <a:t>N</a:t>
            </a:r>
            <a:r>
              <a:rPr lang="en-GB" dirty="0"/>
              <a:t>: next: skip this error (no 3</a:t>
            </a:r>
            <a:r>
              <a:rPr lang="en-GB" baseline="30000" dirty="0"/>
              <a:t>rd</a:t>
            </a:r>
            <a:r>
              <a:rPr lang="en-GB" dirty="0"/>
              <a:t> element)</a:t>
            </a: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6600"/>
                </a:solidFill>
              </a:rPr>
              <a:t>S</a:t>
            </a:r>
            <a:r>
              <a:rPr lang="en-GB" dirty="0"/>
              <a:t>: stop: normal error handling (no 3</a:t>
            </a:r>
            <a:r>
              <a:rPr lang="en-GB" baseline="30000" dirty="0"/>
              <a:t>rd</a:t>
            </a:r>
            <a:r>
              <a:rPr lang="en-GB" dirty="0"/>
              <a:t> element)</a:t>
            </a:r>
          </a:p>
          <a:p>
            <a:pPr marL="0" indent="0">
              <a:buNone/>
              <a:defRPr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368E706-B256-4B7B-58E3-4A2E271EB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82FF83B-E052-0C59-0B35-FA7B8825443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59201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57EDA-81E9-C20A-21FA-CCF014FA3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6D3A831-0C2F-091A-A2B5-85A068039F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2"/>
              <a:defRPr/>
            </a:pPr>
            <a:r>
              <a:rPr lang="en-GB" dirty="0"/>
              <a:t>Action code</a:t>
            </a: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6600"/>
                </a:solidFill>
              </a:rPr>
              <a:t>E</a:t>
            </a:r>
            <a:r>
              <a:rPr lang="en-GB" dirty="0"/>
              <a:t>: </a:t>
            </a:r>
            <a:r>
              <a:rPr lang="en-GB" b="1" dirty="0"/>
              <a:t>E</a:t>
            </a:r>
            <a:r>
              <a:rPr lang="en-GB" dirty="0"/>
              <a:t>xecute immediately</a:t>
            </a:r>
          </a:p>
          <a:p>
            <a:pPr marL="0" indent="0">
              <a:buNone/>
              <a:defRPr/>
            </a:pPr>
            <a:r>
              <a:rPr lang="en-GB" dirty="0"/>
              <a:t>The 3</a:t>
            </a:r>
            <a:r>
              <a:rPr lang="en-GB" baseline="30000" dirty="0"/>
              <a:t>rd</a:t>
            </a:r>
            <a:r>
              <a:rPr lang="en-GB" dirty="0"/>
              <a:t> element contains a string to be executed immediately when the error occurs.</a:t>
            </a:r>
          </a:p>
          <a:p>
            <a:pPr marL="0" indent="0">
              <a:buNone/>
              <a:defRPr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3C3DA-65E4-1BFA-C470-6C7D5741F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 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7B3BFE0-AA76-ADCA-BFD1-F7A3F0AA8F6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2231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015DE-5699-8136-4B54-8AD14B185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0AD4750-E177-1584-6DBC-7265B5ADC9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457200" indent="-457200">
              <a:buFont typeface="+mj-lt"/>
              <a:buAutoNum type="arabicPeriod" startAt="2"/>
              <a:defRPr/>
            </a:pPr>
            <a:r>
              <a:rPr lang="en-GB" dirty="0"/>
              <a:t>Action code</a:t>
            </a: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6600"/>
                </a:solidFill>
              </a:rPr>
              <a:t>E</a:t>
            </a:r>
            <a:r>
              <a:rPr lang="en-GB" dirty="0"/>
              <a:t>: </a:t>
            </a:r>
            <a:r>
              <a:rPr lang="en-GB" b="1" dirty="0"/>
              <a:t>example</a:t>
            </a:r>
          </a:p>
          <a:p>
            <a:pPr marL="0" indent="0">
              <a:buNone/>
              <a:defRPr/>
            </a:pPr>
            <a:r>
              <a:rPr lang="en-GB" dirty="0"/>
              <a:t>Here the statement is “go to ERR if a DOMAIN error happens”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	∇ A DIVIDE B;⎕TRAP</a:t>
            </a: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[1] 	⎕TRAP←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11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'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E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' '</a:t>
            </a:r>
            <a:r>
              <a:rPr lang="en-GB" b="1" dirty="0">
                <a:solidFill>
                  <a:schemeClr val="tx1"/>
                </a:solidFill>
                <a:latin typeface="APL385 Unicode" panose="020B0709000202000203" pitchFamily="49" charset="0"/>
              </a:rPr>
              <a:t>→ERR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[2] 	⎕←'Answer:', A÷B ⋄ →0</a:t>
            </a: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[3] </a:t>
            </a:r>
            <a:r>
              <a:rPr lang="en-GB" b="1" dirty="0">
                <a:solidFill>
                  <a:schemeClr val="tx1"/>
                </a:solidFill>
                <a:latin typeface="APL385 Unicode" panose="020B0709000202000203" pitchFamily="49" charset="0"/>
              </a:rPr>
              <a:t>ERR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: ⎕←'DIVISION ERROR' </a:t>
            </a: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	∇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5FB2D9D-0281-0AB9-E746-269E1735C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 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A4CF804-0D7F-612D-948F-D7C025AEA33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1273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4C3EF-6E34-EA31-9459-6AF0B881A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12D2CD-37A1-2F55-299F-B0ED774B86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457200" indent="-457200">
              <a:buFont typeface="+mj-lt"/>
              <a:buAutoNum type="arabicPeriod" startAt="2"/>
              <a:defRPr/>
            </a:pPr>
            <a:r>
              <a:rPr lang="en-GB" dirty="0"/>
              <a:t>Action code</a:t>
            </a: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6600"/>
                </a:solidFill>
              </a:rPr>
              <a:t>E</a:t>
            </a:r>
            <a:r>
              <a:rPr lang="en-GB" dirty="0"/>
              <a:t>: </a:t>
            </a:r>
            <a:r>
              <a:rPr lang="en-GB" b="1" dirty="0"/>
              <a:t>example</a:t>
            </a:r>
          </a:p>
          <a:p>
            <a:pPr marL="0" indent="0">
              <a:buNone/>
              <a:defRPr/>
            </a:pPr>
            <a:endParaRPr lang="en-GB" b="1" dirty="0"/>
          </a:p>
          <a:p>
            <a:pPr marL="0" indent="0">
              <a:buNone/>
              <a:defRPr/>
            </a:pPr>
            <a:r>
              <a:rPr lang="en-GB" sz="1800" dirty="0">
                <a:latin typeface="APL385 Unicode" panose="020B0709000202000203" pitchFamily="49" charset="0"/>
              </a:rPr>
              <a:t>	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3 DIVIDE 2</a:t>
            </a:r>
          </a:p>
          <a:p>
            <a:pPr marL="0" indent="0">
              <a:buNone/>
              <a:defRPr/>
            </a:pPr>
            <a:r>
              <a:rPr lang="en-GB" sz="18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Answer: 1.5</a:t>
            </a:r>
          </a:p>
          <a:p>
            <a:pPr marL="0" indent="0">
              <a:buNone/>
              <a:defRPr/>
            </a:pPr>
            <a:r>
              <a:rPr lang="en-GB" sz="1800" dirty="0">
                <a:latin typeface="APL385 Unicode" panose="020B0709000202000203" pitchFamily="49" charset="0"/>
              </a:rPr>
              <a:t>	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3 DIVIDE 0</a:t>
            </a:r>
          </a:p>
          <a:p>
            <a:pPr marL="0" indent="0">
              <a:buNone/>
              <a:defRPr/>
            </a:pPr>
            <a:r>
              <a:rPr lang="en-GB" sz="18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DIVISION ERROR</a:t>
            </a:r>
          </a:p>
          <a:p>
            <a:pPr marL="0" indent="0">
              <a:buNone/>
              <a:defRPr/>
            </a:pPr>
            <a:r>
              <a:rPr lang="en-GB" dirty="0"/>
              <a:t>BEWARE: The </a:t>
            </a:r>
            <a:r>
              <a:rPr lang="en-GB" dirty="0">
                <a:solidFill>
                  <a:srgbClr val="FF6600"/>
                </a:solidFill>
              </a:rPr>
              <a:t>E</a:t>
            </a:r>
            <a:r>
              <a:rPr lang="en-GB" dirty="0"/>
              <a:t> action code is very tricky to use and best avoided. Usually you want </a:t>
            </a:r>
            <a:r>
              <a:rPr lang="en-GB" dirty="0">
                <a:solidFill>
                  <a:srgbClr val="FF6600"/>
                </a:solidFill>
              </a:rPr>
              <a:t>C</a:t>
            </a:r>
            <a:r>
              <a:rPr lang="en-GB" dirty="0"/>
              <a:t>, or better the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:Trap</a:t>
            </a:r>
            <a:r>
              <a:rPr lang="en-GB" dirty="0">
                <a:solidFill>
                  <a:srgbClr val="FF6600"/>
                </a:solidFill>
                <a:latin typeface="+mj-lt"/>
              </a:rPr>
              <a:t> </a:t>
            </a:r>
            <a:r>
              <a:rPr lang="en-GB" dirty="0"/>
              <a:t>control structure.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837843D-726A-908F-9E0E-93BA31933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 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D754C4F-5FC9-FCEB-F74E-E1A3933F88F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3AEBD7-321E-3D0D-36CD-DB885F451A5D}"/>
              </a:ext>
            </a:extLst>
          </p:cNvPr>
          <p:cNvSpPr txBox="1"/>
          <p:nvPr/>
        </p:nvSpPr>
        <p:spPr>
          <a:xfrm>
            <a:off x="4626007" y="1977684"/>
            <a:ext cx="3102131" cy="13388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350" dirty="0">
                <a:latin typeface="APL385 Unicode" panose="020B0709000202000203" pitchFamily="49" charset="0"/>
              </a:rPr>
              <a:t>    ∇ </a:t>
            </a:r>
            <a:r>
              <a:rPr lang="en-GB" sz="1350" dirty="0">
                <a:solidFill>
                  <a:srgbClr val="E19205"/>
                </a:solidFill>
                <a:latin typeface="APL385 Unicode" panose="020B0709000202000203" pitchFamily="49" charset="0"/>
              </a:rPr>
              <a:t>A DIVIDE B;⎕TRAP</a:t>
            </a:r>
          </a:p>
          <a:p>
            <a:r>
              <a:rPr lang="en-GB" sz="1350" dirty="0">
                <a:solidFill>
                  <a:srgbClr val="E19205"/>
                </a:solidFill>
                <a:latin typeface="APL385 Unicode" panose="020B0709000202000203" pitchFamily="49" charset="0"/>
              </a:rPr>
              <a:t>[1]  ⎕TRAP←</a:t>
            </a:r>
            <a:r>
              <a:rPr lang="en-GB" sz="1350" dirty="0">
                <a:solidFill>
                  <a:srgbClr val="FF0000"/>
                </a:solidFill>
                <a:latin typeface="APL385 Unicode" panose="020B0709000202000203" pitchFamily="49" charset="0"/>
              </a:rPr>
              <a:t>11</a:t>
            </a:r>
            <a:r>
              <a:rPr lang="en-GB" sz="1350" dirty="0">
                <a:solidFill>
                  <a:srgbClr val="E19205"/>
                </a:solidFill>
                <a:latin typeface="APL385 Unicode" panose="020B0709000202000203" pitchFamily="49" charset="0"/>
              </a:rPr>
              <a:t> '</a:t>
            </a:r>
            <a:r>
              <a:rPr lang="en-GB" sz="1350" dirty="0">
                <a:solidFill>
                  <a:srgbClr val="FF0000"/>
                </a:solidFill>
                <a:latin typeface="APL385 Unicode" panose="020B0709000202000203" pitchFamily="49" charset="0"/>
              </a:rPr>
              <a:t>E</a:t>
            </a:r>
            <a:r>
              <a:rPr lang="en-GB" sz="1350" dirty="0">
                <a:solidFill>
                  <a:srgbClr val="E19205"/>
                </a:solidFill>
                <a:latin typeface="APL385 Unicode" panose="020B0709000202000203" pitchFamily="49" charset="0"/>
              </a:rPr>
              <a:t>' '</a:t>
            </a:r>
            <a:r>
              <a:rPr lang="en-GB" sz="1350" b="1" dirty="0">
                <a:solidFill>
                  <a:srgbClr val="E19205"/>
                </a:solidFill>
                <a:latin typeface="APL385 Unicode" panose="020B0709000202000203" pitchFamily="49" charset="0"/>
              </a:rPr>
              <a:t>→ERR</a:t>
            </a:r>
            <a:r>
              <a:rPr lang="en-GB" sz="1350" dirty="0">
                <a:solidFill>
                  <a:srgbClr val="E19205"/>
                </a:solidFill>
                <a:latin typeface="APL385 Unicode" panose="020B0709000202000203" pitchFamily="49" charset="0"/>
              </a:rPr>
              <a:t>'</a:t>
            </a:r>
          </a:p>
          <a:p>
            <a:r>
              <a:rPr lang="en-GB" sz="1350" dirty="0">
                <a:solidFill>
                  <a:srgbClr val="E19205"/>
                </a:solidFill>
                <a:latin typeface="APL385 Unicode" panose="020B0709000202000203" pitchFamily="49" charset="0"/>
              </a:rPr>
              <a:t>[2]  ⎕←'Answer:', A÷B ⋄ →0</a:t>
            </a:r>
          </a:p>
          <a:p>
            <a:r>
              <a:rPr lang="en-GB" sz="1350" dirty="0">
                <a:solidFill>
                  <a:srgbClr val="E19205"/>
                </a:solidFill>
                <a:latin typeface="APL385 Unicode" panose="020B0709000202000203" pitchFamily="49" charset="0"/>
              </a:rPr>
              <a:t>[3] </a:t>
            </a:r>
            <a:r>
              <a:rPr lang="en-GB" sz="1350" b="1" dirty="0">
                <a:solidFill>
                  <a:srgbClr val="E19205"/>
                </a:solidFill>
                <a:latin typeface="APL385 Unicode" panose="020B0709000202000203" pitchFamily="49" charset="0"/>
              </a:rPr>
              <a:t>ERR</a:t>
            </a:r>
            <a:r>
              <a:rPr lang="en-GB" sz="1350" dirty="0">
                <a:solidFill>
                  <a:srgbClr val="E19205"/>
                </a:solidFill>
                <a:latin typeface="APL385 Unicode" panose="020B0709000202000203" pitchFamily="49" charset="0"/>
              </a:rPr>
              <a:t>: ⎕←'DIVISION ERROR' </a:t>
            </a:r>
          </a:p>
          <a:p>
            <a:r>
              <a:rPr lang="en-GB" sz="1350" dirty="0">
                <a:latin typeface="APL385 Unicode" panose="020B0709000202000203" pitchFamily="49" charset="0"/>
              </a:rPr>
              <a:t>    ∇</a:t>
            </a:r>
          </a:p>
          <a:p>
            <a:endParaRPr lang="en-GB" sz="1350" dirty="0"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65870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F5D71D5-0B56-492E-0E2F-5CFC7B2F70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 startAt="2"/>
              <a:defRPr/>
            </a:pPr>
            <a:r>
              <a:rPr lang="en-GB" dirty="0"/>
              <a:t>Action code</a:t>
            </a:r>
            <a:endParaRPr lang="en-GB" b="1" dirty="0">
              <a:solidFill>
                <a:srgbClr val="FF0000"/>
              </a:solidFill>
            </a:endParaRP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0000"/>
                </a:solidFill>
              </a:rPr>
              <a:t>C</a:t>
            </a:r>
            <a:r>
              <a:rPr lang="en-GB" dirty="0"/>
              <a:t>: execute immediately after </a:t>
            </a:r>
            <a:r>
              <a:rPr lang="en-GB" b="1" dirty="0"/>
              <a:t>C</a:t>
            </a:r>
            <a:r>
              <a:rPr lang="en-GB" dirty="0"/>
              <a:t>utting back the stack</a:t>
            </a:r>
          </a:p>
          <a:p>
            <a:pPr marL="0" indent="0">
              <a:buNone/>
              <a:defRPr/>
            </a:pPr>
            <a:r>
              <a:rPr lang="en-GB" dirty="0"/>
              <a:t>The 3</a:t>
            </a:r>
            <a:r>
              <a:rPr lang="en-GB" baseline="30000" dirty="0"/>
              <a:t>rd</a:t>
            </a:r>
            <a:r>
              <a:rPr lang="en-GB" dirty="0"/>
              <a:t> element contains a string to be executed after cutting back the stack to where </a:t>
            </a:r>
            <a:r>
              <a:rPr lang="en-GB" dirty="0">
                <a:latin typeface="APL385 Unicode" panose="020B0709000202000203" pitchFamily="49" charset="0"/>
              </a:rPr>
              <a:t>⎕TRAP</a:t>
            </a:r>
            <a:r>
              <a:rPr lang="en-GB" dirty="0"/>
              <a:t> is set when the error occurs.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48D0548-7112-4AEF-70D3-AE8A1B6E9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 C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9477BBB-3F01-0FA0-EB16-55F692CDF58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49614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E727C-BC98-AD00-B1A3-47B0D6C47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0820D98-E5CE-ADF6-8D06-3AD9B5CE7F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457200" indent="-457200">
              <a:buFont typeface="+mj-lt"/>
              <a:buAutoNum type="arabicPeriod" startAt="2"/>
              <a:defRPr/>
            </a:pPr>
            <a:r>
              <a:rPr lang="en-GB" dirty="0"/>
              <a:t>Action code</a:t>
            </a:r>
            <a:endParaRPr lang="en-GB" b="1" dirty="0">
              <a:solidFill>
                <a:srgbClr val="FF0000"/>
              </a:solidFill>
            </a:endParaRP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0000"/>
                </a:solidFill>
              </a:rPr>
              <a:t>C</a:t>
            </a:r>
            <a:r>
              <a:rPr lang="en-GB" dirty="0"/>
              <a:t>: </a:t>
            </a:r>
            <a:r>
              <a:rPr lang="en-GB" b="1" dirty="0"/>
              <a:t>example</a:t>
            </a:r>
          </a:p>
          <a:p>
            <a:pPr marL="0" indent="0">
              <a:buNone/>
              <a:defRPr/>
            </a:pPr>
            <a:r>
              <a:rPr lang="en-GB" dirty="0"/>
              <a:t>Here the statement is “cut back the stack and go to </a:t>
            </a:r>
            <a:r>
              <a:rPr lang="en-GB" dirty="0" err="1">
                <a:latin typeface="APL385 Unicode" panose="020B0709000202000203" pitchFamily="49" charset="0"/>
              </a:rPr>
              <a:t>oo</a:t>
            </a:r>
            <a:r>
              <a:rPr lang="en-GB" dirty="0"/>
              <a:t> if an error happens”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</a:t>
            </a:r>
            <a:r>
              <a:rPr lang="pt-BR" dirty="0">
                <a:latin typeface="APL385 Unicode" panose="020B0709000202000203" pitchFamily="49" charset="0"/>
              </a:rPr>
              <a:t> ∇ </a:t>
            </a: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COMPUTE x;⎕TRAP</a:t>
            </a:r>
          </a:p>
          <a:p>
            <a:pPr marL="0" indent="0">
              <a:buNone/>
            </a:pP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[1]    ⎕TRAP←</a:t>
            </a:r>
            <a:r>
              <a:rPr lang="pt-BR" b="1" dirty="0">
                <a:solidFill>
                  <a:srgbClr val="FF0000"/>
                </a:solidFill>
                <a:latin typeface="APL385 Unicode" panose="020B0709000202000203" pitchFamily="49" charset="0"/>
              </a:rPr>
              <a:t>0</a:t>
            </a: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 '</a:t>
            </a:r>
            <a:r>
              <a:rPr lang="pt-BR" b="1" dirty="0">
                <a:solidFill>
                  <a:srgbClr val="FF0000"/>
                </a:solidFill>
                <a:latin typeface="APL385 Unicode" panose="020B0709000202000203" pitchFamily="49" charset="0"/>
              </a:rPr>
              <a:t>C</a:t>
            </a: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' '→oo'</a:t>
            </a:r>
          </a:p>
          <a:p>
            <a:pPr marL="0" indent="0">
              <a:buNone/>
            </a:pP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[2]    ⎕←'result is',CALC x</a:t>
            </a:r>
          </a:p>
          <a:p>
            <a:pPr marL="0" indent="0">
              <a:buNone/>
            </a:pP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[3]    →0</a:t>
            </a:r>
          </a:p>
          <a:p>
            <a:pPr marL="0" indent="0">
              <a:buNone/>
            </a:pP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[4]   oo:⎕TRAP←0 'S'</a:t>
            </a:r>
            <a:b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</a:b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[5]    ⎕←'Didn''t work'</a:t>
            </a:r>
          </a:p>
          <a:p>
            <a:pPr marL="0" indent="0">
              <a:buNone/>
            </a:pPr>
            <a:r>
              <a:rPr lang="pt-BR" dirty="0">
                <a:latin typeface="APL385 Unicode" panose="020B0709000202000203" pitchFamily="49" charset="0"/>
              </a:rPr>
              <a:t>     ∇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04BA97C-7133-FADB-8925-8468BD525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 C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92CB388-2871-AFA4-86FA-141FE392152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8C922C-B670-CB19-CF28-6326B0C9E52B}"/>
              </a:ext>
            </a:extLst>
          </p:cNvPr>
          <p:cNvSpPr txBox="1"/>
          <p:nvPr/>
        </p:nvSpPr>
        <p:spPr>
          <a:xfrm>
            <a:off x="5314492" y="2956332"/>
            <a:ext cx="238985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GB" sz="1500" dirty="0">
                <a:latin typeface="APL385 Unicode" panose="020B0709000202000203" pitchFamily="49" charset="0"/>
              </a:rPr>
              <a:t>	</a:t>
            </a:r>
            <a:r>
              <a:rPr lang="en-GB" sz="1500" dirty="0">
                <a:solidFill>
                  <a:srgbClr val="00B050"/>
                </a:solidFill>
                <a:latin typeface="APL385 Unicode" panose="020B0709000202000203" pitchFamily="49" charset="0"/>
              </a:rPr>
              <a:t>COMPUTE 2</a:t>
            </a:r>
          </a:p>
          <a:p>
            <a:pPr>
              <a:defRPr/>
            </a:pPr>
            <a:r>
              <a:rPr lang="en-GB" sz="15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result is 0.5</a:t>
            </a:r>
          </a:p>
          <a:p>
            <a:pPr>
              <a:defRPr/>
            </a:pPr>
            <a:r>
              <a:rPr lang="en-GB" sz="15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sz="1500" dirty="0">
                <a:solidFill>
                  <a:srgbClr val="00B050"/>
                </a:solidFill>
                <a:latin typeface="APL385 Unicode" panose="020B0709000202000203" pitchFamily="49" charset="0"/>
              </a:rPr>
              <a:t>COMPUTE 0</a:t>
            </a:r>
          </a:p>
          <a:p>
            <a:pPr>
              <a:defRPr/>
            </a:pPr>
            <a:r>
              <a:rPr lang="en-GB" sz="15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Didn't work</a:t>
            </a:r>
          </a:p>
        </p:txBody>
      </p:sp>
    </p:spTree>
    <p:extLst>
      <p:ext uri="{BB962C8B-B14F-4D97-AF65-F5344CB8AC3E}">
        <p14:creationId xmlns:p14="http://schemas.microsoft.com/office/powerpoint/2010/main" val="35875268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9DEA3-57C1-2DB3-B19C-17E518418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C9191F5-466A-79F6-F909-BD76784AE3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457200" indent="-457200">
              <a:buFont typeface="+mj-lt"/>
              <a:buAutoNum type="arabicPeriod" startAt="2"/>
              <a:defRPr/>
            </a:pPr>
            <a:r>
              <a:rPr lang="en-GB" dirty="0"/>
              <a:t>Action code</a:t>
            </a:r>
            <a:endParaRPr lang="en-GB" b="1" dirty="0">
              <a:solidFill>
                <a:srgbClr val="FF0000"/>
              </a:solidFill>
            </a:endParaRP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0000"/>
                </a:solidFill>
              </a:rPr>
              <a:t>C</a:t>
            </a:r>
            <a:r>
              <a:rPr lang="en-GB" dirty="0"/>
              <a:t>: </a:t>
            </a:r>
            <a:r>
              <a:rPr lang="en-GB" b="1" dirty="0"/>
              <a:t>example</a:t>
            </a:r>
          </a:p>
          <a:p>
            <a:pPr marL="0" indent="0">
              <a:buNone/>
              <a:defRPr/>
            </a:pPr>
            <a:r>
              <a:rPr lang="en-GB" dirty="0"/>
              <a:t>Here the statement is “cut back the stack and go to </a:t>
            </a:r>
            <a:r>
              <a:rPr lang="en-GB" dirty="0" err="1">
                <a:latin typeface="APL385 Unicode" panose="020B0709000202000203" pitchFamily="49" charset="0"/>
              </a:rPr>
              <a:t>oo</a:t>
            </a:r>
            <a:r>
              <a:rPr lang="en-GB" dirty="0"/>
              <a:t> if an error happens”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</a:t>
            </a:r>
            <a:r>
              <a:rPr lang="pt-BR" dirty="0">
                <a:latin typeface="APL385 Unicode" panose="020B0709000202000203" pitchFamily="49" charset="0"/>
              </a:rPr>
              <a:t> ∇ </a:t>
            </a: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COMPUTE x;⎕TRAP</a:t>
            </a:r>
          </a:p>
          <a:p>
            <a:pPr marL="0" indent="0">
              <a:buNone/>
            </a:pP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[1]    ⎕TRAP←</a:t>
            </a:r>
            <a:r>
              <a:rPr lang="pt-BR" b="1" dirty="0">
                <a:solidFill>
                  <a:srgbClr val="FF0000"/>
                </a:solidFill>
                <a:latin typeface="APL385 Unicode" panose="020B0709000202000203" pitchFamily="49" charset="0"/>
              </a:rPr>
              <a:t>0</a:t>
            </a: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 '</a:t>
            </a:r>
            <a:r>
              <a:rPr lang="pt-BR" b="1" dirty="0">
                <a:solidFill>
                  <a:srgbClr val="FF0000"/>
                </a:solidFill>
                <a:latin typeface="APL385 Unicode" panose="020B0709000202000203" pitchFamily="49" charset="0"/>
              </a:rPr>
              <a:t>C</a:t>
            </a: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' '→oo'</a:t>
            </a:r>
          </a:p>
          <a:p>
            <a:pPr marL="0" indent="0">
              <a:buNone/>
            </a:pP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[2]    ⎕←'result is',CALC x</a:t>
            </a:r>
          </a:p>
          <a:p>
            <a:pPr marL="0" indent="0">
              <a:buNone/>
            </a:pP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[3]    →0</a:t>
            </a:r>
          </a:p>
          <a:p>
            <a:pPr marL="0" indent="0">
              <a:buNone/>
            </a:pP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[4]   oo:⎕TRAP←0 'S'</a:t>
            </a:r>
            <a:b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</a:b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[5]    ⎕→'Didn''t work'</a:t>
            </a:r>
          </a:p>
          <a:p>
            <a:pPr marL="0" indent="0">
              <a:buNone/>
            </a:pPr>
            <a:r>
              <a:rPr lang="pt-BR" dirty="0">
                <a:latin typeface="APL385 Unicode" panose="020B0709000202000203" pitchFamily="49" charset="0"/>
              </a:rPr>
              <a:t>     ∇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B749DB2-0CAF-2DCE-8EFB-E325D615F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1459721-E205-AEB3-D45B-A0068F822F6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21061D-FFD5-D148-F2E0-5AF538C4DA30}"/>
              </a:ext>
            </a:extLst>
          </p:cNvPr>
          <p:cNvSpPr txBox="1"/>
          <p:nvPr/>
        </p:nvSpPr>
        <p:spPr>
          <a:xfrm>
            <a:off x="5314492" y="2956332"/>
            <a:ext cx="238985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GB" sz="1500" dirty="0">
                <a:latin typeface="APL385 Unicode" panose="020B0709000202000203" pitchFamily="49" charset="0"/>
              </a:rPr>
              <a:t>	</a:t>
            </a:r>
            <a:r>
              <a:rPr lang="en-GB" sz="1500" dirty="0">
                <a:solidFill>
                  <a:srgbClr val="00B050"/>
                </a:solidFill>
                <a:latin typeface="APL385 Unicode" panose="020B0709000202000203" pitchFamily="49" charset="0"/>
              </a:rPr>
              <a:t>COMPUTE 2</a:t>
            </a:r>
          </a:p>
          <a:p>
            <a:pPr>
              <a:defRPr/>
            </a:pPr>
            <a:r>
              <a:rPr lang="en-GB" sz="15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result is 0.5</a:t>
            </a:r>
          </a:p>
          <a:p>
            <a:pPr>
              <a:defRPr/>
            </a:pPr>
            <a:r>
              <a:rPr lang="en-GB" sz="15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sz="1500" dirty="0">
                <a:solidFill>
                  <a:srgbClr val="00B050"/>
                </a:solidFill>
                <a:latin typeface="APL385 Unicode" panose="020B0709000202000203" pitchFamily="49" charset="0"/>
              </a:rPr>
              <a:t>COMPUTE 0</a:t>
            </a:r>
          </a:p>
          <a:p>
            <a:pPr>
              <a:defRPr/>
            </a:pPr>
            <a:r>
              <a:rPr lang="en-GB" sz="15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Didn't work</a:t>
            </a:r>
          </a:p>
        </p:txBody>
      </p:sp>
    </p:spTree>
    <p:extLst>
      <p:ext uri="{BB962C8B-B14F-4D97-AF65-F5344CB8AC3E}">
        <p14:creationId xmlns:p14="http://schemas.microsoft.com/office/powerpoint/2010/main" val="21053170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E2EFF-A21A-88E9-335D-37CDB18F9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21007CF-72BB-7BC8-9CA5-B2DD5202F3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2"/>
              <a:defRPr/>
            </a:pPr>
            <a:r>
              <a:rPr lang="en-GB" dirty="0"/>
              <a:t>Action code</a:t>
            </a:r>
            <a:endParaRPr lang="en-GB" b="1" dirty="0">
              <a:solidFill>
                <a:srgbClr val="FF0000"/>
              </a:solidFill>
            </a:endParaRP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0000"/>
                </a:solidFill>
              </a:rPr>
              <a:t>N</a:t>
            </a:r>
            <a:r>
              <a:rPr lang="en-GB" dirty="0"/>
              <a:t>: skips those errors and let any other TRAP take over at the </a:t>
            </a:r>
            <a:r>
              <a:rPr lang="en-GB" b="1" dirty="0"/>
              <a:t>N</a:t>
            </a:r>
            <a:r>
              <a:rPr lang="en-GB" dirty="0"/>
              <a:t>ext level.</a:t>
            </a:r>
          </a:p>
          <a:p>
            <a:pPr marL="0" indent="0">
              <a:buNone/>
              <a:defRPr/>
            </a:pPr>
            <a:endParaRPr lang="en-GB" dirty="0"/>
          </a:p>
          <a:p>
            <a:pPr marL="0" indent="0">
              <a:buNone/>
              <a:defRPr/>
            </a:pPr>
            <a:r>
              <a:rPr lang="en-GB" dirty="0"/>
              <a:t>This is only meaningful if there are any other TRAP elements up the stack with a 0 as error to trap.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007660B-64F8-5F5D-0BC3-E24832579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29AAF6E-4709-5881-3EDD-78371215686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41869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20750-352F-BF3B-8129-4AE25786D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196111-93C8-1A68-E5DE-FBC04B5378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2"/>
              <a:defRPr/>
            </a:pPr>
            <a:r>
              <a:rPr lang="en-GB" dirty="0"/>
              <a:t>Action code</a:t>
            </a:r>
            <a:endParaRPr lang="en-GB" b="1" dirty="0">
              <a:solidFill>
                <a:srgbClr val="FF0000"/>
              </a:solidFill>
            </a:endParaRP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0000"/>
                </a:solidFill>
              </a:rPr>
              <a:t>S</a:t>
            </a:r>
            <a:r>
              <a:rPr lang="en-GB" dirty="0"/>
              <a:t>: Stop when the error(s) occur.</a:t>
            </a:r>
          </a:p>
          <a:p>
            <a:pPr marL="0" indent="0">
              <a:buNone/>
              <a:defRPr/>
            </a:pPr>
            <a:r>
              <a:rPr lang="en-GB" dirty="0"/>
              <a:t>This is typically used when debugging.</a:t>
            </a:r>
          </a:p>
          <a:p>
            <a:pPr marL="0" indent="0">
              <a:buNone/>
              <a:defRPr/>
            </a:pPr>
            <a:r>
              <a:rPr lang="en-GB" dirty="0"/>
              <a:t>Ex:</a:t>
            </a:r>
          </a:p>
          <a:p>
            <a:pPr marL="0" indent="0">
              <a:buNone/>
              <a:defRPr/>
            </a:pPr>
            <a:r>
              <a:rPr lang="en-GB" sz="1800" dirty="0">
                <a:latin typeface="APL385 Unicode" panose="020B0709000202000203" pitchFamily="49" charset="0"/>
              </a:rPr>
              <a:t>	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⎕trap←(1+DEBUG)⊃(0 'E' 'Bad') (0 'S')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F1B3BCF-35AC-3CF2-CA02-6CB49AC69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B26EA23-F65C-EEBD-41D8-D7012B639CB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25142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B316670-39A5-55D1-3AC4-01C6934A78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GB" dirty="0"/>
              <a:t>The </a:t>
            </a:r>
            <a:r>
              <a:rPr lang="en-GB" dirty="0">
                <a:latin typeface="APL385 Unicode" panose="020B0709000202000203" pitchFamily="49" charset="0"/>
              </a:rPr>
              <a:t>:Trap</a:t>
            </a:r>
            <a:r>
              <a:rPr lang="en-GB" dirty="0"/>
              <a:t> control structure provides a simpler framework: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:Trap 0</a:t>
            </a:r>
            <a:b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    </a:t>
            </a: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code_which_might_fail</a:t>
            </a: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FF9421"/>
                </a:solidFill>
                <a:latin typeface="APL385 Unicode" panose="020B0709000202000203" pitchFamily="49" charset="0"/>
              </a:rPr>
              <a:t>:Case 11 </a:t>
            </a:r>
            <a:br>
              <a:rPr lang="en-GB" dirty="0">
                <a:solidFill>
                  <a:srgbClr val="FF9421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FF9421"/>
                </a:solidFill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… Handle DOMAIN ERROR</a:t>
            </a:r>
          </a:p>
          <a:p>
            <a:pPr marL="0" indent="0">
              <a:buNone/>
            </a:pPr>
            <a:r>
              <a:rPr lang="en-GB" dirty="0">
                <a:solidFill>
                  <a:srgbClr val="FF9421"/>
                </a:solidFill>
                <a:latin typeface="APL385 Unicode" panose="020B0709000202000203" pitchFamily="49" charset="0"/>
              </a:rPr>
              <a:t>:</a:t>
            </a:r>
            <a:r>
              <a:rPr lang="en-GB" dirty="0" err="1">
                <a:solidFill>
                  <a:srgbClr val="FF9421"/>
                </a:solidFill>
                <a:latin typeface="APL385 Unicode" panose="020B0709000202000203" pitchFamily="49" charset="0"/>
              </a:rPr>
              <a:t>CaseList</a:t>
            </a:r>
            <a:r>
              <a:rPr lang="en-GB" dirty="0">
                <a:solidFill>
                  <a:srgbClr val="FF9421"/>
                </a:solidFill>
                <a:latin typeface="APL385 Unicode" panose="020B0709000202000203" pitchFamily="49" charset="0"/>
              </a:rPr>
              <a:t> 21 22 23 </a:t>
            </a:r>
            <a:endParaRPr lang="en-GB" dirty="0">
              <a:solidFill>
                <a:srgbClr val="FFC00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… Handle FILE ERRORS</a:t>
            </a:r>
          </a:p>
          <a:p>
            <a:pPr marL="0" indent="0">
              <a:buNone/>
            </a:pPr>
            <a:r>
              <a:rPr lang="en-GB" dirty="0">
                <a:solidFill>
                  <a:srgbClr val="FF9421"/>
                </a:solidFill>
                <a:latin typeface="APL385 Unicode" panose="020B0709000202000203" pitchFamily="49" charset="0"/>
              </a:rPr>
              <a:t>:Else</a:t>
            </a:r>
            <a:endParaRPr lang="en-GB" dirty="0">
              <a:solidFill>
                <a:srgbClr val="FFC00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… Handle all other errors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EndTrap</a:t>
            </a:r>
            <a:endParaRPr lang="en-GB" dirty="0">
              <a:solidFill>
                <a:srgbClr val="FF6600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3A533C1-9321-98AE-09B3-EB08ACBD8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:Trap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A1747BB-2BCD-F32A-6F28-2BA2F4629CC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5579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D3463-4850-9AF9-91C3-FB4B64196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7A8C807-A8C8-7723-BC03-1C0CDFD8F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Note that :Trap can only implement the equivalent of code C – </a:t>
            </a:r>
            <a:r>
              <a:rPr lang="en-GB" dirty="0" err="1"/>
              <a:t>CutBack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If an error occurs within a sub-function, the execution stack is always cut back to the function containing the </a:t>
            </a:r>
            <a:r>
              <a:rPr lang="en-GB" dirty="0">
                <a:latin typeface="APL385 Unicode" panose="020B0709000202000203" pitchFamily="49" charset="0"/>
              </a:rPr>
              <a:t>:Trap</a:t>
            </a:r>
            <a:r>
              <a:rPr lang="en-GB" dirty="0"/>
              <a:t> keyword.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A1DE581-7BAD-A34D-A75E-6789499F9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:Trap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7CE0C9A-EB6A-B4E1-CCAE-28E693309D8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6355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2B31DA-2556-5641-1B48-143AC49791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/>
            </a:pPr>
            <a:r>
              <a:rPr lang="en-GB" dirty="0"/>
              <a:t>This system function is used to signal an error.</a:t>
            </a:r>
          </a:p>
          <a:p>
            <a:pPr marL="0" indent="0">
              <a:buNone/>
              <a:defRPr/>
            </a:pPr>
            <a:r>
              <a:rPr lang="en-GB" dirty="0"/>
              <a:t>You can use any positive number in the range 1-999, e.g.</a:t>
            </a:r>
          </a:p>
          <a:p>
            <a:pPr marL="0" indent="0"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'Sorry, no' ⎕signal 11</a:t>
            </a:r>
          </a:p>
          <a:p>
            <a:pPr marL="0" indent="0">
              <a:buNone/>
              <a:defRPr/>
            </a:pPr>
            <a:r>
              <a:rPr lang="en-GB" dirty="0"/>
              <a:t>This replaces the usual DOMAIN ERROR with a custom error message but throws error number 11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52D7B1-4004-639A-D326-FE2414615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⎕SIGNAL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E5EDDD4-FFE0-3EF6-D380-BD6DFB1F400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35948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64BC6-0506-F5D5-82E4-A1CF10942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F7B2DCA-541A-DF0B-BF81-B85CB0A240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/>
            </a:pPr>
            <a:r>
              <a:rPr lang="en-GB" dirty="0"/>
              <a:t>This system function is used to signal an error.</a:t>
            </a:r>
          </a:p>
          <a:p>
            <a:pPr marL="0" indent="0">
              <a:buNone/>
              <a:defRPr/>
            </a:pPr>
            <a:r>
              <a:rPr lang="en-GB" dirty="0"/>
              <a:t>You can use any positive number in the range 1-999, e.g.</a:t>
            </a:r>
          </a:p>
          <a:p>
            <a:pPr marL="0" indent="0"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'Sorry, no' ⎕signal 11</a:t>
            </a:r>
          </a:p>
          <a:p>
            <a:pPr marL="0" indent="0">
              <a:buNone/>
              <a:defRPr/>
            </a:pPr>
            <a:r>
              <a:rPr lang="en-GB" dirty="0"/>
              <a:t>This replaces the usual DOMAIN ERROR with a custom error message but throws error number 11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9E51F2B-4677-EF87-BC47-AD6486962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⎕SIGNAL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11B4D38-5DB6-33C7-62BC-971BFAE3AE4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3917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C4F07-94BC-5106-B530-8D279F353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1F6BFE-19FB-E989-EA6A-4E1ECF7302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1600" dirty="0">
                <a:latin typeface="APL385 Unicode" panose="020B0709000202000203" pitchFamily="49" charset="0"/>
              </a:rPr>
              <a:t> ⎕SIGNAL(⊂('EN' 3)('Vendor' '</a:t>
            </a:r>
            <a:r>
              <a:rPr lang="en-GB" sz="1600" dirty="0" err="1">
                <a:latin typeface="APL385 Unicode" panose="020B0709000202000203" pitchFamily="49" charset="0"/>
              </a:rPr>
              <a:t>MyModule</a:t>
            </a:r>
            <a:r>
              <a:rPr lang="en-GB" sz="1600" dirty="0">
                <a:latin typeface="APL385 Unicode" panose="020B0709000202000203" pitchFamily="49" charset="0"/>
              </a:rPr>
              <a:t>')('Message' 'the bad bad'))</a:t>
            </a:r>
          </a:p>
          <a:p>
            <a:pPr marL="0" indent="0">
              <a:buNone/>
              <a:defRPr/>
            </a:pPr>
            <a:r>
              <a:rPr lang="en-GB" sz="1600" dirty="0">
                <a:latin typeface="APL385 Unicode" panose="020B0709000202000203" pitchFamily="49" charset="0"/>
              </a:rPr>
              <a:t>INDEX ERROR: the bad </a:t>
            </a:r>
            <a:r>
              <a:rPr lang="en-GB" sz="1600" dirty="0" err="1">
                <a:latin typeface="APL385 Unicode" panose="020B0709000202000203" pitchFamily="49" charset="0"/>
              </a:rPr>
              <a:t>bad</a:t>
            </a:r>
            <a:endParaRPr lang="en-GB" sz="1600" dirty="0">
              <a:latin typeface="APL385 Unicode" panose="020B0709000202000203" pitchFamily="49" charset="0"/>
            </a:endParaRPr>
          </a:p>
          <a:p>
            <a:pPr marL="0" indent="0">
              <a:buNone/>
              <a:defRPr/>
            </a:pPr>
            <a:r>
              <a:rPr lang="en-GB" sz="1600" dirty="0">
                <a:latin typeface="APL385 Unicode" panose="020B0709000202000203" pitchFamily="49" charset="0"/>
              </a:rPr>
              <a:t>      ⎕SIGNAL(⊂('EN' 3)('Message' 'the bad bad'))</a:t>
            </a:r>
          </a:p>
          <a:p>
            <a:pPr marL="0" indent="0">
              <a:buNone/>
              <a:defRPr/>
            </a:pPr>
            <a:r>
              <a:rPr lang="en-GB" sz="1600" dirty="0">
                <a:latin typeface="APL385 Unicode" panose="020B0709000202000203" pitchFamily="49" charset="0"/>
              </a:rPr>
              <a:t>      ∧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EFBC38-BC13-7712-DFFD-C464FF79F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⎕SIGNAL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6F66ACE-491B-03E3-5ECE-5BA7A597BDB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90642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1B56B2B-77D2-5739-4C56-5C6E5537E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Autofit/>
          </a:bodyPr>
          <a:lstStyle/>
          <a:p>
            <a:pPr marL="0" indent="0">
              <a:buNone/>
            </a:pPr>
            <a:r>
              <a:rPr lang="en-GB" sz="2800" dirty="0">
                <a:solidFill>
                  <a:srgbClr val="FF6600"/>
                </a:solidFill>
                <a:latin typeface="APL385 Unicode" panose="020B0709000202000203" pitchFamily="49" charset="0"/>
              </a:rPr>
              <a:t>⎕DM</a:t>
            </a:r>
          </a:p>
          <a:p>
            <a:pPr marL="0" indent="0">
              <a:buNone/>
            </a:pPr>
            <a:r>
              <a:rPr lang="en-GB" sz="2800" dirty="0">
                <a:solidFill>
                  <a:srgbClr val="FF6600"/>
                </a:solidFill>
                <a:latin typeface="APL385 Unicode" panose="020B0709000202000203" pitchFamily="49" charset="0"/>
              </a:rPr>
              <a:t>⎕DMX</a:t>
            </a:r>
          </a:p>
          <a:p>
            <a:pPr marL="0" indent="0">
              <a:buNone/>
            </a:pPr>
            <a:r>
              <a:rPr lang="en-GB" sz="2800" dirty="0">
                <a:solidFill>
                  <a:srgbClr val="FF6600"/>
                </a:solidFill>
                <a:latin typeface="APL385 Unicode" panose="020B0709000202000203" pitchFamily="49" charset="0"/>
              </a:rPr>
              <a:t>⎕EM</a:t>
            </a:r>
          </a:p>
          <a:p>
            <a:pPr marL="0" indent="0">
              <a:buNone/>
            </a:pPr>
            <a:r>
              <a:rPr lang="en-GB" sz="2800" dirty="0">
                <a:solidFill>
                  <a:srgbClr val="FF6600"/>
                </a:solidFill>
                <a:latin typeface="APL385 Unicode" panose="020B0709000202000203" pitchFamily="49" charset="0"/>
              </a:rPr>
              <a:t>⎕EN</a:t>
            </a:r>
          </a:p>
          <a:p>
            <a:pPr marL="0" indent="0">
              <a:buNone/>
            </a:pPr>
            <a:r>
              <a:rPr lang="en-GB" sz="2800" dirty="0">
                <a:solidFill>
                  <a:srgbClr val="FF6600"/>
                </a:solidFill>
                <a:latin typeface="APL385 Unicode" panose="020B0709000202000203" pitchFamily="49" charset="0"/>
              </a:rPr>
              <a:t>⎕EXCEPTION</a:t>
            </a:r>
          </a:p>
          <a:p>
            <a:pPr marL="0" indent="0">
              <a:buNone/>
            </a:pPr>
            <a:r>
              <a:rPr lang="en-GB" sz="2800" dirty="0">
                <a:solidFill>
                  <a:srgbClr val="FF6600"/>
                </a:solidFill>
                <a:latin typeface="APL385 Unicode" panose="020B0709000202000203" pitchFamily="49" charset="0"/>
              </a:rPr>
              <a:t>⎕LC</a:t>
            </a:r>
          </a:p>
          <a:p>
            <a:pPr marL="0" indent="0">
              <a:buNone/>
            </a:pPr>
            <a:r>
              <a:rPr lang="en-GB" sz="2800" dirty="0">
                <a:solidFill>
                  <a:srgbClr val="FF6600"/>
                </a:solidFill>
                <a:latin typeface="APL385 Unicode" panose="020B0709000202000203" pitchFamily="49" charset="0"/>
              </a:rPr>
              <a:t>⎕SI</a:t>
            </a:r>
          </a:p>
          <a:p>
            <a:pPr marL="0" indent="0">
              <a:buNone/>
            </a:pPr>
            <a:r>
              <a:rPr lang="en-GB" sz="2800" dirty="0">
                <a:solidFill>
                  <a:srgbClr val="FF6600"/>
                </a:solidFill>
                <a:latin typeface="APL385 Unicode" panose="020B0709000202000203" pitchFamily="49" charset="0"/>
              </a:rPr>
              <a:t>⎕NSI</a:t>
            </a:r>
          </a:p>
          <a:p>
            <a:pPr marL="0" indent="0">
              <a:buNone/>
            </a:pPr>
            <a:r>
              <a:rPr lang="en-GB" sz="2800" dirty="0">
                <a:solidFill>
                  <a:srgbClr val="FF6600"/>
                </a:solidFill>
                <a:latin typeface="APL385 Unicode" panose="020B0709000202000203" pitchFamily="49" charset="0"/>
              </a:rPr>
              <a:t>⎕RSI</a:t>
            </a:r>
          </a:p>
          <a:p>
            <a:pPr marL="0" indent="0">
              <a:buNone/>
            </a:pPr>
            <a:r>
              <a:rPr lang="en-GB" sz="2800" dirty="0">
                <a:solidFill>
                  <a:srgbClr val="FF6600"/>
                </a:solidFill>
                <a:latin typeface="APL385 Unicode" panose="020B0709000202000203" pitchFamily="49" charset="0"/>
              </a:rPr>
              <a:t>⎕XSI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0FBE07-A2F8-975E-B9D5-3321F2184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400" dirty="0"/>
              <a:t>Error Handling System Functions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67DA914-F7D1-FF9A-9F73-03BD4BF47FE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75218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F2648E-67D4-D607-FE4E-E1A57D198A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dirty="0"/>
              <a:t>The Diagnostic Message is printed to the session when the error occurs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÷0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DOMAIN ERROR: Divide by zero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÷0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∧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⎕DM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┌────────────┬────────┬───────┐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│DOMAIN ERROR│      ÷0│      ∧│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└────────────┴────────┴───────┘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7ED2DC8-205C-73B8-E133-A919B2EE9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⎕DM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9859E55-F37F-CDBE-8699-51C6AD134E1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40984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C8292-BF2A-C4E2-7BBF-6DE11E549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88BA50A-C831-8967-95BB-B0169C93AD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</a:t>
            </a:r>
            <a:r>
              <a:rPr lang="en-GB" dirty="0" err="1"/>
              <a:t>eXtended</a:t>
            </a:r>
            <a:r>
              <a:rPr lang="en-GB" dirty="0"/>
              <a:t> Diagnostic Message is a namespace with lots of information about the error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83F7324-1222-FA8E-3672-3BF0AAF85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⎕DMX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31FC060-B7D1-EA38-A081-AB676C0C846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60684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8428D-4E8D-90C1-36AD-EC4F940BB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4CE0E9-6F0C-9AED-98F8-59E7D99252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</a:t>
            </a:r>
            <a:r>
              <a:rPr lang="en-GB" dirty="0" err="1"/>
              <a:t>eXtended</a:t>
            </a:r>
            <a:r>
              <a:rPr lang="en-GB" dirty="0"/>
              <a:t> Diagnostic Message is a namespace with lots of information about the error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E90CA7E-7260-FC68-7922-CACF55DF3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⎕DMX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4116BFC-8C91-BD8B-E05F-99E2C4CBB0D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F1852BED-D38E-581D-2345-6C4C29B2BC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43943" y="371185"/>
            <a:ext cx="6621294" cy="424731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APL385 Unicode" panose="020B0709000202000203" pitchFamily="49" charset="0"/>
              </a:rPr>
              <a:t>      ]</a:t>
            </a:r>
            <a:r>
              <a:rPr kumimoji="0" lang="en-US" altLang="en-US" sz="1500" b="0" i="0" u="none" strike="noStrike" cap="none" normalizeH="0" baseline="0" dirty="0" err="1">
                <a:ln>
                  <a:noFill/>
                </a:ln>
                <a:solidFill>
                  <a:srgbClr val="00B050"/>
                </a:solidFill>
                <a:effectLst/>
                <a:latin typeface="APL385 Unicode" panose="020B0709000202000203" pitchFamily="49" charset="0"/>
              </a:rPr>
              <a:t>repr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APL385 Unicode" panose="020B0709000202000203" pitchFamily="49" charset="0"/>
              </a:rPr>
              <a:t> -f=</a:t>
            </a:r>
            <a:r>
              <a:rPr kumimoji="0" lang="en-US" altLang="en-US" sz="1500" b="0" i="0" u="none" strike="noStrike" cap="none" normalizeH="0" baseline="0" dirty="0" err="1">
                <a:ln>
                  <a:noFill/>
                </a:ln>
                <a:solidFill>
                  <a:srgbClr val="00B050"/>
                </a:solidFill>
                <a:effectLst/>
                <a:latin typeface="APL385 Unicode" panose="020B0709000202000203" pitchFamily="49" charset="0"/>
              </a:rPr>
              <a:t>js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APL385 Unicode" panose="020B0709000202000203" pitchFamily="49" charset="0"/>
              </a:rPr>
              <a:t> ⎕DMX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Category: "General",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DM: ["DOMAIN ERROR",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 "      ÷0",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 "      ∧"],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EM: "DOMAIN ERROR",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EN: 11,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ENX: 1,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</a:t>
            </a:r>
            <a:r>
              <a:rPr kumimoji="0" lang="en-US" altLang="en-US" sz="1500" b="0" i="0" u="none" strike="noStrike" cap="none" normalizeH="0" baseline="0" dirty="0" err="1">
                <a:ln>
                  <a:noFill/>
                </a:ln>
                <a:effectLst/>
                <a:latin typeface="APL385 Unicode" panose="020B0709000202000203" pitchFamily="49" charset="0"/>
              </a:rPr>
              <a:t>HelpURL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: "https://help.dyalog.com/</a:t>
            </a:r>
            <a:r>
              <a:rPr kumimoji="0" lang="en-US" altLang="en-US" sz="1500" b="0" i="0" u="none" strike="noStrike" cap="none" normalizeH="0" baseline="0" dirty="0" err="1">
                <a:ln>
                  <a:noFill/>
                </a:ln>
                <a:effectLst/>
                <a:latin typeface="APL385 Unicode" panose="020B0709000202000203" pitchFamily="49" charset="0"/>
              </a:rPr>
              <a:t>dmx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/19.0/General/1",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</a:t>
            </a:r>
            <a:r>
              <a:rPr kumimoji="0" lang="en-US" altLang="en-US" sz="1500" b="0" i="0" u="none" strike="noStrike" cap="none" normalizeH="0" baseline="0" dirty="0" err="1">
                <a:ln>
                  <a:noFill/>
                </a:ln>
                <a:effectLst/>
                <a:latin typeface="APL385 Unicode" panose="020B0709000202000203" pitchFamily="49" charset="0"/>
              </a:rPr>
              <a:t>InternalLocation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: ["scalm.cpp",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 354],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Message: "Divide by zero",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</a:t>
            </a:r>
            <a:r>
              <a:rPr kumimoji="0" lang="en-US" altLang="en-US" sz="1500" b="0" i="0" u="none" strike="noStrike" cap="none" normalizeH="0" baseline="0" dirty="0" err="1">
                <a:ln>
                  <a:noFill/>
                </a:ln>
                <a:effectLst/>
                <a:latin typeface="APL385 Unicode" panose="020B0709000202000203" pitchFamily="49" charset="0"/>
              </a:rPr>
              <a:t>OSError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: [0,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 0,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 ""],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Vendor: "Dyalog",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}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40604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E7F761C-8284-104D-5B67-A6AD0442FD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dirty="0"/>
              <a:t>An error guard is any number (including 0) of </a:t>
            </a:r>
            <a:r>
              <a:rPr lang="en-GB" i="1" dirty="0">
                <a:solidFill>
                  <a:srgbClr val="E19205"/>
                </a:solidFill>
              </a:rPr>
              <a:t>error numbers </a:t>
            </a:r>
            <a:r>
              <a:rPr lang="en-GB" dirty="0"/>
              <a:t>followed by </a:t>
            </a:r>
            <a:r>
              <a:rPr lang="en-GB" b="1" dirty="0">
                <a:solidFill>
                  <a:srgbClr val="E19205"/>
                </a:solidFill>
              </a:rPr>
              <a:t>::</a:t>
            </a:r>
            <a:r>
              <a:rPr lang="en-GB" dirty="0"/>
              <a:t> as in</a:t>
            </a:r>
            <a:br>
              <a:rPr lang="en-GB" dirty="0"/>
            </a:br>
            <a:br>
              <a:rPr lang="en-GB" dirty="0"/>
            </a:b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sz="2625" dirty="0" err="1">
                <a:latin typeface="APL385 Unicode" panose="020B0709000202000203" pitchFamily="49" charset="0"/>
              </a:rPr>
              <a:t>dfn</a:t>
            </a:r>
            <a:r>
              <a:rPr lang="en-GB" sz="2625" dirty="0">
                <a:latin typeface="APL385 Unicode" panose="020B0709000202000203" pitchFamily="49" charset="0"/>
              </a:rPr>
              <a:t>←{…</a:t>
            </a:r>
          </a:p>
          <a:p>
            <a:pPr marL="0" indent="0">
              <a:buNone/>
            </a:pPr>
            <a:r>
              <a:rPr lang="en-GB" sz="2625" dirty="0">
                <a:solidFill>
                  <a:srgbClr val="FF6600"/>
                </a:solidFill>
                <a:latin typeface="APL385 Unicode" panose="020B0709000202000203" pitchFamily="49" charset="0"/>
              </a:rPr>
              <a:t>    11  :: 'Sorry, No'</a:t>
            </a:r>
            <a:br>
              <a:rPr lang="en-GB" sz="2625" dirty="0">
                <a:solidFill>
                  <a:srgbClr val="FF6600"/>
                </a:solidFill>
                <a:latin typeface="APL385 Unicode" panose="020B0709000202000203" pitchFamily="49" charset="0"/>
              </a:rPr>
            </a:br>
            <a:r>
              <a:rPr lang="en-GB" sz="2625" dirty="0">
                <a:solidFill>
                  <a:srgbClr val="FF6600"/>
                </a:solidFill>
                <a:latin typeface="APL385 Unicode" panose="020B0709000202000203" pitchFamily="49" charset="0"/>
              </a:rPr>
              <a:t>    4 6 :: '</a:t>
            </a:r>
            <a:r>
              <a:rPr lang="en-GB" sz="2625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Ooops</a:t>
            </a:r>
            <a:r>
              <a:rPr lang="en-GB" sz="2625" dirty="0">
                <a:solidFill>
                  <a:srgbClr val="FF6600"/>
                </a:solidFill>
                <a:latin typeface="APL385 Unicode" panose="020B0709000202000203" pitchFamily="49" charset="0"/>
              </a:rPr>
              <a:t>!'</a:t>
            </a:r>
          </a:p>
          <a:p>
            <a:pPr marL="0" indent="0">
              <a:buNone/>
            </a:pPr>
            <a:r>
              <a:rPr lang="en-GB" sz="2625" dirty="0">
                <a:latin typeface="APL385 Unicode" panose="020B0709000202000203" pitchFamily="49" charset="0"/>
              </a:rPr>
              <a:t>	Code which might fail</a:t>
            </a:r>
          </a:p>
          <a:p>
            <a:pPr marL="0" indent="0">
              <a:buNone/>
            </a:pPr>
            <a:r>
              <a:rPr lang="en-GB" sz="2625" dirty="0">
                <a:latin typeface="APL385 Unicode" panose="020B0709000202000203" pitchFamily="49" charset="0"/>
              </a:rPr>
              <a:t>	}</a:t>
            </a:r>
            <a:br>
              <a:rPr lang="en-GB" sz="2625" dirty="0">
                <a:latin typeface="APL385 Unicode" panose="020B0709000202000203" pitchFamily="49" charset="0"/>
              </a:rPr>
            </a:br>
            <a:endParaRPr lang="en-GB" sz="2625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/>
              <a:t>If a guarded error occurs, the result of the </a:t>
            </a:r>
            <a:r>
              <a:rPr lang="en-GB" dirty="0" err="1"/>
              <a:t>dfn</a:t>
            </a:r>
            <a:r>
              <a:rPr lang="en-GB" dirty="0"/>
              <a:t> is the result of evaluating the guard expression. Again, the stack is cut back – variables assigned after the trap are not defined!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E1F4486-A95E-FF1B-0048-56045DF46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Error Trapping in </a:t>
            </a:r>
            <a:r>
              <a:rPr lang="en-GB" dirty="0" err="1"/>
              <a:t>dfns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00B948E-AC2A-B6AE-DBF7-782C0995F66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21180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7220DE2-D8C5-6314-7D11-71822EC00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There are 3 ways to trap errors:</a:t>
            </a:r>
          </a:p>
          <a:p>
            <a:pPr lvl="1">
              <a:defRPr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</a:t>
            </a:r>
            <a:r>
              <a:rPr lang="en-GB" dirty="0"/>
              <a:t>,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:Trap</a:t>
            </a:r>
            <a:r>
              <a:rPr lang="en-GB" dirty="0"/>
              <a:t> and error guards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::</a:t>
            </a:r>
            <a:r>
              <a:rPr lang="en-GB" dirty="0"/>
              <a:t>) in </a:t>
            </a:r>
            <a:r>
              <a:rPr lang="en-GB" dirty="0" err="1"/>
              <a:t>dfns</a:t>
            </a:r>
            <a:endParaRPr lang="en-GB" dirty="0"/>
          </a:p>
          <a:p>
            <a:pPr>
              <a:defRPr/>
            </a:pPr>
            <a:r>
              <a:rPr lang="en-GB" dirty="0">
                <a:latin typeface="APL385 Unicode" panose="020B0709000202000203" pitchFamily="49" charset="0"/>
              </a:rPr>
              <a:t>:Trap</a:t>
            </a:r>
            <a:r>
              <a:rPr lang="en-GB" dirty="0"/>
              <a:t> and </a:t>
            </a:r>
            <a:r>
              <a:rPr lang="en-GB" dirty="0" err="1"/>
              <a:t>dfn</a:t>
            </a:r>
            <a:r>
              <a:rPr lang="en-GB" dirty="0"/>
              <a:t> guards always cut back the stack, they don’t execute anything in the error environment</a:t>
            </a:r>
          </a:p>
          <a:p>
            <a:pPr>
              <a:defRPr/>
            </a:pPr>
            <a:r>
              <a:rPr lang="en-GB" dirty="0">
                <a:latin typeface="APL385 Unicode" panose="020B0709000202000203" pitchFamily="49" charset="0"/>
              </a:rPr>
              <a:t>⎕TRAP</a:t>
            </a:r>
            <a:r>
              <a:rPr lang="en-GB" dirty="0"/>
              <a:t> code </a:t>
            </a:r>
            <a:r>
              <a:rPr lang="en-GB" dirty="0">
                <a:latin typeface="APL385 Unicode" panose="020B0709000202000203" pitchFamily="49" charset="0"/>
              </a:rPr>
              <a:t>'E'</a:t>
            </a:r>
            <a:r>
              <a:rPr lang="en-GB" dirty="0"/>
              <a:t> allows handling an error at the level it occurs.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ED36D50-E0BF-6A7E-D8B0-1E01A2448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Review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668A6D5-370F-4042-275A-2E9BEE3D644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884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CD39006-E37E-0337-D1AF-0F7595BDB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CAB29F2-642B-919F-17F6-EDF928630E1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D62F026F-DE9E-281E-47D2-DEF211C4B7DE}"/>
              </a:ext>
            </a:extLst>
          </p:cNvPr>
          <p:cNvSpPr>
            <a:spLocks noGrp="1"/>
          </p:cNvSpPr>
          <p:nvPr/>
        </p:nvSpPr>
        <p:spPr>
          <a:xfrm rot="11561194">
            <a:off x="350204" y="1000979"/>
            <a:ext cx="8443592" cy="31415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15000" dirty="0"/>
              <a:t>🤔</a:t>
            </a:r>
          </a:p>
        </p:txBody>
      </p:sp>
    </p:spTree>
    <p:extLst>
      <p:ext uri="{BB962C8B-B14F-4D97-AF65-F5344CB8AC3E}">
        <p14:creationId xmlns:p14="http://schemas.microsoft.com/office/powerpoint/2010/main" val="7894266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99F4E-0D14-A4ED-290E-12316572D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F611114-ED59-26AC-955D-778199DDB2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itchFamily="34" charset="0"/>
              <a:buChar char="•"/>
            </a:pPr>
            <a:r>
              <a:rPr lang="en-GB" dirty="0"/>
              <a:t>Write a </a:t>
            </a:r>
            <a:r>
              <a:rPr lang="en-GB" dirty="0" err="1"/>
              <a:t>TradFn</a:t>
            </a:r>
            <a:r>
              <a:rPr lang="en-GB" dirty="0"/>
              <a:t> which computes how many elements of its right </a:t>
            </a:r>
            <a:r>
              <a:rPr lang="en-GB" dirty="0" err="1"/>
              <a:t>arg</a:t>
            </a:r>
            <a:r>
              <a:rPr lang="en-GB" dirty="0"/>
              <a:t> are &gt; corresponding elements of the left.</a:t>
            </a:r>
            <a:br>
              <a:rPr lang="en-GB" dirty="0"/>
            </a:br>
            <a:r>
              <a:rPr lang="en-GB" dirty="0"/>
              <a:t>It should use </a:t>
            </a:r>
            <a:r>
              <a:rPr lang="en-GB" dirty="0">
                <a:latin typeface="APL385 Unicode" panose="020B0709000202000203" pitchFamily="49" charset="0"/>
              </a:rPr>
              <a:t>⎕TRAP</a:t>
            </a:r>
            <a:r>
              <a:rPr lang="en-GB" dirty="0"/>
              <a:t> to catch DOMAIN and a RANK errors and return ¯1 if an error occurs.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GB" dirty="0"/>
              <a:t>Modify the function to use </a:t>
            </a:r>
            <a:r>
              <a:rPr lang="en-GB" dirty="0">
                <a:latin typeface="APL385 Unicode" panose="020B0709000202000203" pitchFamily="49" charset="0"/>
              </a:rPr>
              <a:t>:Trap</a:t>
            </a:r>
            <a:endParaRPr lang="en-GB" dirty="0"/>
          </a:p>
          <a:p>
            <a:pPr marL="342900" indent="-342900">
              <a:buFont typeface="Arial" pitchFamily="34" charset="0"/>
              <a:buChar char="•"/>
            </a:pPr>
            <a:r>
              <a:rPr lang="en-GB" dirty="0"/>
              <a:t>Rewrite the function as a </a:t>
            </a:r>
            <a:r>
              <a:rPr lang="en-GB" dirty="0" err="1"/>
              <a:t>Dfn</a:t>
            </a:r>
            <a:r>
              <a:rPr lang="en-GB" dirty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024095A-39FA-AB86-3A3A-1A224B9A7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211925D-F911-9C6C-42C1-C6A6722CFC1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89862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Dyalog">
      <a:dk1>
        <a:srgbClr val="3B475E"/>
      </a:dk1>
      <a:lt1>
        <a:sysClr val="window" lastClr="FFFFFF"/>
      </a:lt1>
      <a:dk2>
        <a:srgbClr val="5A6D8F"/>
      </a:dk2>
      <a:lt2>
        <a:srgbClr val="F6F6D9"/>
      </a:lt2>
      <a:accent1>
        <a:srgbClr val="ED7F00"/>
      </a:accent1>
      <a:accent2>
        <a:srgbClr val="928ABD"/>
      </a:accent2>
      <a:accent3>
        <a:srgbClr val="2C5656"/>
      </a:accent3>
      <a:accent4>
        <a:srgbClr val="FFA336"/>
      </a:accent4>
      <a:accent5>
        <a:srgbClr val="BBB5D6"/>
      </a:accent5>
      <a:accent6>
        <a:srgbClr val="231F20"/>
      </a:accent6>
      <a:hlink>
        <a:srgbClr val="5A6D8F"/>
      </a:hlink>
      <a:folHlink>
        <a:srgbClr val="928ABD"/>
      </a:folHlink>
    </a:clrScheme>
    <a:fontScheme name="Sarabun">
      <a:majorFont>
        <a:latin typeface="Sarabun"/>
        <a:ea typeface=""/>
        <a:cs typeface=""/>
      </a:majorFont>
      <a:minorFont>
        <a:latin typeface="Sarabu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yalog19_template_bold_calibri.potx" id="{F0C38D23-3AC9-47E9-8D0D-BEDB5EAFCAD2}" vid="{35320D08-F00A-4224-9D94-CDC48BBB4D0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2720</TotalTime>
  <Words>1673</Words>
  <Application>Microsoft Office PowerPoint</Application>
  <PresentationFormat>On-screen Show (16:9)</PresentationFormat>
  <Paragraphs>226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Sarabun</vt:lpstr>
      <vt:lpstr>APL385 Unicode</vt:lpstr>
      <vt:lpstr>Calibri</vt:lpstr>
      <vt:lpstr>Arial</vt:lpstr>
      <vt:lpstr>Wingdings 2</vt:lpstr>
      <vt:lpstr>Office Theme</vt:lpstr>
      <vt:lpstr>APL Bootcamp - Errors</vt:lpstr>
      <vt:lpstr>Trapping Errors</vt:lpstr>
      <vt:lpstr>Trapping Errors</vt:lpstr>
      <vt:lpstr>There are 2 ways to trap errors in Tfns: Setting the system variable ⎕TRAP Using the :Trap / :EndTrap control structure And one way in dfns: Error guards  Trapping Errors</vt:lpstr>
      <vt:lpstr>Using ⎕TRAP</vt:lpstr>
      <vt:lpstr>Using ⎕TRAP</vt:lpstr>
      <vt:lpstr>Using ⎕TRAP</vt:lpstr>
      <vt:lpstr>Using ⎕TRAP</vt:lpstr>
      <vt:lpstr>Using ⎕TRAP</vt:lpstr>
      <vt:lpstr>Using ⎕TRAP</vt:lpstr>
      <vt:lpstr>Using ⎕TRAP E</vt:lpstr>
      <vt:lpstr>Using ⎕TRAP E</vt:lpstr>
      <vt:lpstr>Using ⎕TRAP E</vt:lpstr>
      <vt:lpstr>Using ⎕TRAP C</vt:lpstr>
      <vt:lpstr>Using ⎕TRAP C</vt:lpstr>
      <vt:lpstr>Using ⎕TRAP N</vt:lpstr>
      <vt:lpstr>Using ⎕TRAP N</vt:lpstr>
      <vt:lpstr>Using ⎕TRAP N</vt:lpstr>
      <vt:lpstr>:Trap</vt:lpstr>
      <vt:lpstr>:Trap</vt:lpstr>
      <vt:lpstr>⎕SIGNAL</vt:lpstr>
      <vt:lpstr>⎕SIGNAL</vt:lpstr>
      <vt:lpstr>⎕SIGNAL</vt:lpstr>
      <vt:lpstr>Error Handling System Functions</vt:lpstr>
      <vt:lpstr>⎕DM</vt:lpstr>
      <vt:lpstr>⎕DMX</vt:lpstr>
      <vt:lpstr>⎕DMX</vt:lpstr>
      <vt:lpstr>Error Trapping in dfns</vt:lpstr>
      <vt:lpstr>Review</vt:lpstr>
      <vt:lpstr>Questions?</vt:lpstr>
      <vt:lpstr>Exercise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Fiona Smith</dc:creator>
  <cp:lastModifiedBy>Rich Park</cp:lastModifiedBy>
  <cp:revision>255</cp:revision>
  <dcterms:created xsi:type="dcterms:W3CDTF">2019-07-25T11:46:05Z</dcterms:created>
  <dcterms:modified xsi:type="dcterms:W3CDTF">2025-08-20T16:05:42Z</dcterms:modified>
</cp:coreProperties>
</file>