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7" r:id="rId2"/>
    <p:sldId id="266" r:id="rId3"/>
    <p:sldId id="268" r:id="rId4"/>
    <p:sldId id="269" r:id="rId5"/>
    <p:sldId id="434" r:id="rId6"/>
    <p:sldId id="429" r:id="rId7"/>
    <p:sldId id="433" r:id="rId8"/>
    <p:sldId id="430" r:id="rId9"/>
    <p:sldId id="431" r:id="rId10"/>
    <p:sldId id="523" r:id="rId11"/>
    <p:sldId id="543" r:id="rId12"/>
    <p:sldId id="544" r:id="rId13"/>
    <p:sldId id="541" r:id="rId14"/>
    <p:sldId id="520" r:id="rId15"/>
    <p:sldId id="521" r:id="rId16"/>
    <p:sldId id="507" r:id="rId17"/>
    <p:sldId id="508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9" r:id="rId28"/>
    <p:sldId id="470" r:id="rId29"/>
    <p:sldId id="471" r:id="rId30"/>
    <p:sldId id="472" r:id="rId31"/>
    <p:sldId id="545" r:id="rId32"/>
    <p:sldId id="547" r:id="rId33"/>
    <p:sldId id="548" r:id="rId34"/>
    <p:sldId id="549" r:id="rId35"/>
    <p:sldId id="550" r:id="rId36"/>
    <p:sldId id="551" r:id="rId37"/>
    <p:sldId id="552" r:id="rId38"/>
    <p:sldId id="553" r:id="rId39"/>
  </p:sldIdLst>
  <p:sldSz cx="9144000" cy="5143500" type="screen16x9"/>
  <p:notesSz cx="6858000" cy="9144000"/>
  <p:embeddedFontLst>
    <p:embeddedFont>
      <p:font typeface="APL333" panose="020B0700000202000203" pitchFamily="34" charset="0"/>
      <p:regular r:id="rId42"/>
    </p:embeddedFont>
    <p:embeddedFont>
      <p:font typeface="APL385 Unicode" panose="020B0709000202000203" pitchFamily="49" charset="0"/>
      <p:regular r:id="rId43"/>
    </p:embeddedFont>
    <p:embeddedFont>
      <p:font typeface="Sarabun" panose="00000500000000000000" pitchFamily="2" charset="-34"/>
      <p:regular r:id="rId44"/>
      <p:bold r:id="rId45"/>
      <p:italic r:id="rId46"/>
      <p:boldItalic r:id="rId47"/>
    </p:embeddedFont>
    <p:embeddedFont>
      <p:font typeface="Wingdings 2" panose="05020102010507070707" pitchFamily="18" charset="2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A6D8F"/>
    <a:srgbClr val="3B475E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3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NUL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506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076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1547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0660A-27FD-4528-AE7F-EC6080404EEB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654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After this slide, handout "function compositions" cheat sheet</a:t>
            </a:r>
          </a:p>
        </p:txBody>
      </p:sp>
    </p:spTree>
    <p:extLst>
      <p:ext uri="{BB962C8B-B14F-4D97-AF65-F5344CB8AC3E}">
        <p14:creationId xmlns:p14="http://schemas.microsoft.com/office/powerpoint/2010/main" val="622823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4143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After this slide, handout "trains" cheat sheet</a:t>
            </a:r>
          </a:p>
        </p:txBody>
      </p:sp>
    </p:spTree>
    <p:extLst>
      <p:ext uri="{BB962C8B-B14F-4D97-AF65-F5344CB8AC3E}">
        <p14:creationId xmlns:p14="http://schemas.microsoft.com/office/powerpoint/2010/main" val="2370591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6157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E3F7-0CCD-9EAA-F233-84D4AC48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D6913-2AB3-E3A9-1C4D-DB86C4C33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83105-8E51-62BA-7452-9C6AE750A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9322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723925" y="1417983"/>
            <a:ext cx="2127975" cy="308898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717550" indent="-355600">
              <a:buSzPct val="60000"/>
              <a:buFont typeface="Courier New" panose="02070309020205020404" pitchFamily="49" charset="0"/>
              <a:buChar char="o"/>
              <a:defRPr/>
            </a:lvl2pPr>
            <a:lvl3pPr marL="1079500" indent="-361950">
              <a:buFont typeface="Wingdings" panose="05000000000000000000" pitchFamily="2" charset="2"/>
              <a:buChar char="§"/>
              <a:defRPr/>
            </a:lvl3pPr>
            <a:lvl4pPr marL="1433513" indent="-354013">
              <a:buFont typeface="Calibri" panose="020F0502020204030204" pitchFamily="34" charset="0"/>
              <a:buChar char="–"/>
              <a:defRPr/>
            </a:lvl4pPr>
          </a:lstStyle>
          <a:p>
            <a:r>
              <a:rPr lang="da-DK" dirty="0"/>
              <a:t>Space here </a:t>
            </a:r>
            <a:br>
              <a:rPr lang="da-DK" dirty="0"/>
            </a:br>
            <a:r>
              <a:rPr lang="da-DK" dirty="0"/>
              <a:t>for code </a:t>
            </a:r>
            <a:r>
              <a:rPr lang="da-DK" dirty="0">
                <a:latin typeface="APL385 Unicode" panose="020B0709000202000203" pitchFamily="49" charset="0"/>
              </a:rPr>
              <a:t>{⍺×⍵}</a:t>
            </a:r>
            <a:br>
              <a:rPr lang="da-DK" dirty="0"/>
            </a:br>
            <a:r>
              <a:rPr lang="da-DK" dirty="0"/>
              <a:t>pictures</a:t>
            </a:r>
            <a:br>
              <a:rPr lang="da-DK" dirty="0"/>
            </a:br>
            <a:r>
              <a:rPr lang="da-DK" dirty="0"/>
              <a:t>etc.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609251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D952242-8C5B-5D1C-6EEB-5EED6E14074A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6936581" y="0"/>
            <a:ext cx="2207419" cy="1320800"/>
          </a:xfrm>
          <a:noFill/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pPr lvl="0"/>
            <a:r>
              <a:rPr lang="en-GB" dirty="0" err="1"/>
              <a:t>PICinPIC</a:t>
            </a:r>
            <a:r>
              <a:rPr lang="en-GB" dirty="0"/>
              <a:t> WILL SHOW HERE, CONTENT COULD BE OBSCURED.</a:t>
            </a:r>
            <a:br>
              <a:rPr lang="en-GB" dirty="0"/>
            </a:br>
            <a:r>
              <a:rPr lang="en-GB" dirty="0"/>
              <a:t>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312202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6B9AF9E6-AA45-9785-A1CE-16C2DFAA1EE0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6936581" y="0"/>
            <a:ext cx="2207419" cy="1320800"/>
          </a:xfrm>
          <a:noFill/>
        </p:spPr>
        <p:txBody>
          <a:bodyPr anchor="ctr"/>
          <a:lstStyle>
            <a:lvl1pPr marL="0" indent="0" algn="ctr">
              <a:buNone/>
              <a:defRPr sz="1200" baseline="0"/>
            </a:lvl1pPr>
          </a:lstStyle>
          <a:p>
            <a:pPr lvl="0"/>
            <a:r>
              <a:rPr lang="en-GB" dirty="0" err="1"/>
              <a:t>PICinPIC</a:t>
            </a:r>
            <a:r>
              <a:rPr lang="en-GB" dirty="0"/>
              <a:t> WILL SHOW HERE, CONTENT COULD BE OBSCURED.</a:t>
            </a:r>
            <a:br>
              <a:rPr lang="en-GB" dirty="0"/>
            </a:br>
            <a:r>
              <a:rPr lang="en-GB" dirty="0"/>
              <a:t>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11132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Tacit Programming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59" r:id="rId7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Relationship Id="rId9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15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Tacit Programming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2FCDF-6D5B-DCC4-B0B3-7A9B37838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tabLst>
                <a:tab pos="2155825" algn="l"/>
              </a:tabLst>
            </a:pPr>
            <a:r>
              <a:rPr lang="en-GB" dirty="0"/>
              <a:t>Explicit code mentions arguments:</a:t>
            </a:r>
          </a:p>
          <a:p>
            <a:pPr>
              <a:tabLst>
                <a:tab pos="2155825" algn="l"/>
              </a:tabLst>
            </a:pPr>
            <a:r>
              <a:rPr lang="en-GB" dirty="0"/>
              <a:t>Expression	</a:t>
            </a:r>
            <a:r>
              <a:rPr lang="en-GB" dirty="0">
                <a:latin typeface="APL385 Unicode" panose="020B0709000202000203" pitchFamily="49" charset="0"/>
              </a:rPr>
              <a:t>(⌈/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N</a:t>
            </a:r>
            <a:r>
              <a:rPr lang="en-GB" dirty="0">
                <a:latin typeface="APL385 Unicode" panose="020B0709000202000203" pitchFamily="49" charset="0"/>
              </a:rPr>
              <a:t>)-⌊/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N</a:t>
            </a:r>
            <a:r>
              <a:rPr lang="en-GB" dirty="0">
                <a:latin typeface="APL385 Unicode" panose="020B0709000202000203" pitchFamily="49" charset="0"/>
              </a:rPr>
              <a:t>←3 1 4 1 5</a:t>
            </a:r>
          </a:p>
          <a:p>
            <a:pPr>
              <a:tabLst>
                <a:tab pos="2155825" algn="l"/>
              </a:tabLst>
            </a:pPr>
            <a:r>
              <a:rPr lang="en-GB" dirty="0" err="1"/>
              <a:t>Tradfn</a:t>
            </a:r>
            <a:r>
              <a:rPr lang="en-GB" dirty="0"/>
              <a:t>	</a:t>
            </a:r>
            <a:r>
              <a:rPr lang="en-GB" dirty="0">
                <a:latin typeface="APL385 Unicode" panose="020B0709000202000203" pitchFamily="49" charset="0"/>
              </a:rPr>
              <a:t>∇ </a:t>
            </a:r>
            <a:r>
              <a:rPr lang="en-GB" dirty="0" err="1">
                <a:latin typeface="APL385 Unicode" panose="020B0709000202000203" pitchFamily="49" charset="0"/>
              </a:rPr>
              <a:t>R←Range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Y</a:t>
            </a:r>
            <a:r>
              <a:rPr lang="en-GB" dirty="0">
                <a:latin typeface="APL385 Unicode" panose="020B0709000202000203" pitchFamily="49" charset="0"/>
              </a:rPr>
              <a:t> …</a:t>
            </a:r>
          </a:p>
          <a:p>
            <a:pPr>
              <a:tabLst>
                <a:tab pos="2155825" algn="l"/>
              </a:tabLst>
            </a:pPr>
            <a:r>
              <a:rPr lang="en-GB" dirty="0" err="1"/>
              <a:t>Dfn</a:t>
            </a:r>
            <a:r>
              <a:rPr lang="en-GB" dirty="0"/>
              <a:t>	</a:t>
            </a:r>
            <a:r>
              <a:rPr lang="en-GB" dirty="0">
                <a:latin typeface="APL385 Unicode" panose="020B0709000202000203" pitchFamily="49" charset="0"/>
              </a:rPr>
              <a:t>{(⌈/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⍵</a:t>
            </a:r>
            <a:r>
              <a:rPr lang="en-GB" dirty="0">
                <a:latin typeface="APL385 Unicode" panose="020B0709000202000203" pitchFamily="49" charset="0"/>
              </a:rPr>
              <a:t>)-(⌊/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⍵</a:t>
            </a:r>
            <a:r>
              <a:rPr lang="en-GB" dirty="0">
                <a:latin typeface="APL385 Unicode" panose="020B0709000202000203" pitchFamily="49" charset="0"/>
              </a:rPr>
              <a:t>)}</a:t>
            </a:r>
          </a:p>
          <a:p>
            <a:pPr marL="0" indent="0">
              <a:buNone/>
              <a:tabLst>
                <a:tab pos="2155825" algn="l"/>
              </a:tabLst>
            </a:pPr>
            <a:r>
              <a:rPr lang="en-GB" dirty="0"/>
              <a:t>Tacit code implies arguments:</a:t>
            </a:r>
          </a:p>
          <a:p>
            <a:pPr>
              <a:tabLst>
                <a:tab pos="2155825" algn="l"/>
              </a:tabLst>
            </a:pPr>
            <a:r>
              <a:rPr lang="en-GB" dirty="0"/>
              <a:t>Tacit	</a:t>
            </a:r>
            <a:r>
              <a:rPr lang="en-GB" dirty="0">
                <a:latin typeface="APL385 Unicode" panose="020B0709000202000203" pitchFamily="49" charset="0"/>
              </a:rPr>
              <a:t>(⌈/-⌊/)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B1445A-9ED4-8B57-A9EC-A63FE31C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Tacit Programming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AF4C81D-6547-C463-8274-2F8ECB1D0A4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44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8466C-912E-37B4-8C2C-CC9E9CE8C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8373" cy="3242040"/>
          </a:xfrm>
        </p:spPr>
        <p:txBody>
          <a:bodyPr/>
          <a:lstStyle/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f/   f¨   ∘.g   f\   </a:t>
            </a:r>
            <a:r>
              <a:rPr lang="en-GB" dirty="0" err="1">
                <a:latin typeface="APL385 Unicode" panose="020B0709000202000203" pitchFamily="49" charset="0"/>
              </a:rPr>
              <a:t>A∘g</a:t>
            </a:r>
            <a:r>
              <a:rPr lang="en-GB" dirty="0">
                <a:latin typeface="APL385 Unicode" panose="020B0709000202000203" pitchFamily="49" charset="0"/>
              </a:rPr>
              <a:t>   f⌸   </a:t>
            </a:r>
            <a:r>
              <a:rPr lang="en-GB" dirty="0" err="1">
                <a:latin typeface="APL385 Unicode" panose="020B0709000202000203" pitchFamily="49" charset="0"/>
              </a:rPr>
              <a:t>f⍠B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i="1" dirty="0"/>
              <a:t>Operators derive tacit functions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5490AD-897D-AD2B-942F-E6E221BF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>
              <a:lnSpc>
                <a:spcPct val="80000"/>
              </a:lnSpc>
            </a:pPr>
            <a:r>
              <a:rPr lang="en-GB" dirty="0"/>
              <a:t>You already know some</a:t>
            </a:r>
          </a:p>
        </p:txBody>
      </p:sp>
    </p:spTree>
    <p:extLst>
      <p:ext uri="{BB962C8B-B14F-4D97-AF65-F5344CB8AC3E}">
        <p14:creationId xmlns:p14="http://schemas.microsoft.com/office/powerpoint/2010/main" val="197970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65381-E552-C963-583E-C88B8D09F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8373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dirty="0" err="1">
                <a:latin typeface="APL385 Unicode" panose="020B0709000202000203" pitchFamily="49" charset="0"/>
              </a:rPr>
              <a:t>f⍥g</a:t>
            </a:r>
            <a:r>
              <a:rPr lang="en-GB" dirty="0">
                <a:latin typeface="APL385 Unicode" panose="020B0709000202000203" pitchFamily="49" charset="0"/>
              </a:rPr>
              <a:t>   </a:t>
            </a:r>
            <a:r>
              <a:rPr lang="en-GB" dirty="0" err="1">
                <a:latin typeface="APL385 Unicode" panose="020B0709000202000203" pitchFamily="49" charset="0"/>
              </a:rPr>
              <a:t>f⍤g</a:t>
            </a:r>
            <a:r>
              <a:rPr lang="en-GB" dirty="0">
                <a:latin typeface="APL385 Unicode" panose="020B0709000202000203" pitchFamily="49" charset="0"/>
              </a:rPr>
              <a:t>   f⍨   </a:t>
            </a:r>
            <a:r>
              <a:rPr lang="en-GB" dirty="0" err="1">
                <a:latin typeface="APL385 Unicode" panose="020B0709000202000203" pitchFamily="49" charset="0"/>
              </a:rPr>
              <a:t>fgh</a:t>
            </a:r>
            <a:r>
              <a:rPr lang="en-GB" dirty="0">
                <a:latin typeface="APL385 Unicode" panose="020B0709000202000203" pitchFamily="49" charset="0"/>
              </a:rPr>
              <a:t>   </a:t>
            </a:r>
            <a:r>
              <a:rPr lang="en-GB" dirty="0" err="1">
                <a:latin typeface="APL385 Unicode" panose="020B0709000202000203" pitchFamily="49" charset="0"/>
              </a:rPr>
              <a:t>f∘g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i="1" dirty="0"/>
              <a:t>Function composition is plumbing </a:t>
            </a:r>
            <a:br>
              <a:rPr lang="en-GB" i="1" dirty="0"/>
            </a:br>
            <a:r>
              <a:rPr lang="en-GB" i="1" dirty="0"/>
              <a:t>that guides arguments to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66E2A-9819-071C-EFAD-34B286FBC36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5E4DB7-0387-E695-E3D6-9E67616F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composition</a:t>
            </a:r>
          </a:p>
        </p:txBody>
      </p:sp>
    </p:spTree>
    <p:extLst>
      <p:ext uri="{BB962C8B-B14F-4D97-AF65-F5344CB8AC3E}">
        <p14:creationId xmlns:p14="http://schemas.microsoft.com/office/powerpoint/2010/main" val="220642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96742-8CC3-1A3B-6075-166A2BEAD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8373" cy="3242040"/>
          </a:xfrm>
        </p:spPr>
        <p:txBody>
          <a:bodyPr/>
          <a:lstStyle/>
          <a:p>
            <a:r>
              <a:rPr lang="en-GB" dirty="0"/>
              <a:t>Memorable (like </a:t>
            </a:r>
            <a:r>
              <a:rPr lang="en-GB" dirty="0">
                <a:latin typeface="APL385 Unicode" panose="020B0709000202000203" pitchFamily="49" charset="0"/>
              </a:rPr>
              <a:t>≠⊆⊢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+⌿÷≢</a:t>
            </a:r>
            <a:r>
              <a:rPr lang="en-GB" dirty="0"/>
              <a:t>)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/>
              <a:t>Adjacency (like </a:t>
            </a:r>
            <a:r>
              <a:rPr lang="en-GB" dirty="0">
                <a:latin typeface="APL385 Unicode" panose="020B0709000202000203" pitchFamily="49" charset="0"/>
              </a:rPr>
              <a:t>×-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∨/⍷</a:t>
            </a:r>
            <a:r>
              <a:rPr lang="en-GB" dirty="0"/>
              <a:t>)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/>
              <a:t>Brevity (like </a:t>
            </a:r>
            <a:r>
              <a:rPr lang="en-GB" dirty="0">
                <a:latin typeface="APL385 Unicode" panose="020B0709000202000203" pitchFamily="49" charset="0"/>
              </a:rPr>
              <a:t>F⍥⎕C</a:t>
            </a:r>
            <a:r>
              <a:rPr lang="en-GB" dirty="0"/>
              <a:t>)</a:t>
            </a:r>
          </a:p>
          <a:p>
            <a:r>
              <a:rPr lang="en-GB" dirty="0"/>
              <a:t>DRY (Don’t Repeat Yourself; like </a:t>
            </a:r>
            <a:r>
              <a:rPr lang="en-GB" dirty="0">
                <a:latin typeface="APL385 Unicode" panose="020B0709000202000203" pitchFamily="49" charset="0"/>
              </a:rPr>
              <a:t>≡⍥⍴</a:t>
            </a:r>
            <a:r>
              <a:rPr lang="en-GB" dirty="0"/>
              <a:t>)</a:t>
            </a:r>
          </a:p>
          <a:p>
            <a:r>
              <a:rPr lang="en-GB" dirty="0"/>
              <a:t>Just a general feeling of superiority and awesomeness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5DC4C-6FE2-1987-660C-468E49B90D9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5CFC29-8857-C838-53C7-2002D264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60202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19A8917D-E835-68DF-925D-AAC361D7B59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" r="153"/>
          <a:stretch/>
        </p:blipFill>
        <p:spPr>
          <a:xfrm>
            <a:off x="6451400" y="1265238"/>
            <a:ext cx="1990189" cy="32416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761A3-3809-C8DB-9593-E9E25925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The shape of an outer product </a:t>
            </a:r>
            <a:r>
              <a:rPr lang="en-GB" dirty="0">
                <a:latin typeface="APL385 Unicode" panose="020B0709000202000203" pitchFamily="49" charset="0"/>
              </a:rPr>
              <a:t>⍺ ∘.f ⍵</a:t>
            </a:r>
            <a:r>
              <a:rPr lang="en-GB" dirty="0"/>
              <a:t> is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(⍴⍺) , (⍴⍵)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dirty="0"/>
              <a:t>We can write this as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⍺ ,⍥⍴ ⍵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i="1" dirty="0"/>
              <a:t>“pre-process both”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2D7C-B5B8-2DF4-BFEF-B101D31654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1F86D0-EE99-3222-C30B-4D1BE5B1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33" panose="020B0700000202000203" pitchFamily="34" charset="0"/>
                <a:cs typeface="Sarabun" panose="00000500000000000000" pitchFamily="2" charset="-34"/>
              </a:rPr>
              <a:t>⍥</a:t>
            </a:r>
            <a:r>
              <a:rPr lang="en-GB" dirty="0">
                <a:latin typeface="APL333" panose="020B0700000202000203" pitchFamily="34" charset="0"/>
                <a:cs typeface="Sarabun" panose="00000500000000000000" pitchFamily="2" charset="-34"/>
              </a:rPr>
              <a:t> </a:t>
            </a:r>
            <a:r>
              <a:rPr lang="en-GB" dirty="0"/>
              <a:t>Over</a:t>
            </a:r>
          </a:p>
        </p:txBody>
      </p:sp>
    </p:spTree>
    <p:extLst>
      <p:ext uri="{BB962C8B-B14F-4D97-AF65-F5344CB8AC3E}">
        <p14:creationId xmlns:p14="http://schemas.microsoft.com/office/powerpoint/2010/main" val="293203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B4399FB-F740-A9DE-4360-6002783241D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620881" y="1266599"/>
            <a:ext cx="1810003" cy="323895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761A3-3809-C8DB-9593-E9E25925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Location of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baseline="30000" dirty="0" err="1">
                <a:ln w="6350" cap="sq">
                  <a:solidFill>
                    <a:schemeClr val="tx1"/>
                  </a:solidFill>
                  <a:miter lim="800000"/>
                </a:ln>
              </a:rPr>
              <a:t>th</a:t>
            </a:r>
            <a:r>
              <a:rPr lang="en-GB" dirty="0"/>
              <a:t> 1 in each element of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 is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⍺ ⊃¨ ⍸¨ ⍵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dirty="0"/>
              <a:t>We can write this as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⍺ ⊃∘⍸¨ ⍵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i="1" dirty="0"/>
              <a:t>“pre-process right”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2D7C-B5B8-2DF4-BFEF-B101D31654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1F86D0-EE99-3222-C30B-4D1BE5B1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∘</a:t>
            </a:r>
            <a:r>
              <a:rPr lang="en-GB" dirty="0"/>
              <a:t> Beside</a:t>
            </a:r>
          </a:p>
        </p:txBody>
      </p:sp>
    </p:spTree>
    <p:extLst>
      <p:ext uri="{BB962C8B-B14F-4D97-AF65-F5344CB8AC3E}">
        <p14:creationId xmlns:p14="http://schemas.microsoft.com/office/powerpoint/2010/main" val="288686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A370D8AE-A51C-071E-224B-6792BE8E496B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" r="79"/>
          <a:stretch/>
        </p:blipFill>
        <p:spPr>
          <a:xfrm>
            <a:off x="6579948" y="1265238"/>
            <a:ext cx="1865114" cy="32416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761A3-3809-C8DB-9593-E9E25925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Any-presence of </a:t>
            </a:r>
            <a:r>
              <a:rPr lang="en-GB" dirty="0">
                <a:latin typeface="APL385 Unicode" panose="020B0709000202000203" pitchFamily="49" charset="0"/>
              </a:rPr>
              <a:t>⍺</a:t>
            </a:r>
            <a:r>
              <a:rPr lang="en-GB" dirty="0"/>
              <a:t> in </a:t>
            </a:r>
            <a:r>
              <a:rPr lang="en-GB" dirty="0">
                <a:latin typeface="APL385 Unicode" panose="020B0709000202000203" pitchFamily="49" charset="0"/>
              </a:rPr>
              <a:t>⍵</a:t>
            </a:r>
            <a:r>
              <a:rPr lang="en-GB" dirty="0"/>
              <a:t> is 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∨/ ⍺ ⍷ ⍵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dirty="0"/>
              <a:t>We can write this as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⍺ ∨/⍤⍷ ⍵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i="1" dirty="0"/>
              <a:t>“post-process result”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2D7C-B5B8-2DF4-BFEF-B101D31654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1F86D0-EE99-3222-C30B-4D1BE5B1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⍤</a:t>
            </a:r>
            <a:r>
              <a:rPr lang="en-GB" dirty="0"/>
              <a:t> Atop</a:t>
            </a:r>
          </a:p>
        </p:txBody>
      </p:sp>
    </p:spTree>
    <p:extLst>
      <p:ext uri="{BB962C8B-B14F-4D97-AF65-F5344CB8AC3E}">
        <p14:creationId xmlns:p14="http://schemas.microsoft.com/office/powerpoint/2010/main" val="343873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F77C90F-D6D6-83F8-C3A1-5C04B19AD1C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582974" y="1265238"/>
            <a:ext cx="1859059" cy="324167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761A3-3809-C8DB-9593-E9E25925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A multiplication table of </a:t>
            </a:r>
            <a:r>
              <a:rPr lang="en-GB" dirty="0">
                <a:latin typeface="APL385 Unicode" panose="020B0709000202000203" pitchFamily="49" charset="0"/>
              </a:rPr>
              <a:t>N</a:t>
            </a:r>
            <a:r>
              <a:rPr lang="en-GB" dirty="0"/>
              <a:t> is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(⍳⍵) ∘.× (⍳⍵)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dirty="0"/>
              <a:t>We can write this as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∘.×⍨ ⍳⍵</a:t>
            </a:r>
          </a:p>
          <a:p>
            <a:pPr marL="0" indent="0" algn="ctr">
              <a:buNone/>
            </a:pPr>
            <a:endParaRPr lang="en-GB" dirty="0">
              <a:latin typeface="APL385 Unicode" panose="020B0709000202000203" pitchFamily="49" charset="0"/>
            </a:endParaRPr>
          </a:p>
          <a:p>
            <a:pPr marL="0" indent="0" algn="ctr">
              <a:buNone/>
            </a:pPr>
            <a:r>
              <a:rPr lang="en-GB" i="1" dirty="0"/>
              <a:t>“selfie”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2D7C-B5B8-2DF4-BFEF-B101D31654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1F86D0-EE99-3222-C30B-4D1BE5B1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⍨</a:t>
            </a:r>
            <a:r>
              <a:rPr lang="en-GB" dirty="0"/>
              <a:t> Commute</a:t>
            </a:r>
          </a:p>
        </p:txBody>
      </p:sp>
    </p:spTree>
    <p:extLst>
      <p:ext uri="{BB962C8B-B14F-4D97-AF65-F5344CB8AC3E}">
        <p14:creationId xmlns:p14="http://schemas.microsoft.com/office/powerpoint/2010/main" val="98134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749C6D-C21B-1524-D268-33D6C6BFB2D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2869FE3-E868-DBCB-353B-1FC1C51091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3850" y="1265238"/>
          <a:ext cx="8524800" cy="3358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1200">
                  <a:extLst>
                    <a:ext uri="{9D8B030D-6E8A-4147-A177-3AD203B41FA5}">
                      <a16:colId xmlns:a16="http://schemas.microsoft.com/office/drawing/2014/main" val="2735055821"/>
                    </a:ext>
                  </a:extLst>
                </a:gridCol>
                <a:gridCol w="2131200">
                  <a:extLst>
                    <a:ext uri="{9D8B030D-6E8A-4147-A177-3AD203B41FA5}">
                      <a16:colId xmlns:a16="http://schemas.microsoft.com/office/drawing/2014/main" val="628253051"/>
                    </a:ext>
                  </a:extLst>
                </a:gridCol>
                <a:gridCol w="2131200">
                  <a:extLst>
                    <a:ext uri="{9D8B030D-6E8A-4147-A177-3AD203B41FA5}">
                      <a16:colId xmlns:a16="http://schemas.microsoft.com/office/drawing/2014/main" val="3438211211"/>
                    </a:ext>
                  </a:extLst>
                </a:gridCol>
                <a:gridCol w="2131200">
                  <a:extLst>
                    <a:ext uri="{9D8B030D-6E8A-4147-A177-3AD203B41FA5}">
                      <a16:colId xmlns:a16="http://schemas.microsoft.com/office/drawing/2014/main" val="2382914896"/>
                    </a:ext>
                  </a:extLst>
                </a:gridCol>
              </a:tblGrid>
              <a:tr h="483093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6"/>
                          </a:solidFill>
                        </a:rPr>
                        <a:t>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6"/>
                          </a:solidFill>
                        </a:rPr>
                        <a:t>Beside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6"/>
                          </a:solidFill>
                        </a:rPr>
                        <a:t>Atop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6"/>
                          </a:solidFill>
                        </a:rPr>
                        <a:t>Commute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859333"/>
                  </a:ext>
                </a:extLst>
              </a:tr>
              <a:tr h="2190873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709364"/>
                  </a:ext>
                </a:extLst>
              </a:tr>
              <a:tr h="684774"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solidFill>
                            <a:schemeClr val="accent6"/>
                          </a:solidFill>
                        </a:rPr>
                        <a:t>pre-process</a:t>
                      </a:r>
                    </a:p>
                    <a:p>
                      <a:pPr algn="ctr"/>
                      <a:r>
                        <a:rPr lang="en-GB" sz="1800" i="1" dirty="0">
                          <a:solidFill>
                            <a:schemeClr val="accent6"/>
                          </a:solidFill>
                        </a:rPr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solidFill>
                            <a:schemeClr val="accent6"/>
                          </a:solidFill>
                        </a:rPr>
                        <a:t>pre-process</a:t>
                      </a:r>
                      <a:br>
                        <a:rPr lang="en-GB" sz="1800" i="1" dirty="0">
                          <a:solidFill>
                            <a:schemeClr val="accent6"/>
                          </a:solidFill>
                        </a:rPr>
                      </a:br>
                      <a:r>
                        <a:rPr lang="en-GB" sz="1800" i="1" dirty="0">
                          <a:solidFill>
                            <a:schemeClr val="accent6"/>
                          </a:solidFill>
                        </a:rP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solidFill>
                            <a:schemeClr val="accent6"/>
                          </a:solidFill>
                        </a:rPr>
                        <a:t>post-process</a:t>
                      </a:r>
                      <a:br>
                        <a:rPr lang="en-GB" sz="1800" i="1" dirty="0">
                          <a:solidFill>
                            <a:schemeClr val="accent6"/>
                          </a:solidFill>
                        </a:rPr>
                      </a:br>
                      <a:r>
                        <a:rPr lang="en-GB" sz="1800" i="1" dirty="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i="1" dirty="0">
                          <a:solidFill>
                            <a:schemeClr val="accent6"/>
                          </a:solidFill>
                        </a:rPr>
                        <a:t>selfie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535987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BCFEEA-CAD4-D0CA-62C7-D8AA976C371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555CE7-B334-1B74-C295-A58BA73F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" y="136750"/>
            <a:ext cx="6675808" cy="953192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b="1" dirty="0">
                <a:solidFill>
                  <a:srgbClr val="000000"/>
                </a:solidFill>
              </a:rPr>
              <a:t>Tacit Techniques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Function Compositions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605AD6A3-B62F-09E8-DB29-6B640E6396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" r="153"/>
          <a:stretch/>
        </p:blipFill>
        <p:spPr>
          <a:xfrm>
            <a:off x="601559" y="1591346"/>
            <a:ext cx="1476523" cy="2405016"/>
          </a:xfrm>
          <a:prstGeom prst="rect">
            <a:avLst/>
          </a:prstGeom>
        </p:spPr>
      </p:pic>
      <p:pic>
        <p:nvPicPr>
          <p:cNvPr id="10" name="Content Placeholder 16">
            <a:extLst>
              <a:ext uri="{FF2B5EF4-FFF2-40B4-BE49-F238E27FC236}">
                <a16:creationId xmlns:a16="http://schemas.microsoft.com/office/drawing/2014/main" id="{62A3AFDF-2FBF-A094-B7C3-7DC6142ED9D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55246" y="1593695"/>
            <a:ext cx="1342731" cy="2402782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822BF83E-0B76-F559-B18F-101E0DCCE5D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" r="79"/>
          <a:stretch/>
        </p:blipFill>
        <p:spPr>
          <a:xfrm>
            <a:off x="4952885" y="1591347"/>
            <a:ext cx="1388732" cy="2413696"/>
          </a:xfrm>
          <a:prstGeom prst="rect">
            <a:avLst/>
          </a:prstGeom>
        </p:spPr>
      </p:pic>
      <p:pic>
        <p:nvPicPr>
          <p:cNvPr id="12" name="Content Placeholder 12">
            <a:extLst>
              <a:ext uri="{FF2B5EF4-FFF2-40B4-BE49-F238E27FC236}">
                <a16:creationId xmlns:a16="http://schemas.microsoft.com/office/drawing/2014/main" id="{BCC8909D-C1D4-FA4B-3B2A-DE406E1BDC3A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7999" y="1593932"/>
            <a:ext cx="1388732" cy="24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5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39C2E8-F1B9-3A2C-B4AB-327A94D4D3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72933" y="1417983"/>
            <a:ext cx="3478967" cy="3088981"/>
          </a:xfrm>
          <a:prstGeom prst="borderCallout2">
            <a:avLst>
              <a:gd name="adj1" fmla="val 8217"/>
              <a:gd name="adj2" fmla="val 255"/>
              <a:gd name="adj3" fmla="val 24300"/>
              <a:gd name="adj4" fmla="val -14203"/>
              <a:gd name="adj5" fmla="val 24311"/>
              <a:gd name="adj6" fmla="val -56044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</a:pPr>
            <a:endParaRPr lang="en-GB" sz="2400" dirty="0"/>
          </a:p>
          <a:p>
            <a:pPr>
              <a:spcAft>
                <a:spcPts val="0"/>
              </a:spcAft>
            </a:pPr>
            <a:endParaRPr lang="en-GB" sz="2400" dirty="0">
              <a:latin typeface="APL385 Unicode" panose="020B0709000202000203" pitchFamily="49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latin typeface="APL385 Unicode" panose="020B0709000202000203" pitchFamily="49" charset="0"/>
              </a:rPr>
              <a:t>    +⌿÷≢ 3 1 4 1 5</a:t>
            </a:r>
          </a:p>
          <a:p>
            <a:pPr>
              <a:spcAft>
                <a:spcPts val="0"/>
              </a:spcAft>
            </a:pPr>
            <a:r>
              <a:rPr lang="en-GB" sz="2400" dirty="0">
                <a:latin typeface="APL385 Unicode" panose="020B0709000202000203" pitchFamily="49" charset="0"/>
              </a:rPr>
              <a:t>0.2</a:t>
            </a:r>
          </a:p>
          <a:p>
            <a:pPr>
              <a:spcAft>
                <a:spcPts val="0"/>
              </a:spcAft>
            </a:pPr>
            <a:endParaRPr lang="en-GB" sz="2400" dirty="0">
              <a:latin typeface="APL385 Unicode" panose="020B0709000202000203" pitchFamily="49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latin typeface="APL385 Unicode" panose="020B0709000202000203" pitchFamily="49" charset="0"/>
              </a:rPr>
              <a:t>   (+⌿÷≢)3 1 4 1 5</a:t>
            </a:r>
          </a:p>
          <a:p>
            <a:pPr>
              <a:spcAft>
                <a:spcPts val="0"/>
              </a:spcAft>
            </a:pPr>
            <a:r>
              <a:rPr lang="en-GB" sz="2400" dirty="0">
                <a:latin typeface="APL385 Unicode" panose="020B0709000202000203" pitchFamily="49" charset="0"/>
              </a:rPr>
              <a:t>2.8</a:t>
            </a:r>
          </a:p>
          <a:p>
            <a:pPr>
              <a:spcAft>
                <a:spcPts val="0"/>
              </a:spcAft>
            </a:pPr>
            <a:endParaRPr lang="en-GB" sz="2400" dirty="0"/>
          </a:p>
          <a:p>
            <a:pPr>
              <a:spcAft>
                <a:spcPts val="0"/>
              </a:spcAft>
            </a:pP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DA0C-CC9F-CCF1-93D3-F3AC390CB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4"/>
            <a:ext cx="6092513" cy="3791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Also a type of composition</a:t>
            </a:r>
          </a:p>
          <a:p>
            <a:pPr marL="0" indent="0">
              <a:buNone/>
            </a:pPr>
            <a:r>
              <a:rPr lang="en-GB" dirty="0"/>
              <a:t>Sequence of functions in isolation</a:t>
            </a:r>
          </a:p>
          <a:p>
            <a:r>
              <a:rPr lang="en-GB" dirty="0"/>
              <a:t>Parenthesised: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	(+⌿÷≢) 3 1 4 1 5</a:t>
            </a:r>
          </a:p>
          <a:p>
            <a:r>
              <a:rPr lang="en-GB" dirty="0"/>
              <a:t>Assigned</a:t>
            </a:r>
            <a:br>
              <a:rPr lang="en-GB" dirty="0"/>
            </a:b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latin typeface="APL385 Unicode" panose="020B0709000202000203" pitchFamily="49" charset="0"/>
              </a:rPr>
              <a:t>Avg</a:t>
            </a:r>
            <a:r>
              <a:rPr lang="en-GB" dirty="0">
                <a:latin typeface="APL385 Unicode" panose="020B0709000202000203" pitchFamily="49" charset="0"/>
              </a:rPr>
              <a:t>←+⌿÷≢</a:t>
            </a:r>
            <a:br>
              <a:rPr lang="en-GB" dirty="0">
                <a:latin typeface="APL385 Unicode" panose="020B0709000202000203" pitchFamily="49" charset="0"/>
              </a:rPr>
            </a:b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latin typeface="APL385 Unicode" panose="020B0709000202000203" pitchFamily="49" charset="0"/>
              </a:rPr>
              <a:t>Avg</a:t>
            </a:r>
            <a:r>
              <a:rPr lang="en-GB" dirty="0">
                <a:latin typeface="APL385 Unicode" panose="020B0709000202000203" pitchFamily="49" charset="0"/>
              </a:rPr>
              <a:t> 3 1 4 1 5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45C42-8E25-85AF-5532-1C1867DD54C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90D839-5D17-C20B-93DE-D1BF2781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 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337976-090D-B327-0309-6D15FC3864AB}"/>
              </a:ext>
            </a:extLst>
          </p:cNvPr>
          <p:cNvSpPr/>
          <p:nvPr/>
        </p:nvSpPr>
        <p:spPr>
          <a:xfrm>
            <a:off x="5372933" y="1417983"/>
            <a:ext cx="3478967" cy="49391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>
              <a:spcAft>
                <a:spcPts val="1200"/>
              </a:spcAft>
              <a:buClr>
                <a:srgbClr val="FF6600"/>
              </a:buClr>
              <a:buSzPct val="75000"/>
            </a:pPr>
            <a:r>
              <a:rPr lang="en-GB" sz="2400" dirty="0">
                <a:solidFill>
                  <a:schemeClr val="bg1"/>
                </a:solidFill>
                <a:latin typeface="Sarabun" panose="00000500000000000000" pitchFamily="2" charset="-34"/>
              </a:rPr>
              <a:t>Most common mistake</a:t>
            </a:r>
          </a:p>
        </p:txBody>
      </p:sp>
    </p:spTree>
    <p:extLst>
      <p:ext uri="{BB962C8B-B14F-4D97-AF65-F5344CB8AC3E}">
        <p14:creationId xmlns:p14="http://schemas.microsoft.com/office/powerpoint/2010/main" val="123177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ouple of lines with letters and numbers&#10;&#10;Description automatically generated with medium confidence">
            <a:extLst>
              <a:ext uri="{FF2B5EF4-FFF2-40B4-BE49-F238E27FC236}">
                <a16:creationId xmlns:a16="http://schemas.microsoft.com/office/drawing/2014/main" id="{AA7BF017-4C2C-7BA4-0CC1-A9E246FD6516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899" y="15069"/>
            <a:ext cx="2938682" cy="249970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DA0C-CC9F-CCF1-93D3-F3AC390CB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4"/>
            <a:ext cx="6092513" cy="3791101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GB" dirty="0"/>
              <a:t>Some parts can be arrays:</a:t>
            </a:r>
          </a:p>
          <a:p>
            <a:pPr>
              <a:spcAft>
                <a:spcPts val="0"/>
              </a:spcAft>
            </a:pPr>
            <a:r>
              <a:rPr lang="en-GB" dirty="0">
                <a:latin typeface="APL333" panose="020B0700000202000203" pitchFamily="34" charset="0"/>
              </a:rPr>
              <a:t>A g h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/>
              <a:t>is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33" panose="020B0700000202000203" pitchFamily="34" charset="0"/>
              </a:rPr>
              <a:t>{A} g 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Two sub-types of trains:</a:t>
            </a:r>
          </a:p>
          <a:p>
            <a:pPr>
              <a:spcAft>
                <a:spcPts val="0"/>
              </a:spcAft>
            </a:pPr>
            <a:r>
              <a:rPr lang="en-GB" dirty="0"/>
              <a:t>Fork:	</a:t>
            </a:r>
            <a:r>
              <a:rPr lang="en-GB" dirty="0">
                <a:latin typeface="APL333" panose="020B0700000202000203" pitchFamily="34" charset="0"/>
              </a:rPr>
              <a:t>f g h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/>
              <a:t>and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33" panose="020B0700000202000203" pitchFamily="34" charset="0"/>
              </a:rPr>
              <a:t>A g h</a:t>
            </a:r>
          </a:p>
          <a:p>
            <a:pPr>
              <a:spcAft>
                <a:spcPts val="0"/>
              </a:spcAft>
            </a:pPr>
            <a:r>
              <a:rPr lang="en-GB" dirty="0"/>
              <a:t>Atop:	</a:t>
            </a:r>
            <a:r>
              <a:rPr lang="en-GB" dirty="0">
                <a:latin typeface="APL333" panose="020B0700000202000203" pitchFamily="34" charset="0"/>
              </a:rPr>
              <a:t>f g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/>
              <a:t>Longer trains:</a:t>
            </a:r>
          </a:p>
          <a:p>
            <a:pPr>
              <a:spcAft>
                <a:spcPts val="0"/>
              </a:spcAft>
            </a:pPr>
            <a:r>
              <a:rPr lang="en-GB" dirty="0">
                <a:latin typeface="APL333" panose="020B0700000202000203" pitchFamily="34" charset="0"/>
              </a:rPr>
              <a:t>(d e f g h)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/>
              <a:t>is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33" panose="020B0700000202000203" pitchFamily="34" charset="0"/>
              </a:rPr>
              <a:t>(d e (f g h))</a:t>
            </a:r>
          </a:p>
          <a:p>
            <a:pPr>
              <a:spcAft>
                <a:spcPts val="0"/>
              </a:spcAft>
            </a:pPr>
            <a:r>
              <a:rPr lang="en-GB" dirty="0">
                <a:latin typeface="APL333" panose="020B0700000202000203" pitchFamily="34" charset="0"/>
              </a:rPr>
              <a:t>(e f g h)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/>
              <a:t>is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33" panose="020B0700000202000203" pitchFamily="34" charset="0"/>
              </a:rPr>
              <a:t>(e (f g h))</a:t>
            </a:r>
          </a:p>
          <a:p>
            <a:pPr lvl="1">
              <a:spcAft>
                <a:spcPts val="600"/>
              </a:spcAft>
            </a:pPr>
            <a:endParaRPr lang="en-GB" dirty="0"/>
          </a:p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45C42-8E25-85AF-5532-1C1867DD54C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90D839-5D17-C20B-93DE-D1BF2781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 Details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1B5338-E958-9920-A6C9-4A1E7E7391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14"/>
          <a:stretch/>
        </p:blipFill>
        <p:spPr>
          <a:xfrm>
            <a:off x="4752757" y="2925067"/>
            <a:ext cx="2780164" cy="179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1B6B32-85B4-0EC4-5BF2-3183F5131AAF}"/>
              </a:ext>
            </a:extLst>
          </p:cNvPr>
          <p:cNvSpPr/>
          <p:nvPr/>
        </p:nvSpPr>
        <p:spPr>
          <a:xfrm>
            <a:off x="-153512" y="4685466"/>
            <a:ext cx="9390954" cy="547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35D0D-2258-75F8-C8A3-206B7209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3636405" cy="3242040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000000"/>
                </a:solidFill>
              </a:rPr>
              <a:t>Monadic</a:t>
            </a:r>
            <a:endParaRPr lang="en-GB" b="1" dirty="0">
              <a:solidFill>
                <a:srgbClr val="000000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(f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(h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 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↔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(f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(f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 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 </a:t>
            </a:r>
            <a:r>
              <a:rPr kumimoji="0" lang="en-GB" sz="10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kumimoji="0" lang="en-GB" sz="20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↔</a:t>
            </a:r>
            <a:r>
              <a:rPr kumimoji="0" lang="en-GB" sz="10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(f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⊢)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 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 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(h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 </a:t>
            </a:r>
            <a:r>
              <a:rPr kumimoji="0" lang="en-GB" sz="10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kumimoji="0" lang="en-GB" sz="20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↔</a:t>
            </a:r>
            <a:r>
              <a:rPr kumimoji="0" lang="en-GB" sz="10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( 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</a:t>
            </a:r>
          </a:p>
          <a:p>
            <a:pPr marL="0" indent="0" algn="ctr">
              <a:spcAft>
                <a:spcPts val="600"/>
              </a:spcAft>
              <a:buNone/>
            </a:pPr>
            <a:endParaRPr lang="en-GB" sz="2000" dirty="0">
              <a:solidFill>
                <a:srgbClr val="000000"/>
              </a:solidFill>
              <a:latin typeface="APL385 Unicode" panose="020B0709000202000203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87B5A-4E0A-AEB4-A0B5-6C866835CB7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535996" y="1264925"/>
            <a:ext cx="4315905" cy="3242040"/>
          </a:xfrm>
        </p:spPr>
        <p:txBody>
          <a:bodyPr>
            <a:norm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000000"/>
                </a:solidFill>
              </a:rPr>
              <a:t>Dyadic</a:t>
            </a:r>
            <a:endParaRPr lang="en-GB" b="1" dirty="0">
              <a:solidFill>
                <a:srgbClr val="000000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(X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f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(X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↔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X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(f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(X   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(X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↔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X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(⊣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     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(X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Y)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↔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L385 Unicode" panose="020B0709000202000203" pitchFamily="49" charset="0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 X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( 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g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h)</a:t>
            </a:r>
            <a:r>
              <a:rPr lang="en-GB" sz="1000" dirty="0">
                <a:solidFill>
                  <a:srgbClr val="000000"/>
                </a:solidFill>
                <a:latin typeface="APL385 Unicode" panose="020B0709000202000203" pitchFamily="49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APL385 Unicode" panose="020B0709000202000203" pitchFamily="49" charset="0"/>
              </a:rPr>
              <a:t>Y</a:t>
            </a:r>
          </a:p>
          <a:p>
            <a:pPr>
              <a:spcAft>
                <a:spcPts val="600"/>
              </a:spcAft>
            </a:pPr>
            <a:endParaRPr lang="en-GB" sz="2000" dirty="0">
              <a:solidFill>
                <a:srgbClr val="0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3FA92-7FF6-804E-FAD5-9918708B7C7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14E4AF-A0D3-B4D2-3DD0-71B6B921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67657"/>
            <a:ext cx="8528373" cy="685535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b="1" dirty="0">
                <a:solidFill>
                  <a:srgbClr val="000000"/>
                </a:solidFill>
              </a:rPr>
              <a:t>Tacit Techniques</a:t>
            </a:r>
            <a:br>
              <a:rPr lang="en-GB" b="1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Trains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CEF017-16BC-0BED-49EC-431554BAB51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27687" y="2787774"/>
            <a:ext cx="4132522" cy="2343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7C6CA9-56DB-9F65-B483-03E471B5A22D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68" y="2787774"/>
            <a:ext cx="4132522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47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87727-130B-633E-26DD-66ECF53339D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6669E20-FAB1-B941-703E-62DF457A51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3850" y="1265238"/>
          <a:ext cx="8528049" cy="347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8110">
                  <a:extLst>
                    <a:ext uri="{9D8B030D-6E8A-4147-A177-3AD203B41FA5}">
                      <a16:colId xmlns:a16="http://schemas.microsoft.com/office/drawing/2014/main" val="2255408431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2983614643"/>
                    </a:ext>
                  </a:extLst>
                </a:gridCol>
                <a:gridCol w="2443695">
                  <a:extLst>
                    <a:ext uri="{9D8B030D-6E8A-4147-A177-3AD203B41FA5}">
                      <a16:colId xmlns:a16="http://schemas.microsoft.com/office/drawing/2014/main" val="1514330420"/>
                    </a:ext>
                  </a:extLst>
                </a:gridCol>
              </a:tblGrid>
              <a:tr h="5125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84619898"/>
                  </a:ext>
                </a:extLst>
              </a:tr>
              <a:tr h="265131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┌─┬─────────────────┐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│|│┌─┬─┬───────────┐│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││⊢│÷│┌─────┬─┬─┐││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││┌─┬─┐│⍣│≡│││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</a:t>
                      </a:r>
                      <a:r>
                        <a:rPr lang="en-GB" sz="2400" spc="-120" baseline="0">
                          <a:latin typeface="APL385 Unicode" panose="020B0709000202000203" pitchFamily="49" charset="0"/>
                        </a:rPr>
                        <a:t>│ │││+│</a:t>
                      </a: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/││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││└─┴─┘│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│└─────┴─┴─┘││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│└─┴─┴───────────┘│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└─┴─────────────────┘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solidFill>
                          <a:schemeClr val="bg1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655241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1C497D5-0D62-A7F7-CC92-2E862AE5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815138" algn="r"/>
              </a:tabLst>
            </a:pPr>
            <a:r>
              <a:rPr lang="en-GB" dirty="0">
                <a:latin typeface="APL385 Unicode" panose="020B0709000202000203" pitchFamily="49" charset="0"/>
              </a:rPr>
              <a:t>]box on	|⊢÷+/⍣≡</a:t>
            </a:r>
          </a:p>
        </p:txBody>
      </p:sp>
    </p:spTree>
    <p:extLst>
      <p:ext uri="{BB962C8B-B14F-4D97-AF65-F5344CB8AC3E}">
        <p14:creationId xmlns:p14="http://schemas.microsoft.com/office/powerpoint/2010/main" val="2278102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87727-130B-633E-26DD-66ECF53339D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6669E20-FAB1-B941-703E-62DF457A51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3850" y="1265238"/>
          <a:ext cx="8528049" cy="347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8110">
                  <a:extLst>
                    <a:ext uri="{9D8B030D-6E8A-4147-A177-3AD203B41FA5}">
                      <a16:colId xmlns:a16="http://schemas.microsoft.com/office/drawing/2014/main" val="2255408431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2983614643"/>
                    </a:ext>
                  </a:extLst>
                </a:gridCol>
                <a:gridCol w="2443695">
                  <a:extLst>
                    <a:ext uri="{9D8B030D-6E8A-4147-A177-3AD203B41FA5}">
                      <a16:colId xmlns:a16="http://schemas.microsoft.com/office/drawing/2014/main" val="1514330420"/>
                    </a:ext>
                  </a:extLst>
                </a:gridCol>
              </a:tblGrid>
              <a:tr h="5125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-t=box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84619898"/>
                  </a:ext>
                </a:extLst>
              </a:tr>
              <a:tr h="265131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┌─┬─────────────────┐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│|│┌─┬─┬───────────┐│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││⊢│÷│┌─────┬─┬─┐││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││┌─┬─┐│⍣│≡│││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</a:t>
                      </a:r>
                      <a:r>
                        <a:rPr lang="en-GB" sz="2400" spc="-120" baseline="0">
                          <a:latin typeface="APL385 Unicode" panose="020B0709000202000203" pitchFamily="49" charset="0"/>
                        </a:rPr>
                        <a:t>│ │││+│</a:t>
                      </a: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/││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││└─┴─┘│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│└─────┴─┴─┘││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│└─┴─┴───────────┘│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└─┴─────────────────┘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solidFill>
                          <a:schemeClr val="bg1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655241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1C497D5-0D62-A7F7-CC92-2E862AE5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815138" algn="r"/>
              </a:tabLst>
            </a:pPr>
            <a:r>
              <a:rPr lang="en-GB" dirty="0">
                <a:latin typeface="APL385 Unicode" panose="020B0709000202000203" pitchFamily="49" charset="0"/>
              </a:rPr>
              <a:t>]box on –t=…	|</a:t>
            </a:r>
            <a:r>
              <a:rPr lang="en-GB">
                <a:latin typeface="APL385 Unicode" panose="020B0709000202000203" pitchFamily="49" charset="0"/>
              </a:rPr>
              <a:t>⊢÷+/</a:t>
            </a:r>
            <a:r>
              <a:rPr lang="en-GB" dirty="0">
                <a:latin typeface="APL385 Unicode" panose="020B0709000202000203" pitchFamily="49" charset="0"/>
              </a:rPr>
              <a:t>⍣≡</a:t>
            </a:r>
          </a:p>
        </p:txBody>
      </p:sp>
    </p:spTree>
    <p:extLst>
      <p:ext uri="{BB962C8B-B14F-4D97-AF65-F5344CB8AC3E}">
        <p14:creationId xmlns:p14="http://schemas.microsoft.com/office/powerpoint/2010/main" val="960082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87727-130B-633E-26DD-66ECF53339D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6669E20-FAB1-B941-703E-62DF457A51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3850" y="1265238"/>
          <a:ext cx="8528049" cy="347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8110">
                  <a:extLst>
                    <a:ext uri="{9D8B030D-6E8A-4147-A177-3AD203B41FA5}">
                      <a16:colId xmlns:a16="http://schemas.microsoft.com/office/drawing/2014/main" val="2255408431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2983614643"/>
                    </a:ext>
                  </a:extLst>
                </a:gridCol>
                <a:gridCol w="2443695">
                  <a:extLst>
                    <a:ext uri="{9D8B030D-6E8A-4147-A177-3AD203B41FA5}">
                      <a16:colId xmlns:a16="http://schemas.microsoft.com/office/drawing/2014/main" val="1514330420"/>
                    </a:ext>
                  </a:extLst>
                </a:gridCol>
              </a:tblGrid>
              <a:tr h="5125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-t=box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-t=tree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84619898"/>
                  </a:ext>
                </a:extLst>
              </a:tr>
              <a:tr h="265131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┌─┬─────────────────┐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│|│┌─┬─┬───────────┐│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││⊢│÷│┌─────┬─┬─┐││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││┌─┬─┐│⍣│≡│││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</a:t>
                      </a:r>
                      <a:r>
                        <a:rPr lang="en-GB" sz="2400" spc="-120" baseline="0">
                          <a:latin typeface="APL385 Unicode" panose="020B0709000202000203" pitchFamily="49" charset="0"/>
                        </a:rPr>
                        <a:t>│ │││+│</a:t>
                      </a: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/││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││└─┴─┘│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││ │ │└─────┴─┴─┘││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│ │└─┴─┴───────────┘│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latin typeface="APL385 Unicode" panose="020B0709000202000203" pitchFamily="49" charset="0"/>
                        </a:rPr>
                        <a:t>└─┴─────────────────┘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┌─┴─┐  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| ┌─┼─┐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⊢ ÷ ⍣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  ┌┴┐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  / ≡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┌─┘ 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+   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en-GB" sz="2400" spc="-120" baseline="0" dirty="0"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655241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1C497D5-0D62-A7F7-CC92-2E862AE5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815138" algn="r"/>
              </a:tabLst>
            </a:pPr>
            <a:r>
              <a:rPr lang="en-GB" dirty="0">
                <a:latin typeface="APL385 Unicode" panose="020B0709000202000203" pitchFamily="49" charset="0"/>
              </a:rPr>
              <a:t>]box on –t=…	|</a:t>
            </a:r>
            <a:r>
              <a:rPr lang="en-GB">
                <a:latin typeface="APL385 Unicode" panose="020B0709000202000203" pitchFamily="49" charset="0"/>
              </a:rPr>
              <a:t>⊢÷+/</a:t>
            </a:r>
            <a:r>
              <a:rPr lang="en-GB" dirty="0">
                <a:latin typeface="APL385 Unicode" panose="020B0709000202000203" pitchFamily="49" charset="0"/>
              </a:rPr>
              <a:t>⍣≡</a:t>
            </a:r>
          </a:p>
        </p:txBody>
      </p:sp>
    </p:spTree>
    <p:extLst>
      <p:ext uri="{BB962C8B-B14F-4D97-AF65-F5344CB8AC3E}">
        <p14:creationId xmlns:p14="http://schemas.microsoft.com/office/powerpoint/2010/main" val="574010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87727-130B-633E-26DD-66ECF53339D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6669E20-FAB1-B941-703E-62DF457A51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3850" y="1265238"/>
          <a:ext cx="8528049" cy="347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8110">
                  <a:extLst>
                    <a:ext uri="{9D8B030D-6E8A-4147-A177-3AD203B41FA5}">
                      <a16:colId xmlns:a16="http://schemas.microsoft.com/office/drawing/2014/main" val="2255408431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2983614643"/>
                    </a:ext>
                  </a:extLst>
                </a:gridCol>
                <a:gridCol w="2443695">
                  <a:extLst>
                    <a:ext uri="{9D8B030D-6E8A-4147-A177-3AD203B41FA5}">
                      <a16:colId xmlns:a16="http://schemas.microsoft.com/office/drawing/2014/main" val="1514330420"/>
                    </a:ext>
                  </a:extLst>
                </a:gridCol>
              </a:tblGrid>
              <a:tr h="51258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-t=box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-t=tree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-t=</a:t>
                      </a:r>
                      <a:r>
                        <a:rPr lang="en-GB" sz="2400" spc="-120" baseline="0" dirty="0" err="1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parens</a:t>
                      </a:r>
                      <a:endParaRPr lang="en-GB" sz="2400" spc="-120" baseline="0" dirty="0">
                        <a:solidFill>
                          <a:schemeClr val="tx1"/>
                        </a:solidFill>
                        <a:latin typeface="APL385 Unicode" panose="020B0709000202000203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84619898"/>
                  </a:ext>
                </a:extLst>
              </a:tr>
              <a:tr h="2651317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┌─┬─────────────────┐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│|│┌─┬─┬───────────┐│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 ││⊢│÷│┌─────┬─┬─┐││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 ││ │ ││┌─┬─┐│⍣│≡│││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 ││ </a:t>
                      </a:r>
                      <a:r>
                        <a:rPr lang="en-GB" sz="2400" spc="-120" baseline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 │││+│</a:t>
                      </a: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/││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 ││ │ ││└─┴─┘│ │ │││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 ││ │ │└─────┴─┴─┘││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│ │└─┴─┴───────────┘│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└─┴─────────────────┘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┌─┴─┐  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| ┌─┼─┐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⊢ ÷ ⍣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  ┌┴┐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  / ≡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┌─┘ 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    +    </a:t>
                      </a:r>
                      <a:r>
                        <a:rPr lang="en-GB" sz="2400" spc="-120" baseline="0" dirty="0">
                          <a:solidFill>
                            <a:schemeClr val="bg1"/>
                          </a:solidFill>
                          <a:latin typeface="APL385 Unicode" panose="020B0709000202000203" pitchFamily="49" charset="0"/>
                        </a:rPr>
                        <a:t>.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|(</a:t>
                      </a:r>
                      <a:r>
                        <a:rPr lang="en-GB" sz="2400" spc="-120" baseline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⊢÷((+/)</a:t>
                      </a:r>
                      <a:r>
                        <a:rPr lang="en-GB" sz="2400" spc="-120" baseline="0" dirty="0">
                          <a:solidFill>
                            <a:schemeClr val="tx1"/>
                          </a:solidFill>
                          <a:latin typeface="APL385 Unicode" panose="020B0709000202000203" pitchFamily="49" charset="0"/>
                        </a:rPr>
                        <a:t>⍣≡))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655241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1C497D5-0D62-A7F7-CC92-2E862AE5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815138" algn="r"/>
              </a:tabLst>
            </a:pPr>
            <a:r>
              <a:rPr lang="en-GB" dirty="0">
                <a:latin typeface="APL385 Unicode" panose="020B0709000202000203" pitchFamily="49" charset="0"/>
              </a:rPr>
              <a:t>]box on –t=…	|</a:t>
            </a:r>
            <a:r>
              <a:rPr lang="en-GB">
                <a:latin typeface="APL385 Unicode" panose="020B0709000202000203" pitchFamily="49" charset="0"/>
              </a:rPr>
              <a:t>⊢÷+/</a:t>
            </a:r>
            <a:r>
              <a:rPr lang="en-GB" dirty="0">
                <a:latin typeface="APL385 Unicode" panose="020B0709000202000203" pitchFamily="49" charset="0"/>
              </a:rPr>
              <a:t>⍣≡</a:t>
            </a:r>
          </a:p>
        </p:txBody>
      </p:sp>
    </p:spTree>
    <p:extLst>
      <p:ext uri="{BB962C8B-B14F-4D97-AF65-F5344CB8AC3E}">
        <p14:creationId xmlns:p14="http://schemas.microsoft.com/office/powerpoint/2010/main" val="2882282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5474494" y="1664494"/>
            <a:ext cx="126206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900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5295899" y="1664494"/>
            <a:ext cx="126206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16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5114922" y="1664494"/>
            <a:ext cx="126206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94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4929182" y="1664494"/>
            <a:ext cx="126206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048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4374356" y="1664494"/>
            <a:ext cx="502439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466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4198144" y="1664494"/>
            <a:ext cx="126000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551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4014785" y="1664494"/>
            <a:ext cx="126000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380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3836190" y="1664494"/>
            <a:ext cx="126000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805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1⍨∘⍳5</a:t>
            </a:r>
          </a:p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((((=∘⌽)⍤0 1)⍨)∘⍳)5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3635896" y="1664494"/>
            <a:ext cx="144016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701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1⍨</a:t>
            </a:r>
            <a:r>
              <a:rPr lang="en-GB" dirty="0">
                <a:solidFill>
                  <a:schemeClr val="bg1"/>
                </a:solidFill>
                <a:highlight>
                  <a:srgbClr val="ED7F00"/>
                </a:highlight>
                <a:latin typeface="APL385 Unicode" panose="020B0709000202000203" pitchFamily="49" charset="0"/>
              </a:rPr>
              <a:t>∘</a:t>
            </a:r>
            <a:r>
              <a:rPr lang="en-GB" dirty="0">
                <a:latin typeface="APL385 Unicode" panose="020B0709000202000203" pitchFamily="49" charset="0"/>
              </a:rPr>
              <a:t>⍳5</a:t>
            </a:r>
          </a:p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(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(</a:t>
            </a:r>
            <a:r>
              <a:rPr lang="en-GB" dirty="0">
                <a:latin typeface="APL385 Unicode" panose="020B0709000202000203" pitchFamily="49" charset="0"/>
              </a:rPr>
              <a:t>((=∘⌽)⍤0 1)⍨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)∘</a:t>
            </a:r>
            <a:r>
              <a:rPr lang="en-GB" dirty="0">
                <a:latin typeface="APL385 Unicode" panose="020B0709000202000203" pitchFamily="49" charset="0"/>
              </a:rPr>
              <a:t>⍳)5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3635896" y="1664494"/>
            <a:ext cx="1764196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768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=∘⌽⍤0 1</a:t>
            </a:r>
            <a:r>
              <a:rPr lang="en-GB" dirty="0">
                <a:solidFill>
                  <a:schemeClr val="bg1"/>
                </a:solidFill>
                <a:highlight>
                  <a:srgbClr val="ED7F00"/>
                </a:highlight>
                <a:latin typeface="APL385 Unicode" panose="020B0709000202000203" pitchFamily="49" charset="0"/>
              </a:rPr>
              <a:t>⍨</a:t>
            </a:r>
            <a:r>
              <a:rPr lang="en-GB" dirty="0">
                <a:latin typeface="APL385 Unicode" panose="020B0709000202000203" pitchFamily="49" charset="0"/>
              </a:rPr>
              <a:t>∘⍳5</a:t>
            </a:r>
          </a:p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((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(</a:t>
            </a:r>
            <a:r>
              <a:rPr lang="en-GB" dirty="0">
                <a:latin typeface="APL385 Unicode" panose="020B0709000202000203" pitchFamily="49" charset="0"/>
              </a:rPr>
              <a:t>(=∘⌽)⍤0 1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)⍨</a:t>
            </a:r>
            <a:r>
              <a:rPr lang="en-GB" dirty="0">
                <a:latin typeface="APL385 Unicode" panose="020B0709000202000203" pitchFamily="49" charset="0"/>
              </a:rPr>
              <a:t>)∘⍳)5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3635896" y="1664494"/>
            <a:ext cx="1424257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863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=∘⌽</a:t>
            </a:r>
            <a:r>
              <a:rPr lang="en-GB" dirty="0">
                <a:solidFill>
                  <a:schemeClr val="bg1"/>
                </a:solidFill>
                <a:highlight>
                  <a:srgbClr val="ED7F00"/>
                </a:highlight>
                <a:latin typeface="APL385 Unicode" panose="020B0709000202000203" pitchFamily="49" charset="0"/>
              </a:rPr>
              <a:t>⍤</a:t>
            </a:r>
            <a:r>
              <a:rPr lang="en-GB" dirty="0">
                <a:latin typeface="APL385 Unicode" panose="020B0709000202000203" pitchFamily="49" charset="0"/>
              </a:rPr>
              <a:t>0 1⍨∘⍳5</a:t>
            </a:r>
          </a:p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(((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(</a:t>
            </a:r>
            <a:r>
              <a:rPr lang="en-GB" dirty="0">
                <a:latin typeface="APL385 Unicode" panose="020B0709000202000203" pitchFamily="49" charset="0"/>
              </a:rPr>
              <a:t>=∘⌽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)⍤</a:t>
            </a:r>
            <a:r>
              <a:rPr lang="en-GB" dirty="0">
                <a:latin typeface="APL385 Unicode" panose="020B0709000202000203" pitchFamily="49" charset="0"/>
              </a:rPr>
              <a:t>0 1)⍨)∘⍳)5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3635896" y="1664494"/>
            <a:ext cx="1231371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803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D5E06-B2AF-ABFF-A8CC-C0F5967157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CB24-D00C-6A04-1E51-605E64EA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93645" cy="32420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=</a:t>
            </a:r>
            <a:r>
              <a:rPr lang="en-GB" dirty="0">
                <a:solidFill>
                  <a:schemeClr val="bg1"/>
                </a:solidFill>
                <a:highlight>
                  <a:srgbClr val="ED7F00"/>
                </a:highlight>
                <a:latin typeface="APL385 Unicode" panose="020B0709000202000203" pitchFamily="49" charset="0"/>
              </a:rPr>
              <a:t>∘</a:t>
            </a:r>
            <a:r>
              <a:rPr lang="en-GB" dirty="0">
                <a:latin typeface="APL385 Unicode" panose="020B0709000202000203" pitchFamily="49" charset="0"/>
              </a:rPr>
              <a:t>⌽⍤0 1⍨∘⍳5</a:t>
            </a:r>
          </a:p>
          <a:p>
            <a:pPr marL="0" indent="0" algn="ctr">
              <a:buNone/>
            </a:pPr>
            <a:r>
              <a:rPr lang="en-GB" dirty="0">
                <a:latin typeface="APL385 Unicode" panose="020B0709000202000203" pitchFamily="49" charset="0"/>
              </a:rPr>
              <a:t>((((=</a:t>
            </a:r>
            <a:r>
              <a:rPr lang="en-GB" dirty="0">
                <a:solidFill>
                  <a:schemeClr val="accent1"/>
                </a:solidFill>
                <a:latin typeface="APL385 Unicode" panose="020B0709000202000203" pitchFamily="49" charset="0"/>
              </a:rPr>
              <a:t>∘</a:t>
            </a:r>
            <a:r>
              <a:rPr lang="en-GB" dirty="0">
                <a:latin typeface="APL385 Unicode" panose="020B0709000202000203" pitchFamily="49" charset="0"/>
              </a:rPr>
              <a:t>⌽)⍤0 1)⍨)∘⍳)5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6329-C28C-66F7-0236-F4F626BA19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D97A52-5113-9907-6140-7ADF45F7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Tacit: operator scope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081205-187D-D9F3-EC4E-6D872B2573A8}"/>
              </a:ext>
            </a:extLst>
          </p:cNvPr>
          <p:cNvCxnSpPr>
            <a:cxnSpLocks/>
          </p:cNvCxnSpPr>
          <p:nvPr/>
        </p:nvCxnSpPr>
        <p:spPr>
          <a:xfrm flipH="1">
            <a:off x="3635896" y="1664494"/>
            <a:ext cx="504056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218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6826-D9CF-C7E8-5E0F-6FF49777A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30039"/>
            <a:ext cx="8538590" cy="3076926"/>
          </a:xfrm>
        </p:spPr>
        <p:txBody>
          <a:bodyPr>
            <a:normAutofit fontScale="77500" lnSpcReduction="20000"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(≠⊆⊢)        ⍝ Split on delimiter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((≤\≠)⊆⊢)    ⍝ Split on first delimiter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(⊢~⌊)        ⍝ Remove whole numbers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(⊢∩⌊)        ⍝ Keep whole numbers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(⊢~+)        ⍝ Keep complex numbers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(⌊∘≢↑⊢)      ⍝ Truncate ⍵ if longer than ⍺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(⌈∘≢↑⊢)      ⍝ Expand ⍵ if shorter than ⍺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(⊃⍷)         ⍝ Is ⍺ a prefix of ⍵? Does ⍵ start with ⍺?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(∨/∊)        ⍝ Are any elements of ⍵ found in ⍺?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(?∘≢⊂⍛⌷⊢)    ⍝ Select one or deal ⍺ from ⍵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(+⌿÷1⌈⊣∘≢)   ⍝ Mean average or moving average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6A3468-F673-99C4-F6CA-2EF13FC2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Favourite Trains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6607A1-E249-116E-C703-4FBB9318EB4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230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5C42-4718-AFCB-9DC0-7FEC21A65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D2F39-B22D-2D77-7432-A7103A389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30039"/>
            <a:ext cx="8538590" cy="3076926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'(≠⊆⊢)'split up these words'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┌─────┬──┬─────┬─────┐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split│up│these│words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└─────┴──┴─────┴─────┘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'((≤\≠)⊆⊢)'split up these words'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┌─────┬──────────────┐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split│up</a:t>
            </a:r>
            <a:r>
              <a:rPr lang="en-GB" dirty="0">
                <a:latin typeface="APL385 Unicode" panose="020B0709000202000203" pitchFamily="49" charset="0"/>
              </a:rPr>
              <a:t> these words│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└─────┴──────────────┘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820AAD-059C-AE3C-7D08-768A7FD8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Favourite Trains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3B0B3B-62F3-31F8-46A1-BC1D6491018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017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6E85-F562-1C50-82E2-78EB0322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93B2-5133-30C5-BE2E-9B751D94C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30039"/>
            <a:ext cx="8538590" cy="3076926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(⊢~⌊)3 0.2 5 0.7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0.2 0.7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(⊢∩⌊)3 0.2 5 0.7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3 5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(⊢~+)3 0.2 5 0.7 4j7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4J7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D0130A-C299-06DC-A675-87B77F4F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Favourite Trains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C73B1A-1AFF-9B82-D334-B88808FAE3E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810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2900-E7CC-6816-2C4F-102A835F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161B2-CC3B-FB5F-8D8A-0993FE8DE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30039"/>
            <a:ext cx="8538590" cy="3076926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5(⌊∘≢↑⊢)¨'keep' 'everything' 'short'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┌────┬─────┬─────┐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</a:t>
            </a:r>
            <a:r>
              <a:rPr lang="en-GB" dirty="0" err="1">
                <a:latin typeface="APL385 Unicode" panose="020B0709000202000203" pitchFamily="49" charset="0"/>
              </a:rPr>
              <a:t>keep│every│short</a:t>
            </a:r>
            <a:r>
              <a:rPr lang="en-GB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└────┴─────┴─────┘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7(⌈∘≢↑⊢)¨'make' 'everything' 'long'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┌───────┬──────────┬───────┐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│make   │</a:t>
            </a:r>
            <a:r>
              <a:rPr lang="en-GB" dirty="0" err="1">
                <a:latin typeface="APL385 Unicode" panose="020B0709000202000203" pitchFamily="49" charset="0"/>
              </a:rPr>
              <a:t>everything│long</a:t>
            </a:r>
            <a:r>
              <a:rPr lang="en-GB" dirty="0">
                <a:latin typeface="APL385 Unicode" panose="020B0709000202000203" pitchFamily="49" charset="0"/>
              </a:rPr>
              <a:t>   │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└───────┴──────────┴───────┘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BD1BE1-05D2-4DE4-81E8-CC3DB563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Favourite Trains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A96153-70CE-BB1D-3491-194D8CAE5B41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319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3925-D44E-64C0-72BA-7319B80DF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50BD-D765-9D44-8936-52B5A4696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30039"/>
            <a:ext cx="8538590" cy="3076926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're'∘(⊃⍷)¨'refill' 'reimagine' 'alligator'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1 1 0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has'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'vowels' 'cd'(∨/∊)¨⊂'</a:t>
            </a:r>
            <a:r>
              <a:rPr lang="en-GB" sz="20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aeiou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1 1 0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0BB5B1-E7AB-BE67-339E-2459B376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Favourite Trains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C6343D-A2F0-F3AC-FA65-04A0D2501B0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487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05925-AED1-03CE-D0AB-B4375633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15E6E-CC1C-7B8C-CBCE-8049F4FF2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30039"/>
            <a:ext cx="8538590" cy="3076926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(?∘≢⊂⍛⌷⊢)⎕A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C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⎕RL←2711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3(?∘≢⊂⍛⌷⊢)⎕A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APL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51CBB3-95A4-6394-A9C9-165712A9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Favourite Trains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5BC115-2CAB-3317-3FCC-4FA4CFB1983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61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6F2B-FB7F-C75E-D09B-65F108FC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3D8B9-3532-24E9-48CF-D813B007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430039"/>
            <a:ext cx="8538590" cy="3076926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(+⌿÷1⌈⊣∘≢) 3 1 4 1 5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2.8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      </a:t>
            </a:r>
            <a:r>
              <a:rPr lang="en-GB" sz="2000" dirty="0">
                <a:solidFill>
                  <a:srgbClr val="00B050"/>
                </a:solidFill>
                <a:latin typeface="APL385 Unicode" panose="020B0709000202000203" pitchFamily="49" charset="0"/>
              </a:rPr>
              <a:t>2 (+⌿÷1⌈⊣∘≢) 3 1 4 1 5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2000" dirty="0">
                <a:latin typeface="APL385 Unicode" panose="020B0709000202000203" pitchFamily="49" charset="0"/>
              </a:rPr>
              <a:t>2 2.5 2.5 3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95331C-8D3F-FEA6-F938-4337EF82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Favourite Trains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6AF89C-5F36-A21B-82EC-C7ED496E3A1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160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CFD8-C699-1A93-BC1B-12DDA1A3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E8760-C0C1-3F97-6E80-CABF4FE6C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8373" cy="3242040"/>
          </a:xfrm>
        </p:spPr>
        <p:txBody>
          <a:bodyPr/>
          <a:lstStyle/>
          <a:p>
            <a:r>
              <a:rPr lang="en-GB" dirty="0"/>
              <a:t>Memorable (like </a:t>
            </a:r>
            <a:r>
              <a:rPr lang="en-GB" dirty="0">
                <a:latin typeface="APL385 Unicode" panose="020B0709000202000203" pitchFamily="49" charset="0"/>
              </a:rPr>
              <a:t>≠⊆⊢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+⌿÷≢</a:t>
            </a:r>
            <a:r>
              <a:rPr lang="en-GB" dirty="0"/>
              <a:t>)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/>
              <a:t>Adjacency (like </a:t>
            </a:r>
            <a:r>
              <a:rPr lang="en-GB" dirty="0">
                <a:latin typeface="APL385 Unicode" panose="020B0709000202000203" pitchFamily="49" charset="0"/>
              </a:rPr>
              <a:t>×-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∨/⍷</a:t>
            </a:r>
            <a:r>
              <a:rPr lang="en-GB" dirty="0"/>
              <a:t>)</a:t>
            </a:r>
            <a:endParaRPr lang="en-GB" dirty="0">
              <a:latin typeface="APL385 Unicode" panose="020B0709000202000203" pitchFamily="49" charset="0"/>
            </a:endParaRPr>
          </a:p>
          <a:p>
            <a:r>
              <a:rPr lang="en-GB" dirty="0"/>
              <a:t>Brevity (like </a:t>
            </a:r>
            <a:r>
              <a:rPr lang="en-GB" dirty="0">
                <a:latin typeface="APL385 Unicode" panose="020B0709000202000203" pitchFamily="49" charset="0"/>
              </a:rPr>
              <a:t>F⍥⎕C</a:t>
            </a:r>
            <a:r>
              <a:rPr lang="en-GB" dirty="0"/>
              <a:t>)</a:t>
            </a:r>
          </a:p>
          <a:p>
            <a:r>
              <a:rPr lang="en-GB" dirty="0"/>
              <a:t>DRY (Don’t Repeat Yourself; like </a:t>
            </a:r>
            <a:r>
              <a:rPr lang="en-GB" dirty="0">
                <a:latin typeface="APL385 Unicode" panose="020B0709000202000203" pitchFamily="49" charset="0"/>
              </a:rPr>
              <a:t>≡⍥⍴</a:t>
            </a:r>
            <a:r>
              <a:rPr lang="en-GB" dirty="0"/>
              <a:t>)</a:t>
            </a:r>
          </a:p>
          <a:p>
            <a:r>
              <a:rPr lang="en-GB" dirty="0"/>
              <a:t>Just a general feeling of superiority and awesomeness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539CD-7CE2-F2B5-079C-9843E2B046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61B95C-667E-35A5-D3A3-D9005D465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Tacit Programming</a:t>
            </a:r>
          </a:p>
        </p:txBody>
      </p:sp>
    </p:spTree>
    <p:extLst>
      <p:ext uri="{BB962C8B-B14F-4D97-AF65-F5344CB8AC3E}">
        <p14:creationId xmlns:p14="http://schemas.microsoft.com/office/powerpoint/2010/main" val="66267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</TotalTime>
  <Words>1404</Words>
  <Application>Microsoft Office PowerPoint</Application>
  <PresentationFormat>On-screen Show (16:9)</PresentationFormat>
  <Paragraphs>247</Paragraphs>
  <Slides>38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APL333</vt:lpstr>
      <vt:lpstr>Calibri</vt:lpstr>
      <vt:lpstr>Courier New</vt:lpstr>
      <vt:lpstr>Wingdings 2</vt:lpstr>
      <vt:lpstr>Arial</vt:lpstr>
      <vt:lpstr>APL385 Unicode</vt:lpstr>
      <vt:lpstr>Wingdings</vt:lpstr>
      <vt:lpstr>Sarabun</vt:lpstr>
      <vt:lpstr>Office Theme</vt:lpstr>
      <vt:lpstr>APL Bootcamp</vt:lpstr>
      <vt:lpstr>Tacit Programming</vt:lpstr>
      <vt:lpstr>You already know some</vt:lpstr>
      <vt:lpstr>Function composition</vt:lpstr>
      <vt:lpstr>Benefits</vt:lpstr>
      <vt:lpstr>⍥ Over</vt:lpstr>
      <vt:lpstr>∘ Beside</vt:lpstr>
      <vt:lpstr>⍤ Atop</vt:lpstr>
      <vt:lpstr>⍨ Commute</vt:lpstr>
      <vt:lpstr>Tacit Techniques Function Compositions</vt:lpstr>
      <vt:lpstr>Train Introduction</vt:lpstr>
      <vt:lpstr>Train Details</vt:lpstr>
      <vt:lpstr>Tacit Techniques Trains</vt:lpstr>
      <vt:lpstr>]box on |⊢÷+/⍣≡</vt:lpstr>
      <vt:lpstr>]box on –t=… |⊢÷+/⍣≡</vt:lpstr>
      <vt:lpstr>]box on –t=… |⊢÷+/⍣≡</vt:lpstr>
      <vt:lpstr>]box on –t=… |⊢÷+/⍣≡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Reading Tacit: operator scope</vt:lpstr>
      <vt:lpstr>My Favourite Trains</vt:lpstr>
      <vt:lpstr>My Favourite Trains</vt:lpstr>
      <vt:lpstr>My Favourite Trains</vt:lpstr>
      <vt:lpstr>My Favourite Trains</vt:lpstr>
      <vt:lpstr>My Favourite Trains</vt:lpstr>
      <vt:lpstr>My Favourite Trains</vt:lpstr>
      <vt:lpstr>My Favourite Trains</vt:lpstr>
      <vt:lpstr>Tacit Programming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254</cp:revision>
  <dcterms:created xsi:type="dcterms:W3CDTF">2019-07-25T11:46:05Z</dcterms:created>
  <dcterms:modified xsi:type="dcterms:W3CDTF">2025-08-10T18:21:33Z</dcterms:modified>
</cp:coreProperties>
</file>