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p:sldMasterIdLst>
    <p:sldMasterId id="2147483648" r:id="rId1"/>
  </p:sldMasterIdLst>
  <p:notesMasterIdLst>
    <p:notesMasterId r:id="rId83"/>
  </p:notesMasterIdLst>
  <p:handoutMasterIdLst>
    <p:handoutMasterId r:id="rId84"/>
  </p:handoutMasterIdLst>
  <p:sldIdLst>
    <p:sldId id="257" r:id="rId2"/>
    <p:sldId id="259" r:id="rId3"/>
    <p:sldId id="258" r:id="rId4"/>
    <p:sldId id="260" r:id="rId5"/>
    <p:sldId id="262" r:id="rId6"/>
    <p:sldId id="263" r:id="rId7"/>
    <p:sldId id="264" r:id="rId8"/>
    <p:sldId id="265" r:id="rId9"/>
    <p:sldId id="266" r:id="rId10"/>
    <p:sldId id="268" r:id="rId11"/>
    <p:sldId id="271" r:id="rId12"/>
    <p:sldId id="269" r:id="rId13"/>
    <p:sldId id="270" r:id="rId14"/>
    <p:sldId id="272" r:id="rId15"/>
    <p:sldId id="273" r:id="rId16"/>
    <p:sldId id="274" r:id="rId17"/>
    <p:sldId id="275" r:id="rId18"/>
    <p:sldId id="276" r:id="rId19"/>
    <p:sldId id="277" r:id="rId20"/>
    <p:sldId id="278" r:id="rId21"/>
    <p:sldId id="279" r:id="rId22"/>
    <p:sldId id="281" r:id="rId23"/>
    <p:sldId id="283" r:id="rId24"/>
    <p:sldId id="284" r:id="rId25"/>
    <p:sldId id="285" r:id="rId26"/>
    <p:sldId id="286" r:id="rId27"/>
    <p:sldId id="287" r:id="rId28"/>
    <p:sldId id="288" r:id="rId29"/>
    <p:sldId id="289" r:id="rId30"/>
    <p:sldId id="291" r:id="rId31"/>
    <p:sldId id="290" r:id="rId32"/>
    <p:sldId id="280" r:id="rId33"/>
    <p:sldId id="292" r:id="rId34"/>
    <p:sldId id="297" r:id="rId35"/>
    <p:sldId id="299" r:id="rId36"/>
    <p:sldId id="301" r:id="rId37"/>
    <p:sldId id="302" r:id="rId38"/>
    <p:sldId id="303" r:id="rId39"/>
    <p:sldId id="300" r:id="rId40"/>
    <p:sldId id="304" r:id="rId41"/>
    <p:sldId id="1033" r:id="rId42"/>
    <p:sldId id="305" r:id="rId43"/>
    <p:sldId id="306" r:id="rId44"/>
    <p:sldId id="307" r:id="rId45"/>
    <p:sldId id="296" r:id="rId46"/>
    <p:sldId id="295" r:id="rId47"/>
    <p:sldId id="1034" r:id="rId48"/>
    <p:sldId id="293" r:id="rId49"/>
    <p:sldId id="308" r:id="rId50"/>
    <p:sldId id="309" r:id="rId51"/>
    <p:sldId id="1036" r:id="rId52"/>
    <p:sldId id="1041" r:id="rId53"/>
    <p:sldId id="1035" r:id="rId54"/>
    <p:sldId id="1037" r:id="rId55"/>
    <p:sldId id="1038" r:id="rId56"/>
    <p:sldId id="1039" r:id="rId57"/>
    <p:sldId id="1040" r:id="rId58"/>
    <p:sldId id="767" r:id="rId59"/>
    <p:sldId id="768" r:id="rId60"/>
    <p:sldId id="769" r:id="rId61"/>
    <p:sldId id="770" r:id="rId62"/>
    <p:sldId id="1042" r:id="rId63"/>
    <p:sldId id="772" r:id="rId64"/>
    <p:sldId id="773" r:id="rId65"/>
    <p:sldId id="774" r:id="rId66"/>
    <p:sldId id="775" r:id="rId67"/>
    <p:sldId id="776" r:id="rId68"/>
    <p:sldId id="777" r:id="rId69"/>
    <p:sldId id="778" r:id="rId70"/>
    <p:sldId id="779" r:id="rId71"/>
    <p:sldId id="780" r:id="rId72"/>
    <p:sldId id="781" r:id="rId73"/>
    <p:sldId id="782" r:id="rId74"/>
    <p:sldId id="783" r:id="rId75"/>
    <p:sldId id="784" r:id="rId76"/>
    <p:sldId id="785" r:id="rId77"/>
    <p:sldId id="1029" r:id="rId78"/>
    <p:sldId id="1030" r:id="rId79"/>
    <p:sldId id="1031" r:id="rId80"/>
    <p:sldId id="1028" r:id="rId81"/>
    <p:sldId id="1032" r:id="rId82"/>
  </p:sldIdLst>
  <p:sldSz cx="9144000" cy="5143500" type="screen16x9"/>
  <p:notesSz cx="6858000" cy="9144000"/>
  <p:embeddedFontLst>
    <p:embeddedFont>
      <p:font typeface="APL385 Unicode" panose="020B0709000202000203" pitchFamily="49" charset="0"/>
      <p:regular r:id="rId85"/>
    </p:embeddedFont>
    <p:embeddedFont>
      <p:font typeface="Sarabun" panose="00000500000000000000" pitchFamily="2" charset="-34"/>
      <p:regular r:id="rId86"/>
      <p:bold r:id="rId87"/>
      <p:italic r:id="rId88"/>
      <p:boldItalic r:id="rId89"/>
    </p:embeddedFont>
    <p:embeddedFont>
      <p:font typeface="Times" panose="02020603050405020304" pitchFamily="18" charset="0"/>
      <p:regular r:id="rId90"/>
      <p:bold r:id="rId91"/>
      <p:italic r:id="rId92"/>
      <p:boldItalic r:id="rId93"/>
    </p:embeddedFont>
    <p:embeddedFont>
      <p:font typeface="Wingdings 2" panose="05020102010507070707" pitchFamily="18" charset="2"/>
      <p:regular r:id="rId9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BBB5D6"/>
    <a:srgbClr val="5A6D8F"/>
    <a:srgbClr val="928ABD"/>
    <a:srgbClr val="3B475E"/>
    <a:srgbClr val="ED7F00"/>
    <a:srgbClr val="FDFDF5"/>
    <a:srgbClr val="F6F6D9"/>
    <a:srgbClr val="37353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71" autoAdjust="0"/>
    <p:restoredTop sz="95508" autoAdjust="0"/>
  </p:normalViewPr>
  <p:slideViewPr>
    <p:cSldViewPr snapToGrid="0">
      <p:cViewPr varScale="1">
        <p:scale>
          <a:sx n="139" d="100"/>
          <a:sy n="139" d="100"/>
        </p:scale>
        <p:origin x="738" y="114"/>
      </p:cViewPr>
      <p:guideLst>
        <p:guide orient="horz" pos="162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69" d="100"/>
          <a:sy n="69" d="100"/>
        </p:scale>
        <p:origin x="2693"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handoutMaster" Target="handoutMasters/handoutMaster1.xml"/><Relationship Id="rId89" Type="http://schemas.openxmlformats.org/officeDocument/2006/relationships/font" Target="fonts/font5.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6.fntdata"/><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88" Type="http://schemas.openxmlformats.org/officeDocument/2006/relationships/font" Target="fonts/font4.fntdata"/><Relationship Id="rId91" Type="http://schemas.openxmlformats.org/officeDocument/2006/relationships/font" Target="fonts/font7.fntdata"/><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2.fntdata"/><Relationship Id="rId94" Type="http://schemas.openxmlformats.org/officeDocument/2006/relationships/font" Target="NUL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8.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3.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9.fntdata"/><Relationship Id="rId9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latin typeface="Sarabun" panose="00000500000000000000" pitchFamily="2" charset="-34"/>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A6A3BD-28BD-4949-B52F-24E999822598}" type="datetimeFigureOut">
              <a:rPr lang="en-GB" smtClean="0">
                <a:latin typeface="Sarabun" panose="00000500000000000000" pitchFamily="2" charset="-34"/>
              </a:rPr>
              <a:t>20/08/2025</a:t>
            </a:fld>
            <a:endParaRPr lang="en-GB" dirty="0">
              <a:latin typeface="Sarabun" panose="00000500000000000000" pitchFamily="2" charset="-34"/>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latin typeface="Sarabun" panose="00000500000000000000" pitchFamily="2" charset="-34"/>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7370AB-76A5-41F1-9753-9FE7E667F0C0}" type="slidenum">
              <a:rPr lang="en-GB" smtClean="0">
                <a:latin typeface="Sarabun" panose="00000500000000000000" pitchFamily="2" charset="-34"/>
              </a:rPr>
              <a:t>‹#›</a:t>
            </a:fld>
            <a:endParaRPr lang="en-GB" dirty="0">
              <a:latin typeface="Sarabun" panose="00000500000000000000" pitchFamily="2" charset="-34"/>
            </a:endParaRPr>
          </a:p>
        </p:txBody>
      </p:sp>
    </p:spTree>
    <p:extLst>
      <p:ext uri="{BB962C8B-B14F-4D97-AF65-F5344CB8AC3E}">
        <p14:creationId xmlns:p14="http://schemas.microsoft.com/office/powerpoint/2010/main" val="35647182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arabun" panose="00000500000000000000" pitchFamily="2" charset="-34"/>
              </a:defRPr>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arabun" panose="00000500000000000000" pitchFamily="2" charset="-34"/>
              </a:defRPr>
            </a:lvl1pPr>
          </a:lstStyle>
          <a:p>
            <a:fld id="{CDEAEF8A-5BB8-41C8-B8C2-160617C17EF4}" type="datetimeFigureOut">
              <a:rPr lang="en-GB" smtClean="0"/>
              <a:pPr/>
              <a:t>20/08/2025</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Sarabun" panose="00000500000000000000" pitchFamily="2" charset="-34"/>
              </a:defRPr>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Sarabun" panose="00000500000000000000" pitchFamily="2" charset="-34"/>
              </a:defRPr>
            </a:lvl1pPr>
          </a:lstStyle>
          <a:p>
            <a:fld id="{4320660A-27FD-4528-AE7F-EC6080404EEB}" type="slidenum">
              <a:rPr lang="en-GB" smtClean="0"/>
              <a:pPr/>
              <a:t>‹#›</a:t>
            </a:fld>
            <a:endParaRPr lang="en-GB" dirty="0"/>
          </a:p>
        </p:txBody>
      </p:sp>
    </p:spTree>
    <p:extLst>
      <p:ext uri="{BB962C8B-B14F-4D97-AF65-F5344CB8AC3E}">
        <p14:creationId xmlns:p14="http://schemas.microsoft.com/office/powerpoint/2010/main" val="2012133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Sarabun" panose="00000500000000000000" pitchFamily="2" charset="-34"/>
        <a:ea typeface="+mn-ea"/>
        <a:cs typeface="+mn-cs"/>
      </a:defRPr>
    </a:lvl1pPr>
    <a:lvl2pPr marL="457200" algn="l" defTabSz="914400" rtl="0" eaLnBrk="1" latinLnBrk="0" hangingPunct="1">
      <a:defRPr sz="1200" kern="1200">
        <a:solidFill>
          <a:schemeClr val="tx1"/>
        </a:solidFill>
        <a:latin typeface="Sarabun" panose="00000500000000000000" pitchFamily="2" charset="-34"/>
        <a:ea typeface="+mn-ea"/>
        <a:cs typeface="+mn-cs"/>
      </a:defRPr>
    </a:lvl2pPr>
    <a:lvl3pPr marL="914400" algn="l" defTabSz="914400" rtl="0" eaLnBrk="1" latinLnBrk="0" hangingPunct="1">
      <a:defRPr sz="1200" kern="1200">
        <a:solidFill>
          <a:schemeClr val="tx1"/>
        </a:solidFill>
        <a:latin typeface="Sarabun" panose="00000500000000000000" pitchFamily="2" charset="-34"/>
        <a:ea typeface="+mn-ea"/>
        <a:cs typeface="+mn-cs"/>
      </a:defRPr>
    </a:lvl3pPr>
    <a:lvl4pPr marL="1371600" algn="l" defTabSz="914400" rtl="0" eaLnBrk="1" latinLnBrk="0" hangingPunct="1">
      <a:defRPr sz="1200" kern="1200">
        <a:solidFill>
          <a:schemeClr val="tx1"/>
        </a:solidFill>
        <a:latin typeface="Sarabun" panose="00000500000000000000" pitchFamily="2" charset="-34"/>
        <a:ea typeface="+mn-ea"/>
        <a:cs typeface="+mn-cs"/>
      </a:defRPr>
    </a:lvl4pPr>
    <a:lvl5pPr marL="1828800" algn="l" defTabSz="914400" rtl="0" eaLnBrk="1" latinLnBrk="0" hangingPunct="1">
      <a:defRPr sz="1200" kern="1200">
        <a:solidFill>
          <a:schemeClr val="tx1"/>
        </a:solidFill>
        <a:latin typeface="Sarabun" panose="00000500000000000000" pitchFamily="2" charset="-34"/>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45060" y="1688053"/>
            <a:ext cx="5073517" cy="1767394"/>
          </a:xfrm>
          <a:prstGeom prst="rect">
            <a:avLst/>
          </a:prstGeom>
        </p:spPr>
        <p:txBody>
          <a:bodyPr anchor="ctr" anchorCtr="0">
            <a:noAutofit/>
          </a:bodyPr>
          <a:lstStyle>
            <a:lvl1pPr algn="l">
              <a:lnSpc>
                <a:spcPct val="100000"/>
              </a:lnSpc>
              <a:defRPr sz="3600" b="0">
                <a:solidFill>
                  <a:srgbClr val="3B475E"/>
                </a:solidFill>
                <a:latin typeface="Sarabun" panose="00000500000000000000" pitchFamily="2" charset="-34"/>
              </a:defRPr>
            </a:lvl1pPr>
          </a:lstStyle>
          <a:p>
            <a:r>
              <a:rPr lang="en-US" dirty="0"/>
              <a:t>Title</a:t>
            </a:r>
            <a:endParaRPr lang="en-GB" dirty="0"/>
          </a:p>
        </p:txBody>
      </p:sp>
      <p:sp>
        <p:nvSpPr>
          <p:cNvPr id="9" name="Text Placeholder 8"/>
          <p:cNvSpPr>
            <a:spLocks noGrp="1"/>
          </p:cNvSpPr>
          <p:nvPr>
            <p:ph type="body" sz="quarter" idx="10" hasCustomPrompt="1"/>
          </p:nvPr>
        </p:nvSpPr>
        <p:spPr>
          <a:xfrm>
            <a:off x="445061" y="3741620"/>
            <a:ext cx="5073516" cy="1024109"/>
          </a:xfrm>
        </p:spPr>
        <p:txBody>
          <a:bodyPr anchor="t" anchorCtr="0">
            <a:noAutofit/>
          </a:bodyPr>
          <a:lstStyle>
            <a:lvl1pPr marL="0" indent="0" algn="l">
              <a:lnSpc>
                <a:spcPct val="100000"/>
              </a:lnSpc>
              <a:buNone/>
              <a:defRPr sz="2400" i="1" baseline="0">
                <a:solidFill>
                  <a:srgbClr val="3B475E"/>
                </a:solidFill>
                <a:latin typeface="Sarabun" panose="00000500000000000000" pitchFamily="2" charset="-34"/>
              </a:defRPr>
            </a:lvl1pPr>
          </a:lstStyle>
          <a:p>
            <a:pPr lvl="0"/>
            <a:r>
              <a:rPr lang="en-US" dirty="0"/>
              <a:t>Presenter</a:t>
            </a:r>
          </a:p>
        </p:txBody>
      </p:sp>
      <p:sp useBgFill="1">
        <p:nvSpPr>
          <p:cNvPr id="3" name="Rounded Rectangle 2"/>
          <p:cNvSpPr/>
          <p:nvPr userDrawn="1"/>
        </p:nvSpPr>
        <p:spPr>
          <a:xfrm>
            <a:off x="8616917" y="51470"/>
            <a:ext cx="405045" cy="27003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Sarabun" panose="00000500000000000000" pitchFamily="2" charset="-34"/>
            </a:endParaRPr>
          </a:p>
        </p:txBody>
      </p:sp>
      <p:pic>
        <p:nvPicPr>
          <p:cNvPr id="4" name="Picture 3">
            <a:extLst>
              <a:ext uri="{FF2B5EF4-FFF2-40B4-BE49-F238E27FC236}">
                <a16:creationId xmlns:a16="http://schemas.microsoft.com/office/drawing/2014/main" id="{91A7F93E-0AC9-4994-C087-EC47479093DE}"/>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51227" y="679296"/>
            <a:ext cx="2306274" cy="381037"/>
          </a:xfrm>
          <a:prstGeom prst="rect">
            <a:avLst/>
          </a:prstGeom>
        </p:spPr>
      </p:pic>
      <p:sp>
        <p:nvSpPr>
          <p:cNvPr id="10" name="Media Placeholder 3">
            <a:extLst>
              <a:ext uri="{FF2B5EF4-FFF2-40B4-BE49-F238E27FC236}">
                <a16:creationId xmlns:a16="http://schemas.microsoft.com/office/drawing/2014/main" id="{A8C42A55-8D9A-E8BD-8457-92C7015F8BD3}"/>
              </a:ext>
            </a:extLst>
          </p:cNvPr>
          <p:cNvSpPr>
            <a:spLocks noGrp="1"/>
          </p:cNvSpPr>
          <p:nvPr>
            <p:ph type="media" sz="quarter" idx="11" hasCustomPrompt="1"/>
          </p:nvPr>
        </p:nvSpPr>
        <p:spPr>
          <a:xfrm>
            <a:off x="6957391" y="0"/>
            <a:ext cx="2186609" cy="1311965"/>
          </a:xfrm>
        </p:spPr>
        <p:txBody>
          <a:bodyPr/>
          <a:lstStyle>
            <a:lvl1pPr marL="0" indent="0" algn="ctr">
              <a:buNone/>
              <a:defRPr sz="1200"/>
            </a:lvl1pPr>
          </a:lstStyle>
          <a:p>
            <a:pPr marL="0" marR="0" lvl="0" indent="0" algn="l" defTabSz="914400" rtl="0" eaLnBrk="1" fontAlgn="auto" latinLnBrk="0" hangingPunct="1">
              <a:lnSpc>
                <a:spcPct val="100000"/>
              </a:lnSpc>
              <a:spcBef>
                <a:spcPts val="0"/>
              </a:spcBef>
              <a:spcAft>
                <a:spcPts val="1200"/>
              </a:spcAft>
              <a:buClr>
                <a:srgbClr val="FF6600"/>
              </a:buClr>
              <a:buSzPct val="75000"/>
              <a:buFont typeface="Wingdings 2" panose="05020102010507070707" pitchFamily="18" charset="2"/>
              <a:buNone/>
              <a:tabLst/>
              <a:defRPr/>
            </a:pPr>
            <a:r>
              <a:rPr lang="en-GB" dirty="0" err="1"/>
              <a:t>PICinPIC</a:t>
            </a:r>
            <a:r>
              <a:rPr lang="en-GB" dirty="0"/>
              <a:t> WILL SHOW HERE, CONTENT COULD BE OBSCURED.  (invisible box)</a:t>
            </a:r>
          </a:p>
        </p:txBody>
      </p:sp>
      <p:pic>
        <p:nvPicPr>
          <p:cNvPr id="6" name="Picture 5">
            <a:extLst>
              <a:ext uri="{FF2B5EF4-FFF2-40B4-BE49-F238E27FC236}">
                <a16:creationId xmlns:a16="http://schemas.microsoft.com/office/drawing/2014/main" id="{B1FE235E-8BE2-78BC-2D0F-81A926E2507A}"/>
              </a:ext>
            </a:extLst>
          </p:cNvPr>
          <p:cNvPicPr>
            <a:picLocks noChangeAspect="1"/>
          </p:cNvPicPr>
          <p:nvPr userDrawn="1"/>
        </p:nvPicPr>
        <p:blipFill>
          <a:blip r:embed="rId4"/>
          <a:stretch>
            <a:fillRect/>
          </a:stretch>
        </p:blipFill>
        <p:spPr>
          <a:xfrm>
            <a:off x="0" y="5094961"/>
            <a:ext cx="9144000" cy="48768"/>
          </a:xfrm>
          <a:prstGeom prst="rect">
            <a:avLst/>
          </a:prstGeom>
        </p:spPr>
      </p:pic>
    </p:spTree>
    <p:extLst>
      <p:ext uri="{BB962C8B-B14F-4D97-AF65-F5344CB8AC3E}">
        <p14:creationId xmlns:p14="http://schemas.microsoft.com/office/powerpoint/2010/main" val="2947373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56DBA27B-8304-4CFA-81F2-07D6954C9B4F}"/>
              </a:ext>
            </a:extLst>
          </p:cNvPr>
          <p:cNvSpPr>
            <a:spLocks noGrp="1"/>
          </p:cNvSpPr>
          <p:nvPr>
            <p:ph idx="1"/>
          </p:nvPr>
        </p:nvSpPr>
        <p:spPr>
          <a:xfrm>
            <a:off x="323527" y="1377777"/>
            <a:ext cx="8462127" cy="3129187"/>
          </a:xfrm>
          <a:prstGeom prst="rect">
            <a:avLst/>
          </a:prstGeom>
        </p:spPr>
        <p:txBody>
          <a:bodyPr vert="horz" lIns="91440" tIns="45720" rIns="91440" bIns="45720" rtlCol="0">
            <a:normAutofit/>
          </a:bodyPr>
          <a:lstStyle>
            <a:lvl1pPr>
              <a:spcBef>
                <a:spcPts val="0"/>
              </a:spcBef>
              <a:buClr>
                <a:srgbClr val="FF6600"/>
              </a:buClr>
              <a:defRPr/>
            </a:lvl1pPr>
            <a:lvl2pPr>
              <a:spcBef>
                <a:spcPts val="0"/>
              </a:spcBef>
              <a:buClr>
                <a:srgbClr val="FF6600"/>
              </a:buClr>
              <a:defRPr/>
            </a:lvl2pPr>
            <a:lvl3pPr>
              <a:spcBef>
                <a:spcPts val="0"/>
              </a:spcBef>
              <a:buClr>
                <a:srgbClr val="FF6600"/>
              </a:buClr>
              <a:defRPr/>
            </a:lvl3pPr>
            <a:lvl4pPr>
              <a:spcBef>
                <a:spcPts val="0"/>
              </a:spcBef>
              <a:buClr>
                <a:srgbClr val="FFA336"/>
              </a:buClr>
              <a:defRPr/>
            </a:lvl4pPr>
          </a:lstStyle>
          <a:p>
            <a:pPr lvl="0"/>
            <a:r>
              <a:rPr lang="en-US" dirty="0"/>
              <a:t>Click to edit Master text styles</a:t>
            </a:r>
          </a:p>
          <a:p>
            <a:pPr lvl="1"/>
            <a:r>
              <a:rPr lang="en-US" dirty="0"/>
              <a:t>Second level</a:t>
            </a:r>
          </a:p>
          <a:p>
            <a:pPr lvl="2"/>
            <a:r>
              <a:rPr lang="en-US" dirty="0"/>
              <a:t>Third level</a:t>
            </a:r>
          </a:p>
        </p:txBody>
      </p:sp>
      <p:sp>
        <p:nvSpPr>
          <p:cNvPr id="8" name="Title Placeholder 1">
            <a:extLst>
              <a:ext uri="{FF2B5EF4-FFF2-40B4-BE49-F238E27FC236}">
                <a16:creationId xmlns:a16="http://schemas.microsoft.com/office/drawing/2014/main" id="{228F4D49-482B-40A2-86AF-43C7452AA67C}"/>
              </a:ext>
            </a:extLst>
          </p:cNvPr>
          <p:cNvSpPr>
            <a:spLocks noGrp="1"/>
          </p:cNvSpPr>
          <p:nvPr>
            <p:ph type="title"/>
          </p:nvPr>
        </p:nvSpPr>
        <p:spPr>
          <a:xfrm>
            <a:off x="323529" y="267657"/>
            <a:ext cx="6507968" cy="685535"/>
          </a:xfrm>
          <a:prstGeom prst="rect">
            <a:avLst/>
          </a:prstGeom>
        </p:spPr>
        <p:txBody>
          <a:bodyPr vert="horz" lIns="91440" tIns="45720" rIns="91440" bIns="45720" rtlCol="0" anchor="b" anchorCtr="0">
            <a:noAutofit/>
          </a:bodyPr>
          <a:lstStyle/>
          <a:p>
            <a:r>
              <a:rPr lang="en-US" dirty="0"/>
              <a:t>Click to edit Master title style</a:t>
            </a:r>
            <a:endParaRPr lang="en-GB" dirty="0"/>
          </a:p>
        </p:txBody>
      </p:sp>
      <p:sp>
        <p:nvSpPr>
          <p:cNvPr id="2" name="Media Placeholder 3">
            <a:extLst>
              <a:ext uri="{FF2B5EF4-FFF2-40B4-BE49-F238E27FC236}">
                <a16:creationId xmlns:a16="http://schemas.microsoft.com/office/drawing/2014/main" id="{41860E7C-CA2A-CCFE-19A9-6DCDEE29B22A}"/>
              </a:ext>
            </a:extLst>
          </p:cNvPr>
          <p:cNvSpPr>
            <a:spLocks noGrp="1"/>
          </p:cNvSpPr>
          <p:nvPr>
            <p:ph type="media" sz="quarter" idx="11" hasCustomPrompt="1"/>
          </p:nvPr>
        </p:nvSpPr>
        <p:spPr>
          <a:xfrm>
            <a:off x="6957391" y="0"/>
            <a:ext cx="2186609" cy="1311965"/>
          </a:xfrm>
        </p:spPr>
        <p:txBody>
          <a:bodyPr/>
          <a:lstStyle>
            <a:lvl1pPr marL="0" indent="0" algn="ctr">
              <a:buNone/>
              <a:defRPr sz="1200"/>
            </a:lvl1pPr>
          </a:lstStyle>
          <a:p>
            <a:pPr marL="0" marR="0" lvl="0" indent="0" algn="l" defTabSz="914400" rtl="0" eaLnBrk="1" fontAlgn="auto" latinLnBrk="0" hangingPunct="1">
              <a:lnSpc>
                <a:spcPct val="100000"/>
              </a:lnSpc>
              <a:spcBef>
                <a:spcPts val="0"/>
              </a:spcBef>
              <a:spcAft>
                <a:spcPts val="1200"/>
              </a:spcAft>
              <a:buClr>
                <a:srgbClr val="FF6600"/>
              </a:buClr>
              <a:buSzPct val="75000"/>
              <a:buFont typeface="Wingdings 2" panose="05020102010507070707" pitchFamily="18" charset="2"/>
              <a:buNone/>
              <a:tabLst/>
              <a:defRPr/>
            </a:pPr>
            <a:r>
              <a:rPr lang="en-GB" dirty="0" err="1"/>
              <a:t>PICinPIC</a:t>
            </a:r>
            <a:r>
              <a:rPr lang="en-GB" dirty="0"/>
              <a:t> WILL SHOW HERE, CONTENT COULD BE OBSCURED.  (invisible box)</a:t>
            </a:r>
          </a:p>
        </p:txBody>
      </p:sp>
    </p:spTree>
    <p:extLst>
      <p:ext uri="{BB962C8B-B14F-4D97-AF65-F5344CB8AC3E}">
        <p14:creationId xmlns:p14="http://schemas.microsoft.com/office/powerpoint/2010/main" val="23183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BE1C07FA-679D-46C0-86F7-8D17779A014C}"/>
              </a:ext>
            </a:extLst>
          </p:cNvPr>
          <p:cNvSpPr>
            <a:spLocks noGrp="1"/>
          </p:cNvSpPr>
          <p:nvPr>
            <p:ph idx="1"/>
          </p:nvPr>
        </p:nvSpPr>
        <p:spPr>
          <a:xfrm>
            <a:off x="323527" y="1264925"/>
            <a:ext cx="4104000" cy="3242040"/>
          </a:xfrm>
          <a:prstGeom prst="rect">
            <a:avLst/>
          </a:prstGeom>
        </p:spPr>
        <p:txBody>
          <a:bodyPr vert="horz" lIns="91440" tIns="45720" rIns="91440" bIns="45720" rtlCol="0">
            <a:normAutofit/>
          </a:bodyPr>
          <a:lstStyle>
            <a:lvl1pPr>
              <a:spcBef>
                <a:spcPts val="0"/>
              </a:spcBef>
              <a:buClr>
                <a:srgbClr val="FF6600"/>
              </a:buClr>
              <a:defRPr>
                <a:latin typeface="Sarabun" panose="00000500000000000000" pitchFamily="2" charset="-34"/>
              </a:defRPr>
            </a:lvl1pPr>
            <a:lvl2pPr>
              <a:spcBef>
                <a:spcPts val="0"/>
              </a:spcBef>
              <a:buClr>
                <a:srgbClr val="FF6600"/>
              </a:buClr>
              <a:defRPr>
                <a:latin typeface="Sarabun" panose="00000500000000000000" pitchFamily="2" charset="-34"/>
              </a:defRPr>
            </a:lvl2pPr>
            <a:lvl3pPr>
              <a:spcBef>
                <a:spcPts val="0"/>
              </a:spcBef>
              <a:buClr>
                <a:srgbClr val="FF6600"/>
              </a:buClr>
              <a:defRPr>
                <a:latin typeface="Sarabun" panose="00000500000000000000" pitchFamily="2" charset="-34"/>
              </a:defRPr>
            </a:lvl3pPr>
            <a:lvl4pPr>
              <a:spcBef>
                <a:spcPts val="0"/>
              </a:spcBef>
              <a:defRPr>
                <a:latin typeface="Sarabun" panose="00000500000000000000" pitchFamily="2" charset="-34"/>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7" name="Text Placeholder 2">
            <a:extLst>
              <a:ext uri="{FF2B5EF4-FFF2-40B4-BE49-F238E27FC236}">
                <a16:creationId xmlns:a16="http://schemas.microsoft.com/office/drawing/2014/main" id="{64BF5B9E-EBC4-409F-984B-6D47D81EDF48}"/>
              </a:ext>
            </a:extLst>
          </p:cNvPr>
          <p:cNvSpPr>
            <a:spLocks noGrp="1"/>
          </p:cNvSpPr>
          <p:nvPr>
            <p:ph idx="10"/>
          </p:nvPr>
        </p:nvSpPr>
        <p:spPr>
          <a:xfrm>
            <a:off x="4747260" y="1264925"/>
            <a:ext cx="4104641" cy="3242040"/>
          </a:xfrm>
          <a:prstGeom prst="rect">
            <a:avLst/>
          </a:prstGeom>
        </p:spPr>
        <p:txBody>
          <a:bodyPr vert="horz" lIns="91440" tIns="45720" rIns="91440" bIns="45720" rtlCol="0">
            <a:normAutofit/>
          </a:bodyPr>
          <a:lstStyle>
            <a:lvl1pPr>
              <a:spcBef>
                <a:spcPts val="0"/>
              </a:spcBef>
              <a:buClr>
                <a:srgbClr val="FF6600"/>
              </a:buClr>
              <a:defRPr>
                <a:latin typeface="Sarabun" panose="00000500000000000000" pitchFamily="2" charset="-34"/>
              </a:defRPr>
            </a:lvl1pPr>
            <a:lvl2pPr>
              <a:spcBef>
                <a:spcPts val="0"/>
              </a:spcBef>
              <a:buClr>
                <a:srgbClr val="FF6600"/>
              </a:buClr>
              <a:defRPr>
                <a:latin typeface="Sarabun" panose="00000500000000000000" pitchFamily="2" charset="-34"/>
              </a:defRPr>
            </a:lvl2pPr>
            <a:lvl3pPr>
              <a:spcBef>
                <a:spcPts val="0"/>
              </a:spcBef>
              <a:buClr>
                <a:srgbClr val="FF6600"/>
              </a:buClr>
              <a:defRPr>
                <a:latin typeface="Sarabun" panose="00000500000000000000" pitchFamily="2" charset="-34"/>
              </a:defRPr>
            </a:lvl3pPr>
            <a:lvl4pPr>
              <a:spcBef>
                <a:spcPts val="0"/>
              </a:spcBef>
              <a:defRPr>
                <a:latin typeface="Sarabun" panose="00000500000000000000" pitchFamily="2" charset="-34"/>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8" name="Title Placeholder 1">
            <a:extLst>
              <a:ext uri="{FF2B5EF4-FFF2-40B4-BE49-F238E27FC236}">
                <a16:creationId xmlns:a16="http://schemas.microsoft.com/office/drawing/2014/main" id="{1378A4D6-E4A6-4021-9A3E-CD1962CFECD1}"/>
              </a:ext>
            </a:extLst>
          </p:cNvPr>
          <p:cNvSpPr>
            <a:spLocks noGrp="1"/>
          </p:cNvSpPr>
          <p:nvPr>
            <p:ph type="title"/>
          </p:nvPr>
        </p:nvSpPr>
        <p:spPr>
          <a:xfrm>
            <a:off x="323529" y="267657"/>
            <a:ext cx="6554350" cy="685535"/>
          </a:xfrm>
          <a:prstGeom prst="rect">
            <a:avLst/>
          </a:prstGeom>
        </p:spPr>
        <p:txBody>
          <a:bodyPr vert="horz" lIns="91440" tIns="45720" rIns="91440" bIns="45720" rtlCol="0" anchor="b" anchorCtr="0">
            <a:noAutofit/>
          </a:bodyPr>
          <a:lstStyle/>
          <a:p>
            <a:r>
              <a:rPr lang="en-US" dirty="0"/>
              <a:t>Click to edit Master title style</a:t>
            </a:r>
            <a:endParaRPr lang="en-GB" dirty="0"/>
          </a:p>
        </p:txBody>
      </p:sp>
      <p:sp>
        <p:nvSpPr>
          <p:cNvPr id="3" name="Media Placeholder 3">
            <a:extLst>
              <a:ext uri="{FF2B5EF4-FFF2-40B4-BE49-F238E27FC236}">
                <a16:creationId xmlns:a16="http://schemas.microsoft.com/office/drawing/2014/main" id="{CFE9A372-03E3-E60F-6496-867B43D28DDD}"/>
              </a:ext>
            </a:extLst>
          </p:cNvPr>
          <p:cNvSpPr>
            <a:spLocks noGrp="1"/>
          </p:cNvSpPr>
          <p:nvPr>
            <p:ph type="media" sz="quarter" idx="11" hasCustomPrompt="1"/>
          </p:nvPr>
        </p:nvSpPr>
        <p:spPr>
          <a:xfrm>
            <a:off x="6957391" y="0"/>
            <a:ext cx="2186609" cy="1311965"/>
          </a:xfrm>
        </p:spPr>
        <p:txBody>
          <a:bodyPr/>
          <a:lstStyle>
            <a:lvl1pPr marL="0" indent="0" algn="ctr">
              <a:buNone/>
              <a:defRPr sz="1200"/>
            </a:lvl1pPr>
          </a:lstStyle>
          <a:p>
            <a:pPr marL="0" marR="0" lvl="0" indent="0" algn="l" defTabSz="914400" rtl="0" eaLnBrk="1" fontAlgn="auto" latinLnBrk="0" hangingPunct="1">
              <a:lnSpc>
                <a:spcPct val="100000"/>
              </a:lnSpc>
              <a:spcBef>
                <a:spcPts val="0"/>
              </a:spcBef>
              <a:spcAft>
                <a:spcPts val="1200"/>
              </a:spcAft>
              <a:buClr>
                <a:srgbClr val="FF6600"/>
              </a:buClr>
              <a:buSzPct val="75000"/>
              <a:buFont typeface="Wingdings 2" panose="05020102010507070707" pitchFamily="18" charset="2"/>
              <a:buNone/>
              <a:tabLst/>
              <a:defRPr/>
            </a:pPr>
            <a:r>
              <a:rPr lang="en-GB" dirty="0" err="1"/>
              <a:t>PICinPIC</a:t>
            </a:r>
            <a:r>
              <a:rPr lang="en-GB" dirty="0"/>
              <a:t> WILL SHOW HERE, CONTENT COULD BE OBSCURED.  (invisible box)</a:t>
            </a:r>
          </a:p>
        </p:txBody>
      </p:sp>
    </p:spTree>
    <p:extLst>
      <p:ext uri="{BB962C8B-B14F-4D97-AF65-F5344CB8AC3E}">
        <p14:creationId xmlns:p14="http://schemas.microsoft.com/office/powerpoint/2010/main" val="1414322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4C4900D4-E042-4F52-A837-0B504DD6A4AA}"/>
              </a:ext>
            </a:extLst>
          </p:cNvPr>
          <p:cNvSpPr>
            <a:spLocks noGrp="1"/>
          </p:cNvSpPr>
          <p:nvPr>
            <p:ph type="title"/>
          </p:nvPr>
        </p:nvSpPr>
        <p:spPr>
          <a:xfrm>
            <a:off x="323529" y="267657"/>
            <a:ext cx="6527846" cy="685535"/>
          </a:xfrm>
          <a:prstGeom prst="rect">
            <a:avLst/>
          </a:prstGeom>
        </p:spPr>
        <p:txBody>
          <a:bodyPr vert="horz" lIns="91440" tIns="45720" rIns="91440" bIns="45720" rtlCol="0" anchor="b" anchorCtr="0">
            <a:noAutofit/>
          </a:bodyPr>
          <a:lstStyle/>
          <a:p>
            <a:r>
              <a:rPr lang="en-US" dirty="0"/>
              <a:t>Click to edit Master title style</a:t>
            </a:r>
            <a:endParaRPr lang="en-GB" dirty="0"/>
          </a:p>
        </p:txBody>
      </p:sp>
      <p:sp>
        <p:nvSpPr>
          <p:cNvPr id="3" name="Media Placeholder 3">
            <a:extLst>
              <a:ext uri="{FF2B5EF4-FFF2-40B4-BE49-F238E27FC236}">
                <a16:creationId xmlns:a16="http://schemas.microsoft.com/office/drawing/2014/main" id="{6AE5AD0B-78DA-96AF-6F08-3574B654A51A}"/>
              </a:ext>
            </a:extLst>
          </p:cNvPr>
          <p:cNvSpPr>
            <a:spLocks noGrp="1"/>
          </p:cNvSpPr>
          <p:nvPr>
            <p:ph type="media" sz="quarter" idx="11" hasCustomPrompt="1"/>
          </p:nvPr>
        </p:nvSpPr>
        <p:spPr>
          <a:xfrm>
            <a:off x="6957391" y="0"/>
            <a:ext cx="2186609" cy="1311965"/>
          </a:xfrm>
        </p:spPr>
        <p:txBody>
          <a:bodyPr/>
          <a:lstStyle>
            <a:lvl1pPr marL="0" indent="0" algn="ctr">
              <a:buNone/>
              <a:defRPr sz="1200"/>
            </a:lvl1pPr>
          </a:lstStyle>
          <a:p>
            <a:pPr marL="0" marR="0" lvl="0" indent="0" algn="l" defTabSz="914400" rtl="0" eaLnBrk="1" fontAlgn="auto" latinLnBrk="0" hangingPunct="1">
              <a:lnSpc>
                <a:spcPct val="100000"/>
              </a:lnSpc>
              <a:spcBef>
                <a:spcPts val="0"/>
              </a:spcBef>
              <a:spcAft>
                <a:spcPts val="1200"/>
              </a:spcAft>
              <a:buClr>
                <a:srgbClr val="FF6600"/>
              </a:buClr>
              <a:buSzPct val="75000"/>
              <a:buFont typeface="Wingdings 2" panose="05020102010507070707" pitchFamily="18" charset="2"/>
              <a:buNone/>
              <a:tabLst/>
              <a:defRPr/>
            </a:pPr>
            <a:r>
              <a:rPr lang="en-GB" dirty="0" err="1"/>
              <a:t>PICinPIC</a:t>
            </a:r>
            <a:r>
              <a:rPr lang="en-GB" dirty="0"/>
              <a:t> WILL SHOW HERE, CONTENT COULD BE OBSCURED.  (invisible box)</a:t>
            </a:r>
          </a:p>
        </p:txBody>
      </p:sp>
    </p:spTree>
    <p:extLst>
      <p:ext uri="{BB962C8B-B14F-4D97-AF65-F5344CB8AC3E}">
        <p14:creationId xmlns:p14="http://schemas.microsoft.com/office/powerpoint/2010/main" val="42264723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Media Placeholder 3">
            <a:extLst>
              <a:ext uri="{FF2B5EF4-FFF2-40B4-BE49-F238E27FC236}">
                <a16:creationId xmlns:a16="http://schemas.microsoft.com/office/drawing/2014/main" id="{2ADF6038-2E5A-469C-35D8-0A0580CF19AD}"/>
              </a:ext>
            </a:extLst>
          </p:cNvPr>
          <p:cNvSpPr>
            <a:spLocks noGrp="1"/>
          </p:cNvSpPr>
          <p:nvPr>
            <p:ph type="media" sz="quarter" idx="11" hasCustomPrompt="1"/>
          </p:nvPr>
        </p:nvSpPr>
        <p:spPr>
          <a:xfrm>
            <a:off x="6957391" y="0"/>
            <a:ext cx="2186609" cy="1311965"/>
          </a:xfrm>
        </p:spPr>
        <p:txBody>
          <a:bodyPr/>
          <a:lstStyle>
            <a:lvl1pPr marL="0" indent="0" algn="ctr">
              <a:buNone/>
              <a:defRPr sz="1200"/>
            </a:lvl1pPr>
          </a:lstStyle>
          <a:p>
            <a:pPr marL="0" marR="0" lvl="0" indent="0" algn="l" defTabSz="914400" rtl="0" eaLnBrk="1" fontAlgn="auto" latinLnBrk="0" hangingPunct="1">
              <a:lnSpc>
                <a:spcPct val="100000"/>
              </a:lnSpc>
              <a:spcBef>
                <a:spcPts val="0"/>
              </a:spcBef>
              <a:spcAft>
                <a:spcPts val="1200"/>
              </a:spcAft>
              <a:buClr>
                <a:srgbClr val="FF6600"/>
              </a:buClr>
              <a:buSzPct val="75000"/>
              <a:buFont typeface="Wingdings 2" panose="05020102010507070707" pitchFamily="18" charset="2"/>
              <a:buNone/>
              <a:tabLst/>
              <a:defRPr/>
            </a:pPr>
            <a:r>
              <a:rPr lang="en-GB" dirty="0" err="1"/>
              <a:t>PICinPIC</a:t>
            </a:r>
            <a:r>
              <a:rPr lang="en-GB" dirty="0"/>
              <a:t> WILL SHOW HERE, CONTENT COULD BE OBSCURED.  (invisible box)</a:t>
            </a:r>
          </a:p>
        </p:txBody>
      </p:sp>
    </p:spTree>
    <p:extLst>
      <p:ext uri="{BB962C8B-B14F-4D97-AF65-F5344CB8AC3E}">
        <p14:creationId xmlns:p14="http://schemas.microsoft.com/office/powerpoint/2010/main" val="1447694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6" name="Text Placeholder 2">
            <a:extLst>
              <a:ext uri="{FF2B5EF4-FFF2-40B4-BE49-F238E27FC236}">
                <a16:creationId xmlns:a16="http://schemas.microsoft.com/office/drawing/2014/main" id="{56DBA27B-8304-4CFA-81F2-07D6954C9B4F}"/>
              </a:ext>
            </a:extLst>
          </p:cNvPr>
          <p:cNvSpPr>
            <a:spLocks noGrp="1"/>
          </p:cNvSpPr>
          <p:nvPr>
            <p:ph idx="1"/>
          </p:nvPr>
        </p:nvSpPr>
        <p:spPr>
          <a:xfrm>
            <a:off x="323527" y="1377778"/>
            <a:ext cx="8474484" cy="3129187"/>
          </a:xfrm>
          <a:prstGeom prst="rect">
            <a:avLst/>
          </a:prstGeom>
        </p:spPr>
        <p:txBody>
          <a:bodyPr vert="horz" lIns="91440" tIns="45720" rIns="91440" bIns="45720" rtlCol="0">
            <a:normAutofit/>
          </a:bodyPr>
          <a:lstStyle>
            <a:lvl1pPr>
              <a:spcBef>
                <a:spcPts val="0"/>
              </a:spcBef>
              <a:buClr>
                <a:srgbClr val="FF6600"/>
              </a:buClr>
              <a:defRPr/>
            </a:lvl1pPr>
            <a:lvl2pPr>
              <a:spcBef>
                <a:spcPts val="0"/>
              </a:spcBef>
              <a:buClr>
                <a:srgbClr val="FF6600"/>
              </a:buClr>
              <a:defRPr/>
            </a:lvl2pPr>
            <a:lvl3pPr>
              <a:spcBef>
                <a:spcPts val="0"/>
              </a:spcBef>
              <a:buClr>
                <a:srgbClr val="FF6600"/>
              </a:buClr>
              <a:defRPr/>
            </a:lvl3pPr>
            <a:lvl4pPr>
              <a:spcBef>
                <a:spcPts val="0"/>
              </a:spcBef>
              <a:buClr>
                <a:srgbClr val="FFA336"/>
              </a:buClr>
              <a:defRPr/>
            </a:lvl4pPr>
          </a:lstStyle>
          <a:p>
            <a:pPr lvl="0"/>
            <a:r>
              <a:rPr lang="en-US" dirty="0"/>
              <a:t>Click to edit Master text styles</a:t>
            </a:r>
          </a:p>
          <a:p>
            <a:pPr lvl="1"/>
            <a:r>
              <a:rPr lang="en-US" dirty="0"/>
              <a:t>Second level</a:t>
            </a:r>
          </a:p>
          <a:p>
            <a:pPr lvl="2"/>
            <a:r>
              <a:rPr lang="en-US" dirty="0"/>
              <a:t>Third level</a:t>
            </a:r>
          </a:p>
        </p:txBody>
      </p:sp>
      <p:sp>
        <p:nvSpPr>
          <p:cNvPr id="8" name="Title Placeholder 1">
            <a:extLst>
              <a:ext uri="{FF2B5EF4-FFF2-40B4-BE49-F238E27FC236}">
                <a16:creationId xmlns:a16="http://schemas.microsoft.com/office/drawing/2014/main" id="{228F4D49-482B-40A2-86AF-43C7452AA67C}"/>
              </a:ext>
            </a:extLst>
          </p:cNvPr>
          <p:cNvSpPr>
            <a:spLocks noGrp="1"/>
          </p:cNvSpPr>
          <p:nvPr>
            <p:ph type="title"/>
          </p:nvPr>
        </p:nvSpPr>
        <p:spPr>
          <a:xfrm>
            <a:off x="323529" y="267657"/>
            <a:ext cx="6507968" cy="685535"/>
          </a:xfrm>
          <a:prstGeom prst="rect">
            <a:avLst/>
          </a:prstGeom>
        </p:spPr>
        <p:txBody>
          <a:bodyPr vert="horz" lIns="91440" tIns="45720" rIns="91440" bIns="45720" rtlCol="0" anchor="b" anchorCtr="0">
            <a:noAutofit/>
          </a:bodyPr>
          <a:lstStyle/>
          <a:p>
            <a:r>
              <a:rPr lang="en-US" dirty="0"/>
              <a:t>Click to edit Master title style</a:t>
            </a:r>
            <a:endParaRPr lang="en-GB" dirty="0"/>
          </a:p>
        </p:txBody>
      </p:sp>
      <p:sp>
        <p:nvSpPr>
          <p:cNvPr id="2" name="Media Placeholder 3">
            <a:extLst>
              <a:ext uri="{FF2B5EF4-FFF2-40B4-BE49-F238E27FC236}">
                <a16:creationId xmlns:a16="http://schemas.microsoft.com/office/drawing/2014/main" id="{41860E7C-CA2A-CCFE-19A9-6DCDEE29B22A}"/>
              </a:ext>
            </a:extLst>
          </p:cNvPr>
          <p:cNvSpPr>
            <a:spLocks noGrp="1"/>
          </p:cNvSpPr>
          <p:nvPr>
            <p:ph type="media" sz="quarter" idx="11" hasCustomPrompt="1"/>
          </p:nvPr>
        </p:nvSpPr>
        <p:spPr>
          <a:xfrm>
            <a:off x="6957391" y="0"/>
            <a:ext cx="2186609" cy="1311965"/>
          </a:xfrm>
        </p:spPr>
        <p:txBody>
          <a:bodyPr/>
          <a:lstStyle>
            <a:lvl1pPr marL="0" indent="0" algn="ctr">
              <a:buNone/>
              <a:defRPr sz="1200"/>
            </a:lvl1pPr>
          </a:lstStyle>
          <a:p>
            <a:pPr marL="0" marR="0" lvl="0" indent="0" algn="l" defTabSz="914400" rtl="0" eaLnBrk="1" fontAlgn="auto" latinLnBrk="0" hangingPunct="1">
              <a:lnSpc>
                <a:spcPct val="100000"/>
              </a:lnSpc>
              <a:spcBef>
                <a:spcPts val="0"/>
              </a:spcBef>
              <a:spcAft>
                <a:spcPts val="1200"/>
              </a:spcAft>
              <a:buClr>
                <a:srgbClr val="FF6600"/>
              </a:buClr>
              <a:buSzPct val="75000"/>
              <a:buFont typeface="Wingdings 2" panose="05020102010507070707" pitchFamily="18" charset="2"/>
              <a:buNone/>
              <a:tabLst/>
              <a:defRPr/>
            </a:pPr>
            <a:r>
              <a:rPr lang="en-GB" dirty="0" err="1"/>
              <a:t>PICinPIC</a:t>
            </a:r>
            <a:r>
              <a:rPr lang="en-GB" dirty="0"/>
              <a:t> WILL SHOW HERE, CONTENT COULD BE OBSCURED.  (invisible box)</a:t>
            </a:r>
          </a:p>
        </p:txBody>
      </p:sp>
    </p:spTree>
    <p:extLst>
      <p:ext uri="{BB962C8B-B14F-4D97-AF65-F5344CB8AC3E}">
        <p14:creationId xmlns:p14="http://schemas.microsoft.com/office/powerpoint/2010/main" val="2046522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3.svg"/><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3528" y="267657"/>
            <a:ext cx="7005527" cy="685535"/>
          </a:xfrm>
          <a:prstGeom prst="rect">
            <a:avLst/>
          </a:prstGeom>
        </p:spPr>
        <p:txBody>
          <a:bodyPr vert="horz" lIns="91440" tIns="45720" rIns="91440" bIns="45720" rtlCol="0" anchor="b"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323527" y="1264925"/>
            <a:ext cx="8528373" cy="324204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Content Placeholder 2">
            <a:extLst>
              <a:ext uri="{FF2B5EF4-FFF2-40B4-BE49-F238E27FC236}">
                <a16:creationId xmlns:a16="http://schemas.microsoft.com/office/drawing/2014/main" id="{79B4391E-A2CA-4E7C-B5A9-A31CF000D3E5}"/>
              </a:ext>
            </a:extLst>
          </p:cNvPr>
          <p:cNvSpPr txBox="1">
            <a:spLocks/>
          </p:cNvSpPr>
          <p:nvPr userDrawn="1"/>
        </p:nvSpPr>
        <p:spPr>
          <a:xfrm>
            <a:off x="710852" y="4745354"/>
            <a:ext cx="7066640" cy="398145"/>
          </a:xfrm>
          <a:prstGeom prst="rect">
            <a:avLst/>
          </a:prstGeom>
        </p:spPr>
        <p:txBody>
          <a:bodyPr anchor="ctr">
            <a:normAutofit/>
          </a:bodyPr>
          <a:lstStyle>
            <a:lvl1pPr marL="0" indent="0" algn="l" defTabSz="914400" rtl="0" eaLnBrk="1" latinLnBrk="0" hangingPunct="1">
              <a:lnSpc>
                <a:spcPct val="80000"/>
              </a:lnSpc>
              <a:spcBef>
                <a:spcPts val="400"/>
              </a:spcBef>
              <a:buClr>
                <a:srgbClr val="FF9421"/>
              </a:buClr>
              <a:buFont typeface="Arial" panose="020B0604020202020204" pitchFamily="34" charset="0"/>
              <a:buNone/>
              <a:defRPr sz="1800" kern="1200">
                <a:solidFill>
                  <a:schemeClr val="bg1"/>
                </a:solidFill>
                <a:latin typeface="+mn-lt"/>
                <a:ea typeface="+mn-ea"/>
                <a:cs typeface="+mn-cs"/>
              </a:defRPr>
            </a:lvl1pPr>
            <a:lvl2pPr marL="717550" indent="-355600" algn="l" defTabSz="914400" rtl="0" eaLnBrk="1" latinLnBrk="0" hangingPunct="1">
              <a:lnSpc>
                <a:spcPct val="80000"/>
              </a:lnSpc>
              <a:spcBef>
                <a:spcPts val="400"/>
              </a:spcBef>
              <a:buClr>
                <a:srgbClr val="FF9421"/>
              </a:buClr>
              <a:buSzPct val="60000"/>
              <a:buFont typeface="Courier New" panose="02070309020205020404" pitchFamily="49" charset="0"/>
              <a:buChar char="o"/>
              <a:defRPr sz="2400" kern="1200">
                <a:solidFill>
                  <a:schemeClr val="bg1"/>
                </a:solidFill>
                <a:latin typeface="+mn-lt"/>
                <a:ea typeface="+mn-ea"/>
                <a:cs typeface="+mn-cs"/>
              </a:defRPr>
            </a:lvl2pPr>
            <a:lvl3pPr marL="1079500" indent="-361950" algn="l" defTabSz="914400" rtl="0" eaLnBrk="1" latinLnBrk="0" hangingPunct="1">
              <a:lnSpc>
                <a:spcPct val="80000"/>
              </a:lnSpc>
              <a:spcBef>
                <a:spcPts val="400"/>
              </a:spcBef>
              <a:buClr>
                <a:srgbClr val="FF9421"/>
              </a:buClr>
              <a:buSzPct val="75000"/>
              <a:buFont typeface="Wingdings" panose="05000000000000000000" pitchFamily="2" charset="2"/>
              <a:buChar char="§"/>
              <a:defRPr sz="2000" kern="1200">
                <a:solidFill>
                  <a:schemeClr val="bg1"/>
                </a:solidFill>
                <a:latin typeface="+mn-lt"/>
                <a:ea typeface="+mn-ea"/>
                <a:cs typeface="+mn-cs"/>
              </a:defRPr>
            </a:lvl3pPr>
            <a:lvl4pPr marL="1433513" indent="-354013" algn="l" defTabSz="914400" rtl="0" eaLnBrk="1" latinLnBrk="0" hangingPunct="1">
              <a:lnSpc>
                <a:spcPct val="80000"/>
              </a:lnSpc>
              <a:spcBef>
                <a:spcPts val="400"/>
              </a:spcBef>
              <a:buClr>
                <a:srgbClr val="FF9421"/>
              </a:buClr>
              <a:buFont typeface="Calibri" panose="020F0502020204030204" pitchFamily="34" charset="0"/>
              <a:buChar char="–"/>
              <a:defRPr sz="1600" kern="1200">
                <a:solidFill>
                  <a:schemeClr val="bg1"/>
                </a:solidFill>
                <a:latin typeface="+mn-lt"/>
                <a:ea typeface="+mn-ea"/>
                <a:cs typeface="+mn-cs"/>
              </a:defRPr>
            </a:lvl4pPr>
            <a:lvl5pPr marL="1828800" indent="0" algn="l" defTabSz="914400" rtl="0" eaLnBrk="1" latinLnBrk="0" hangingPunct="1">
              <a:spcBef>
                <a:spcPct val="20000"/>
              </a:spcBef>
              <a:buClr>
                <a:srgbClr val="FF9421"/>
              </a:buClr>
              <a:buFont typeface="Calibri" panose="020F050202020403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ctr" rtl="0">
              <a:spcBef>
                <a:spcPts val="0"/>
              </a:spcBef>
            </a:pPr>
            <a:r>
              <a:rPr lang="en-US" sz="1600" dirty="0">
                <a:solidFill>
                  <a:srgbClr val="282828"/>
                </a:solidFill>
                <a:latin typeface="Sarabun" panose="00000500000000000000" pitchFamily="2" charset="-34"/>
              </a:rPr>
              <a:t>APL Bootcamp – Part 4</a:t>
            </a:r>
          </a:p>
        </p:txBody>
      </p:sp>
      <p:sp>
        <p:nvSpPr>
          <p:cNvPr id="49" name="Date Placeholder 3"/>
          <p:cNvSpPr txBox="1">
            <a:spLocks/>
          </p:cNvSpPr>
          <p:nvPr userDrawn="1"/>
        </p:nvSpPr>
        <p:spPr>
          <a:xfrm>
            <a:off x="45720" y="4743900"/>
            <a:ext cx="665132" cy="399600"/>
          </a:xfrm>
          <a:prstGeom prst="rect">
            <a:avLst/>
          </a:prstGeom>
        </p:spPr>
        <p:txBody>
          <a:bodyPr vert="horz" lIns="91440" tIns="45720" rIns="91440" bIns="45720" rtlCol="0" anchor="ctr"/>
          <a:lstStyle>
            <a:defPPr>
              <a:defRPr lang="en-US"/>
            </a:defPPr>
            <a:lvl1pPr marL="0" algn="l" defTabSz="914400" rtl="0" eaLnBrk="1" latinLnBrk="0" hangingPunct="1">
              <a:defRPr sz="2000" b="0" kern="1200">
                <a:solidFill>
                  <a:schemeClr val="bg1"/>
                </a:solidFill>
                <a:latin typeface="Klavika Medium" panose="02000603000000000000" pitchFamily="2"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fld id="{02EDF88B-1B61-4481-9BD6-D2E23BF0DCD8}" type="slidenum">
              <a:rPr lang="en-GB" sz="1600" baseline="0" smtClean="0">
                <a:solidFill>
                  <a:srgbClr val="FF6A13"/>
                </a:solidFill>
                <a:latin typeface="Sarabun" panose="00000500000000000000" pitchFamily="2" charset="-34"/>
              </a:rPr>
              <a:pPr algn="l"/>
              <a:t>‹#›</a:t>
            </a:fld>
            <a:endParaRPr lang="en-GB" sz="1600" baseline="0" dirty="0">
              <a:solidFill>
                <a:srgbClr val="FF6A13"/>
              </a:solidFill>
              <a:latin typeface="Sarabun" panose="00000500000000000000" pitchFamily="2" charset="-34"/>
            </a:endParaRPr>
          </a:p>
        </p:txBody>
      </p:sp>
      <p:pic>
        <p:nvPicPr>
          <p:cNvPr id="4" name="Picture 3">
            <a:extLst>
              <a:ext uri="{FF2B5EF4-FFF2-40B4-BE49-F238E27FC236}">
                <a16:creationId xmlns:a16="http://schemas.microsoft.com/office/drawing/2014/main" id="{14920957-0551-8F72-773E-84D867F26A52}"/>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b="90400"/>
          <a:stretch/>
        </p:blipFill>
        <p:spPr>
          <a:xfrm>
            <a:off x="0" y="5097467"/>
            <a:ext cx="9144000" cy="45719"/>
          </a:xfrm>
          <a:prstGeom prst="rect">
            <a:avLst/>
          </a:prstGeom>
        </p:spPr>
      </p:pic>
      <p:pic>
        <p:nvPicPr>
          <p:cNvPr id="5" name="Picture 4">
            <a:extLst>
              <a:ext uri="{FF2B5EF4-FFF2-40B4-BE49-F238E27FC236}">
                <a16:creationId xmlns:a16="http://schemas.microsoft.com/office/drawing/2014/main" id="{CFEC5741-2586-9026-BBB0-7FC530AB64E7}"/>
              </a:ext>
            </a:extLst>
          </p:cNvPr>
          <p:cNvPicPr>
            <a:picLocks noChangeAspect="1"/>
          </p:cNvPicPr>
          <p:nvPr userDrawn="1"/>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8067022" y="4818698"/>
            <a:ext cx="938248" cy="155015"/>
          </a:xfrm>
          <a:prstGeom prst="rect">
            <a:avLst/>
          </a:prstGeom>
        </p:spPr>
      </p:pic>
    </p:spTree>
    <p:extLst>
      <p:ext uri="{BB962C8B-B14F-4D97-AF65-F5344CB8AC3E}">
        <p14:creationId xmlns:p14="http://schemas.microsoft.com/office/powerpoint/2010/main" val="2781740000"/>
      </p:ext>
    </p:extLst>
  </p:cSld>
  <p:clrMap bg1="lt1" tx1="dk1" bg2="lt2" tx2="dk2" accent1="accent1" accent2="accent2" accent3="accent3" accent4="accent4" accent5="accent5" accent6="accent6" hlink="hlink" folHlink="folHlink"/>
  <p:sldLayoutIdLst>
    <p:sldLayoutId id="2147483657" r:id="rId1"/>
    <p:sldLayoutId id="2147483650" r:id="rId2"/>
    <p:sldLayoutId id="2147483652" r:id="rId3"/>
    <p:sldLayoutId id="2147483654" r:id="rId4"/>
    <p:sldLayoutId id="2147483655" r:id="rId5"/>
    <p:sldLayoutId id="2147483658" r:id="rId6"/>
  </p:sldLayoutIdLst>
  <p:hf sldNum="0" hdr="0" dt="0"/>
  <p:txStyles>
    <p:titleStyle>
      <a:lvl1pPr algn="l" defTabSz="914400" rtl="0" eaLnBrk="1" latinLnBrk="0" hangingPunct="1">
        <a:spcBef>
          <a:spcPct val="0"/>
        </a:spcBef>
        <a:buNone/>
        <a:defRPr sz="3600" b="0" kern="1200">
          <a:solidFill>
            <a:srgbClr val="3B475E"/>
          </a:solidFill>
          <a:latin typeface="Sarabun" panose="00000500000000000000" pitchFamily="2" charset="-34"/>
          <a:ea typeface="+mj-ea"/>
          <a:cs typeface="Calibri" panose="020F0502020204030204" pitchFamily="34" charset="0"/>
        </a:defRPr>
      </a:lvl1pPr>
    </p:titleStyle>
    <p:bodyStyle>
      <a:lvl1pPr marL="458788" indent="-458788" algn="l" defTabSz="914400" rtl="0" eaLnBrk="1" latinLnBrk="0" hangingPunct="1">
        <a:lnSpc>
          <a:spcPct val="100000"/>
        </a:lnSpc>
        <a:spcBef>
          <a:spcPts val="0"/>
        </a:spcBef>
        <a:spcAft>
          <a:spcPts val="1200"/>
        </a:spcAft>
        <a:buClr>
          <a:srgbClr val="FF6600"/>
        </a:buClr>
        <a:buSzPct val="75000"/>
        <a:buFont typeface="Wingdings 2" panose="05020102010507070707" pitchFamily="18" charset="2"/>
        <a:buChar char=""/>
        <a:defRPr sz="2400" kern="1200">
          <a:solidFill>
            <a:srgbClr val="3B475E"/>
          </a:solidFill>
          <a:latin typeface="Sarabun" panose="00000500000000000000" pitchFamily="2" charset="-34"/>
          <a:ea typeface="+mn-ea"/>
          <a:cs typeface="+mn-cs"/>
        </a:defRPr>
      </a:lvl1pPr>
      <a:lvl2pPr marL="858838" indent="-401638" algn="l" defTabSz="914400" rtl="0" eaLnBrk="1" latinLnBrk="0" hangingPunct="1">
        <a:lnSpc>
          <a:spcPct val="100000"/>
        </a:lnSpc>
        <a:spcBef>
          <a:spcPts val="0"/>
        </a:spcBef>
        <a:spcAft>
          <a:spcPts val="1200"/>
        </a:spcAft>
        <a:buClr>
          <a:srgbClr val="FF6600"/>
        </a:buClr>
        <a:buSzPct val="75000"/>
        <a:buFont typeface="Wingdings 2" panose="05020102010507070707" pitchFamily="18" charset="2"/>
        <a:buChar char=""/>
        <a:defRPr lang="en-US" sz="2000" kern="1200" dirty="0" smtClean="0">
          <a:solidFill>
            <a:srgbClr val="3B475E"/>
          </a:solidFill>
          <a:latin typeface="Sarabun" panose="00000500000000000000" pitchFamily="2" charset="-34"/>
          <a:ea typeface="+mn-ea"/>
          <a:cs typeface="+mn-cs"/>
        </a:defRPr>
      </a:lvl2pPr>
      <a:lvl3pPr marL="1257300" indent="-342900" algn="l" defTabSz="914400" rtl="0" eaLnBrk="1" latinLnBrk="0" hangingPunct="1">
        <a:lnSpc>
          <a:spcPct val="100000"/>
        </a:lnSpc>
        <a:spcBef>
          <a:spcPts val="0"/>
        </a:spcBef>
        <a:spcAft>
          <a:spcPts val="1200"/>
        </a:spcAft>
        <a:buClr>
          <a:srgbClr val="FF6600"/>
        </a:buClr>
        <a:buSzPct val="75000"/>
        <a:buFont typeface="Wingdings 2" panose="05020102010507070707" pitchFamily="18" charset="2"/>
        <a:buChar char=""/>
        <a:defRPr sz="1800" kern="1200">
          <a:solidFill>
            <a:srgbClr val="3B475E"/>
          </a:solidFill>
          <a:latin typeface="Sarabun" panose="00000500000000000000" pitchFamily="2" charset="-34"/>
          <a:ea typeface="+mn-ea"/>
          <a:cs typeface="+mn-cs"/>
        </a:defRPr>
      </a:lvl3pPr>
      <a:lvl4pPr marL="1655763" indent="-284163" algn="l" defTabSz="914400" rtl="0" eaLnBrk="1" latinLnBrk="0" hangingPunct="1">
        <a:lnSpc>
          <a:spcPct val="100000"/>
        </a:lnSpc>
        <a:spcBef>
          <a:spcPts val="0"/>
        </a:spcBef>
        <a:spcAft>
          <a:spcPts val="1200"/>
        </a:spcAft>
        <a:buClr>
          <a:srgbClr val="FF6600"/>
        </a:buClr>
        <a:buSzPct val="75000"/>
        <a:buFont typeface="Wingdings 2" panose="05020102010507070707" pitchFamily="18" charset="2"/>
        <a:buChar char=""/>
        <a:defRPr sz="1400" kern="1200">
          <a:solidFill>
            <a:srgbClr val="3B475E"/>
          </a:solidFill>
          <a:latin typeface="Sarabun" panose="00000500000000000000" pitchFamily="2" charset="-34"/>
          <a:ea typeface="+mn-ea"/>
          <a:cs typeface="+mn-cs"/>
        </a:defRPr>
      </a:lvl4pPr>
      <a:lvl5pPr marL="1828800" indent="0" algn="l" defTabSz="914400" rtl="0" eaLnBrk="1" latinLnBrk="0" hangingPunct="1">
        <a:spcBef>
          <a:spcPct val="20000"/>
        </a:spcBef>
        <a:buClr>
          <a:srgbClr val="FF9421"/>
        </a:buClr>
        <a:buFont typeface="Calibri" panose="020F0502020204030204" pitchFamily="34" charset="0"/>
        <a:buNone/>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A6417-55D0-46BB-0DFF-8D4AA0A716A1}"/>
              </a:ext>
            </a:extLst>
          </p:cNvPr>
          <p:cNvSpPr>
            <a:spLocks noGrp="1"/>
          </p:cNvSpPr>
          <p:nvPr>
            <p:ph type="title"/>
          </p:nvPr>
        </p:nvSpPr>
        <p:spPr/>
        <p:txBody>
          <a:bodyPr/>
          <a:lstStyle/>
          <a:p>
            <a:r>
              <a:rPr lang="en-GB" dirty="0"/>
              <a:t>APL Bootcamp – Part 4</a:t>
            </a:r>
          </a:p>
        </p:txBody>
      </p:sp>
      <p:sp>
        <p:nvSpPr>
          <p:cNvPr id="3" name="Text Placeholder 2">
            <a:extLst>
              <a:ext uri="{FF2B5EF4-FFF2-40B4-BE49-F238E27FC236}">
                <a16:creationId xmlns:a16="http://schemas.microsoft.com/office/drawing/2014/main" id="{4968C988-130F-A25A-2390-AB59A78D532C}"/>
              </a:ext>
            </a:extLst>
          </p:cNvPr>
          <p:cNvSpPr>
            <a:spLocks noGrp="1"/>
          </p:cNvSpPr>
          <p:nvPr>
            <p:ph type="body" sz="quarter" idx="10"/>
          </p:nvPr>
        </p:nvSpPr>
        <p:spPr>
          <a:xfrm>
            <a:off x="445061" y="3741620"/>
            <a:ext cx="8167160" cy="1024109"/>
          </a:xfrm>
        </p:spPr>
        <p:txBody>
          <a:bodyPr/>
          <a:lstStyle/>
          <a:p>
            <a:r>
              <a:rPr lang="en-GB" dirty="0"/>
              <a:t>User-defined Functions; Using the IDE</a:t>
            </a:r>
          </a:p>
        </p:txBody>
      </p:sp>
      <p:sp>
        <p:nvSpPr>
          <p:cNvPr id="4" name="Media Placeholder 3">
            <a:extLst>
              <a:ext uri="{FF2B5EF4-FFF2-40B4-BE49-F238E27FC236}">
                <a16:creationId xmlns:a16="http://schemas.microsoft.com/office/drawing/2014/main" id="{F4559DFF-3665-0E31-55C7-92F3BEB5DA95}"/>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548887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3A784E-7061-A77C-2CFB-9DD392E0EB7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227AC21-7299-1060-092B-40D946425329}"/>
              </a:ext>
            </a:extLst>
          </p:cNvPr>
          <p:cNvSpPr>
            <a:spLocks noGrp="1"/>
          </p:cNvSpPr>
          <p:nvPr>
            <p:ph idx="1"/>
          </p:nvPr>
        </p:nvSpPr>
        <p:spPr/>
        <p:txBody>
          <a:bodyPr/>
          <a:lstStyle/>
          <a:p>
            <a:pPr marL="0" indent="0">
              <a:buNone/>
            </a:pPr>
            <a:r>
              <a:rPr lang="en-GB" dirty="0"/>
              <a:t>Often, you don’t need a program to perform calculations.</a:t>
            </a:r>
          </a:p>
          <a:p>
            <a:pPr marL="0" indent="0">
              <a:buNone/>
            </a:pPr>
            <a:r>
              <a:rPr lang="en-GB" dirty="0"/>
              <a:t>E.g.: Find the range of some values</a:t>
            </a:r>
          </a:p>
          <a:p>
            <a:pPr marL="0" indent="0">
              <a:buNone/>
            </a:pPr>
            <a:endParaRPr lang="en-GB" dirty="0">
              <a:solidFill>
                <a:srgbClr val="FF0000"/>
              </a:solidFill>
            </a:endParaRPr>
          </a:p>
          <a:p>
            <a:pPr marL="0" indent="0">
              <a:buNone/>
            </a:pPr>
            <a:r>
              <a:rPr lang="en-GB" dirty="0">
                <a:solidFill>
                  <a:srgbClr val="00B050"/>
                </a:solidFill>
                <a:latin typeface="APL385 Unicode" panose="020B0709000202000203" pitchFamily="49" charset="0"/>
              </a:rPr>
              <a:t>	(⌈/Values)-⌊/Values</a:t>
            </a:r>
          </a:p>
          <a:p>
            <a:pPr marL="0" indent="0">
              <a:buNone/>
            </a:pPr>
            <a:endParaRPr lang="en-GB" dirty="0">
              <a:solidFill>
                <a:srgbClr val="00B050"/>
              </a:solidFill>
              <a:latin typeface="APL385 Unicode" panose="020B0709000202000203" pitchFamily="49" charset="0"/>
            </a:endParaRPr>
          </a:p>
          <a:p>
            <a:pPr marL="0" indent="0">
              <a:buNone/>
            </a:pPr>
            <a:r>
              <a:rPr lang="en-GB" dirty="0">
                <a:solidFill>
                  <a:schemeClr val="tx1">
                    <a:lumMod val="75000"/>
                    <a:lumOff val="25000"/>
                  </a:schemeClr>
                </a:solidFill>
              </a:rPr>
              <a:t>But sometimes you need to write a program.</a:t>
            </a:r>
          </a:p>
        </p:txBody>
      </p:sp>
      <p:sp>
        <p:nvSpPr>
          <p:cNvPr id="3" name="Title 2">
            <a:extLst>
              <a:ext uri="{FF2B5EF4-FFF2-40B4-BE49-F238E27FC236}">
                <a16:creationId xmlns:a16="http://schemas.microsoft.com/office/drawing/2014/main" id="{57FE2393-29CF-3310-92D0-4A2458BA8B51}"/>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A3F7F1EC-485F-3FDC-91BB-DD966EEAD1E4}"/>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487587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2EB467-7C64-9679-9378-7F3CD288C297}"/>
              </a:ext>
            </a:extLst>
          </p:cNvPr>
          <p:cNvSpPr>
            <a:spLocks noGrp="1"/>
          </p:cNvSpPr>
          <p:nvPr>
            <p:ph idx="1"/>
          </p:nvPr>
        </p:nvSpPr>
        <p:spPr/>
        <p:txBody>
          <a:bodyPr>
            <a:normAutofit fontScale="92500" lnSpcReduction="10000"/>
          </a:bodyPr>
          <a:lstStyle/>
          <a:p>
            <a:pPr marL="0" indent="0">
              <a:buNone/>
            </a:pPr>
            <a:r>
              <a:rPr lang="en-GB" dirty="0"/>
              <a:t>Often, you don’t need a program to perform calculations.</a:t>
            </a:r>
          </a:p>
          <a:p>
            <a:pPr marL="0" indent="0">
              <a:buNone/>
            </a:pPr>
            <a:r>
              <a:rPr lang="en-GB" dirty="0"/>
              <a:t>E.g.: Return 42 when values are inside of the range Max-Min, return 50 otherwise.</a:t>
            </a:r>
          </a:p>
          <a:p>
            <a:pPr marL="0" indent="0">
              <a:buNone/>
            </a:pPr>
            <a:endParaRPr lang="en-GB" dirty="0">
              <a:solidFill>
                <a:srgbClr val="FF0000"/>
              </a:solidFill>
            </a:endParaRPr>
          </a:p>
          <a:p>
            <a:pPr marL="0" indent="0">
              <a:buNone/>
            </a:pPr>
            <a:r>
              <a:rPr lang="en-GB" dirty="0">
                <a:solidFill>
                  <a:srgbClr val="00B050"/>
                </a:solidFill>
                <a:latin typeface="APL385 Unicode" panose="020B0709000202000203" pitchFamily="49" charset="0"/>
              </a:rPr>
              <a:t>	50-8×(N&gt;Min)∧(N&lt;Max)</a:t>
            </a:r>
          </a:p>
          <a:p>
            <a:pPr marL="0" indent="0">
              <a:buNone/>
            </a:pPr>
            <a:endParaRPr lang="en-GB" dirty="0">
              <a:solidFill>
                <a:srgbClr val="00B050"/>
              </a:solidFill>
            </a:endParaRPr>
          </a:p>
          <a:p>
            <a:pPr marL="0" indent="0">
              <a:buNone/>
            </a:pPr>
            <a:r>
              <a:rPr lang="en-GB" dirty="0">
                <a:solidFill>
                  <a:schemeClr val="tx1">
                    <a:lumMod val="75000"/>
                    <a:lumOff val="25000"/>
                  </a:schemeClr>
                </a:solidFill>
              </a:rPr>
              <a:t>But sometimes you need to write a program.</a:t>
            </a:r>
          </a:p>
        </p:txBody>
      </p:sp>
      <p:sp>
        <p:nvSpPr>
          <p:cNvPr id="3" name="Title 2">
            <a:extLst>
              <a:ext uri="{FF2B5EF4-FFF2-40B4-BE49-F238E27FC236}">
                <a16:creationId xmlns:a16="http://schemas.microsoft.com/office/drawing/2014/main" id="{8AB99B7B-E13E-6519-0F43-E6E22AD0D026}"/>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D6F68883-7E64-54E4-D609-13B64A023853}"/>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554494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1D2755-FDFC-5B5C-5BCA-D73C12EB003E}"/>
              </a:ext>
            </a:extLst>
          </p:cNvPr>
          <p:cNvSpPr>
            <a:spLocks noGrp="1"/>
          </p:cNvSpPr>
          <p:nvPr>
            <p:ph idx="1"/>
          </p:nvPr>
        </p:nvSpPr>
        <p:spPr/>
        <p:txBody>
          <a:bodyPr>
            <a:normAutofit fontScale="92500" lnSpcReduction="10000"/>
          </a:bodyPr>
          <a:lstStyle/>
          <a:p>
            <a:pPr>
              <a:buNone/>
              <a:defRPr/>
            </a:pPr>
            <a:r>
              <a:rPr lang="en-GB" dirty="0">
                <a:solidFill>
                  <a:schemeClr val="tx1"/>
                </a:solidFill>
              </a:rPr>
              <a:t>Dyalog APL supports three styles of writing functions:</a:t>
            </a:r>
          </a:p>
          <a:p>
            <a:pPr>
              <a:defRPr/>
            </a:pPr>
            <a:r>
              <a:rPr lang="en-GB" dirty="0" err="1">
                <a:solidFill>
                  <a:schemeClr val="tx1"/>
                </a:solidFill>
              </a:rPr>
              <a:t>TradFns</a:t>
            </a:r>
            <a:r>
              <a:rPr lang="en-GB" dirty="0">
                <a:solidFill>
                  <a:schemeClr val="tx1"/>
                </a:solidFill>
              </a:rPr>
              <a:t>, available since the first APL interpreters saw the light of day (1966)</a:t>
            </a:r>
          </a:p>
          <a:p>
            <a:pPr>
              <a:defRPr/>
            </a:pPr>
            <a:r>
              <a:rPr lang="en-GB" dirty="0" err="1">
                <a:solidFill>
                  <a:schemeClr val="tx1"/>
                </a:solidFill>
              </a:rPr>
              <a:t>dfns</a:t>
            </a:r>
            <a:r>
              <a:rPr lang="en-GB" dirty="0">
                <a:solidFill>
                  <a:schemeClr val="tx1"/>
                </a:solidFill>
              </a:rPr>
              <a:t>, a functional style of coding introduced around 1990</a:t>
            </a:r>
          </a:p>
          <a:p>
            <a:pPr>
              <a:defRPr/>
            </a:pPr>
            <a:r>
              <a:rPr lang="en-GB" dirty="0">
                <a:solidFill>
                  <a:schemeClr val="tx1"/>
                </a:solidFill>
              </a:rPr>
              <a:t>Tacit definition, in which functions are composed without explicit reference to arguments</a:t>
            </a:r>
          </a:p>
          <a:p>
            <a:pPr marL="0" indent="0">
              <a:buNone/>
              <a:defRPr/>
            </a:pPr>
            <a:r>
              <a:rPr lang="en-GB" dirty="0">
                <a:solidFill>
                  <a:schemeClr val="tx1"/>
                </a:solidFill>
              </a:rPr>
              <a:t>In this section we will look at </a:t>
            </a:r>
            <a:r>
              <a:rPr lang="en-GB" dirty="0" err="1">
                <a:solidFill>
                  <a:schemeClr val="tx1"/>
                </a:solidFill>
              </a:rPr>
              <a:t>TradFns</a:t>
            </a:r>
            <a:r>
              <a:rPr lang="en-GB" dirty="0">
                <a:solidFill>
                  <a:schemeClr val="tx1"/>
                </a:solidFill>
              </a:rPr>
              <a:t>, which are still by far the most widely used in existing applications.</a:t>
            </a:r>
          </a:p>
        </p:txBody>
      </p:sp>
      <p:sp>
        <p:nvSpPr>
          <p:cNvPr id="3" name="Title 2">
            <a:extLst>
              <a:ext uri="{FF2B5EF4-FFF2-40B4-BE49-F238E27FC236}">
                <a16:creationId xmlns:a16="http://schemas.microsoft.com/office/drawing/2014/main" id="{FF8169C1-14CA-CD3C-6264-BAA80021E07B}"/>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6413DE4C-EE02-F586-2747-CB5466B457DC}"/>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162306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6EC63-ACD0-30B5-2A66-38C19CFB49A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0AE6A5-3682-EDD7-C378-A319F50153D9}"/>
              </a:ext>
            </a:extLst>
          </p:cNvPr>
          <p:cNvSpPr>
            <a:spLocks noGrp="1"/>
          </p:cNvSpPr>
          <p:nvPr>
            <p:ph idx="1"/>
          </p:nvPr>
        </p:nvSpPr>
        <p:spPr/>
        <p:txBody>
          <a:bodyPr>
            <a:normAutofit lnSpcReduction="10000"/>
          </a:bodyPr>
          <a:lstStyle/>
          <a:p>
            <a:pPr>
              <a:buNone/>
            </a:pPr>
            <a:r>
              <a:rPr lang="en-GB" dirty="0"/>
              <a:t>Example Problem Statement:</a:t>
            </a:r>
          </a:p>
          <a:p>
            <a:pPr>
              <a:buNone/>
            </a:pPr>
            <a:endParaRPr lang="en-GB" dirty="0"/>
          </a:p>
          <a:p>
            <a:pPr>
              <a:buNone/>
            </a:pPr>
            <a:r>
              <a:rPr lang="en-GB" dirty="0"/>
              <a:t>Given a price and a tax rate in percent, compute the price including tax.</a:t>
            </a:r>
          </a:p>
          <a:p>
            <a:pPr>
              <a:buNone/>
            </a:pPr>
            <a:endParaRPr lang="en-GB" dirty="0"/>
          </a:p>
          <a:p>
            <a:pPr>
              <a:buNone/>
            </a:pPr>
            <a:r>
              <a:rPr lang="en-GB" dirty="0"/>
              <a:t>APL does not have a primitive to calculate the tax (and the tax changes from one place to another)</a:t>
            </a:r>
          </a:p>
        </p:txBody>
      </p:sp>
      <p:sp>
        <p:nvSpPr>
          <p:cNvPr id="3" name="Title 2">
            <a:extLst>
              <a:ext uri="{FF2B5EF4-FFF2-40B4-BE49-F238E27FC236}">
                <a16:creationId xmlns:a16="http://schemas.microsoft.com/office/drawing/2014/main" id="{7BFAB29D-E191-24B4-C7D1-BCED04FAAFD5}"/>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2B92CA85-B3D0-6119-668C-C64C10A977FC}"/>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9437190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5EA65-F071-C69D-4502-739711C3FD5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720A2C-998E-8D18-8958-69CFE58F7143}"/>
              </a:ext>
            </a:extLst>
          </p:cNvPr>
          <p:cNvSpPr>
            <a:spLocks noGrp="1"/>
          </p:cNvSpPr>
          <p:nvPr>
            <p:ph idx="1"/>
          </p:nvPr>
        </p:nvSpPr>
        <p:spPr/>
        <p:txBody>
          <a:bodyPr>
            <a:normAutofit fontScale="92500" lnSpcReduction="10000"/>
          </a:bodyPr>
          <a:lstStyle/>
          <a:p>
            <a:pPr>
              <a:buNone/>
              <a:defRPr/>
            </a:pPr>
            <a:r>
              <a:rPr lang="en-GB" dirty="0"/>
              <a:t>A user defined function consists of a series of statements usually written by a human.</a:t>
            </a:r>
          </a:p>
          <a:p>
            <a:pPr>
              <a:buNone/>
              <a:defRPr/>
            </a:pPr>
            <a:endParaRPr lang="en-GB" dirty="0"/>
          </a:p>
          <a:p>
            <a:pPr>
              <a:buNone/>
              <a:defRPr/>
            </a:pPr>
            <a:r>
              <a:rPr lang="en-GB" dirty="0"/>
              <a:t>It normally has more than one line of code:</a:t>
            </a:r>
          </a:p>
          <a:p>
            <a:pPr>
              <a:buNone/>
              <a:defRPr/>
            </a:pPr>
            <a:r>
              <a:rPr lang="en-GB" dirty="0"/>
              <a:t>	The first line is the </a:t>
            </a:r>
            <a:r>
              <a:rPr lang="en-GB" b="1" i="1" dirty="0">
                <a:solidFill>
                  <a:srgbClr val="FF6600"/>
                </a:solidFill>
              </a:rPr>
              <a:t>header</a:t>
            </a:r>
            <a:r>
              <a:rPr lang="en-GB" dirty="0"/>
              <a:t>, and</a:t>
            </a:r>
            <a:br>
              <a:rPr lang="en-GB" dirty="0"/>
            </a:br>
            <a:r>
              <a:rPr lang="en-GB" dirty="0"/>
              <a:t>	declares the name and syntax of the function.</a:t>
            </a:r>
          </a:p>
          <a:p>
            <a:pPr>
              <a:buNone/>
              <a:defRPr/>
            </a:pPr>
            <a:r>
              <a:rPr lang="en-GB" dirty="0"/>
              <a:t>	Any additional lines are the </a:t>
            </a:r>
            <a:r>
              <a:rPr lang="en-GB" b="1" i="1" dirty="0">
                <a:solidFill>
                  <a:srgbClr val="FF6600"/>
                </a:solidFill>
              </a:rPr>
              <a:t>body</a:t>
            </a:r>
            <a:r>
              <a:rPr lang="en-GB" dirty="0"/>
              <a:t>, consisting of</a:t>
            </a:r>
            <a:br>
              <a:rPr lang="en-GB" dirty="0"/>
            </a:br>
            <a:r>
              <a:rPr lang="en-GB" dirty="0"/>
              <a:t>	APL expressions which will be executed.</a:t>
            </a:r>
          </a:p>
        </p:txBody>
      </p:sp>
      <p:sp>
        <p:nvSpPr>
          <p:cNvPr id="3" name="Title 2">
            <a:extLst>
              <a:ext uri="{FF2B5EF4-FFF2-40B4-BE49-F238E27FC236}">
                <a16:creationId xmlns:a16="http://schemas.microsoft.com/office/drawing/2014/main" id="{33920ED3-88B6-0474-FA2F-730FFF6C2021}"/>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30EA52C7-D3ED-2B7C-0C9E-E845801EFE51}"/>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7394598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93662-6FFD-D011-712B-2B8355AF1FD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5DC1F2-33AE-DFB3-FB3D-78C8B04A6650}"/>
              </a:ext>
            </a:extLst>
          </p:cNvPr>
          <p:cNvSpPr>
            <a:spLocks noGrp="1"/>
          </p:cNvSpPr>
          <p:nvPr>
            <p:ph idx="1"/>
          </p:nvPr>
        </p:nvSpPr>
        <p:spPr/>
        <p:txBody>
          <a:bodyPr>
            <a:normAutofit/>
          </a:bodyPr>
          <a:lstStyle/>
          <a:p>
            <a:pPr>
              <a:buNone/>
            </a:pPr>
            <a:r>
              <a:rPr lang="en-GB" dirty="0"/>
              <a:t>To create your own function, let’s say called </a:t>
            </a:r>
            <a:r>
              <a:rPr lang="en-GB" dirty="0" err="1">
                <a:solidFill>
                  <a:schemeClr val="hlink"/>
                </a:solidFill>
                <a:latin typeface="APL385 Unicode" panose="020B0709000202000203" pitchFamily="49" charset="0"/>
              </a:rPr>
              <a:t>plusTax</a:t>
            </a:r>
            <a:r>
              <a:rPr lang="en-GB" i="1" dirty="0"/>
              <a:t>,</a:t>
            </a:r>
            <a:r>
              <a:rPr lang="en-GB" dirty="0"/>
              <a:t> you use the </a:t>
            </a:r>
            <a:r>
              <a:rPr lang="en-GB" i="1" dirty="0">
                <a:solidFill>
                  <a:srgbClr val="FF6600"/>
                </a:solidFill>
              </a:rPr>
              <a:t>system command</a:t>
            </a:r>
            <a:r>
              <a:rPr lang="en-GB" dirty="0">
                <a:solidFill>
                  <a:srgbClr val="FF6600"/>
                </a:solidFill>
              </a:rPr>
              <a:t> </a:t>
            </a:r>
            <a:r>
              <a:rPr lang="en-GB" dirty="0">
                <a:solidFill>
                  <a:srgbClr val="00B050"/>
                </a:solidFill>
                <a:latin typeface="APL385 Unicode" panose="020B0709000202000203" pitchFamily="49" charset="0"/>
              </a:rPr>
              <a:t>)ED</a:t>
            </a:r>
            <a:r>
              <a:rPr lang="en-GB" dirty="0"/>
              <a:t>:</a:t>
            </a:r>
          </a:p>
          <a:p>
            <a:pPr>
              <a:buNone/>
            </a:pPr>
            <a:r>
              <a:rPr lang="en-GB" dirty="0"/>
              <a:t>	</a:t>
            </a:r>
            <a:r>
              <a:rPr lang="en-GB" dirty="0">
                <a:solidFill>
                  <a:srgbClr val="00B050"/>
                </a:solidFill>
              </a:rPr>
              <a:t>)ED </a:t>
            </a:r>
            <a:r>
              <a:rPr lang="en-GB" dirty="0" err="1">
                <a:solidFill>
                  <a:schemeClr val="hlink"/>
                </a:solidFill>
              </a:rPr>
              <a:t>plusTax</a:t>
            </a:r>
            <a:endParaRPr lang="en-GB" dirty="0">
              <a:solidFill>
                <a:schemeClr val="hlink"/>
              </a:solidFill>
            </a:endParaRPr>
          </a:p>
          <a:p>
            <a:pPr>
              <a:buNone/>
            </a:pPr>
            <a:r>
              <a:rPr lang="en-GB" dirty="0"/>
              <a:t>APL brings up a new window:</a:t>
            </a:r>
          </a:p>
        </p:txBody>
      </p:sp>
      <p:sp>
        <p:nvSpPr>
          <p:cNvPr id="3" name="Title 2">
            <a:extLst>
              <a:ext uri="{FF2B5EF4-FFF2-40B4-BE49-F238E27FC236}">
                <a16:creationId xmlns:a16="http://schemas.microsoft.com/office/drawing/2014/main" id="{E3717EDB-B275-936B-CBAC-71B96065D2E3}"/>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6A14C70C-B8E1-65D5-8A49-71E0D5B6BAFA}"/>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535855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E56B8-24CA-4E93-EAB0-7F77F3DAA41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9A6BEB-06B0-C192-4DF8-39424E5BEF64}"/>
              </a:ext>
            </a:extLst>
          </p:cNvPr>
          <p:cNvSpPr>
            <a:spLocks noGrp="1"/>
          </p:cNvSpPr>
          <p:nvPr>
            <p:ph idx="1"/>
          </p:nvPr>
        </p:nvSpPr>
        <p:spPr/>
        <p:txBody>
          <a:bodyPr>
            <a:normAutofit/>
          </a:bodyPr>
          <a:lstStyle/>
          <a:p>
            <a:pPr>
              <a:buNone/>
            </a:pPr>
            <a:r>
              <a:rPr lang="en-GB" dirty="0"/>
              <a:t>To create your own function, let’s say called </a:t>
            </a:r>
            <a:r>
              <a:rPr lang="en-GB" dirty="0" err="1">
                <a:solidFill>
                  <a:schemeClr val="hlink"/>
                </a:solidFill>
              </a:rPr>
              <a:t>plusTax</a:t>
            </a:r>
            <a:r>
              <a:rPr lang="en-GB" i="1" dirty="0"/>
              <a:t>,</a:t>
            </a:r>
            <a:r>
              <a:rPr lang="en-GB" dirty="0"/>
              <a:t> you use the </a:t>
            </a:r>
            <a:r>
              <a:rPr lang="en-GB" i="1" dirty="0">
                <a:solidFill>
                  <a:srgbClr val="FF6600"/>
                </a:solidFill>
              </a:rPr>
              <a:t>system command</a:t>
            </a:r>
            <a:r>
              <a:rPr lang="en-GB" dirty="0">
                <a:solidFill>
                  <a:srgbClr val="FF6600"/>
                </a:solidFill>
              </a:rPr>
              <a:t> </a:t>
            </a:r>
            <a:r>
              <a:rPr lang="en-GB" dirty="0">
                <a:solidFill>
                  <a:srgbClr val="00B050"/>
                </a:solidFill>
                <a:latin typeface="APL385 Unicode" panose="020B0709000202000203" pitchFamily="49" charset="0"/>
              </a:rPr>
              <a:t>)ED</a:t>
            </a:r>
            <a:r>
              <a:rPr lang="en-GB" dirty="0"/>
              <a:t>:</a:t>
            </a:r>
          </a:p>
          <a:p>
            <a:pPr>
              <a:buNone/>
            </a:pPr>
            <a:r>
              <a:rPr lang="en-GB" dirty="0"/>
              <a:t>	</a:t>
            </a:r>
            <a:r>
              <a:rPr lang="en-GB" dirty="0">
                <a:solidFill>
                  <a:srgbClr val="00B050"/>
                </a:solidFill>
              </a:rPr>
              <a:t>)ED </a:t>
            </a:r>
            <a:r>
              <a:rPr lang="en-GB" dirty="0" err="1">
                <a:solidFill>
                  <a:schemeClr val="hlink"/>
                </a:solidFill>
              </a:rPr>
              <a:t>plusTax</a:t>
            </a:r>
            <a:endParaRPr lang="en-GB" dirty="0">
              <a:solidFill>
                <a:schemeClr val="hlink"/>
              </a:solidFill>
            </a:endParaRPr>
          </a:p>
          <a:p>
            <a:pPr>
              <a:buNone/>
            </a:pPr>
            <a:r>
              <a:rPr lang="en-GB" dirty="0"/>
              <a:t>APL brings up a new window:</a:t>
            </a:r>
          </a:p>
        </p:txBody>
      </p:sp>
      <p:sp>
        <p:nvSpPr>
          <p:cNvPr id="3" name="Title 2">
            <a:extLst>
              <a:ext uri="{FF2B5EF4-FFF2-40B4-BE49-F238E27FC236}">
                <a16:creationId xmlns:a16="http://schemas.microsoft.com/office/drawing/2014/main" id="{883605A9-7FCA-8FCA-6BB1-DB4910E12897}"/>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1532EB2E-22B4-C92F-C69A-5465A040B5B3}"/>
              </a:ext>
            </a:extLst>
          </p:cNvPr>
          <p:cNvSpPr>
            <a:spLocks noGrp="1"/>
          </p:cNvSpPr>
          <p:nvPr>
            <p:ph type="media" sz="quarter" idx="11"/>
          </p:nvPr>
        </p:nvSpPr>
        <p:spPr/>
        <p:txBody>
          <a:bodyPr/>
          <a:lstStyle/>
          <a:p>
            <a:endParaRPr lang="en-GB"/>
          </a:p>
        </p:txBody>
      </p:sp>
      <p:pic>
        <p:nvPicPr>
          <p:cNvPr id="6" name="Picture 5">
            <a:extLst>
              <a:ext uri="{FF2B5EF4-FFF2-40B4-BE49-F238E27FC236}">
                <a16:creationId xmlns:a16="http://schemas.microsoft.com/office/drawing/2014/main" id="{282D62C7-1A81-2B26-B2B6-F774ECB927D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62264" y="1311965"/>
            <a:ext cx="4550761" cy="2855994"/>
          </a:xfrm>
          <a:prstGeom prst="rect">
            <a:avLst/>
          </a:prstGeom>
        </p:spPr>
      </p:pic>
    </p:spTree>
    <p:extLst>
      <p:ext uri="{BB962C8B-B14F-4D97-AF65-F5344CB8AC3E}">
        <p14:creationId xmlns:p14="http://schemas.microsoft.com/office/powerpoint/2010/main" val="27812810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F1DB0-6CBF-77E9-868F-3BD97224589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C1E3EA2-D72F-B1D8-32AF-2154DFF9980B}"/>
              </a:ext>
            </a:extLst>
          </p:cNvPr>
          <p:cNvSpPr>
            <a:spLocks noGrp="1"/>
          </p:cNvSpPr>
          <p:nvPr>
            <p:ph idx="1"/>
          </p:nvPr>
        </p:nvSpPr>
        <p:spPr/>
        <p:txBody>
          <a:bodyPr>
            <a:normAutofit/>
          </a:bodyPr>
          <a:lstStyle/>
          <a:p>
            <a:pPr>
              <a:buNone/>
            </a:pPr>
            <a:r>
              <a:rPr lang="en-GB" dirty="0"/>
              <a:t>We want </a:t>
            </a:r>
            <a:r>
              <a:rPr lang="en-GB" dirty="0" err="1">
                <a:solidFill>
                  <a:schemeClr val="hlink"/>
                </a:solidFill>
              </a:rPr>
              <a:t>plusTax</a:t>
            </a:r>
            <a:r>
              <a:rPr lang="en-GB" dirty="0"/>
              <a:t> to take 2 arguments:</a:t>
            </a:r>
            <a:br>
              <a:rPr lang="en-GB" dirty="0"/>
            </a:br>
            <a:r>
              <a:rPr lang="en-GB" i="1" dirty="0">
                <a:solidFill>
                  <a:srgbClr val="928ABD"/>
                </a:solidFill>
              </a:rPr>
              <a:t>price</a:t>
            </a:r>
            <a:r>
              <a:rPr lang="en-GB" dirty="0"/>
              <a:t> on the left and </a:t>
            </a:r>
            <a:r>
              <a:rPr lang="en-GB" i="1" dirty="0">
                <a:solidFill>
                  <a:schemeClr val="folHlink"/>
                </a:solidFill>
              </a:rPr>
              <a:t>tax</a:t>
            </a:r>
            <a:r>
              <a:rPr lang="en-GB" dirty="0"/>
              <a:t> on the right</a:t>
            </a:r>
            <a:br>
              <a:rPr lang="en-GB" dirty="0"/>
            </a:br>
            <a:r>
              <a:rPr lang="en-GB" dirty="0"/>
              <a:t>and returns the value in </a:t>
            </a:r>
            <a:r>
              <a:rPr lang="en-GB" i="1" dirty="0">
                <a:solidFill>
                  <a:schemeClr val="folHlink"/>
                </a:solidFill>
              </a:rPr>
              <a:t>amount</a:t>
            </a:r>
            <a:r>
              <a:rPr lang="en-GB" dirty="0"/>
              <a:t>:</a:t>
            </a:r>
          </a:p>
        </p:txBody>
      </p:sp>
      <p:sp>
        <p:nvSpPr>
          <p:cNvPr id="3" name="Title 2">
            <a:extLst>
              <a:ext uri="{FF2B5EF4-FFF2-40B4-BE49-F238E27FC236}">
                <a16:creationId xmlns:a16="http://schemas.microsoft.com/office/drawing/2014/main" id="{0D9CFE22-BB5F-7F72-51BE-6738FD4DC091}"/>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D84BD74F-4E4C-A8FA-A1C6-BF72A8330279}"/>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559868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7356E-611D-5C06-7D6E-CC517476991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F5A801-B980-4311-A1CB-37B18C036D66}"/>
              </a:ext>
            </a:extLst>
          </p:cNvPr>
          <p:cNvSpPr>
            <a:spLocks noGrp="1"/>
          </p:cNvSpPr>
          <p:nvPr>
            <p:ph idx="1"/>
          </p:nvPr>
        </p:nvSpPr>
        <p:spPr/>
        <p:txBody>
          <a:bodyPr>
            <a:normAutofit/>
          </a:bodyPr>
          <a:lstStyle/>
          <a:p>
            <a:pPr>
              <a:buNone/>
            </a:pPr>
            <a:r>
              <a:rPr lang="en-GB" dirty="0"/>
              <a:t>We want </a:t>
            </a:r>
            <a:r>
              <a:rPr lang="en-GB" dirty="0" err="1">
                <a:solidFill>
                  <a:schemeClr val="hlink"/>
                </a:solidFill>
              </a:rPr>
              <a:t>plusTax</a:t>
            </a:r>
            <a:r>
              <a:rPr lang="en-GB" dirty="0"/>
              <a:t> to take 2 arguments:</a:t>
            </a:r>
            <a:br>
              <a:rPr lang="en-GB" dirty="0"/>
            </a:br>
            <a:r>
              <a:rPr lang="en-GB" i="1" dirty="0">
                <a:solidFill>
                  <a:srgbClr val="928ABD"/>
                </a:solidFill>
              </a:rPr>
              <a:t>price</a:t>
            </a:r>
            <a:r>
              <a:rPr lang="en-GB" dirty="0"/>
              <a:t> on the left and </a:t>
            </a:r>
            <a:r>
              <a:rPr lang="en-GB" i="1" dirty="0">
                <a:solidFill>
                  <a:schemeClr val="folHlink"/>
                </a:solidFill>
              </a:rPr>
              <a:t>tax</a:t>
            </a:r>
            <a:r>
              <a:rPr lang="en-GB" dirty="0"/>
              <a:t> on the right</a:t>
            </a:r>
            <a:br>
              <a:rPr lang="en-GB" dirty="0"/>
            </a:br>
            <a:r>
              <a:rPr lang="en-GB" dirty="0"/>
              <a:t>and returns the value in </a:t>
            </a:r>
            <a:r>
              <a:rPr lang="en-GB" i="1" dirty="0">
                <a:solidFill>
                  <a:schemeClr val="folHlink"/>
                </a:solidFill>
              </a:rPr>
              <a:t>amount</a:t>
            </a:r>
            <a:r>
              <a:rPr lang="en-GB" dirty="0"/>
              <a:t>:</a:t>
            </a:r>
          </a:p>
        </p:txBody>
      </p:sp>
      <p:sp>
        <p:nvSpPr>
          <p:cNvPr id="3" name="Title 2">
            <a:extLst>
              <a:ext uri="{FF2B5EF4-FFF2-40B4-BE49-F238E27FC236}">
                <a16:creationId xmlns:a16="http://schemas.microsoft.com/office/drawing/2014/main" id="{5B4859B8-1FB3-E37C-F0C6-D22B5E11A3EC}"/>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4315F7DB-5703-D1A0-8979-14FDFBF70A04}"/>
              </a:ext>
            </a:extLst>
          </p:cNvPr>
          <p:cNvSpPr>
            <a:spLocks noGrp="1"/>
          </p:cNvSpPr>
          <p:nvPr>
            <p:ph type="media" sz="quarter" idx="11"/>
          </p:nvPr>
        </p:nvSpPr>
        <p:spPr/>
        <p:txBody>
          <a:bodyPr/>
          <a:lstStyle/>
          <a:p>
            <a:endParaRPr lang="en-GB"/>
          </a:p>
        </p:txBody>
      </p:sp>
      <p:pic>
        <p:nvPicPr>
          <p:cNvPr id="8" name="Picture 7">
            <a:extLst>
              <a:ext uri="{FF2B5EF4-FFF2-40B4-BE49-F238E27FC236}">
                <a16:creationId xmlns:a16="http://schemas.microsoft.com/office/drawing/2014/main" id="{688F5A42-8FE9-D180-B705-25F0E75A632C}"/>
              </a:ext>
            </a:extLst>
          </p:cNvPr>
          <p:cNvPicPr>
            <a:picLocks noChangeAspect="1"/>
          </p:cNvPicPr>
          <p:nvPr/>
        </p:nvPicPr>
        <p:blipFill>
          <a:blip r:embed="rId2"/>
          <a:stretch>
            <a:fillRect/>
          </a:stretch>
        </p:blipFill>
        <p:spPr>
          <a:xfrm>
            <a:off x="3217357" y="1499068"/>
            <a:ext cx="3864380" cy="2425232"/>
          </a:xfrm>
          <a:prstGeom prst="rect">
            <a:avLst/>
          </a:prstGeom>
        </p:spPr>
      </p:pic>
    </p:spTree>
    <p:extLst>
      <p:ext uri="{BB962C8B-B14F-4D97-AF65-F5344CB8AC3E}">
        <p14:creationId xmlns:p14="http://schemas.microsoft.com/office/powerpoint/2010/main" val="280751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7CB4A-B775-DB60-B621-BF4EDA118D4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482757C-6F85-51D6-35C6-4C6602FB1FAD}"/>
              </a:ext>
            </a:extLst>
          </p:cNvPr>
          <p:cNvSpPr>
            <a:spLocks noGrp="1"/>
          </p:cNvSpPr>
          <p:nvPr>
            <p:ph idx="1"/>
          </p:nvPr>
        </p:nvSpPr>
        <p:spPr/>
        <p:txBody>
          <a:bodyPr>
            <a:normAutofit/>
          </a:bodyPr>
          <a:lstStyle/>
          <a:p>
            <a:pPr>
              <a:buNone/>
            </a:pPr>
            <a:r>
              <a:rPr lang="en-GB" dirty="0"/>
              <a:t>We want </a:t>
            </a:r>
            <a:r>
              <a:rPr lang="en-GB" dirty="0" err="1">
                <a:solidFill>
                  <a:schemeClr val="hlink"/>
                </a:solidFill>
              </a:rPr>
              <a:t>plusTax</a:t>
            </a:r>
            <a:r>
              <a:rPr lang="en-GB" dirty="0"/>
              <a:t> to take 2 arguments:</a:t>
            </a:r>
            <a:br>
              <a:rPr lang="en-GB" dirty="0"/>
            </a:br>
            <a:r>
              <a:rPr lang="en-GB" i="1" dirty="0">
                <a:solidFill>
                  <a:srgbClr val="928ABD"/>
                </a:solidFill>
              </a:rPr>
              <a:t>price</a:t>
            </a:r>
            <a:r>
              <a:rPr lang="en-GB" dirty="0"/>
              <a:t> on the left and </a:t>
            </a:r>
            <a:r>
              <a:rPr lang="en-GB" i="1" dirty="0">
                <a:solidFill>
                  <a:schemeClr val="folHlink"/>
                </a:solidFill>
              </a:rPr>
              <a:t>tax</a:t>
            </a:r>
            <a:r>
              <a:rPr lang="en-GB" dirty="0"/>
              <a:t> on the right</a:t>
            </a:r>
            <a:br>
              <a:rPr lang="en-GB" dirty="0"/>
            </a:br>
            <a:r>
              <a:rPr lang="en-GB" dirty="0"/>
              <a:t>and returns the value in </a:t>
            </a:r>
            <a:r>
              <a:rPr lang="en-GB" i="1" dirty="0">
                <a:solidFill>
                  <a:schemeClr val="folHlink"/>
                </a:solidFill>
              </a:rPr>
              <a:t>amount</a:t>
            </a:r>
            <a:r>
              <a:rPr lang="en-GB" dirty="0"/>
              <a:t>:</a:t>
            </a:r>
          </a:p>
        </p:txBody>
      </p:sp>
      <p:sp>
        <p:nvSpPr>
          <p:cNvPr id="3" name="Title 2">
            <a:extLst>
              <a:ext uri="{FF2B5EF4-FFF2-40B4-BE49-F238E27FC236}">
                <a16:creationId xmlns:a16="http://schemas.microsoft.com/office/drawing/2014/main" id="{6B2A8506-7B81-C69B-6227-BCCCB81D7622}"/>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60843DC2-E112-7B99-A6A0-6E924B53B451}"/>
              </a:ext>
            </a:extLst>
          </p:cNvPr>
          <p:cNvSpPr>
            <a:spLocks noGrp="1"/>
          </p:cNvSpPr>
          <p:nvPr>
            <p:ph type="media" sz="quarter" idx="11"/>
          </p:nvPr>
        </p:nvSpPr>
        <p:spPr/>
        <p:txBody>
          <a:bodyPr/>
          <a:lstStyle/>
          <a:p>
            <a:endParaRPr lang="en-GB"/>
          </a:p>
        </p:txBody>
      </p:sp>
      <p:pic>
        <p:nvPicPr>
          <p:cNvPr id="8" name="Picture 7">
            <a:extLst>
              <a:ext uri="{FF2B5EF4-FFF2-40B4-BE49-F238E27FC236}">
                <a16:creationId xmlns:a16="http://schemas.microsoft.com/office/drawing/2014/main" id="{FD7F4399-5130-B529-A817-32B6F5082B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17357" y="1499068"/>
            <a:ext cx="3864380" cy="2425231"/>
          </a:xfrm>
          <a:prstGeom prst="rect">
            <a:avLst/>
          </a:prstGeom>
        </p:spPr>
      </p:pic>
    </p:spTree>
    <p:extLst>
      <p:ext uri="{BB962C8B-B14F-4D97-AF65-F5344CB8AC3E}">
        <p14:creationId xmlns:p14="http://schemas.microsoft.com/office/powerpoint/2010/main" val="487811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3EEB2-D32E-74D4-198E-9407F099888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7B4F725-FF6A-77F0-734D-28F664589A4C}"/>
              </a:ext>
            </a:extLst>
          </p:cNvPr>
          <p:cNvSpPr>
            <a:spLocks noGrp="1"/>
          </p:cNvSpPr>
          <p:nvPr>
            <p:ph idx="1"/>
          </p:nvPr>
        </p:nvSpPr>
        <p:spPr/>
        <p:txBody>
          <a:bodyPr>
            <a:normAutofit/>
          </a:bodyPr>
          <a:lstStyle/>
          <a:p>
            <a:pPr>
              <a:buNone/>
            </a:pPr>
            <a:r>
              <a:rPr lang="en-GB" dirty="0"/>
              <a:t>When we hit </a:t>
            </a:r>
            <a:r>
              <a:rPr lang="en-GB" i="1" dirty="0">
                <a:solidFill>
                  <a:srgbClr val="FF6600"/>
                </a:solidFill>
              </a:rPr>
              <a:t>Esc</a:t>
            </a:r>
            <a:r>
              <a:rPr lang="en-GB" dirty="0">
                <a:solidFill>
                  <a:srgbClr val="FF0000"/>
                </a:solidFill>
              </a:rPr>
              <a:t> </a:t>
            </a:r>
            <a:r>
              <a:rPr lang="en-GB" dirty="0"/>
              <a:t>APL creates the function for us.</a:t>
            </a:r>
          </a:p>
          <a:p>
            <a:pPr>
              <a:buNone/>
            </a:pPr>
            <a:r>
              <a:rPr lang="en-GB" dirty="0"/>
              <a:t>We can now use it like any other primitive:</a:t>
            </a:r>
          </a:p>
          <a:p>
            <a:pPr>
              <a:buNone/>
            </a:pPr>
            <a:r>
              <a:rPr lang="en-GB" dirty="0">
                <a:solidFill>
                  <a:srgbClr val="00B050"/>
                </a:solidFill>
                <a:latin typeface="APL385 Unicode" panose="020B0709000202000203" pitchFamily="49" charset="0"/>
              </a:rPr>
              <a:t>	100 </a:t>
            </a:r>
            <a:r>
              <a:rPr lang="en-GB" dirty="0" err="1">
                <a:solidFill>
                  <a:srgbClr val="00B050"/>
                </a:solidFill>
                <a:latin typeface="APL385 Unicode" panose="020B0709000202000203" pitchFamily="49" charset="0"/>
              </a:rPr>
              <a:t>plusTax</a:t>
            </a:r>
            <a:r>
              <a:rPr lang="en-GB" dirty="0">
                <a:solidFill>
                  <a:srgbClr val="00B050"/>
                </a:solidFill>
                <a:latin typeface="APL385 Unicode" panose="020B0709000202000203" pitchFamily="49" charset="0"/>
              </a:rPr>
              <a:t> 15</a:t>
            </a:r>
          </a:p>
          <a:p>
            <a:pPr>
              <a:buNone/>
            </a:pPr>
            <a:r>
              <a:rPr lang="en-GB" dirty="0">
                <a:solidFill>
                  <a:schemeClr val="accent3">
                    <a:lumMod val="50000"/>
                  </a:schemeClr>
                </a:solidFill>
                <a:latin typeface="APL385 Unicode" panose="020B0709000202000203" pitchFamily="49" charset="0"/>
              </a:rPr>
              <a:t>115</a:t>
            </a:r>
          </a:p>
          <a:p>
            <a:pPr>
              <a:buNone/>
            </a:pPr>
            <a:endParaRPr lang="en-GB" dirty="0"/>
          </a:p>
        </p:txBody>
      </p:sp>
      <p:sp>
        <p:nvSpPr>
          <p:cNvPr id="3" name="Title 2">
            <a:extLst>
              <a:ext uri="{FF2B5EF4-FFF2-40B4-BE49-F238E27FC236}">
                <a16:creationId xmlns:a16="http://schemas.microsoft.com/office/drawing/2014/main" id="{15173738-0544-1A17-D2AA-6985E9E713E2}"/>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C9A6F165-0E09-0FA7-467D-8B1BCD40818F}"/>
              </a:ext>
            </a:extLst>
          </p:cNvPr>
          <p:cNvSpPr>
            <a:spLocks noGrp="1"/>
          </p:cNvSpPr>
          <p:nvPr>
            <p:ph type="media" sz="quarter" idx="11"/>
          </p:nvPr>
        </p:nvSpPr>
        <p:spPr/>
        <p:txBody>
          <a:bodyPr/>
          <a:lstStyle/>
          <a:p>
            <a:endParaRPr lang="en-GB"/>
          </a:p>
        </p:txBody>
      </p:sp>
      <p:pic>
        <p:nvPicPr>
          <p:cNvPr id="5" name="Picture 4">
            <a:extLst>
              <a:ext uri="{FF2B5EF4-FFF2-40B4-BE49-F238E27FC236}">
                <a16:creationId xmlns:a16="http://schemas.microsoft.com/office/drawing/2014/main" id="{73FFF152-F7A2-662D-1452-420DCDE63C6A}"/>
              </a:ext>
            </a:extLst>
          </p:cNvPr>
          <p:cNvPicPr>
            <a:picLocks noChangeAspect="1"/>
          </p:cNvPicPr>
          <p:nvPr/>
        </p:nvPicPr>
        <p:blipFill>
          <a:blip r:embed="rId2"/>
          <a:srcRect t="22352"/>
          <a:stretch>
            <a:fillRect/>
          </a:stretch>
        </p:blipFill>
        <p:spPr>
          <a:xfrm>
            <a:off x="2778369" y="2861950"/>
            <a:ext cx="6246056" cy="1645014"/>
          </a:xfrm>
          <a:prstGeom prst="rect">
            <a:avLst/>
          </a:prstGeom>
        </p:spPr>
      </p:pic>
      <p:sp>
        <p:nvSpPr>
          <p:cNvPr id="6" name="Oval 5">
            <a:extLst>
              <a:ext uri="{FF2B5EF4-FFF2-40B4-BE49-F238E27FC236}">
                <a16:creationId xmlns:a16="http://schemas.microsoft.com/office/drawing/2014/main" id="{92740D7F-FBE1-0514-006C-8338538761D3}"/>
              </a:ext>
            </a:extLst>
          </p:cNvPr>
          <p:cNvSpPr/>
          <p:nvPr/>
        </p:nvSpPr>
        <p:spPr>
          <a:xfrm>
            <a:off x="2053883" y="1377777"/>
            <a:ext cx="618979" cy="472125"/>
          </a:xfrm>
          <a:prstGeom prst="ellipse">
            <a:avLst/>
          </a:prstGeom>
          <a:noFill/>
          <a:ln>
            <a:solidFill>
              <a:srgbClr val="5A6D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Oval 6">
            <a:extLst>
              <a:ext uri="{FF2B5EF4-FFF2-40B4-BE49-F238E27FC236}">
                <a16:creationId xmlns:a16="http://schemas.microsoft.com/office/drawing/2014/main" id="{2FCC2778-B16A-99BE-AABF-CA1DB885121E}"/>
              </a:ext>
            </a:extLst>
          </p:cNvPr>
          <p:cNvSpPr/>
          <p:nvPr/>
        </p:nvSpPr>
        <p:spPr>
          <a:xfrm>
            <a:off x="2722100" y="2821474"/>
            <a:ext cx="457200" cy="472125"/>
          </a:xfrm>
          <a:prstGeom prst="ellipse">
            <a:avLst/>
          </a:prstGeom>
          <a:noFill/>
          <a:ln>
            <a:solidFill>
              <a:srgbClr val="5A6D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0" name="Straight Connector 9">
            <a:extLst>
              <a:ext uri="{FF2B5EF4-FFF2-40B4-BE49-F238E27FC236}">
                <a16:creationId xmlns:a16="http://schemas.microsoft.com/office/drawing/2014/main" id="{5B97594F-2830-CD2F-474E-2B45A35EF933}"/>
              </a:ext>
            </a:extLst>
          </p:cNvPr>
          <p:cNvCxnSpPr>
            <a:stCxn id="6" idx="5"/>
            <a:endCxn id="7" idx="0"/>
          </p:cNvCxnSpPr>
          <p:nvPr/>
        </p:nvCxnSpPr>
        <p:spPr>
          <a:xfrm>
            <a:off x="2582215" y="1780761"/>
            <a:ext cx="368485" cy="1040713"/>
          </a:xfrm>
          <a:prstGeom prst="line">
            <a:avLst/>
          </a:prstGeom>
          <a:ln w="28575">
            <a:solidFill>
              <a:srgbClr val="5A6D8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50961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C63990-1CC7-3249-5A62-204D442653F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EDD5335-DDC8-073D-97BB-428C36EA4C91}"/>
              </a:ext>
            </a:extLst>
          </p:cNvPr>
          <p:cNvSpPr>
            <a:spLocks noGrp="1"/>
          </p:cNvSpPr>
          <p:nvPr>
            <p:ph idx="1"/>
          </p:nvPr>
        </p:nvSpPr>
        <p:spPr/>
        <p:txBody>
          <a:bodyPr>
            <a:normAutofit lnSpcReduction="10000"/>
          </a:bodyPr>
          <a:lstStyle/>
          <a:p>
            <a:pPr marL="0" indent="0">
              <a:buNone/>
            </a:pPr>
            <a:r>
              <a:rPr lang="da-DK" dirty="0"/>
              <a:t>Even if your function only works on a scalar at a time, you can use operators to do things like:</a:t>
            </a:r>
          </a:p>
          <a:p>
            <a:endParaRPr lang="da-DK" dirty="0"/>
          </a:p>
          <a:p>
            <a:pPr marL="0" indent="0">
              <a:buNone/>
            </a:pPr>
            <a:r>
              <a:rPr lang="fr-FR" sz="2100" dirty="0">
                <a:solidFill>
                  <a:srgbClr val="00B050"/>
                </a:solidFill>
                <a:latin typeface="APL385 Unicode" panose="020B0709000202000203" pitchFamily="49" charset="0"/>
              </a:rPr>
              <a:t>     100 300 1000 ∘.</a:t>
            </a:r>
            <a:r>
              <a:rPr lang="fr-FR" sz="2100" dirty="0" err="1">
                <a:solidFill>
                  <a:srgbClr val="00B050"/>
                </a:solidFill>
                <a:latin typeface="APL385 Unicode" panose="020B0709000202000203" pitchFamily="49" charset="0"/>
              </a:rPr>
              <a:t>PlusTax</a:t>
            </a:r>
            <a:r>
              <a:rPr lang="fr-FR" sz="2100" dirty="0">
                <a:solidFill>
                  <a:srgbClr val="00B050"/>
                </a:solidFill>
                <a:latin typeface="APL385 Unicode" panose="020B0709000202000203" pitchFamily="49" charset="0"/>
              </a:rPr>
              <a:t> 15 12 8.5</a:t>
            </a:r>
          </a:p>
          <a:p>
            <a:pPr marL="0" indent="0">
              <a:buNone/>
            </a:pPr>
            <a:r>
              <a:rPr lang="fr-FR" sz="2100" dirty="0">
                <a:solidFill>
                  <a:schemeClr val="accent3">
                    <a:lumMod val="50000"/>
                  </a:schemeClr>
                </a:solidFill>
                <a:latin typeface="APL385 Unicode" panose="020B0709000202000203" pitchFamily="49" charset="0"/>
              </a:rPr>
              <a:t> 115  112  108.5</a:t>
            </a:r>
          </a:p>
          <a:p>
            <a:pPr marL="0" indent="0">
              <a:buNone/>
            </a:pPr>
            <a:r>
              <a:rPr lang="fr-FR" sz="2100" dirty="0">
                <a:solidFill>
                  <a:schemeClr val="accent3">
                    <a:lumMod val="50000"/>
                  </a:schemeClr>
                </a:solidFill>
                <a:latin typeface="APL385 Unicode" panose="020B0709000202000203" pitchFamily="49" charset="0"/>
              </a:rPr>
              <a:t> 345  336  325.5</a:t>
            </a:r>
          </a:p>
          <a:p>
            <a:pPr marL="0" indent="0">
              <a:buNone/>
            </a:pPr>
            <a:r>
              <a:rPr lang="fr-FR" sz="2100" dirty="0">
                <a:solidFill>
                  <a:schemeClr val="accent3">
                    <a:lumMod val="50000"/>
                  </a:schemeClr>
                </a:solidFill>
                <a:latin typeface="APL385 Unicode" panose="020B0709000202000203" pitchFamily="49" charset="0"/>
              </a:rPr>
              <a:t>1150 1120 1085 </a:t>
            </a:r>
            <a:endParaRPr lang="en-GB" sz="2100" dirty="0">
              <a:solidFill>
                <a:schemeClr val="accent3">
                  <a:lumMod val="50000"/>
                </a:schemeClr>
              </a:solidFill>
              <a:latin typeface="APL385 Unicode" panose="020B0709000202000203" pitchFamily="49" charset="0"/>
            </a:endParaRPr>
          </a:p>
        </p:txBody>
      </p:sp>
      <p:sp>
        <p:nvSpPr>
          <p:cNvPr id="3" name="Title 2">
            <a:extLst>
              <a:ext uri="{FF2B5EF4-FFF2-40B4-BE49-F238E27FC236}">
                <a16:creationId xmlns:a16="http://schemas.microsoft.com/office/drawing/2014/main" id="{F44AE22D-C535-31F5-41A4-304FB9109991}"/>
              </a:ext>
            </a:extLst>
          </p:cNvPr>
          <p:cNvSpPr>
            <a:spLocks noGrp="1"/>
          </p:cNvSpPr>
          <p:nvPr>
            <p:ph type="title"/>
          </p:nvPr>
        </p:nvSpPr>
        <p:spPr/>
        <p:txBody>
          <a:bodyPr/>
          <a:lstStyle/>
          <a:p>
            <a:r>
              <a:rPr lang="en-GB" dirty="0"/>
              <a:t>Operator Application</a:t>
            </a:r>
          </a:p>
        </p:txBody>
      </p:sp>
      <p:sp>
        <p:nvSpPr>
          <p:cNvPr id="4" name="Media Placeholder 3">
            <a:extLst>
              <a:ext uri="{FF2B5EF4-FFF2-40B4-BE49-F238E27FC236}">
                <a16:creationId xmlns:a16="http://schemas.microsoft.com/office/drawing/2014/main" id="{F8AFFAE7-648B-12EA-03CB-8C6DFCB12E2C}"/>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914272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BADC8-1A7A-A7E3-4402-6C63B96C762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F9F54F-4906-CFA1-6E2F-2F57C5EA6613}"/>
              </a:ext>
            </a:extLst>
          </p:cNvPr>
          <p:cNvSpPr>
            <a:spLocks noGrp="1"/>
          </p:cNvSpPr>
          <p:nvPr>
            <p:ph idx="1"/>
          </p:nvPr>
        </p:nvSpPr>
        <p:spPr/>
        <p:txBody>
          <a:bodyPr>
            <a:normAutofit/>
          </a:bodyPr>
          <a:lstStyle/>
          <a:p>
            <a:pPr marL="0" indent="0">
              <a:buNone/>
            </a:pPr>
            <a:r>
              <a:rPr lang="en-GB" dirty="0"/>
              <a:t>A </a:t>
            </a:r>
            <a:r>
              <a:rPr lang="en-GB" dirty="0">
                <a:solidFill>
                  <a:srgbClr val="FF6600"/>
                </a:solidFill>
              </a:rPr>
              <a:t>primitive function</a:t>
            </a:r>
            <a:r>
              <a:rPr lang="en-GB" dirty="0"/>
              <a:t> accepts one or two arguments, returns a result and has no side effects* (like updating a database, or making operating system calls, etc.)</a:t>
            </a:r>
          </a:p>
          <a:p>
            <a:pPr marL="0" indent="0">
              <a:buNone/>
            </a:pPr>
            <a:r>
              <a:rPr lang="en-GB" dirty="0"/>
              <a:t>A </a:t>
            </a:r>
            <a:r>
              <a:rPr lang="en-GB" dirty="0">
                <a:solidFill>
                  <a:srgbClr val="FF6600"/>
                </a:solidFill>
              </a:rPr>
              <a:t>user-defined function</a:t>
            </a:r>
            <a:r>
              <a:rPr lang="en-GB" dirty="0"/>
              <a:t> can also take one or two arguments and return a result. It may have side effects, depending on the code.</a:t>
            </a:r>
          </a:p>
          <a:p>
            <a:pPr marL="0" indent="0">
              <a:buNone/>
            </a:pPr>
            <a:r>
              <a:rPr lang="en-GB" dirty="0"/>
              <a:t>*except roll/deal </a:t>
            </a:r>
            <a:r>
              <a:rPr lang="en-GB" dirty="0">
                <a:latin typeface="APL385 Unicode" panose="020B0709000202000203" pitchFamily="49" charset="0"/>
              </a:rPr>
              <a:t>?</a:t>
            </a:r>
          </a:p>
        </p:txBody>
      </p:sp>
      <p:sp>
        <p:nvSpPr>
          <p:cNvPr id="3" name="Title 2">
            <a:extLst>
              <a:ext uri="{FF2B5EF4-FFF2-40B4-BE49-F238E27FC236}">
                <a16:creationId xmlns:a16="http://schemas.microsoft.com/office/drawing/2014/main" id="{2117FDEF-80C4-245A-074A-0D4AEBA115D1}"/>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1F1D4869-0DBC-B5DC-AD14-CAA4ECC150C8}"/>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8575090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CDE54FA-7D21-356F-6765-4849731EFDB6}"/>
              </a:ext>
            </a:extLst>
          </p:cNvPr>
          <p:cNvSpPr>
            <a:spLocks noGrp="1"/>
          </p:cNvSpPr>
          <p:nvPr>
            <p:ph idx="1"/>
          </p:nvPr>
        </p:nvSpPr>
        <p:spPr/>
        <p:txBody>
          <a:bodyPr/>
          <a:lstStyle/>
          <a:p>
            <a:pPr marL="0" indent="0">
              <a:buNone/>
            </a:pPr>
            <a:r>
              <a:rPr lang="en-GB" dirty="0"/>
              <a:t>User-defined functions are sometimes called "programs". Program can also refer to an entire application consisting of user-defined code and data.</a:t>
            </a:r>
          </a:p>
        </p:txBody>
      </p:sp>
      <p:sp>
        <p:nvSpPr>
          <p:cNvPr id="3" name="Title 2">
            <a:extLst>
              <a:ext uri="{FF2B5EF4-FFF2-40B4-BE49-F238E27FC236}">
                <a16:creationId xmlns:a16="http://schemas.microsoft.com/office/drawing/2014/main" id="{CFB900B1-89BB-D4EE-B2FB-2DF84DA23C82}"/>
              </a:ext>
            </a:extLst>
          </p:cNvPr>
          <p:cNvSpPr>
            <a:spLocks noGrp="1"/>
          </p:cNvSpPr>
          <p:nvPr>
            <p:ph type="title"/>
          </p:nvPr>
        </p:nvSpPr>
        <p:spPr/>
        <p:txBody>
          <a:bodyPr/>
          <a:lstStyle/>
          <a:p>
            <a:r>
              <a:rPr lang="en-GB" dirty="0"/>
              <a:t>Programs</a:t>
            </a:r>
          </a:p>
        </p:txBody>
      </p:sp>
      <p:sp>
        <p:nvSpPr>
          <p:cNvPr id="4" name="Media Placeholder 3">
            <a:extLst>
              <a:ext uri="{FF2B5EF4-FFF2-40B4-BE49-F238E27FC236}">
                <a16:creationId xmlns:a16="http://schemas.microsoft.com/office/drawing/2014/main" id="{89A48FAD-C3D7-09AA-82D1-A6C07798CB93}"/>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122800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54753-57A2-CA73-2667-CE2A6DE1ED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2A1166-3F6E-E081-0763-3CBE81C9F710}"/>
              </a:ext>
            </a:extLst>
          </p:cNvPr>
          <p:cNvSpPr>
            <a:spLocks noGrp="1"/>
          </p:cNvSpPr>
          <p:nvPr>
            <p:ph idx="1"/>
          </p:nvPr>
        </p:nvSpPr>
        <p:spPr>
          <a:xfrm>
            <a:off x="323527" y="1377777"/>
            <a:ext cx="8462127" cy="3229392"/>
          </a:xfrm>
        </p:spPr>
        <p:txBody>
          <a:bodyPr>
            <a:normAutofit lnSpcReduction="10000"/>
          </a:bodyPr>
          <a:lstStyle/>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endParaRPr lang="en-GB" dirty="0"/>
          </a:p>
          <a:p>
            <a:pPr marL="0" indent="0">
              <a:buNone/>
            </a:pPr>
            <a:r>
              <a:rPr lang="en-GB" dirty="0"/>
              <a:t>User-defined functions can have as many lines as necessary (but are limited to 4096 lines)</a:t>
            </a:r>
          </a:p>
        </p:txBody>
      </p:sp>
      <p:sp>
        <p:nvSpPr>
          <p:cNvPr id="3" name="Title 2">
            <a:extLst>
              <a:ext uri="{FF2B5EF4-FFF2-40B4-BE49-F238E27FC236}">
                <a16:creationId xmlns:a16="http://schemas.microsoft.com/office/drawing/2014/main" id="{51B81576-9C13-7BB4-B965-BFD2C3513800}"/>
              </a:ext>
            </a:extLst>
          </p:cNvPr>
          <p:cNvSpPr>
            <a:spLocks noGrp="1"/>
          </p:cNvSpPr>
          <p:nvPr>
            <p:ph type="title"/>
          </p:nvPr>
        </p:nvSpPr>
        <p:spPr/>
        <p:txBody>
          <a:bodyPr/>
          <a:lstStyle/>
          <a:p>
            <a:r>
              <a:rPr lang="en-GB" dirty="0"/>
              <a:t>User-defined Functions</a:t>
            </a:r>
          </a:p>
        </p:txBody>
      </p:sp>
      <p:sp>
        <p:nvSpPr>
          <p:cNvPr id="4" name="Media Placeholder 3">
            <a:extLst>
              <a:ext uri="{FF2B5EF4-FFF2-40B4-BE49-F238E27FC236}">
                <a16:creationId xmlns:a16="http://schemas.microsoft.com/office/drawing/2014/main" id="{AD3F58B9-3650-9392-EC87-C48ED02FBB57}"/>
              </a:ext>
            </a:extLst>
          </p:cNvPr>
          <p:cNvSpPr>
            <a:spLocks noGrp="1"/>
          </p:cNvSpPr>
          <p:nvPr>
            <p:ph type="media" sz="quarter" idx="11"/>
          </p:nvPr>
        </p:nvSpPr>
        <p:spPr/>
        <p:txBody>
          <a:bodyPr/>
          <a:lstStyle/>
          <a:p>
            <a:endParaRPr lang="en-GB"/>
          </a:p>
        </p:txBody>
      </p:sp>
      <p:grpSp>
        <p:nvGrpSpPr>
          <p:cNvPr id="9" name="Group 8">
            <a:extLst>
              <a:ext uri="{FF2B5EF4-FFF2-40B4-BE49-F238E27FC236}">
                <a16:creationId xmlns:a16="http://schemas.microsoft.com/office/drawing/2014/main" id="{918E950E-3270-D447-36F7-84E515A41DC4}"/>
              </a:ext>
            </a:extLst>
          </p:cNvPr>
          <p:cNvGrpSpPr/>
          <p:nvPr/>
        </p:nvGrpSpPr>
        <p:grpSpPr>
          <a:xfrm>
            <a:off x="2564552" y="1067094"/>
            <a:ext cx="3402806" cy="2646760"/>
            <a:chOff x="2564552" y="729470"/>
            <a:chExt cx="3402806" cy="2646760"/>
          </a:xfrm>
        </p:grpSpPr>
        <p:sp>
          <p:nvSpPr>
            <p:cNvPr id="6" name="Rectangle 5">
              <a:extLst>
                <a:ext uri="{FF2B5EF4-FFF2-40B4-BE49-F238E27FC236}">
                  <a16:creationId xmlns:a16="http://schemas.microsoft.com/office/drawing/2014/main" id="{3A2A948E-437B-B1C9-64F0-D1380D071AB3}"/>
                </a:ext>
              </a:extLst>
            </p:cNvPr>
            <p:cNvSpPr>
              <a:spLocks noChangeArrowheads="1"/>
            </p:cNvSpPr>
            <p:nvPr/>
          </p:nvSpPr>
          <p:spPr bwMode="auto">
            <a:xfrm>
              <a:off x="2564552" y="729470"/>
              <a:ext cx="3402806" cy="432197"/>
            </a:xfrm>
            <a:prstGeom prst="rect">
              <a:avLst/>
            </a:prstGeom>
            <a:solidFill>
              <a:srgbClr val="FF6600"/>
            </a:solidFill>
            <a:ln w="9525">
              <a:solidFill>
                <a:schemeClr val="tx1"/>
              </a:solidFill>
              <a:miter lim="800000"/>
              <a:headEnd/>
              <a:tailEnd/>
            </a:ln>
          </p:spPr>
          <p:txBody>
            <a:bodyPr wrap="none" anchor="ctr"/>
            <a:lstStyle/>
            <a:p>
              <a:r>
                <a:rPr lang="en-GB" sz="1350" dirty="0">
                  <a:solidFill>
                    <a:schemeClr val="bg1"/>
                  </a:solidFill>
                </a:rPr>
                <a:t>[0]		 header</a:t>
              </a:r>
              <a:endParaRPr lang="en-US" sz="1350" dirty="0">
                <a:solidFill>
                  <a:schemeClr val="bg1"/>
                </a:solidFill>
              </a:endParaRPr>
            </a:p>
          </p:txBody>
        </p:sp>
        <p:sp>
          <p:nvSpPr>
            <p:cNvPr id="7" name="Rectangle 6">
              <a:extLst>
                <a:ext uri="{FF2B5EF4-FFF2-40B4-BE49-F238E27FC236}">
                  <a16:creationId xmlns:a16="http://schemas.microsoft.com/office/drawing/2014/main" id="{92AB24A1-D03F-E83F-DDC6-6854AD0E4971}"/>
                </a:ext>
              </a:extLst>
            </p:cNvPr>
            <p:cNvSpPr>
              <a:spLocks noChangeArrowheads="1"/>
            </p:cNvSpPr>
            <p:nvPr/>
          </p:nvSpPr>
          <p:spPr bwMode="auto">
            <a:xfrm>
              <a:off x="2564552" y="1161667"/>
              <a:ext cx="3402806" cy="2214563"/>
            </a:xfrm>
            <a:prstGeom prst="rect">
              <a:avLst/>
            </a:prstGeom>
            <a:solidFill>
              <a:srgbClr val="BBB5D6"/>
            </a:solidFill>
            <a:ln w="9525">
              <a:solidFill>
                <a:schemeClr val="tx1"/>
              </a:solidFill>
              <a:miter lim="800000"/>
              <a:headEnd/>
              <a:tailEnd/>
            </a:ln>
          </p:spPr>
          <p:txBody>
            <a:bodyPr wrap="none" anchor="ctr"/>
            <a:lstStyle/>
            <a:p>
              <a:r>
                <a:rPr lang="en-GB" sz="1350" dirty="0">
                  <a:solidFill>
                    <a:schemeClr val="accent6"/>
                  </a:solidFill>
                </a:rPr>
                <a:t>[1]</a:t>
              </a:r>
            </a:p>
            <a:p>
              <a:r>
                <a:rPr lang="en-GB" sz="1350" dirty="0">
                  <a:solidFill>
                    <a:schemeClr val="accent6"/>
                  </a:solidFill>
                </a:rPr>
                <a:t>[2]</a:t>
              </a:r>
            </a:p>
            <a:p>
              <a:r>
                <a:rPr lang="en-GB" sz="1350" dirty="0">
                  <a:solidFill>
                    <a:schemeClr val="accent6"/>
                  </a:solidFill>
                </a:rPr>
                <a:t>[3]</a:t>
              </a:r>
            </a:p>
            <a:p>
              <a:r>
                <a:rPr lang="en-GB" sz="1350" dirty="0">
                  <a:solidFill>
                    <a:schemeClr val="accent6"/>
                  </a:solidFill>
                </a:rPr>
                <a:t>[4]</a:t>
              </a:r>
            </a:p>
            <a:p>
              <a:r>
                <a:rPr lang="en-GB" sz="1350" dirty="0">
                  <a:solidFill>
                    <a:schemeClr val="accent6"/>
                  </a:solidFill>
                </a:rPr>
                <a:t>[5]		  body		          </a:t>
              </a:r>
            </a:p>
            <a:p>
              <a:r>
                <a:rPr lang="en-GB" sz="1350" dirty="0">
                  <a:solidFill>
                    <a:schemeClr val="accent6"/>
                  </a:solidFill>
                </a:rPr>
                <a:t>[6]</a:t>
              </a:r>
            </a:p>
            <a:p>
              <a:r>
                <a:rPr lang="en-GB" sz="1350" dirty="0">
                  <a:solidFill>
                    <a:schemeClr val="accent6"/>
                  </a:solidFill>
                </a:rPr>
                <a:t>[7]</a:t>
              </a:r>
            </a:p>
            <a:p>
              <a:r>
                <a:rPr lang="en-GB" sz="1350" dirty="0">
                  <a:solidFill>
                    <a:schemeClr val="accent6"/>
                  </a:solidFill>
                </a:rPr>
                <a:t>[...]</a:t>
              </a:r>
              <a:endParaRPr lang="en-US" sz="1350" dirty="0">
                <a:solidFill>
                  <a:schemeClr val="accent6"/>
                </a:solidFill>
              </a:endParaRPr>
            </a:p>
          </p:txBody>
        </p:sp>
      </p:grpSp>
    </p:spTree>
    <p:extLst>
      <p:ext uri="{BB962C8B-B14F-4D97-AF65-F5344CB8AC3E}">
        <p14:creationId xmlns:p14="http://schemas.microsoft.com/office/powerpoint/2010/main" val="2826769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D19F7-23B6-BFF9-6B7A-27749749A8D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555FB2-8126-92A2-E5D9-234C5BBEF86B}"/>
              </a:ext>
            </a:extLst>
          </p:cNvPr>
          <p:cNvSpPr>
            <a:spLocks noGrp="1"/>
          </p:cNvSpPr>
          <p:nvPr>
            <p:ph idx="1"/>
          </p:nvPr>
        </p:nvSpPr>
        <p:spPr/>
        <p:txBody>
          <a:bodyPr>
            <a:normAutofit fontScale="92500"/>
          </a:bodyPr>
          <a:lstStyle/>
          <a:p>
            <a:pPr>
              <a:buNone/>
              <a:defRPr/>
            </a:pPr>
            <a:r>
              <a:rPr lang="en-GB" dirty="0"/>
              <a:t>If a program takes one or two arguments and returns a result, it is a proper </a:t>
            </a:r>
            <a:r>
              <a:rPr lang="en-GB" b="1" i="1" dirty="0">
                <a:solidFill>
                  <a:srgbClr val="FF6600"/>
                </a:solidFill>
              </a:rPr>
              <a:t>function</a:t>
            </a:r>
            <a:r>
              <a:rPr lang="en-GB" dirty="0"/>
              <a:t>.</a:t>
            </a:r>
          </a:p>
          <a:p>
            <a:pPr>
              <a:buNone/>
              <a:defRPr/>
            </a:pPr>
            <a:r>
              <a:rPr lang="en-GB" dirty="0"/>
              <a:t>If a program takes no arguments (</a:t>
            </a:r>
            <a:r>
              <a:rPr lang="en-GB" b="1" i="1" dirty="0">
                <a:solidFill>
                  <a:srgbClr val="FF6600"/>
                </a:solidFill>
              </a:rPr>
              <a:t>niladic</a:t>
            </a:r>
            <a:r>
              <a:rPr lang="en-GB" dirty="0"/>
              <a:t>), or does not return a result (</a:t>
            </a:r>
            <a:r>
              <a:rPr lang="en-GB" b="1" i="1" dirty="0">
                <a:solidFill>
                  <a:srgbClr val="FF6600"/>
                </a:solidFill>
              </a:rPr>
              <a:t>non-explicit</a:t>
            </a:r>
            <a:r>
              <a:rPr lang="en-GB" dirty="0"/>
              <a:t>), it is sometimes still referred to as a function, but cannot be used as an operand. Avoid writing these if at all possible. </a:t>
            </a:r>
          </a:p>
          <a:p>
            <a:pPr>
              <a:buNone/>
              <a:defRPr/>
            </a:pPr>
            <a:r>
              <a:rPr lang="en-GB" dirty="0"/>
              <a:t>It is also possible to define user </a:t>
            </a:r>
            <a:r>
              <a:rPr lang="en-GB" b="1" i="1" dirty="0">
                <a:solidFill>
                  <a:srgbClr val="FF6600"/>
                </a:solidFill>
              </a:rPr>
              <a:t>operators</a:t>
            </a:r>
            <a:r>
              <a:rPr lang="en-GB" dirty="0"/>
              <a:t>, which take operands in addition to arguments, in the same way as primitive operators</a:t>
            </a:r>
            <a:endParaRPr lang="en-GB" b="1" dirty="0"/>
          </a:p>
        </p:txBody>
      </p:sp>
      <p:sp>
        <p:nvSpPr>
          <p:cNvPr id="3" name="Title 2">
            <a:extLst>
              <a:ext uri="{FF2B5EF4-FFF2-40B4-BE49-F238E27FC236}">
                <a16:creationId xmlns:a16="http://schemas.microsoft.com/office/drawing/2014/main" id="{A3A53BEB-2F01-D08C-54BA-950E24AA9A66}"/>
              </a:ext>
            </a:extLst>
          </p:cNvPr>
          <p:cNvSpPr>
            <a:spLocks noGrp="1"/>
          </p:cNvSpPr>
          <p:nvPr>
            <p:ph type="title"/>
          </p:nvPr>
        </p:nvSpPr>
        <p:spPr/>
        <p:txBody>
          <a:bodyPr/>
          <a:lstStyle/>
          <a:p>
            <a:r>
              <a:rPr lang="en-GB" dirty="0"/>
              <a:t>Types of Programs</a:t>
            </a:r>
          </a:p>
        </p:txBody>
      </p:sp>
      <p:sp>
        <p:nvSpPr>
          <p:cNvPr id="4" name="Media Placeholder 3">
            <a:extLst>
              <a:ext uri="{FF2B5EF4-FFF2-40B4-BE49-F238E27FC236}">
                <a16:creationId xmlns:a16="http://schemas.microsoft.com/office/drawing/2014/main" id="{C21F4455-0DF6-ED99-009B-F76D81FF6188}"/>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3924441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FC560A-AA01-A641-71B5-55BFAF883C9D}"/>
              </a:ext>
            </a:extLst>
          </p:cNvPr>
          <p:cNvSpPr>
            <a:spLocks noGrp="1"/>
          </p:cNvSpPr>
          <p:nvPr>
            <p:ph idx="1"/>
          </p:nvPr>
        </p:nvSpPr>
        <p:spPr/>
        <p:txBody>
          <a:bodyPr>
            <a:normAutofit/>
          </a:bodyPr>
          <a:lstStyle/>
          <a:p>
            <a:pPr>
              <a:buNone/>
              <a:defRPr/>
            </a:pPr>
            <a:r>
              <a:rPr lang="en-GB" dirty="0"/>
              <a:t>A program/function may take 2 arguments, </a:t>
            </a:r>
          </a:p>
          <a:p>
            <a:pPr>
              <a:buNone/>
              <a:defRPr/>
            </a:pPr>
            <a:r>
              <a:rPr lang="en-GB" dirty="0"/>
              <a:t>like </a:t>
            </a:r>
            <a:r>
              <a:rPr lang="en-GB" dirty="0">
                <a:solidFill>
                  <a:schemeClr val="tx1"/>
                </a:solidFill>
              </a:rPr>
              <a:t>the primitive function  </a:t>
            </a:r>
            <a:r>
              <a:rPr lang="en-GB" dirty="0">
                <a:solidFill>
                  <a:schemeClr val="tx1"/>
                </a:solidFill>
                <a:latin typeface="APL385 Unicode" panose="020B0709000202000203" pitchFamily="49" charset="0"/>
              </a:rPr>
              <a:t>+</a:t>
            </a:r>
          </a:p>
          <a:p>
            <a:pPr>
              <a:buNone/>
              <a:defRPr/>
            </a:pPr>
            <a:r>
              <a:rPr lang="en-GB" dirty="0">
                <a:latin typeface="APL385 Unicode" panose="020B0709000202000203" pitchFamily="49" charset="0"/>
              </a:rPr>
              <a:t>	2 </a:t>
            </a:r>
            <a:r>
              <a:rPr lang="en-GB" dirty="0">
                <a:solidFill>
                  <a:srgbClr val="00B050"/>
                </a:solidFill>
                <a:latin typeface="APL385 Unicode" panose="020B0709000202000203" pitchFamily="49" charset="0"/>
              </a:rPr>
              <a:t>+</a:t>
            </a:r>
            <a:r>
              <a:rPr lang="en-GB" dirty="0">
                <a:latin typeface="APL385 Unicode" panose="020B0709000202000203" pitchFamily="49" charset="0"/>
              </a:rPr>
              <a:t> 3       </a:t>
            </a:r>
            <a:r>
              <a:rPr lang="en-GB" dirty="0">
                <a:solidFill>
                  <a:srgbClr val="DD6DCD"/>
                </a:solidFill>
                <a:latin typeface="APL385 Unicode" panose="020B0709000202000203" pitchFamily="49" charset="0"/>
              </a:rPr>
              <a:t>⍝ 2 and 3 are the arguments</a:t>
            </a:r>
          </a:p>
          <a:p>
            <a:pPr>
              <a:buNone/>
              <a:defRPr/>
            </a:pPr>
            <a:r>
              <a:rPr lang="en-GB" dirty="0"/>
              <a:t>If </a:t>
            </a:r>
            <a:r>
              <a:rPr lang="en-GB" i="1" dirty="0" err="1"/>
              <a:t>MyFn</a:t>
            </a:r>
            <a:r>
              <a:rPr lang="en-GB" dirty="0"/>
              <a:t> is a function which takes </a:t>
            </a:r>
            <a:r>
              <a:rPr lang="en-GB" b="1" dirty="0">
                <a:solidFill>
                  <a:srgbClr val="FF6600"/>
                </a:solidFill>
              </a:rPr>
              <a:t>2 arguments</a:t>
            </a:r>
            <a:r>
              <a:rPr lang="en-GB" dirty="0"/>
              <a:t>:</a:t>
            </a:r>
          </a:p>
          <a:p>
            <a:pPr>
              <a:buNone/>
              <a:defRPr/>
            </a:pPr>
            <a:r>
              <a:rPr lang="en-GB" dirty="0">
                <a:latin typeface="APL385 Unicode" panose="020B0709000202000203" pitchFamily="49" charset="0"/>
              </a:rPr>
              <a:t>	4 </a:t>
            </a:r>
            <a:r>
              <a:rPr lang="en-GB" dirty="0" err="1">
                <a:solidFill>
                  <a:srgbClr val="00B050"/>
                </a:solidFill>
                <a:latin typeface="APL385 Unicode" panose="020B0709000202000203" pitchFamily="49" charset="0"/>
              </a:rPr>
              <a:t>MyFn</a:t>
            </a:r>
            <a:r>
              <a:rPr lang="en-GB" dirty="0">
                <a:latin typeface="APL385 Unicode" panose="020B0709000202000203" pitchFamily="49" charset="0"/>
              </a:rPr>
              <a:t> 78   </a:t>
            </a:r>
            <a:r>
              <a:rPr lang="en-GB" dirty="0">
                <a:solidFill>
                  <a:srgbClr val="DD6DCD"/>
                </a:solidFill>
                <a:latin typeface="APL385 Unicode" panose="020B0709000202000203" pitchFamily="49" charset="0"/>
              </a:rPr>
              <a:t>⍝ 4 &amp; 78 are the arguments</a:t>
            </a:r>
          </a:p>
          <a:p>
            <a:pPr>
              <a:buNone/>
              <a:defRPr/>
            </a:pPr>
            <a:r>
              <a:rPr lang="en-GB" dirty="0"/>
              <a:t>This is a </a:t>
            </a:r>
            <a:r>
              <a:rPr lang="en-GB" b="1" i="1" dirty="0">
                <a:solidFill>
                  <a:srgbClr val="FF6600"/>
                </a:solidFill>
              </a:rPr>
              <a:t>dyadic</a:t>
            </a:r>
            <a:r>
              <a:rPr lang="en-GB" dirty="0"/>
              <a:t> function.</a:t>
            </a:r>
            <a:endParaRPr lang="en-US" dirty="0"/>
          </a:p>
        </p:txBody>
      </p:sp>
      <p:sp>
        <p:nvSpPr>
          <p:cNvPr id="3" name="Title 2">
            <a:extLst>
              <a:ext uri="{FF2B5EF4-FFF2-40B4-BE49-F238E27FC236}">
                <a16:creationId xmlns:a16="http://schemas.microsoft.com/office/drawing/2014/main" id="{36ACA75F-904E-A0D6-8AFC-75937677FD3C}"/>
              </a:ext>
            </a:extLst>
          </p:cNvPr>
          <p:cNvSpPr>
            <a:spLocks noGrp="1"/>
          </p:cNvSpPr>
          <p:nvPr>
            <p:ph type="title"/>
          </p:nvPr>
        </p:nvSpPr>
        <p:spPr/>
        <p:txBody>
          <a:bodyPr/>
          <a:lstStyle/>
          <a:p>
            <a:r>
              <a:rPr lang="en-GB" dirty="0"/>
              <a:t>Dyadic Functions</a:t>
            </a:r>
          </a:p>
        </p:txBody>
      </p:sp>
      <p:sp>
        <p:nvSpPr>
          <p:cNvPr id="4" name="Media Placeholder 3">
            <a:extLst>
              <a:ext uri="{FF2B5EF4-FFF2-40B4-BE49-F238E27FC236}">
                <a16:creationId xmlns:a16="http://schemas.microsoft.com/office/drawing/2014/main" id="{088770BF-6288-4FC4-DD43-8799E4DF146F}"/>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7423480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77E392A-53E4-1547-7A56-DB701E3C7001}"/>
              </a:ext>
            </a:extLst>
          </p:cNvPr>
          <p:cNvSpPr>
            <a:spLocks noGrp="1"/>
          </p:cNvSpPr>
          <p:nvPr>
            <p:ph idx="1"/>
          </p:nvPr>
        </p:nvSpPr>
        <p:spPr/>
        <p:txBody>
          <a:bodyPr>
            <a:normAutofit/>
          </a:bodyPr>
          <a:lstStyle/>
          <a:p>
            <a:pPr>
              <a:buNone/>
              <a:defRPr/>
            </a:pPr>
            <a:r>
              <a:rPr lang="en-GB" dirty="0"/>
              <a:t>A program may take 1 argument, </a:t>
            </a:r>
          </a:p>
          <a:p>
            <a:pPr>
              <a:buNone/>
              <a:defRPr/>
            </a:pPr>
            <a:r>
              <a:rPr lang="en-GB" dirty="0"/>
              <a:t>like ! (factorial, Gamma function)</a:t>
            </a:r>
          </a:p>
          <a:p>
            <a:pPr>
              <a:buNone/>
              <a:defRPr/>
            </a:pPr>
            <a:r>
              <a:rPr lang="en-GB" dirty="0">
                <a:latin typeface="APL385 Unicode" panose="020B0709000202000203" pitchFamily="49" charset="0"/>
              </a:rPr>
              <a:t>	</a:t>
            </a:r>
            <a:r>
              <a:rPr lang="en-GB" dirty="0">
                <a:solidFill>
                  <a:srgbClr val="00B050"/>
                </a:solidFill>
                <a:latin typeface="APL385 Unicode" panose="020B0709000202000203" pitchFamily="49" charset="0"/>
              </a:rPr>
              <a:t>!</a:t>
            </a:r>
            <a:r>
              <a:rPr lang="en-GB" dirty="0">
                <a:latin typeface="APL385 Unicode" panose="020B0709000202000203" pitchFamily="49" charset="0"/>
              </a:rPr>
              <a:t>7          </a:t>
            </a:r>
            <a:r>
              <a:rPr lang="en-GB" dirty="0">
                <a:solidFill>
                  <a:srgbClr val="DD6DCD"/>
                </a:solidFill>
                <a:latin typeface="APL385 Unicode" panose="020B0709000202000203" pitchFamily="49" charset="0"/>
              </a:rPr>
              <a:t>⍝ 7 is the argument</a:t>
            </a:r>
          </a:p>
          <a:p>
            <a:pPr>
              <a:buNone/>
              <a:defRPr/>
            </a:pPr>
            <a:r>
              <a:rPr lang="en-GB" dirty="0"/>
              <a:t>If  </a:t>
            </a:r>
            <a:r>
              <a:rPr lang="en-GB" i="1" dirty="0" err="1"/>
              <a:t>YourFn</a:t>
            </a:r>
            <a:r>
              <a:rPr lang="en-GB" dirty="0"/>
              <a:t> is a function which takes </a:t>
            </a:r>
            <a:r>
              <a:rPr lang="en-GB" b="1" dirty="0">
                <a:solidFill>
                  <a:srgbClr val="FF6600"/>
                </a:solidFill>
              </a:rPr>
              <a:t>one argument</a:t>
            </a:r>
            <a:r>
              <a:rPr lang="en-GB" dirty="0"/>
              <a:t>:</a:t>
            </a:r>
          </a:p>
          <a:p>
            <a:pPr>
              <a:buNone/>
              <a:defRPr/>
            </a:pPr>
            <a:r>
              <a:rPr lang="en-GB" dirty="0">
                <a:latin typeface="APL385 Unicode" panose="020B0709000202000203" pitchFamily="49" charset="0"/>
              </a:rPr>
              <a:t>	</a:t>
            </a:r>
            <a:r>
              <a:rPr lang="en-GB" dirty="0" err="1">
                <a:solidFill>
                  <a:srgbClr val="00B050"/>
                </a:solidFill>
                <a:latin typeface="APL385 Unicode" panose="020B0709000202000203" pitchFamily="49" charset="0"/>
              </a:rPr>
              <a:t>YourFn</a:t>
            </a:r>
            <a:r>
              <a:rPr lang="en-GB" dirty="0">
                <a:latin typeface="APL385 Unicode" panose="020B0709000202000203" pitchFamily="49" charset="0"/>
              </a:rPr>
              <a:t> 78   </a:t>
            </a:r>
            <a:r>
              <a:rPr lang="en-GB" dirty="0">
                <a:solidFill>
                  <a:srgbClr val="DD6DCD"/>
                </a:solidFill>
                <a:latin typeface="APL385 Unicode" panose="020B0709000202000203" pitchFamily="49" charset="0"/>
              </a:rPr>
              <a:t>⍝ 78 is the argument</a:t>
            </a:r>
          </a:p>
          <a:p>
            <a:pPr>
              <a:buNone/>
              <a:defRPr/>
            </a:pPr>
            <a:r>
              <a:rPr lang="en-GB" dirty="0"/>
              <a:t>This is called a </a:t>
            </a:r>
            <a:r>
              <a:rPr lang="en-GB" b="1" i="1" dirty="0">
                <a:solidFill>
                  <a:srgbClr val="FF6600"/>
                </a:solidFill>
              </a:rPr>
              <a:t>monadic</a:t>
            </a:r>
            <a:r>
              <a:rPr lang="en-GB" dirty="0">
                <a:solidFill>
                  <a:srgbClr val="FF3300"/>
                </a:solidFill>
              </a:rPr>
              <a:t> </a:t>
            </a:r>
            <a:r>
              <a:rPr lang="en-GB" dirty="0"/>
              <a:t>program or function.</a:t>
            </a:r>
            <a:endParaRPr lang="en-US" dirty="0"/>
          </a:p>
        </p:txBody>
      </p:sp>
      <p:sp>
        <p:nvSpPr>
          <p:cNvPr id="3" name="Title 2">
            <a:extLst>
              <a:ext uri="{FF2B5EF4-FFF2-40B4-BE49-F238E27FC236}">
                <a16:creationId xmlns:a16="http://schemas.microsoft.com/office/drawing/2014/main" id="{18B251B6-A2F9-521C-4F72-4BCFE29B4533}"/>
              </a:ext>
            </a:extLst>
          </p:cNvPr>
          <p:cNvSpPr>
            <a:spLocks noGrp="1"/>
          </p:cNvSpPr>
          <p:nvPr>
            <p:ph type="title"/>
          </p:nvPr>
        </p:nvSpPr>
        <p:spPr/>
        <p:txBody>
          <a:bodyPr/>
          <a:lstStyle/>
          <a:p>
            <a:r>
              <a:rPr lang="en-GB" dirty="0"/>
              <a:t>Monadic Functions</a:t>
            </a:r>
          </a:p>
        </p:txBody>
      </p:sp>
      <p:sp>
        <p:nvSpPr>
          <p:cNvPr id="4" name="Media Placeholder 3">
            <a:extLst>
              <a:ext uri="{FF2B5EF4-FFF2-40B4-BE49-F238E27FC236}">
                <a16:creationId xmlns:a16="http://schemas.microsoft.com/office/drawing/2014/main" id="{33970686-1BED-3C37-AE0F-605999D5EA4E}"/>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3073684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33EC65-2E52-C17C-EC51-AA5000B32279}"/>
              </a:ext>
            </a:extLst>
          </p:cNvPr>
          <p:cNvSpPr>
            <a:spLocks noGrp="1"/>
          </p:cNvSpPr>
          <p:nvPr>
            <p:ph idx="1"/>
          </p:nvPr>
        </p:nvSpPr>
        <p:spPr/>
        <p:txBody>
          <a:bodyPr>
            <a:normAutofit fontScale="77500" lnSpcReduction="20000"/>
          </a:bodyPr>
          <a:lstStyle/>
          <a:p>
            <a:pPr>
              <a:buNone/>
              <a:defRPr/>
            </a:pPr>
            <a:r>
              <a:rPr lang="en-GB" dirty="0"/>
              <a:t>A program may take 0 arguments, </a:t>
            </a:r>
          </a:p>
          <a:p>
            <a:pPr>
              <a:buNone/>
              <a:defRPr/>
            </a:pPr>
            <a:r>
              <a:rPr lang="en-GB" dirty="0"/>
              <a:t>ex:  </a:t>
            </a:r>
            <a:r>
              <a:rPr lang="en-GB" i="1" dirty="0" err="1"/>
              <a:t>HisFn</a:t>
            </a:r>
            <a:r>
              <a:rPr lang="en-GB" dirty="0"/>
              <a:t> is a program</a:t>
            </a:r>
          </a:p>
          <a:p>
            <a:pPr>
              <a:buNone/>
              <a:defRPr/>
            </a:pPr>
            <a:r>
              <a:rPr lang="en-GB" dirty="0"/>
              <a:t>	</a:t>
            </a:r>
            <a:r>
              <a:rPr lang="en-GB" dirty="0" err="1">
                <a:solidFill>
                  <a:srgbClr val="00B050"/>
                </a:solidFill>
                <a:latin typeface="APL385 Unicode" panose="020B0709000202000203" pitchFamily="49" charset="0"/>
              </a:rPr>
              <a:t>HisFn</a:t>
            </a:r>
            <a:endParaRPr lang="en-GB" dirty="0">
              <a:solidFill>
                <a:srgbClr val="00B050"/>
              </a:solidFill>
              <a:latin typeface="APL385 Unicode" panose="020B0709000202000203" pitchFamily="49" charset="0"/>
            </a:endParaRPr>
          </a:p>
          <a:p>
            <a:pPr>
              <a:buNone/>
              <a:defRPr/>
            </a:pPr>
            <a:endParaRPr lang="en-GB" dirty="0"/>
          </a:p>
          <a:p>
            <a:pPr>
              <a:buNone/>
              <a:defRPr/>
            </a:pPr>
            <a:r>
              <a:rPr lang="en-GB" dirty="0"/>
              <a:t>This is called a </a:t>
            </a:r>
            <a:r>
              <a:rPr lang="en-GB" i="1" dirty="0">
                <a:solidFill>
                  <a:srgbClr val="FF6600"/>
                </a:solidFill>
              </a:rPr>
              <a:t>niladic</a:t>
            </a:r>
            <a:r>
              <a:rPr lang="en-GB" dirty="0"/>
              <a:t> function or a procedure.</a:t>
            </a:r>
          </a:p>
          <a:p>
            <a:pPr>
              <a:buNone/>
              <a:defRPr/>
            </a:pPr>
            <a:r>
              <a:rPr lang="en-GB" dirty="0"/>
              <a:t>There are no </a:t>
            </a:r>
            <a:r>
              <a:rPr lang="en-GB" i="1" dirty="0"/>
              <a:t>niladic</a:t>
            </a:r>
            <a:r>
              <a:rPr lang="en-GB" dirty="0"/>
              <a:t> </a:t>
            </a:r>
            <a:r>
              <a:rPr lang="en-GB" i="1" dirty="0"/>
              <a:t>primitives</a:t>
            </a:r>
            <a:r>
              <a:rPr lang="en-GB" dirty="0"/>
              <a:t>.</a:t>
            </a:r>
          </a:p>
          <a:p>
            <a:pPr>
              <a:buNone/>
              <a:defRPr/>
            </a:pPr>
            <a:r>
              <a:rPr lang="en-GB" dirty="0"/>
              <a:t>You might need such functions for special tasks like starting an application, and you will encounter functions named Boot, Clean or Finish in existing applications. Within an application, they should be avoided.</a:t>
            </a:r>
            <a:endParaRPr lang="en-US" dirty="0"/>
          </a:p>
        </p:txBody>
      </p:sp>
      <p:sp>
        <p:nvSpPr>
          <p:cNvPr id="3" name="Title 2">
            <a:extLst>
              <a:ext uri="{FF2B5EF4-FFF2-40B4-BE49-F238E27FC236}">
                <a16:creationId xmlns:a16="http://schemas.microsoft.com/office/drawing/2014/main" id="{FA73ACC3-B45B-9518-5531-D3845DC7572A}"/>
              </a:ext>
            </a:extLst>
          </p:cNvPr>
          <p:cNvSpPr>
            <a:spLocks noGrp="1"/>
          </p:cNvSpPr>
          <p:nvPr>
            <p:ph type="title"/>
          </p:nvPr>
        </p:nvSpPr>
        <p:spPr/>
        <p:txBody>
          <a:bodyPr/>
          <a:lstStyle/>
          <a:p>
            <a:r>
              <a:rPr lang="en-GB" dirty="0"/>
              <a:t>Niladic Functions</a:t>
            </a:r>
          </a:p>
        </p:txBody>
      </p:sp>
      <p:sp>
        <p:nvSpPr>
          <p:cNvPr id="4" name="Media Placeholder 3">
            <a:extLst>
              <a:ext uri="{FF2B5EF4-FFF2-40B4-BE49-F238E27FC236}">
                <a16:creationId xmlns:a16="http://schemas.microsoft.com/office/drawing/2014/main" id="{3203E128-0D79-CCEB-5FA0-9560E8154FEA}"/>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42473909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F313FB-7C41-1B06-D895-F5058357331E}"/>
              </a:ext>
            </a:extLst>
          </p:cNvPr>
          <p:cNvSpPr>
            <a:spLocks noGrp="1"/>
          </p:cNvSpPr>
          <p:nvPr>
            <p:ph idx="1"/>
          </p:nvPr>
        </p:nvSpPr>
        <p:spPr>
          <a:xfrm>
            <a:off x="323527" y="1377777"/>
            <a:ext cx="6372695" cy="3129187"/>
          </a:xfrm>
        </p:spPr>
        <p:txBody>
          <a:bodyPr>
            <a:normAutofit fontScale="92500" lnSpcReduction="20000"/>
          </a:bodyPr>
          <a:lstStyle/>
          <a:p>
            <a:pPr>
              <a:buNone/>
              <a:defRPr/>
            </a:pPr>
            <a:r>
              <a:rPr lang="en-GB" dirty="0"/>
              <a:t>If a program returns a result, it (the result) can be assigned and/or used for further calculations </a:t>
            </a:r>
          </a:p>
          <a:p>
            <a:pPr>
              <a:buNone/>
              <a:defRPr/>
            </a:pPr>
            <a:r>
              <a:rPr lang="en-GB" dirty="0"/>
              <a:t>For example,  </a:t>
            </a:r>
            <a:r>
              <a:rPr lang="en-GB" dirty="0">
                <a:solidFill>
                  <a:srgbClr val="00B050"/>
                </a:solidFill>
                <a:latin typeface="APL385 Unicode" panose="020B0709000202000203" pitchFamily="49" charset="0"/>
              </a:rPr>
              <a:t>+</a:t>
            </a:r>
            <a:r>
              <a:rPr lang="en-GB" dirty="0"/>
              <a:t>  returns a result that can be assigned to a variable </a:t>
            </a:r>
          </a:p>
          <a:p>
            <a:pPr>
              <a:buNone/>
              <a:defRPr/>
            </a:pPr>
            <a:r>
              <a:rPr lang="en-GB" dirty="0"/>
              <a:t>All primitives return a result.</a:t>
            </a:r>
          </a:p>
          <a:p>
            <a:pPr>
              <a:buNone/>
              <a:defRPr/>
            </a:pPr>
            <a:r>
              <a:rPr lang="en-GB" dirty="0"/>
              <a:t>Not all programs return a result. </a:t>
            </a:r>
          </a:p>
          <a:p>
            <a:pPr>
              <a:buNone/>
              <a:defRPr/>
            </a:pPr>
            <a:r>
              <a:rPr lang="en-GB" dirty="0"/>
              <a:t>Note that a program which does not return a result, or does not take an argument, cannot be used with operators.</a:t>
            </a:r>
            <a:endParaRPr lang="en-US" dirty="0"/>
          </a:p>
        </p:txBody>
      </p:sp>
      <p:sp>
        <p:nvSpPr>
          <p:cNvPr id="3" name="Title 2">
            <a:extLst>
              <a:ext uri="{FF2B5EF4-FFF2-40B4-BE49-F238E27FC236}">
                <a16:creationId xmlns:a16="http://schemas.microsoft.com/office/drawing/2014/main" id="{A9666DE1-46A7-298C-3F99-1FC02F7F3E44}"/>
              </a:ext>
            </a:extLst>
          </p:cNvPr>
          <p:cNvSpPr>
            <a:spLocks noGrp="1"/>
          </p:cNvSpPr>
          <p:nvPr>
            <p:ph type="title"/>
          </p:nvPr>
        </p:nvSpPr>
        <p:spPr/>
        <p:txBody>
          <a:bodyPr/>
          <a:lstStyle/>
          <a:p>
            <a:r>
              <a:rPr lang="en-GB" dirty="0"/>
              <a:t>Returning a Result</a:t>
            </a:r>
          </a:p>
        </p:txBody>
      </p:sp>
      <p:sp>
        <p:nvSpPr>
          <p:cNvPr id="4" name="Media Placeholder 3">
            <a:extLst>
              <a:ext uri="{FF2B5EF4-FFF2-40B4-BE49-F238E27FC236}">
                <a16:creationId xmlns:a16="http://schemas.microsoft.com/office/drawing/2014/main" id="{2B85F389-E2C8-2AA7-BD57-A5DC6A03C6C5}"/>
              </a:ext>
            </a:extLst>
          </p:cNvPr>
          <p:cNvSpPr>
            <a:spLocks noGrp="1"/>
          </p:cNvSpPr>
          <p:nvPr>
            <p:ph type="media" sz="quarter" idx="11"/>
          </p:nvPr>
        </p:nvSpPr>
        <p:spPr/>
        <p:txBody>
          <a:bodyPr/>
          <a:lstStyle/>
          <a:p>
            <a:endParaRPr lang="en-GB"/>
          </a:p>
        </p:txBody>
      </p:sp>
      <p:sp>
        <p:nvSpPr>
          <p:cNvPr id="5" name="TextBox 4">
            <a:extLst>
              <a:ext uri="{FF2B5EF4-FFF2-40B4-BE49-F238E27FC236}">
                <a16:creationId xmlns:a16="http://schemas.microsoft.com/office/drawing/2014/main" id="{DAF44CF5-2714-7491-6CFA-59C99F1D9A59}"/>
              </a:ext>
            </a:extLst>
          </p:cNvPr>
          <p:cNvSpPr txBox="1"/>
          <p:nvPr/>
        </p:nvSpPr>
        <p:spPr>
          <a:xfrm>
            <a:off x="6831497" y="1800211"/>
            <a:ext cx="2243796" cy="2031325"/>
          </a:xfrm>
          <a:prstGeom prst="rect">
            <a:avLst/>
          </a:prstGeom>
          <a:noFill/>
        </p:spPr>
        <p:txBody>
          <a:bodyPr wrap="square" rtlCol="0">
            <a:spAutoFit/>
          </a:bodyPr>
          <a:lstStyle/>
          <a:p>
            <a:r>
              <a:rPr lang="en-GB" dirty="0">
                <a:latin typeface="APL385 Unicode" panose="020B0709000202000203" pitchFamily="49" charset="0"/>
              </a:rPr>
              <a:t>      </a:t>
            </a:r>
            <a:r>
              <a:rPr lang="en-GB" dirty="0">
                <a:solidFill>
                  <a:srgbClr val="00B050"/>
                </a:solidFill>
                <a:latin typeface="APL385 Unicode" panose="020B0709000202000203" pitchFamily="49" charset="0"/>
              </a:rPr>
              <a:t>3+4</a:t>
            </a:r>
          </a:p>
          <a:p>
            <a:r>
              <a:rPr lang="en-GB" dirty="0">
                <a:latin typeface="APL385 Unicode" panose="020B0709000202000203" pitchFamily="49" charset="0"/>
              </a:rPr>
              <a:t>7</a:t>
            </a:r>
          </a:p>
          <a:p>
            <a:r>
              <a:rPr lang="en-GB" dirty="0">
                <a:latin typeface="APL385 Unicode" panose="020B0709000202000203" pitchFamily="49" charset="0"/>
              </a:rPr>
              <a:t>      </a:t>
            </a:r>
            <a:r>
              <a:rPr lang="en-GB" dirty="0">
                <a:solidFill>
                  <a:srgbClr val="00B050"/>
                </a:solidFill>
                <a:latin typeface="APL385 Unicode" panose="020B0709000202000203" pitchFamily="49" charset="0"/>
              </a:rPr>
              <a:t>seven←3+4</a:t>
            </a:r>
          </a:p>
          <a:p>
            <a:r>
              <a:rPr lang="en-GB" dirty="0">
                <a:latin typeface="APL385 Unicode" panose="020B0709000202000203" pitchFamily="49" charset="0"/>
              </a:rPr>
              <a:t>      </a:t>
            </a:r>
            <a:r>
              <a:rPr lang="en-GB" dirty="0">
                <a:solidFill>
                  <a:srgbClr val="00B050"/>
                </a:solidFill>
                <a:latin typeface="APL385 Unicode" panose="020B0709000202000203" pitchFamily="49" charset="0"/>
              </a:rPr>
              <a:t>2×3+4</a:t>
            </a:r>
          </a:p>
          <a:p>
            <a:r>
              <a:rPr lang="en-GB" dirty="0">
                <a:latin typeface="APL385 Unicode" panose="020B0709000202000203" pitchFamily="49" charset="0"/>
              </a:rPr>
              <a:t>14</a:t>
            </a:r>
          </a:p>
          <a:p>
            <a:r>
              <a:rPr lang="en-GB" dirty="0">
                <a:latin typeface="APL385 Unicode" panose="020B0709000202000203" pitchFamily="49" charset="0"/>
              </a:rPr>
              <a:t>      </a:t>
            </a:r>
            <a:r>
              <a:rPr lang="en-GB" dirty="0">
                <a:solidFill>
                  <a:srgbClr val="00B050"/>
                </a:solidFill>
                <a:latin typeface="APL385 Unicode" panose="020B0709000202000203" pitchFamily="49" charset="0"/>
              </a:rPr>
              <a:t>2×seven</a:t>
            </a:r>
          </a:p>
          <a:p>
            <a:r>
              <a:rPr lang="en-GB" dirty="0">
                <a:latin typeface="APL385 Unicode" panose="020B0709000202000203" pitchFamily="49" charset="0"/>
              </a:rPr>
              <a:t>14</a:t>
            </a:r>
          </a:p>
        </p:txBody>
      </p:sp>
    </p:spTree>
    <p:extLst>
      <p:ext uri="{BB962C8B-B14F-4D97-AF65-F5344CB8AC3E}">
        <p14:creationId xmlns:p14="http://schemas.microsoft.com/office/powerpoint/2010/main" val="40444489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63FCE-3831-E0C9-0FEF-4BCDFF977E6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17CE99-026E-979D-1B19-393D462482CD}"/>
              </a:ext>
            </a:extLst>
          </p:cNvPr>
          <p:cNvSpPr>
            <a:spLocks noGrp="1"/>
          </p:cNvSpPr>
          <p:nvPr>
            <p:ph idx="1"/>
          </p:nvPr>
        </p:nvSpPr>
        <p:spPr>
          <a:xfrm>
            <a:off x="323527" y="1377777"/>
            <a:ext cx="5414873" cy="3129187"/>
          </a:xfrm>
        </p:spPr>
        <p:txBody>
          <a:bodyPr>
            <a:normAutofit/>
          </a:bodyPr>
          <a:lstStyle/>
          <a:p>
            <a:pPr>
              <a:buNone/>
              <a:defRPr/>
            </a:pPr>
            <a:r>
              <a:rPr lang="en-GB" dirty="0"/>
              <a:t>The header specifies names</a:t>
            </a:r>
          </a:p>
          <a:p>
            <a:pPr>
              <a:defRPr/>
            </a:pPr>
            <a:r>
              <a:rPr lang="en-GB" dirty="0"/>
              <a:t>The function itself, and optionally:</a:t>
            </a:r>
          </a:p>
        </p:txBody>
      </p:sp>
      <p:sp>
        <p:nvSpPr>
          <p:cNvPr id="3" name="Title 2">
            <a:extLst>
              <a:ext uri="{FF2B5EF4-FFF2-40B4-BE49-F238E27FC236}">
                <a16:creationId xmlns:a16="http://schemas.microsoft.com/office/drawing/2014/main" id="{F79C750D-A77E-E86D-F87B-BA6CA580B2FC}"/>
              </a:ext>
            </a:extLst>
          </p:cNvPr>
          <p:cNvSpPr>
            <a:spLocks noGrp="1"/>
          </p:cNvSpPr>
          <p:nvPr>
            <p:ph type="title"/>
          </p:nvPr>
        </p:nvSpPr>
        <p:spPr/>
        <p:txBody>
          <a:bodyPr/>
          <a:lstStyle/>
          <a:p>
            <a:r>
              <a:rPr lang="en-GB" dirty="0" err="1"/>
              <a:t>Tradfn</a:t>
            </a:r>
            <a:r>
              <a:rPr lang="en-GB" dirty="0"/>
              <a:t> Headers</a:t>
            </a:r>
          </a:p>
        </p:txBody>
      </p:sp>
      <p:sp>
        <p:nvSpPr>
          <p:cNvPr id="4" name="Media Placeholder 3">
            <a:extLst>
              <a:ext uri="{FF2B5EF4-FFF2-40B4-BE49-F238E27FC236}">
                <a16:creationId xmlns:a16="http://schemas.microsoft.com/office/drawing/2014/main" id="{6A1CF7E2-78F2-D7B7-D819-9AB772817304}"/>
              </a:ext>
            </a:extLst>
          </p:cNvPr>
          <p:cNvSpPr>
            <a:spLocks noGrp="1"/>
          </p:cNvSpPr>
          <p:nvPr>
            <p:ph type="media" sz="quarter" idx="11"/>
          </p:nvPr>
        </p:nvSpPr>
        <p:spPr/>
        <p:txBody>
          <a:bodyPr/>
          <a:lstStyle/>
          <a:p>
            <a:endParaRPr lang="en-GB"/>
          </a:p>
        </p:txBody>
      </p:sp>
      <p:sp>
        <p:nvSpPr>
          <p:cNvPr id="5" name="TextBox 4">
            <a:extLst>
              <a:ext uri="{FF2B5EF4-FFF2-40B4-BE49-F238E27FC236}">
                <a16:creationId xmlns:a16="http://schemas.microsoft.com/office/drawing/2014/main" id="{D097BFB5-AE4A-0A81-C649-804D8C29ECBD}"/>
              </a:ext>
            </a:extLst>
          </p:cNvPr>
          <p:cNvSpPr txBox="1"/>
          <p:nvPr/>
        </p:nvSpPr>
        <p:spPr>
          <a:xfrm>
            <a:off x="5515200" y="1958611"/>
            <a:ext cx="3513600" cy="369332"/>
          </a:xfrm>
          <a:prstGeom prst="rect">
            <a:avLst/>
          </a:prstGeom>
          <a:noFill/>
        </p:spPr>
        <p:txBody>
          <a:bodyPr wrap="square" rtlCol="0">
            <a:spAutoFit/>
          </a:bodyPr>
          <a:lstStyle/>
          <a:p>
            <a:r>
              <a:rPr lang="en-GB" dirty="0">
                <a:latin typeface="APL385 Unicode" panose="020B0709000202000203" pitchFamily="49" charset="0"/>
              </a:rPr>
              <a:t>          </a:t>
            </a:r>
            <a:r>
              <a:rPr lang="en-GB" dirty="0" err="1">
                <a:latin typeface="APL385 Unicode" panose="020B0709000202000203" pitchFamily="49" charset="0"/>
              </a:rPr>
              <a:t>Fn</a:t>
            </a:r>
            <a:endParaRPr lang="en-GB" dirty="0">
              <a:latin typeface="APL385 Unicode" panose="020B0709000202000203" pitchFamily="49" charset="0"/>
            </a:endParaRPr>
          </a:p>
        </p:txBody>
      </p:sp>
    </p:spTree>
    <p:extLst>
      <p:ext uri="{BB962C8B-B14F-4D97-AF65-F5344CB8AC3E}">
        <p14:creationId xmlns:p14="http://schemas.microsoft.com/office/powerpoint/2010/main" val="3930097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8E5CC-5787-3D79-8F57-4ABB94C0036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1E3D94-C289-C11B-F1EB-62787216416F}"/>
              </a:ext>
            </a:extLst>
          </p:cNvPr>
          <p:cNvSpPr>
            <a:spLocks noGrp="1"/>
          </p:cNvSpPr>
          <p:nvPr>
            <p:ph idx="1"/>
          </p:nvPr>
        </p:nvSpPr>
        <p:spPr>
          <a:xfrm>
            <a:off x="323527" y="1377777"/>
            <a:ext cx="5414873" cy="3129187"/>
          </a:xfrm>
        </p:spPr>
        <p:txBody>
          <a:bodyPr>
            <a:normAutofit/>
          </a:bodyPr>
          <a:lstStyle/>
          <a:p>
            <a:pPr>
              <a:buNone/>
              <a:defRPr/>
            </a:pPr>
            <a:r>
              <a:rPr lang="en-GB" dirty="0"/>
              <a:t>The header specifies names</a:t>
            </a:r>
          </a:p>
          <a:p>
            <a:pPr>
              <a:defRPr/>
            </a:pPr>
            <a:r>
              <a:rPr lang="en-GB" dirty="0"/>
              <a:t>The function itself, and optionally:</a:t>
            </a:r>
          </a:p>
          <a:p>
            <a:pPr>
              <a:defRPr/>
            </a:pPr>
            <a:r>
              <a:rPr lang="en-GB" dirty="0"/>
              <a:t>Arguments</a:t>
            </a:r>
          </a:p>
        </p:txBody>
      </p:sp>
      <p:sp>
        <p:nvSpPr>
          <p:cNvPr id="3" name="Title 2">
            <a:extLst>
              <a:ext uri="{FF2B5EF4-FFF2-40B4-BE49-F238E27FC236}">
                <a16:creationId xmlns:a16="http://schemas.microsoft.com/office/drawing/2014/main" id="{694FFE89-7543-4DA4-DC9F-55154ED5BAB6}"/>
              </a:ext>
            </a:extLst>
          </p:cNvPr>
          <p:cNvSpPr>
            <a:spLocks noGrp="1"/>
          </p:cNvSpPr>
          <p:nvPr>
            <p:ph type="title"/>
          </p:nvPr>
        </p:nvSpPr>
        <p:spPr/>
        <p:txBody>
          <a:bodyPr/>
          <a:lstStyle/>
          <a:p>
            <a:r>
              <a:rPr lang="en-GB" dirty="0" err="1"/>
              <a:t>Tradfn</a:t>
            </a:r>
            <a:r>
              <a:rPr lang="en-GB" dirty="0"/>
              <a:t> Headers</a:t>
            </a:r>
          </a:p>
        </p:txBody>
      </p:sp>
      <p:sp>
        <p:nvSpPr>
          <p:cNvPr id="4" name="Media Placeholder 3">
            <a:extLst>
              <a:ext uri="{FF2B5EF4-FFF2-40B4-BE49-F238E27FC236}">
                <a16:creationId xmlns:a16="http://schemas.microsoft.com/office/drawing/2014/main" id="{55A8F275-7401-8AF1-4629-73509F0DE705}"/>
              </a:ext>
            </a:extLst>
          </p:cNvPr>
          <p:cNvSpPr>
            <a:spLocks noGrp="1"/>
          </p:cNvSpPr>
          <p:nvPr>
            <p:ph type="media" sz="quarter" idx="11"/>
          </p:nvPr>
        </p:nvSpPr>
        <p:spPr/>
        <p:txBody>
          <a:bodyPr/>
          <a:lstStyle/>
          <a:p>
            <a:endParaRPr lang="en-GB"/>
          </a:p>
        </p:txBody>
      </p:sp>
      <p:sp>
        <p:nvSpPr>
          <p:cNvPr id="5" name="TextBox 4">
            <a:extLst>
              <a:ext uri="{FF2B5EF4-FFF2-40B4-BE49-F238E27FC236}">
                <a16:creationId xmlns:a16="http://schemas.microsoft.com/office/drawing/2014/main" id="{900F13CE-E2AF-E881-B2D4-BF9131A463F0}"/>
              </a:ext>
            </a:extLst>
          </p:cNvPr>
          <p:cNvSpPr txBox="1"/>
          <p:nvPr/>
        </p:nvSpPr>
        <p:spPr>
          <a:xfrm>
            <a:off x="5515200" y="1958611"/>
            <a:ext cx="3513600" cy="369332"/>
          </a:xfrm>
          <a:prstGeom prst="rect">
            <a:avLst/>
          </a:prstGeom>
          <a:noFill/>
        </p:spPr>
        <p:txBody>
          <a:bodyPr wrap="square" rtlCol="0">
            <a:spAutoFit/>
          </a:bodyPr>
          <a:lstStyle/>
          <a:p>
            <a:r>
              <a:rPr lang="en-GB" dirty="0">
                <a:latin typeface="APL385 Unicode" panose="020B0709000202000203" pitchFamily="49" charset="0"/>
              </a:rPr>
              <a:t>     </a:t>
            </a:r>
            <a:r>
              <a:rPr lang="en-GB" dirty="0" err="1">
                <a:latin typeface="APL385 Unicode" panose="020B0709000202000203" pitchFamily="49" charset="0"/>
              </a:rPr>
              <a:t>larg</a:t>
            </a:r>
            <a:r>
              <a:rPr lang="en-GB" dirty="0">
                <a:latin typeface="APL385 Unicode" panose="020B0709000202000203" pitchFamily="49" charset="0"/>
              </a:rPr>
              <a:t> </a:t>
            </a:r>
            <a:r>
              <a:rPr lang="en-GB" dirty="0" err="1">
                <a:latin typeface="APL385 Unicode" panose="020B0709000202000203" pitchFamily="49" charset="0"/>
              </a:rPr>
              <a:t>Fn</a:t>
            </a:r>
            <a:r>
              <a:rPr lang="en-GB" dirty="0">
                <a:latin typeface="APL385 Unicode" panose="020B0709000202000203" pitchFamily="49" charset="0"/>
              </a:rPr>
              <a:t> </a:t>
            </a:r>
            <a:r>
              <a:rPr lang="en-GB" dirty="0" err="1">
                <a:latin typeface="APL385 Unicode" panose="020B0709000202000203" pitchFamily="49" charset="0"/>
              </a:rPr>
              <a:t>rarg</a:t>
            </a:r>
            <a:endParaRPr lang="en-GB" dirty="0">
              <a:latin typeface="APL385 Unicode" panose="020B0709000202000203" pitchFamily="49" charset="0"/>
            </a:endParaRPr>
          </a:p>
        </p:txBody>
      </p:sp>
    </p:spTree>
    <p:extLst>
      <p:ext uri="{BB962C8B-B14F-4D97-AF65-F5344CB8AC3E}">
        <p14:creationId xmlns:p14="http://schemas.microsoft.com/office/powerpoint/2010/main" val="21928329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FAA3D-F973-78C7-ECF5-B22E71A93A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1745E5-E7FC-2684-9E0A-5A24382DA61C}"/>
              </a:ext>
            </a:extLst>
          </p:cNvPr>
          <p:cNvSpPr>
            <a:spLocks noGrp="1"/>
          </p:cNvSpPr>
          <p:nvPr>
            <p:ph idx="1"/>
          </p:nvPr>
        </p:nvSpPr>
        <p:spPr>
          <a:xfrm>
            <a:off x="323527" y="1377777"/>
            <a:ext cx="5414873" cy="3129187"/>
          </a:xfrm>
        </p:spPr>
        <p:txBody>
          <a:bodyPr>
            <a:normAutofit/>
          </a:bodyPr>
          <a:lstStyle/>
          <a:p>
            <a:pPr>
              <a:buNone/>
              <a:defRPr/>
            </a:pPr>
            <a:r>
              <a:rPr lang="en-GB" dirty="0"/>
              <a:t>The header specifies names</a:t>
            </a:r>
          </a:p>
          <a:p>
            <a:pPr>
              <a:defRPr/>
            </a:pPr>
            <a:r>
              <a:rPr lang="en-GB" dirty="0"/>
              <a:t>The function itself, and optionally:</a:t>
            </a:r>
          </a:p>
          <a:p>
            <a:pPr>
              <a:defRPr/>
            </a:pPr>
            <a:r>
              <a:rPr lang="en-GB" dirty="0"/>
              <a:t>Arguments</a:t>
            </a:r>
          </a:p>
          <a:p>
            <a:pPr>
              <a:defRPr/>
            </a:pPr>
            <a:r>
              <a:rPr lang="en-GB" dirty="0"/>
              <a:t>Result</a:t>
            </a:r>
          </a:p>
        </p:txBody>
      </p:sp>
      <p:sp>
        <p:nvSpPr>
          <p:cNvPr id="3" name="Title 2">
            <a:extLst>
              <a:ext uri="{FF2B5EF4-FFF2-40B4-BE49-F238E27FC236}">
                <a16:creationId xmlns:a16="http://schemas.microsoft.com/office/drawing/2014/main" id="{D20E431F-125B-4A93-D2E2-56BBEDA46571}"/>
              </a:ext>
            </a:extLst>
          </p:cNvPr>
          <p:cNvSpPr>
            <a:spLocks noGrp="1"/>
          </p:cNvSpPr>
          <p:nvPr>
            <p:ph type="title"/>
          </p:nvPr>
        </p:nvSpPr>
        <p:spPr/>
        <p:txBody>
          <a:bodyPr/>
          <a:lstStyle/>
          <a:p>
            <a:r>
              <a:rPr lang="en-GB" dirty="0" err="1"/>
              <a:t>Tradfn</a:t>
            </a:r>
            <a:r>
              <a:rPr lang="en-GB" dirty="0"/>
              <a:t> Headers</a:t>
            </a:r>
          </a:p>
        </p:txBody>
      </p:sp>
      <p:sp>
        <p:nvSpPr>
          <p:cNvPr id="4" name="Media Placeholder 3">
            <a:extLst>
              <a:ext uri="{FF2B5EF4-FFF2-40B4-BE49-F238E27FC236}">
                <a16:creationId xmlns:a16="http://schemas.microsoft.com/office/drawing/2014/main" id="{614806CE-6528-B93F-0DE0-451891D70B5C}"/>
              </a:ext>
            </a:extLst>
          </p:cNvPr>
          <p:cNvSpPr>
            <a:spLocks noGrp="1"/>
          </p:cNvSpPr>
          <p:nvPr>
            <p:ph type="media" sz="quarter" idx="11"/>
          </p:nvPr>
        </p:nvSpPr>
        <p:spPr/>
        <p:txBody>
          <a:bodyPr/>
          <a:lstStyle/>
          <a:p>
            <a:endParaRPr lang="en-GB"/>
          </a:p>
        </p:txBody>
      </p:sp>
      <p:sp>
        <p:nvSpPr>
          <p:cNvPr id="5" name="TextBox 4">
            <a:extLst>
              <a:ext uri="{FF2B5EF4-FFF2-40B4-BE49-F238E27FC236}">
                <a16:creationId xmlns:a16="http://schemas.microsoft.com/office/drawing/2014/main" id="{60FB455B-7136-DF0F-4E7E-7203D9452F96}"/>
              </a:ext>
            </a:extLst>
          </p:cNvPr>
          <p:cNvSpPr txBox="1"/>
          <p:nvPr/>
        </p:nvSpPr>
        <p:spPr>
          <a:xfrm>
            <a:off x="5515200" y="1958611"/>
            <a:ext cx="3513600" cy="369332"/>
          </a:xfrm>
          <a:prstGeom prst="rect">
            <a:avLst/>
          </a:prstGeom>
          <a:noFill/>
        </p:spPr>
        <p:txBody>
          <a:bodyPr wrap="square" rtlCol="0">
            <a:spAutoFit/>
          </a:bodyPr>
          <a:lstStyle/>
          <a:p>
            <a:r>
              <a:rPr lang="en-GB" dirty="0">
                <a:latin typeface="APL385 Unicode" panose="020B0709000202000203" pitchFamily="49" charset="0"/>
              </a:rPr>
              <a:t> r ← </a:t>
            </a:r>
            <a:r>
              <a:rPr lang="en-GB" dirty="0" err="1">
                <a:latin typeface="APL385 Unicode" panose="020B0709000202000203" pitchFamily="49" charset="0"/>
              </a:rPr>
              <a:t>larg</a:t>
            </a:r>
            <a:r>
              <a:rPr lang="en-GB" dirty="0">
                <a:latin typeface="APL385 Unicode" panose="020B0709000202000203" pitchFamily="49" charset="0"/>
              </a:rPr>
              <a:t> </a:t>
            </a:r>
            <a:r>
              <a:rPr lang="en-GB" dirty="0" err="1">
                <a:latin typeface="APL385 Unicode" panose="020B0709000202000203" pitchFamily="49" charset="0"/>
              </a:rPr>
              <a:t>Fn</a:t>
            </a:r>
            <a:r>
              <a:rPr lang="en-GB" dirty="0">
                <a:latin typeface="APL385 Unicode" panose="020B0709000202000203" pitchFamily="49" charset="0"/>
              </a:rPr>
              <a:t> </a:t>
            </a:r>
            <a:r>
              <a:rPr lang="en-GB" dirty="0" err="1">
                <a:latin typeface="APL385 Unicode" panose="020B0709000202000203" pitchFamily="49" charset="0"/>
              </a:rPr>
              <a:t>rarg</a:t>
            </a:r>
            <a:endParaRPr lang="en-GB" dirty="0">
              <a:latin typeface="APL385 Unicode" panose="020B0709000202000203" pitchFamily="49" charset="0"/>
            </a:endParaRPr>
          </a:p>
        </p:txBody>
      </p:sp>
    </p:spTree>
    <p:extLst>
      <p:ext uri="{BB962C8B-B14F-4D97-AF65-F5344CB8AC3E}">
        <p14:creationId xmlns:p14="http://schemas.microsoft.com/office/powerpoint/2010/main" val="3975889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E9681-2F41-B7DD-E18A-B09BB1A3599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5CEB7F-3107-2472-AAE9-E171FE5C7900}"/>
              </a:ext>
            </a:extLst>
          </p:cNvPr>
          <p:cNvSpPr>
            <a:spLocks noGrp="1"/>
          </p:cNvSpPr>
          <p:nvPr>
            <p:ph idx="1"/>
          </p:nvPr>
        </p:nvSpPr>
        <p:spPr>
          <a:xfrm>
            <a:off x="323527" y="1377777"/>
            <a:ext cx="5414873" cy="3129187"/>
          </a:xfrm>
        </p:spPr>
        <p:txBody>
          <a:bodyPr>
            <a:normAutofit/>
          </a:bodyPr>
          <a:lstStyle/>
          <a:p>
            <a:pPr>
              <a:buNone/>
              <a:defRPr/>
            </a:pPr>
            <a:r>
              <a:rPr lang="en-GB" dirty="0"/>
              <a:t>The header specifies names</a:t>
            </a:r>
          </a:p>
          <a:p>
            <a:pPr>
              <a:defRPr/>
            </a:pPr>
            <a:r>
              <a:rPr lang="en-GB" dirty="0"/>
              <a:t>The function itself, and optionally:</a:t>
            </a:r>
          </a:p>
          <a:p>
            <a:pPr>
              <a:defRPr/>
            </a:pPr>
            <a:r>
              <a:rPr lang="en-GB" dirty="0"/>
              <a:t>Arguments</a:t>
            </a:r>
          </a:p>
          <a:p>
            <a:pPr>
              <a:defRPr/>
            </a:pPr>
            <a:r>
              <a:rPr lang="en-GB" dirty="0"/>
              <a:t>Result</a:t>
            </a:r>
          </a:p>
          <a:p>
            <a:pPr>
              <a:defRPr/>
            </a:pPr>
            <a:r>
              <a:rPr lang="en-GB" dirty="0"/>
              <a:t>Local names</a:t>
            </a:r>
          </a:p>
        </p:txBody>
      </p:sp>
      <p:sp>
        <p:nvSpPr>
          <p:cNvPr id="3" name="Title 2">
            <a:extLst>
              <a:ext uri="{FF2B5EF4-FFF2-40B4-BE49-F238E27FC236}">
                <a16:creationId xmlns:a16="http://schemas.microsoft.com/office/drawing/2014/main" id="{BC39BB7F-5A39-BE62-A726-46FE6AA7A5A4}"/>
              </a:ext>
            </a:extLst>
          </p:cNvPr>
          <p:cNvSpPr>
            <a:spLocks noGrp="1"/>
          </p:cNvSpPr>
          <p:nvPr>
            <p:ph type="title"/>
          </p:nvPr>
        </p:nvSpPr>
        <p:spPr/>
        <p:txBody>
          <a:bodyPr/>
          <a:lstStyle/>
          <a:p>
            <a:r>
              <a:rPr lang="en-GB" dirty="0" err="1"/>
              <a:t>Tradfn</a:t>
            </a:r>
            <a:r>
              <a:rPr lang="en-GB" dirty="0"/>
              <a:t> Headers</a:t>
            </a:r>
          </a:p>
        </p:txBody>
      </p:sp>
      <p:sp>
        <p:nvSpPr>
          <p:cNvPr id="4" name="Media Placeholder 3">
            <a:extLst>
              <a:ext uri="{FF2B5EF4-FFF2-40B4-BE49-F238E27FC236}">
                <a16:creationId xmlns:a16="http://schemas.microsoft.com/office/drawing/2014/main" id="{B23F4AAA-99CD-E65C-DFF3-64B5313FCE25}"/>
              </a:ext>
            </a:extLst>
          </p:cNvPr>
          <p:cNvSpPr>
            <a:spLocks noGrp="1"/>
          </p:cNvSpPr>
          <p:nvPr>
            <p:ph type="media" sz="quarter" idx="11"/>
          </p:nvPr>
        </p:nvSpPr>
        <p:spPr/>
        <p:txBody>
          <a:bodyPr/>
          <a:lstStyle/>
          <a:p>
            <a:endParaRPr lang="en-GB"/>
          </a:p>
        </p:txBody>
      </p:sp>
      <p:sp>
        <p:nvSpPr>
          <p:cNvPr id="5" name="TextBox 4">
            <a:extLst>
              <a:ext uri="{FF2B5EF4-FFF2-40B4-BE49-F238E27FC236}">
                <a16:creationId xmlns:a16="http://schemas.microsoft.com/office/drawing/2014/main" id="{A66133B7-43FE-E24A-D681-C0B920102B1E}"/>
              </a:ext>
            </a:extLst>
          </p:cNvPr>
          <p:cNvSpPr txBox="1"/>
          <p:nvPr/>
        </p:nvSpPr>
        <p:spPr>
          <a:xfrm>
            <a:off x="5515200" y="1958611"/>
            <a:ext cx="3513600" cy="369332"/>
          </a:xfrm>
          <a:prstGeom prst="rect">
            <a:avLst/>
          </a:prstGeom>
          <a:noFill/>
        </p:spPr>
        <p:txBody>
          <a:bodyPr wrap="square" rtlCol="0">
            <a:spAutoFit/>
          </a:bodyPr>
          <a:lstStyle/>
          <a:p>
            <a:r>
              <a:rPr lang="en-GB" dirty="0">
                <a:latin typeface="APL385 Unicode" panose="020B0709000202000203" pitchFamily="49" charset="0"/>
              </a:rPr>
              <a:t> r ← </a:t>
            </a:r>
            <a:r>
              <a:rPr lang="en-GB" dirty="0" err="1">
                <a:latin typeface="APL385 Unicode" panose="020B0709000202000203" pitchFamily="49" charset="0"/>
              </a:rPr>
              <a:t>larg</a:t>
            </a:r>
            <a:r>
              <a:rPr lang="en-GB" dirty="0">
                <a:latin typeface="APL385 Unicode" panose="020B0709000202000203" pitchFamily="49" charset="0"/>
              </a:rPr>
              <a:t> </a:t>
            </a:r>
            <a:r>
              <a:rPr lang="en-GB" dirty="0" err="1">
                <a:latin typeface="APL385 Unicode" panose="020B0709000202000203" pitchFamily="49" charset="0"/>
              </a:rPr>
              <a:t>Fn</a:t>
            </a:r>
            <a:r>
              <a:rPr lang="en-GB" dirty="0">
                <a:latin typeface="APL385 Unicode" panose="020B0709000202000203" pitchFamily="49" charset="0"/>
              </a:rPr>
              <a:t> </a:t>
            </a:r>
            <a:r>
              <a:rPr lang="en-GB" dirty="0" err="1">
                <a:latin typeface="APL385 Unicode" panose="020B0709000202000203" pitchFamily="49" charset="0"/>
              </a:rPr>
              <a:t>rarg;var</a:t>
            </a:r>
            <a:endParaRPr lang="en-GB" dirty="0">
              <a:latin typeface="APL385 Unicode" panose="020B0709000202000203" pitchFamily="49" charset="0"/>
            </a:endParaRPr>
          </a:p>
        </p:txBody>
      </p:sp>
    </p:spTree>
    <p:extLst>
      <p:ext uri="{BB962C8B-B14F-4D97-AF65-F5344CB8AC3E}">
        <p14:creationId xmlns:p14="http://schemas.microsoft.com/office/powerpoint/2010/main" val="2446909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94E8DF5-83F6-B808-7262-0E0843D6851F}"/>
              </a:ext>
            </a:extLst>
          </p:cNvPr>
          <p:cNvSpPr>
            <a:spLocks noGrp="1"/>
          </p:cNvSpPr>
          <p:nvPr>
            <p:ph idx="1"/>
          </p:nvPr>
        </p:nvSpPr>
        <p:spPr/>
        <p:txBody>
          <a:bodyPr>
            <a:normAutofit fontScale="85000" lnSpcReduction="20000"/>
          </a:bodyPr>
          <a:lstStyle/>
          <a:p>
            <a:pPr>
              <a:buNone/>
              <a:defRPr/>
            </a:pPr>
            <a:r>
              <a:rPr lang="en-GB" dirty="0"/>
              <a:t>Niladic (0 argument) program, no result:</a:t>
            </a:r>
          </a:p>
          <a:p>
            <a:pPr>
              <a:buNone/>
              <a:defRPr/>
            </a:pPr>
            <a:r>
              <a:rPr lang="en-GB" dirty="0" err="1">
                <a:solidFill>
                  <a:schemeClr val="hlink"/>
                </a:solidFill>
                <a:latin typeface="APL385 Unicode" panose="020B0709000202000203" pitchFamily="49" charset="0"/>
              </a:rPr>
              <a:t>fnname</a:t>
            </a:r>
            <a:endParaRPr lang="en-US" dirty="0">
              <a:solidFill>
                <a:schemeClr val="accent1"/>
              </a:solidFill>
              <a:latin typeface="APL385 Unicode" panose="020B0709000202000203" pitchFamily="49" charset="0"/>
            </a:endParaRPr>
          </a:p>
          <a:p>
            <a:pPr>
              <a:buNone/>
              <a:defRPr/>
            </a:pPr>
            <a:endParaRPr lang="en-GB" dirty="0">
              <a:solidFill>
                <a:srgbClr val="CC00CC"/>
              </a:solidFill>
            </a:endParaRPr>
          </a:p>
          <a:p>
            <a:pPr>
              <a:buNone/>
              <a:defRPr/>
            </a:pPr>
            <a:r>
              <a:rPr lang="en-GB" dirty="0"/>
              <a:t>Monadic (1 argument) program, no result:</a:t>
            </a:r>
          </a:p>
          <a:p>
            <a:pPr>
              <a:buNone/>
              <a:defRPr/>
            </a:pPr>
            <a:r>
              <a:rPr lang="en-GB" dirty="0" err="1">
                <a:solidFill>
                  <a:schemeClr val="hlink"/>
                </a:solidFill>
                <a:latin typeface="APL385 Unicode" panose="020B0709000202000203" pitchFamily="49" charset="0"/>
              </a:rPr>
              <a:t>fnname</a:t>
            </a:r>
            <a:r>
              <a:rPr lang="en-GB" dirty="0">
                <a:latin typeface="APL385 Unicode" panose="020B0709000202000203" pitchFamily="49" charset="0"/>
              </a:rPr>
              <a:t> </a:t>
            </a:r>
            <a:r>
              <a:rPr lang="en-GB" dirty="0" err="1">
                <a:solidFill>
                  <a:schemeClr val="folHlink"/>
                </a:solidFill>
                <a:latin typeface="APL385 Unicode" panose="020B0709000202000203" pitchFamily="49" charset="0"/>
              </a:rPr>
              <a:t>rargname</a:t>
            </a:r>
            <a:endParaRPr lang="en-US" dirty="0">
              <a:solidFill>
                <a:schemeClr val="folHlink"/>
              </a:solidFill>
              <a:latin typeface="APL385 Unicode" panose="020B0709000202000203" pitchFamily="49" charset="0"/>
            </a:endParaRPr>
          </a:p>
          <a:p>
            <a:pPr>
              <a:buNone/>
              <a:defRPr/>
            </a:pPr>
            <a:endParaRPr lang="en-GB" dirty="0">
              <a:solidFill>
                <a:srgbClr val="CC00CC"/>
              </a:solidFill>
            </a:endParaRPr>
          </a:p>
          <a:p>
            <a:pPr>
              <a:buNone/>
              <a:defRPr/>
            </a:pPr>
            <a:r>
              <a:rPr lang="en-GB" dirty="0"/>
              <a:t>Dyadic (2 arguments) program, no result:</a:t>
            </a:r>
          </a:p>
          <a:p>
            <a:pPr>
              <a:buNone/>
              <a:defRPr/>
            </a:pPr>
            <a:r>
              <a:rPr lang="en-GB" dirty="0" err="1">
                <a:solidFill>
                  <a:schemeClr val="folHlink"/>
                </a:solidFill>
                <a:latin typeface="APL385 Unicode" panose="020B0709000202000203" pitchFamily="49" charset="0"/>
              </a:rPr>
              <a:t>largname</a:t>
            </a:r>
            <a:r>
              <a:rPr lang="en-GB" dirty="0">
                <a:latin typeface="APL385 Unicode" panose="020B0709000202000203" pitchFamily="49" charset="0"/>
              </a:rPr>
              <a:t> </a:t>
            </a:r>
            <a:r>
              <a:rPr lang="en-GB" dirty="0" err="1">
                <a:solidFill>
                  <a:schemeClr val="hlink"/>
                </a:solidFill>
                <a:latin typeface="APL385 Unicode" panose="020B0709000202000203" pitchFamily="49" charset="0"/>
              </a:rPr>
              <a:t>fnname</a:t>
            </a:r>
            <a:r>
              <a:rPr lang="en-GB" dirty="0">
                <a:latin typeface="APL385 Unicode" panose="020B0709000202000203" pitchFamily="49" charset="0"/>
              </a:rPr>
              <a:t> </a:t>
            </a:r>
            <a:r>
              <a:rPr lang="en-GB" dirty="0" err="1">
                <a:solidFill>
                  <a:schemeClr val="folHlink"/>
                </a:solidFill>
                <a:latin typeface="APL385 Unicode" panose="020B0709000202000203" pitchFamily="49" charset="0"/>
              </a:rPr>
              <a:t>rargname</a:t>
            </a:r>
            <a:endParaRPr lang="en-US" dirty="0">
              <a:solidFill>
                <a:schemeClr val="folHlink"/>
              </a:solidFill>
              <a:latin typeface="APL385 Unicode" panose="020B0709000202000203" pitchFamily="49" charset="0"/>
            </a:endParaRPr>
          </a:p>
        </p:txBody>
      </p:sp>
      <p:sp>
        <p:nvSpPr>
          <p:cNvPr id="3" name="Title 2">
            <a:extLst>
              <a:ext uri="{FF2B5EF4-FFF2-40B4-BE49-F238E27FC236}">
                <a16:creationId xmlns:a16="http://schemas.microsoft.com/office/drawing/2014/main" id="{FE53ECBB-663A-6CF9-8249-85CDCB3B462D}"/>
              </a:ext>
            </a:extLst>
          </p:cNvPr>
          <p:cNvSpPr>
            <a:spLocks noGrp="1"/>
          </p:cNvSpPr>
          <p:nvPr>
            <p:ph type="title"/>
          </p:nvPr>
        </p:nvSpPr>
        <p:spPr/>
        <p:txBody>
          <a:bodyPr/>
          <a:lstStyle/>
          <a:p>
            <a:r>
              <a:rPr lang="en-GB" dirty="0" err="1"/>
              <a:t>Tradfn</a:t>
            </a:r>
            <a:r>
              <a:rPr lang="en-GB" dirty="0"/>
              <a:t> Headers (no result)</a:t>
            </a:r>
          </a:p>
        </p:txBody>
      </p:sp>
      <p:sp>
        <p:nvSpPr>
          <p:cNvPr id="4" name="Media Placeholder 3">
            <a:extLst>
              <a:ext uri="{FF2B5EF4-FFF2-40B4-BE49-F238E27FC236}">
                <a16:creationId xmlns:a16="http://schemas.microsoft.com/office/drawing/2014/main" id="{4BACF5B8-0BB0-6405-1AF2-3A02BF63221E}"/>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8759784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061AE-68CF-D8E8-F42B-7B5288F54AF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7FD6519-1041-5D01-3FBC-3081BB84D614}"/>
              </a:ext>
            </a:extLst>
          </p:cNvPr>
          <p:cNvSpPr>
            <a:spLocks noGrp="1"/>
          </p:cNvSpPr>
          <p:nvPr>
            <p:ph idx="1"/>
          </p:nvPr>
        </p:nvSpPr>
        <p:spPr/>
        <p:txBody>
          <a:bodyPr>
            <a:normAutofit/>
          </a:bodyPr>
          <a:lstStyle/>
          <a:p>
            <a:pPr>
              <a:buNone/>
              <a:defRPr/>
            </a:pPr>
            <a:r>
              <a:rPr lang="en-GB" dirty="0">
                <a:latin typeface="APL385 Unicode" panose="020B0709000202000203" pitchFamily="49" charset="0"/>
              </a:rPr>
              <a:t>[0] </a:t>
            </a:r>
            <a:r>
              <a:rPr lang="en-GB" dirty="0" err="1">
                <a:latin typeface="APL385 Unicode" panose="020B0709000202000203" pitchFamily="49" charset="0"/>
              </a:rPr>
              <a:t>hyp←height</a:t>
            </a:r>
            <a:r>
              <a:rPr lang="en-GB" dirty="0">
                <a:latin typeface="APL385 Unicode" panose="020B0709000202000203" pitchFamily="49" charset="0"/>
              </a:rPr>
              <a:t> </a:t>
            </a:r>
            <a:r>
              <a:rPr lang="en-GB" dirty="0" err="1">
                <a:latin typeface="APL385 Unicode" panose="020B0709000202000203" pitchFamily="49" charset="0"/>
              </a:rPr>
              <a:t>pythagoras</a:t>
            </a:r>
            <a:r>
              <a:rPr lang="en-GB" dirty="0">
                <a:latin typeface="APL385 Unicode" panose="020B0709000202000203" pitchFamily="49" charset="0"/>
              </a:rPr>
              <a:t> base</a:t>
            </a:r>
          </a:p>
          <a:p>
            <a:pPr>
              <a:buNone/>
              <a:defRPr/>
            </a:pPr>
            <a:r>
              <a:rPr lang="en-GB" dirty="0">
                <a:latin typeface="APL385 Unicode" panose="020B0709000202000203" pitchFamily="49" charset="0"/>
              </a:rPr>
              <a:t>[1] </a:t>
            </a:r>
            <a:r>
              <a:rPr lang="en-GB" dirty="0" err="1">
                <a:latin typeface="APL385 Unicode" panose="020B0709000202000203" pitchFamily="49" charset="0"/>
              </a:rPr>
              <a:t>hyp</a:t>
            </a:r>
            <a:r>
              <a:rPr lang="en-GB" dirty="0">
                <a:latin typeface="APL385 Unicode" panose="020B0709000202000203" pitchFamily="49" charset="0"/>
              </a:rPr>
              <a:t>←((height*2)+base*2)*0.5</a:t>
            </a:r>
          </a:p>
        </p:txBody>
      </p:sp>
      <p:sp>
        <p:nvSpPr>
          <p:cNvPr id="3" name="Title 2">
            <a:extLst>
              <a:ext uri="{FF2B5EF4-FFF2-40B4-BE49-F238E27FC236}">
                <a16:creationId xmlns:a16="http://schemas.microsoft.com/office/drawing/2014/main" id="{5262620E-F5F3-DBA1-EEBC-87864E6D1655}"/>
              </a:ext>
            </a:extLst>
          </p:cNvPr>
          <p:cNvSpPr>
            <a:spLocks noGrp="1"/>
          </p:cNvSpPr>
          <p:nvPr>
            <p:ph type="title"/>
          </p:nvPr>
        </p:nvSpPr>
        <p:spPr/>
        <p:txBody>
          <a:bodyPr/>
          <a:lstStyle/>
          <a:p>
            <a:r>
              <a:rPr lang="en-GB" dirty="0" err="1"/>
              <a:t>Tradfn</a:t>
            </a:r>
            <a:r>
              <a:rPr lang="en-GB" dirty="0"/>
              <a:t> Headers</a:t>
            </a:r>
          </a:p>
        </p:txBody>
      </p:sp>
      <p:sp>
        <p:nvSpPr>
          <p:cNvPr id="4" name="Media Placeholder 3">
            <a:extLst>
              <a:ext uri="{FF2B5EF4-FFF2-40B4-BE49-F238E27FC236}">
                <a16:creationId xmlns:a16="http://schemas.microsoft.com/office/drawing/2014/main" id="{5CC6D20B-EF11-783E-6D8C-ED2CD215359A}"/>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1091875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FD563-C3E8-063F-5D8C-B70A5128F18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E31403-B8AE-4AED-18E6-F8D01833A3C0}"/>
              </a:ext>
            </a:extLst>
          </p:cNvPr>
          <p:cNvSpPr>
            <a:spLocks noGrp="1"/>
          </p:cNvSpPr>
          <p:nvPr>
            <p:ph idx="1"/>
          </p:nvPr>
        </p:nvSpPr>
        <p:spPr/>
        <p:txBody>
          <a:bodyPr>
            <a:normAutofit/>
          </a:bodyPr>
          <a:lstStyle/>
          <a:p>
            <a:pPr>
              <a:buNone/>
              <a:defRPr/>
            </a:pPr>
            <a:r>
              <a:rPr lang="en-GB" dirty="0">
                <a:latin typeface="APL385 Unicode" panose="020B0709000202000203" pitchFamily="49" charset="0"/>
              </a:rPr>
              <a:t>[0] </a:t>
            </a:r>
            <a:r>
              <a:rPr lang="en-GB" dirty="0" err="1">
                <a:solidFill>
                  <a:srgbClr val="00B0F0"/>
                </a:solidFill>
                <a:latin typeface="APL385 Unicode" panose="020B0709000202000203" pitchFamily="49" charset="0"/>
              </a:rPr>
              <a:t>hyp</a:t>
            </a:r>
            <a:r>
              <a:rPr lang="en-GB" dirty="0" err="1">
                <a:latin typeface="APL385 Unicode" panose="020B0709000202000203" pitchFamily="49" charset="0"/>
              </a:rPr>
              <a:t>←height</a:t>
            </a:r>
            <a:r>
              <a:rPr lang="en-GB" dirty="0">
                <a:latin typeface="APL385 Unicode" panose="020B0709000202000203" pitchFamily="49" charset="0"/>
              </a:rPr>
              <a:t> </a:t>
            </a:r>
            <a:r>
              <a:rPr lang="en-GB" dirty="0" err="1">
                <a:latin typeface="APL385 Unicode" panose="020B0709000202000203" pitchFamily="49" charset="0"/>
              </a:rPr>
              <a:t>pythagoras</a:t>
            </a:r>
            <a:r>
              <a:rPr lang="en-GB" dirty="0">
                <a:latin typeface="APL385 Unicode" panose="020B0709000202000203" pitchFamily="49" charset="0"/>
              </a:rPr>
              <a:t> base</a:t>
            </a:r>
          </a:p>
          <a:p>
            <a:pPr>
              <a:buNone/>
              <a:defRPr/>
            </a:pPr>
            <a:r>
              <a:rPr lang="en-GB" dirty="0">
                <a:latin typeface="APL385 Unicode" panose="020B0709000202000203" pitchFamily="49" charset="0"/>
              </a:rPr>
              <a:t>[1] </a:t>
            </a:r>
            <a:r>
              <a:rPr lang="en-GB" dirty="0" err="1">
                <a:solidFill>
                  <a:srgbClr val="00B0F0"/>
                </a:solidFill>
                <a:latin typeface="APL385 Unicode" panose="020B0709000202000203" pitchFamily="49" charset="0"/>
              </a:rPr>
              <a:t>hyp</a:t>
            </a:r>
            <a:r>
              <a:rPr lang="en-GB" dirty="0">
                <a:latin typeface="APL385 Unicode" panose="020B0709000202000203" pitchFamily="49" charset="0"/>
              </a:rPr>
              <a:t>←((height*2)+base*2</a:t>
            </a:r>
            <a:r>
              <a:rPr lang="en-GB" dirty="0">
                <a:solidFill>
                  <a:schemeClr val="tx1"/>
                </a:solidFill>
                <a:latin typeface="APL385 Unicode" panose="020B0709000202000203" pitchFamily="49" charset="0"/>
              </a:rPr>
              <a:t>)*0.5</a:t>
            </a:r>
          </a:p>
          <a:p>
            <a:pPr>
              <a:buNone/>
              <a:defRPr/>
            </a:pPr>
            <a:r>
              <a:rPr lang="en-GB" dirty="0" err="1">
                <a:solidFill>
                  <a:srgbClr val="00B0F0"/>
                </a:solidFill>
                <a:latin typeface="APL385 Unicode" panose="020B0709000202000203" pitchFamily="49" charset="0"/>
              </a:rPr>
              <a:t>hyp</a:t>
            </a:r>
            <a:r>
              <a:rPr lang="en-GB" dirty="0">
                <a:latin typeface="+mj-lt"/>
              </a:rPr>
              <a:t> is the result</a:t>
            </a:r>
          </a:p>
        </p:txBody>
      </p:sp>
      <p:sp>
        <p:nvSpPr>
          <p:cNvPr id="3" name="Title 2">
            <a:extLst>
              <a:ext uri="{FF2B5EF4-FFF2-40B4-BE49-F238E27FC236}">
                <a16:creationId xmlns:a16="http://schemas.microsoft.com/office/drawing/2014/main" id="{1B559C4A-6565-1268-2D61-7445302EBF60}"/>
              </a:ext>
            </a:extLst>
          </p:cNvPr>
          <p:cNvSpPr>
            <a:spLocks noGrp="1"/>
          </p:cNvSpPr>
          <p:nvPr>
            <p:ph type="title"/>
          </p:nvPr>
        </p:nvSpPr>
        <p:spPr/>
        <p:txBody>
          <a:bodyPr/>
          <a:lstStyle/>
          <a:p>
            <a:r>
              <a:rPr lang="en-GB" dirty="0" err="1"/>
              <a:t>Tradfn</a:t>
            </a:r>
            <a:r>
              <a:rPr lang="en-GB" dirty="0"/>
              <a:t> Headers</a:t>
            </a:r>
          </a:p>
        </p:txBody>
      </p:sp>
      <p:sp>
        <p:nvSpPr>
          <p:cNvPr id="4" name="Media Placeholder 3">
            <a:extLst>
              <a:ext uri="{FF2B5EF4-FFF2-40B4-BE49-F238E27FC236}">
                <a16:creationId xmlns:a16="http://schemas.microsoft.com/office/drawing/2014/main" id="{69165FEF-C651-42BE-F601-26512F22D2DA}"/>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084010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46351-EF26-0385-424D-993D4ADC3A5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F02E6A-D513-FE2F-B9D4-CF5A5EAB4BAF}"/>
              </a:ext>
            </a:extLst>
          </p:cNvPr>
          <p:cNvSpPr>
            <a:spLocks noGrp="1"/>
          </p:cNvSpPr>
          <p:nvPr>
            <p:ph idx="1"/>
          </p:nvPr>
        </p:nvSpPr>
        <p:spPr/>
        <p:txBody>
          <a:bodyPr>
            <a:normAutofit/>
          </a:bodyPr>
          <a:lstStyle/>
          <a:p>
            <a:pPr>
              <a:buNone/>
              <a:defRPr/>
            </a:pPr>
            <a:r>
              <a:rPr lang="en-GB" dirty="0">
                <a:latin typeface="APL385 Unicode" panose="020B0709000202000203" pitchFamily="49" charset="0"/>
              </a:rPr>
              <a:t>[0] </a:t>
            </a:r>
            <a:r>
              <a:rPr lang="en-GB" dirty="0" err="1">
                <a:solidFill>
                  <a:srgbClr val="00B0F0"/>
                </a:solidFill>
                <a:latin typeface="APL385 Unicode" panose="020B0709000202000203" pitchFamily="49" charset="0"/>
              </a:rPr>
              <a:t>hyp</a:t>
            </a:r>
            <a:r>
              <a:rPr lang="en-GB" dirty="0" err="1">
                <a:latin typeface="APL385 Unicode" panose="020B0709000202000203" pitchFamily="49" charset="0"/>
              </a:rPr>
              <a:t>←</a:t>
            </a:r>
            <a:r>
              <a:rPr lang="en-GB" dirty="0" err="1">
                <a:solidFill>
                  <a:srgbClr val="7030A0"/>
                </a:solidFill>
                <a:latin typeface="APL385 Unicode" panose="020B0709000202000203" pitchFamily="49" charset="0"/>
              </a:rPr>
              <a:t>height</a:t>
            </a:r>
            <a:r>
              <a:rPr lang="en-GB" dirty="0">
                <a:latin typeface="APL385 Unicode" panose="020B0709000202000203" pitchFamily="49" charset="0"/>
              </a:rPr>
              <a:t> </a:t>
            </a:r>
            <a:r>
              <a:rPr lang="en-GB" dirty="0" err="1">
                <a:solidFill>
                  <a:schemeClr val="tx1"/>
                </a:solidFill>
                <a:latin typeface="APL385 Unicode" panose="020B0709000202000203" pitchFamily="49" charset="0"/>
              </a:rPr>
              <a:t>pythagoras</a:t>
            </a:r>
            <a:r>
              <a:rPr lang="en-GB" dirty="0">
                <a:latin typeface="APL385 Unicode" panose="020B0709000202000203" pitchFamily="49" charset="0"/>
              </a:rPr>
              <a:t> </a:t>
            </a:r>
            <a:r>
              <a:rPr lang="en-GB" dirty="0">
                <a:solidFill>
                  <a:schemeClr val="tx1"/>
                </a:solidFill>
                <a:latin typeface="APL385 Unicode" panose="020B0709000202000203" pitchFamily="49" charset="0"/>
              </a:rPr>
              <a:t>base</a:t>
            </a:r>
          </a:p>
          <a:p>
            <a:pPr>
              <a:buNone/>
              <a:defRPr/>
            </a:pPr>
            <a:r>
              <a:rPr lang="en-GB" dirty="0">
                <a:latin typeface="APL385 Unicode" panose="020B0709000202000203" pitchFamily="49" charset="0"/>
              </a:rPr>
              <a:t>[1] </a:t>
            </a:r>
            <a:r>
              <a:rPr lang="en-GB" dirty="0" err="1">
                <a:solidFill>
                  <a:srgbClr val="00B0F0"/>
                </a:solidFill>
                <a:latin typeface="APL385 Unicode" panose="020B0709000202000203" pitchFamily="49" charset="0"/>
              </a:rPr>
              <a:t>hyp</a:t>
            </a:r>
            <a:r>
              <a:rPr lang="en-GB" dirty="0">
                <a:latin typeface="APL385 Unicode" panose="020B0709000202000203" pitchFamily="49" charset="0"/>
              </a:rPr>
              <a:t>←((</a:t>
            </a:r>
            <a:r>
              <a:rPr lang="en-GB" dirty="0">
                <a:solidFill>
                  <a:srgbClr val="7030A0"/>
                </a:solidFill>
                <a:latin typeface="APL385 Unicode" panose="020B0709000202000203" pitchFamily="49" charset="0"/>
              </a:rPr>
              <a:t>height</a:t>
            </a:r>
            <a:r>
              <a:rPr lang="en-GB" dirty="0">
                <a:latin typeface="APL385 Unicode" panose="020B0709000202000203" pitchFamily="49" charset="0"/>
              </a:rPr>
              <a:t>*2)+base*2)*0.5</a:t>
            </a:r>
          </a:p>
          <a:p>
            <a:pPr>
              <a:buNone/>
              <a:defRPr/>
            </a:pPr>
            <a:r>
              <a:rPr lang="en-GB" dirty="0" err="1">
                <a:solidFill>
                  <a:srgbClr val="00B0F0"/>
                </a:solidFill>
                <a:latin typeface="APL385 Unicode" panose="020B0709000202000203" pitchFamily="49" charset="0"/>
              </a:rPr>
              <a:t>hyp</a:t>
            </a:r>
            <a:r>
              <a:rPr lang="en-GB" dirty="0">
                <a:latin typeface="+mj-lt"/>
              </a:rPr>
              <a:t> is the result</a:t>
            </a:r>
          </a:p>
          <a:p>
            <a:pPr>
              <a:buNone/>
              <a:defRPr/>
            </a:pPr>
            <a:r>
              <a:rPr lang="en-GB" dirty="0">
                <a:solidFill>
                  <a:srgbClr val="7030A0"/>
                </a:solidFill>
                <a:latin typeface="APL385 Unicode" panose="020B0709000202000203" pitchFamily="49" charset="0"/>
              </a:rPr>
              <a:t>height</a:t>
            </a:r>
            <a:r>
              <a:rPr lang="en-GB" dirty="0">
                <a:latin typeface="+mj-lt"/>
              </a:rPr>
              <a:t> is the left argument</a:t>
            </a:r>
          </a:p>
        </p:txBody>
      </p:sp>
      <p:sp>
        <p:nvSpPr>
          <p:cNvPr id="3" name="Title 2">
            <a:extLst>
              <a:ext uri="{FF2B5EF4-FFF2-40B4-BE49-F238E27FC236}">
                <a16:creationId xmlns:a16="http://schemas.microsoft.com/office/drawing/2014/main" id="{C6039B7E-94C3-9BDC-9934-B5C151DC19B4}"/>
              </a:ext>
            </a:extLst>
          </p:cNvPr>
          <p:cNvSpPr>
            <a:spLocks noGrp="1"/>
          </p:cNvSpPr>
          <p:nvPr>
            <p:ph type="title"/>
          </p:nvPr>
        </p:nvSpPr>
        <p:spPr/>
        <p:txBody>
          <a:bodyPr/>
          <a:lstStyle/>
          <a:p>
            <a:r>
              <a:rPr lang="en-GB" dirty="0" err="1"/>
              <a:t>Tradfn</a:t>
            </a:r>
            <a:r>
              <a:rPr lang="en-GB" dirty="0"/>
              <a:t> Headers</a:t>
            </a:r>
          </a:p>
        </p:txBody>
      </p:sp>
      <p:sp>
        <p:nvSpPr>
          <p:cNvPr id="4" name="Media Placeholder 3">
            <a:extLst>
              <a:ext uri="{FF2B5EF4-FFF2-40B4-BE49-F238E27FC236}">
                <a16:creationId xmlns:a16="http://schemas.microsoft.com/office/drawing/2014/main" id="{4AE2D96E-E775-D3F5-CF0C-EDE9D91A10D4}"/>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938037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73AC9-B6FF-7359-6EE1-50F220EABD8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4C90B0-36FC-5169-2517-B673AC20E89C}"/>
              </a:ext>
            </a:extLst>
          </p:cNvPr>
          <p:cNvSpPr>
            <a:spLocks noGrp="1"/>
          </p:cNvSpPr>
          <p:nvPr>
            <p:ph idx="1"/>
          </p:nvPr>
        </p:nvSpPr>
        <p:spPr/>
        <p:txBody>
          <a:bodyPr>
            <a:normAutofit/>
          </a:bodyPr>
          <a:lstStyle/>
          <a:p>
            <a:pPr>
              <a:buNone/>
              <a:defRPr/>
            </a:pPr>
            <a:r>
              <a:rPr lang="en-GB" dirty="0">
                <a:latin typeface="APL385 Unicode" panose="020B0709000202000203" pitchFamily="49" charset="0"/>
              </a:rPr>
              <a:t>[0] </a:t>
            </a:r>
            <a:r>
              <a:rPr lang="en-GB" dirty="0" err="1">
                <a:solidFill>
                  <a:srgbClr val="00B0F0"/>
                </a:solidFill>
                <a:latin typeface="APL385 Unicode" panose="020B0709000202000203" pitchFamily="49" charset="0"/>
              </a:rPr>
              <a:t>hyp</a:t>
            </a:r>
            <a:r>
              <a:rPr lang="en-GB" dirty="0" err="1">
                <a:latin typeface="APL385 Unicode" panose="020B0709000202000203" pitchFamily="49" charset="0"/>
              </a:rPr>
              <a:t>←</a:t>
            </a:r>
            <a:r>
              <a:rPr lang="en-GB" dirty="0" err="1">
                <a:solidFill>
                  <a:srgbClr val="7030A0"/>
                </a:solidFill>
                <a:latin typeface="APL385 Unicode" panose="020B0709000202000203" pitchFamily="49" charset="0"/>
              </a:rPr>
              <a:t>height</a:t>
            </a:r>
            <a:r>
              <a:rPr lang="en-GB" dirty="0">
                <a:latin typeface="APL385 Unicode" panose="020B0709000202000203" pitchFamily="49" charset="0"/>
              </a:rPr>
              <a:t> </a:t>
            </a:r>
            <a:r>
              <a:rPr lang="en-GB" dirty="0" err="1">
                <a:solidFill>
                  <a:srgbClr val="FF6600"/>
                </a:solidFill>
                <a:latin typeface="APL385 Unicode" panose="020B0709000202000203" pitchFamily="49" charset="0"/>
              </a:rPr>
              <a:t>pythagoras</a:t>
            </a:r>
            <a:r>
              <a:rPr lang="en-GB" dirty="0">
                <a:latin typeface="APL385 Unicode" panose="020B0709000202000203" pitchFamily="49" charset="0"/>
              </a:rPr>
              <a:t> </a:t>
            </a:r>
            <a:r>
              <a:rPr lang="en-GB" dirty="0">
                <a:solidFill>
                  <a:schemeClr val="tx1"/>
                </a:solidFill>
                <a:latin typeface="APL385 Unicode" panose="020B0709000202000203" pitchFamily="49" charset="0"/>
              </a:rPr>
              <a:t>base</a:t>
            </a:r>
          </a:p>
          <a:p>
            <a:pPr>
              <a:buNone/>
              <a:defRPr/>
            </a:pPr>
            <a:r>
              <a:rPr lang="en-GB" dirty="0">
                <a:latin typeface="APL385 Unicode" panose="020B0709000202000203" pitchFamily="49" charset="0"/>
              </a:rPr>
              <a:t>[1] </a:t>
            </a:r>
            <a:r>
              <a:rPr lang="en-GB" dirty="0" err="1">
                <a:solidFill>
                  <a:srgbClr val="00B0F0"/>
                </a:solidFill>
                <a:latin typeface="APL385 Unicode" panose="020B0709000202000203" pitchFamily="49" charset="0"/>
              </a:rPr>
              <a:t>hyp</a:t>
            </a:r>
            <a:r>
              <a:rPr lang="en-GB" dirty="0">
                <a:latin typeface="APL385 Unicode" panose="020B0709000202000203" pitchFamily="49" charset="0"/>
              </a:rPr>
              <a:t>←((</a:t>
            </a:r>
            <a:r>
              <a:rPr lang="en-GB" dirty="0">
                <a:solidFill>
                  <a:srgbClr val="7030A0"/>
                </a:solidFill>
                <a:latin typeface="APL385 Unicode" panose="020B0709000202000203" pitchFamily="49" charset="0"/>
              </a:rPr>
              <a:t>height</a:t>
            </a:r>
            <a:r>
              <a:rPr lang="en-GB" dirty="0">
                <a:latin typeface="APL385 Unicode" panose="020B0709000202000203" pitchFamily="49" charset="0"/>
              </a:rPr>
              <a:t>*2)+base*2)*0.5</a:t>
            </a:r>
          </a:p>
          <a:p>
            <a:pPr>
              <a:buNone/>
              <a:defRPr/>
            </a:pPr>
            <a:r>
              <a:rPr lang="en-GB" dirty="0" err="1">
                <a:solidFill>
                  <a:srgbClr val="00B0F0"/>
                </a:solidFill>
                <a:latin typeface="APL385 Unicode" panose="020B0709000202000203" pitchFamily="49" charset="0"/>
              </a:rPr>
              <a:t>hyp</a:t>
            </a:r>
            <a:r>
              <a:rPr lang="en-GB" dirty="0">
                <a:latin typeface="+mj-lt"/>
              </a:rPr>
              <a:t> is the result</a:t>
            </a:r>
          </a:p>
          <a:p>
            <a:pPr>
              <a:buNone/>
              <a:defRPr/>
            </a:pPr>
            <a:r>
              <a:rPr lang="en-GB" dirty="0">
                <a:solidFill>
                  <a:srgbClr val="7030A0"/>
                </a:solidFill>
                <a:latin typeface="APL385 Unicode" panose="020B0709000202000203" pitchFamily="49" charset="0"/>
              </a:rPr>
              <a:t>height</a:t>
            </a:r>
            <a:r>
              <a:rPr lang="en-GB" dirty="0">
                <a:latin typeface="+mj-lt"/>
              </a:rPr>
              <a:t> is the left argument</a:t>
            </a:r>
          </a:p>
          <a:p>
            <a:pPr>
              <a:buNone/>
              <a:defRPr/>
            </a:pPr>
            <a:r>
              <a:rPr lang="en-GB" dirty="0" err="1">
                <a:solidFill>
                  <a:srgbClr val="FF6600"/>
                </a:solidFill>
                <a:latin typeface="APL385 Unicode" panose="020B0709000202000203" pitchFamily="49" charset="0"/>
              </a:rPr>
              <a:t>pythagoras</a:t>
            </a:r>
            <a:r>
              <a:rPr lang="en-GB" dirty="0">
                <a:latin typeface="+mj-lt"/>
              </a:rPr>
              <a:t> is the function name</a:t>
            </a:r>
          </a:p>
        </p:txBody>
      </p:sp>
      <p:sp>
        <p:nvSpPr>
          <p:cNvPr id="3" name="Title 2">
            <a:extLst>
              <a:ext uri="{FF2B5EF4-FFF2-40B4-BE49-F238E27FC236}">
                <a16:creationId xmlns:a16="http://schemas.microsoft.com/office/drawing/2014/main" id="{F71087B4-97DB-F1FD-64B9-91121F1FEA01}"/>
              </a:ext>
            </a:extLst>
          </p:cNvPr>
          <p:cNvSpPr>
            <a:spLocks noGrp="1"/>
          </p:cNvSpPr>
          <p:nvPr>
            <p:ph type="title"/>
          </p:nvPr>
        </p:nvSpPr>
        <p:spPr/>
        <p:txBody>
          <a:bodyPr/>
          <a:lstStyle/>
          <a:p>
            <a:r>
              <a:rPr lang="en-GB" dirty="0" err="1"/>
              <a:t>Tradfn</a:t>
            </a:r>
            <a:r>
              <a:rPr lang="en-GB" dirty="0"/>
              <a:t> Headers</a:t>
            </a:r>
          </a:p>
        </p:txBody>
      </p:sp>
      <p:sp>
        <p:nvSpPr>
          <p:cNvPr id="4" name="Media Placeholder 3">
            <a:extLst>
              <a:ext uri="{FF2B5EF4-FFF2-40B4-BE49-F238E27FC236}">
                <a16:creationId xmlns:a16="http://schemas.microsoft.com/office/drawing/2014/main" id="{17F0F597-8473-949E-F44B-5EBA3648A1A3}"/>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0101681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30FC3-C4D5-F52A-02EF-163ECD52C1E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A1060AC-E3DE-33F1-4893-79CF4BEFA306}"/>
              </a:ext>
            </a:extLst>
          </p:cNvPr>
          <p:cNvSpPr>
            <a:spLocks noGrp="1"/>
          </p:cNvSpPr>
          <p:nvPr>
            <p:ph idx="1"/>
          </p:nvPr>
        </p:nvSpPr>
        <p:spPr/>
        <p:txBody>
          <a:bodyPr>
            <a:normAutofit/>
          </a:bodyPr>
          <a:lstStyle/>
          <a:p>
            <a:pPr>
              <a:buNone/>
              <a:defRPr/>
            </a:pPr>
            <a:r>
              <a:rPr lang="en-GB" dirty="0">
                <a:latin typeface="APL385 Unicode" panose="020B0709000202000203" pitchFamily="49" charset="0"/>
              </a:rPr>
              <a:t>[0] </a:t>
            </a:r>
            <a:r>
              <a:rPr lang="en-GB" dirty="0" err="1">
                <a:solidFill>
                  <a:srgbClr val="00B0F0"/>
                </a:solidFill>
                <a:latin typeface="APL385 Unicode" panose="020B0709000202000203" pitchFamily="49" charset="0"/>
              </a:rPr>
              <a:t>hyp</a:t>
            </a:r>
            <a:r>
              <a:rPr lang="en-GB" dirty="0" err="1">
                <a:latin typeface="APL385 Unicode" panose="020B0709000202000203" pitchFamily="49" charset="0"/>
              </a:rPr>
              <a:t>←</a:t>
            </a:r>
            <a:r>
              <a:rPr lang="en-GB" dirty="0" err="1">
                <a:solidFill>
                  <a:srgbClr val="7030A0"/>
                </a:solidFill>
                <a:latin typeface="APL385 Unicode" panose="020B0709000202000203" pitchFamily="49" charset="0"/>
              </a:rPr>
              <a:t>height</a:t>
            </a:r>
            <a:r>
              <a:rPr lang="en-GB" dirty="0">
                <a:latin typeface="APL385 Unicode" panose="020B0709000202000203" pitchFamily="49" charset="0"/>
              </a:rPr>
              <a:t> </a:t>
            </a:r>
            <a:r>
              <a:rPr lang="en-GB" dirty="0" err="1">
                <a:solidFill>
                  <a:srgbClr val="FF6600"/>
                </a:solidFill>
                <a:latin typeface="APL385 Unicode" panose="020B0709000202000203" pitchFamily="49" charset="0"/>
              </a:rPr>
              <a:t>pythagoras</a:t>
            </a:r>
            <a:r>
              <a:rPr lang="en-GB" dirty="0">
                <a:latin typeface="APL385 Unicode" panose="020B0709000202000203" pitchFamily="49" charset="0"/>
              </a:rPr>
              <a:t> </a:t>
            </a:r>
            <a:r>
              <a:rPr lang="en-GB" dirty="0">
                <a:solidFill>
                  <a:srgbClr val="00B050"/>
                </a:solidFill>
                <a:latin typeface="APL385 Unicode" panose="020B0709000202000203" pitchFamily="49" charset="0"/>
              </a:rPr>
              <a:t>base</a:t>
            </a:r>
          </a:p>
          <a:p>
            <a:pPr>
              <a:buNone/>
              <a:defRPr/>
            </a:pPr>
            <a:r>
              <a:rPr lang="en-GB" dirty="0">
                <a:latin typeface="APL385 Unicode" panose="020B0709000202000203" pitchFamily="49" charset="0"/>
              </a:rPr>
              <a:t>[1] </a:t>
            </a:r>
            <a:r>
              <a:rPr lang="en-GB" dirty="0" err="1">
                <a:solidFill>
                  <a:srgbClr val="00B0F0"/>
                </a:solidFill>
                <a:latin typeface="APL385 Unicode" panose="020B0709000202000203" pitchFamily="49" charset="0"/>
              </a:rPr>
              <a:t>hyp</a:t>
            </a:r>
            <a:r>
              <a:rPr lang="en-GB" dirty="0">
                <a:latin typeface="APL385 Unicode" panose="020B0709000202000203" pitchFamily="49" charset="0"/>
              </a:rPr>
              <a:t>←((</a:t>
            </a:r>
            <a:r>
              <a:rPr lang="en-GB" dirty="0">
                <a:solidFill>
                  <a:srgbClr val="7030A0"/>
                </a:solidFill>
                <a:latin typeface="APL385 Unicode" panose="020B0709000202000203" pitchFamily="49" charset="0"/>
              </a:rPr>
              <a:t>height</a:t>
            </a:r>
            <a:r>
              <a:rPr lang="en-GB" dirty="0">
                <a:latin typeface="APL385 Unicode" panose="020B0709000202000203" pitchFamily="49" charset="0"/>
              </a:rPr>
              <a:t>*2)+base*2)*0.5</a:t>
            </a:r>
          </a:p>
          <a:p>
            <a:pPr>
              <a:buNone/>
              <a:defRPr/>
            </a:pPr>
            <a:r>
              <a:rPr lang="en-GB" dirty="0" err="1">
                <a:solidFill>
                  <a:srgbClr val="00B0F0"/>
                </a:solidFill>
                <a:latin typeface="APL385 Unicode" panose="020B0709000202000203" pitchFamily="49" charset="0"/>
              </a:rPr>
              <a:t>hyp</a:t>
            </a:r>
            <a:r>
              <a:rPr lang="en-GB" dirty="0">
                <a:latin typeface="+mj-lt"/>
              </a:rPr>
              <a:t> is the result</a:t>
            </a:r>
          </a:p>
          <a:p>
            <a:pPr>
              <a:buNone/>
              <a:defRPr/>
            </a:pPr>
            <a:r>
              <a:rPr lang="en-GB" dirty="0">
                <a:solidFill>
                  <a:srgbClr val="7030A0"/>
                </a:solidFill>
                <a:latin typeface="APL385 Unicode" panose="020B0709000202000203" pitchFamily="49" charset="0"/>
              </a:rPr>
              <a:t>height</a:t>
            </a:r>
            <a:r>
              <a:rPr lang="en-GB" dirty="0">
                <a:latin typeface="+mj-lt"/>
              </a:rPr>
              <a:t> is the left argument</a:t>
            </a:r>
          </a:p>
          <a:p>
            <a:pPr>
              <a:buNone/>
              <a:defRPr/>
            </a:pPr>
            <a:r>
              <a:rPr lang="en-GB" dirty="0" err="1">
                <a:solidFill>
                  <a:srgbClr val="FF6600"/>
                </a:solidFill>
                <a:latin typeface="APL385 Unicode" panose="020B0709000202000203" pitchFamily="49" charset="0"/>
              </a:rPr>
              <a:t>pythagoras</a:t>
            </a:r>
            <a:r>
              <a:rPr lang="en-GB" dirty="0">
                <a:latin typeface="+mj-lt"/>
              </a:rPr>
              <a:t> is the function name</a:t>
            </a:r>
          </a:p>
          <a:p>
            <a:pPr>
              <a:buNone/>
              <a:defRPr/>
            </a:pPr>
            <a:r>
              <a:rPr lang="en-GB" dirty="0">
                <a:solidFill>
                  <a:srgbClr val="00B050"/>
                </a:solidFill>
                <a:latin typeface="APL385 Unicode" panose="020B0709000202000203" pitchFamily="49" charset="0"/>
              </a:rPr>
              <a:t>base</a:t>
            </a:r>
            <a:r>
              <a:rPr lang="en-GB" dirty="0">
                <a:latin typeface="+mj-lt"/>
              </a:rPr>
              <a:t> is the right argument</a:t>
            </a:r>
          </a:p>
        </p:txBody>
      </p:sp>
      <p:sp>
        <p:nvSpPr>
          <p:cNvPr id="3" name="Title 2">
            <a:extLst>
              <a:ext uri="{FF2B5EF4-FFF2-40B4-BE49-F238E27FC236}">
                <a16:creationId xmlns:a16="http://schemas.microsoft.com/office/drawing/2014/main" id="{70EEBF32-4B3E-15A8-BDDA-1CB48D0D7C1E}"/>
              </a:ext>
            </a:extLst>
          </p:cNvPr>
          <p:cNvSpPr>
            <a:spLocks noGrp="1"/>
          </p:cNvSpPr>
          <p:nvPr>
            <p:ph type="title"/>
          </p:nvPr>
        </p:nvSpPr>
        <p:spPr/>
        <p:txBody>
          <a:bodyPr/>
          <a:lstStyle/>
          <a:p>
            <a:r>
              <a:rPr lang="en-GB" dirty="0" err="1"/>
              <a:t>Tradfn</a:t>
            </a:r>
            <a:r>
              <a:rPr lang="en-GB" dirty="0"/>
              <a:t> Headers</a:t>
            </a:r>
          </a:p>
        </p:txBody>
      </p:sp>
      <p:sp>
        <p:nvSpPr>
          <p:cNvPr id="4" name="Media Placeholder 3">
            <a:extLst>
              <a:ext uri="{FF2B5EF4-FFF2-40B4-BE49-F238E27FC236}">
                <a16:creationId xmlns:a16="http://schemas.microsoft.com/office/drawing/2014/main" id="{3BDBA312-52F5-2B7F-D105-7BA55FAEFAC6}"/>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4871901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D2C985-7363-7508-A258-E81703F73620}"/>
              </a:ext>
            </a:extLst>
          </p:cNvPr>
          <p:cNvSpPr>
            <a:spLocks noGrp="1"/>
          </p:cNvSpPr>
          <p:nvPr>
            <p:ph idx="1"/>
          </p:nvPr>
        </p:nvSpPr>
        <p:spPr/>
        <p:txBody>
          <a:bodyPr>
            <a:normAutofit/>
          </a:bodyPr>
          <a:lstStyle/>
          <a:p>
            <a:pPr marL="0" indent="0">
              <a:buNone/>
            </a:pPr>
            <a:r>
              <a:rPr lang="en-GB" sz="2200" dirty="0">
                <a:latin typeface="APL385 Unicode" panose="020B0709000202000203" pitchFamily="49" charset="0"/>
              </a:rPr>
              <a:t>[0]  </a:t>
            </a:r>
            <a:r>
              <a:rPr lang="en-GB" sz="2200" dirty="0" err="1">
                <a:latin typeface="APL385 Unicode" panose="020B0709000202000203" pitchFamily="49" charset="0"/>
              </a:rPr>
              <a:t>root←sqrt</a:t>
            </a:r>
            <a:r>
              <a:rPr lang="en-GB" sz="2200" dirty="0">
                <a:latin typeface="APL385 Unicode" panose="020B0709000202000203" pitchFamily="49" charset="0"/>
              </a:rPr>
              <a:t> numbers</a:t>
            </a:r>
          </a:p>
          <a:p>
            <a:pPr marL="0" indent="0">
              <a:buNone/>
            </a:pPr>
            <a:r>
              <a:rPr lang="en-GB" sz="2200" dirty="0">
                <a:latin typeface="APL385 Unicode" panose="020B0709000202000203" pitchFamily="49" charset="0"/>
              </a:rPr>
              <a:t>[1] ⍝ This function computes the square root</a:t>
            </a:r>
          </a:p>
          <a:p>
            <a:pPr marL="0" indent="0">
              <a:buNone/>
            </a:pPr>
            <a:r>
              <a:rPr lang="en-GB" sz="2200" dirty="0">
                <a:latin typeface="APL385 Unicode" panose="020B0709000202000203" pitchFamily="49" charset="0"/>
              </a:rPr>
              <a:t>[2]  </a:t>
            </a:r>
            <a:r>
              <a:rPr lang="en-GB" sz="2200" dirty="0" err="1">
                <a:latin typeface="APL385 Unicode" panose="020B0709000202000203" pitchFamily="49" charset="0"/>
              </a:rPr>
              <a:t>root←numbers</a:t>
            </a:r>
            <a:r>
              <a:rPr lang="en-GB" sz="2200" dirty="0">
                <a:latin typeface="APL385 Unicode" panose="020B0709000202000203" pitchFamily="49" charset="0"/>
              </a:rPr>
              <a:t>*0.5</a:t>
            </a:r>
          </a:p>
          <a:p>
            <a:pPr marL="0" indent="0">
              <a:buNone/>
            </a:pPr>
            <a:r>
              <a:rPr lang="en-GB" sz="2200" dirty="0">
                <a:latin typeface="APL385 Unicode" panose="020B0709000202000203" pitchFamily="49" charset="0"/>
              </a:rPr>
              <a:t>root</a:t>
            </a:r>
            <a:r>
              <a:rPr lang="en-GB" sz="2200" dirty="0">
                <a:latin typeface="+mj-lt"/>
              </a:rPr>
              <a:t> is the result</a:t>
            </a:r>
          </a:p>
          <a:p>
            <a:pPr marL="0" indent="0">
              <a:buNone/>
            </a:pPr>
            <a:r>
              <a:rPr lang="en-GB" sz="2200" dirty="0">
                <a:latin typeface="APL385 Unicode" panose="020B0709000202000203" pitchFamily="49" charset="0"/>
              </a:rPr>
              <a:t>sqrt</a:t>
            </a:r>
            <a:r>
              <a:rPr lang="en-GB" sz="2200" dirty="0">
                <a:latin typeface="+mj-lt"/>
              </a:rPr>
              <a:t> is the function name</a:t>
            </a:r>
          </a:p>
          <a:p>
            <a:pPr marL="0" indent="0">
              <a:buNone/>
            </a:pPr>
            <a:r>
              <a:rPr lang="en-GB" sz="2200" dirty="0">
                <a:latin typeface="APL385 Unicode" panose="020B0709000202000203" pitchFamily="49" charset="0"/>
              </a:rPr>
              <a:t>numbers</a:t>
            </a:r>
            <a:r>
              <a:rPr lang="en-GB" sz="2200" dirty="0">
                <a:latin typeface="+mj-lt"/>
              </a:rPr>
              <a:t> is the right argument</a:t>
            </a:r>
          </a:p>
        </p:txBody>
      </p:sp>
      <p:sp>
        <p:nvSpPr>
          <p:cNvPr id="3" name="Title 2">
            <a:extLst>
              <a:ext uri="{FF2B5EF4-FFF2-40B4-BE49-F238E27FC236}">
                <a16:creationId xmlns:a16="http://schemas.microsoft.com/office/drawing/2014/main" id="{14342974-3589-4DF8-343A-DD0EEC168384}"/>
              </a:ext>
            </a:extLst>
          </p:cNvPr>
          <p:cNvSpPr>
            <a:spLocks noGrp="1"/>
          </p:cNvSpPr>
          <p:nvPr>
            <p:ph type="title"/>
          </p:nvPr>
        </p:nvSpPr>
        <p:spPr/>
        <p:txBody>
          <a:bodyPr/>
          <a:lstStyle/>
          <a:p>
            <a:r>
              <a:rPr lang="en-GB" dirty="0" err="1"/>
              <a:t>Tradfn</a:t>
            </a:r>
            <a:r>
              <a:rPr lang="en-GB" dirty="0"/>
              <a:t> Headers</a:t>
            </a:r>
          </a:p>
        </p:txBody>
      </p:sp>
      <p:sp>
        <p:nvSpPr>
          <p:cNvPr id="4" name="Media Placeholder 3">
            <a:extLst>
              <a:ext uri="{FF2B5EF4-FFF2-40B4-BE49-F238E27FC236}">
                <a16:creationId xmlns:a16="http://schemas.microsoft.com/office/drawing/2014/main" id="{25A63B21-3588-AE3B-935C-4709CD706EDF}"/>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7321949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369B91-22C6-53AF-8C12-1CB89C1E443F}"/>
              </a:ext>
            </a:extLst>
          </p:cNvPr>
          <p:cNvSpPr>
            <a:spLocks noGrp="1"/>
          </p:cNvSpPr>
          <p:nvPr>
            <p:ph idx="1"/>
          </p:nvPr>
        </p:nvSpPr>
        <p:spPr/>
        <p:txBody>
          <a:bodyPr>
            <a:normAutofit fontScale="85000" lnSpcReduction="10000"/>
          </a:bodyPr>
          <a:lstStyle/>
          <a:p>
            <a:pPr>
              <a:buNone/>
              <a:defRPr/>
            </a:pPr>
            <a:r>
              <a:rPr lang="en-GB" dirty="0"/>
              <a:t>If a program uses temporary names it can list them in the header, after the program name or the right argument, separated by semicolons:</a:t>
            </a:r>
          </a:p>
          <a:p>
            <a:pPr>
              <a:buNone/>
              <a:defRPr/>
            </a:pPr>
            <a:endParaRPr lang="en-GB" dirty="0"/>
          </a:p>
          <a:p>
            <a:pPr>
              <a:buNone/>
              <a:defRPr/>
            </a:pPr>
            <a:r>
              <a:rPr lang="en-GB" sz="2100" dirty="0">
                <a:solidFill>
                  <a:srgbClr val="00B050"/>
                </a:solidFill>
                <a:latin typeface="APL385 Unicode" panose="020B0709000202000203" pitchFamily="49" charset="0"/>
              </a:rPr>
              <a:t>   </a:t>
            </a:r>
            <a:r>
              <a:rPr lang="en-GB" sz="2100" dirty="0" err="1">
                <a:solidFill>
                  <a:srgbClr val="00B050"/>
                </a:solidFill>
                <a:latin typeface="APL385 Unicode" panose="020B0709000202000203" pitchFamily="49" charset="0"/>
              </a:rPr>
              <a:t>r←larg</a:t>
            </a:r>
            <a:r>
              <a:rPr lang="en-GB" sz="2100" dirty="0">
                <a:solidFill>
                  <a:srgbClr val="00B050"/>
                </a:solidFill>
                <a:latin typeface="APL385 Unicode" panose="020B0709000202000203" pitchFamily="49" charset="0"/>
              </a:rPr>
              <a:t> foo rarg</a:t>
            </a:r>
            <a:r>
              <a:rPr lang="en-GB" sz="2100" b="1" dirty="0">
                <a:solidFill>
                  <a:srgbClr val="00B050"/>
                </a:solidFill>
                <a:latin typeface="APL385 Unicode" panose="020B0709000202000203" pitchFamily="49" charset="0"/>
              </a:rPr>
              <a:t>;</a:t>
            </a:r>
            <a:r>
              <a:rPr lang="en-GB" sz="2100" dirty="0">
                <a:solidFill>
                  <a:srgbClr val="FF6600"/>
                </a:solidFill>
                <a:latin typeface="APL385 Unicode" panose="020B0709000202000203" pitchFamily="49" charset="0"/>
              </a:rPr>
              <a:t>local1</a:t>
            </a:r>
            <a:r>
              <a:rPr lang="en-GB" sz="2100" b="1" dirty="0">
                <a:solidFill>
                  <a:srgbClr val="00B050"/>
                </a:solidFill>
                <a:latin typeface="APL385 Unicode" panose="020B0709000202000203" pitchFamily="49" charset="0"/>
              </a:rPr>
              <a:t>;</a:t>
            </a:r>
            <a:r>
              <a:rPr lang="en-GB" sz="2100" dirty="0">
                <a:solidFill>
                  <a:srgbClr val="FF6600"/>
                </a:solidFill>
                <a:latin typeface="APL385 Unicode" panose="020B0709000202000203" pitchFamily="49" charset="0"/>
              </a:rPr>
              <a:t>local2</a:t>
            </a:r>
            <a:r>
              <a:rPr lang="en-GB" sz="2100" b="1" dirty="0">
                <a:solidFill>
                  <a:srgbClr val="00B050"/>
                </a:solidFill>
                <a:latin typeface="APL385 Unicode" panose="020B0709000202000203" pitchFamily="49" charset="0"/>
              </a:rPr>
              <a:t>;</a:t>
            </a:r>
            <a:r>
              <a:rPr lang="en-GB" sz="2100" dirty="0">
                <a:solidFill>
                  <a:srgbClr val="FF6600"/>
                </a:solidFill>
                <a:latin typeface="APL385 Unicode" panose="020B0709000202000203" pitchFamily="49" charset="0"/>
              </a:rPr>
              <a:t>…</a:t>
            </a:r>
            <a:r>
              <a:rPr lang="en-GB" sz="2100" dirty="0">
                <a:latin typeface="APL385 Unicode" panose="020B0709000202000203" pitchFamily="49" charset="0"/>
              </a:rPr>
              <a:t> </a:t>
            </a:r>
          </a:p>
          <a:p>
            <a:pPr>
              <a:buNone/>
              <a:defRPr/>
            </a:pPr>
            <a:r>
              <a:rPr lang="en-GB" sz="2100" dirty="0">
                <a:latin typeface="APL385 Unicode" panose="020B0709000202000203" pitchFamily="49" charset="0"/>
              </a:rPr>
              <a:t>   </a:t>
            </a:r>
            <a:r>
              <a:rPr lang="en-GB" sz="2100" dirty="0">
                <a:solidFill>
                  <a:srgbClr val="00B050"/>
                </a:solidFill>
                <a:latin typeface="APL385 Unicode" panose="020B0709000202000203" pitchFamily="49" charset="0"/>
              </a:rPr>
              <a:t>;</a:t>
            </a:r>
            <a:r>
              <a:rPr lang="en-GB" sz="2100" dirty="0">
                <a:solidFill>
                  <a:srgbClr val="FF6600"/>
                </a:solidFill>
                <a:latin typeface="APL385 Unicode" panose="020B0709000202000203" pitchFamily="49" charset="0"/>
              </a:rPr>
              <a:t>local3</a:t>
            </a:r>
            <a:r>
              <a:rPr lang="en-GB" sz="2100" dirty="0">
                <a:solidFill>
                  <a:srgbClr val="00B050"/>
                </a:solidFill>
                <a:latin typeface="APL385 Unicode" panose="020B0709000202000203" pitchFamily="49" charset="0"/>
              </a:rPr>
              <a:t>;</a:t>
            </a:r>
            <a:r>
              <a:rPr lang="en-GB" sz="2100" dirty="0">
                <a:solidFill>
                  <a:srgbClr val="FF6600"/>
                </a:solidFill>
                <a:latin typeface="APL385 Unicode" panose="020B0709000202000203" pitchFamily="49" charset="0"/>
              </a:rPr>
              <a:t>local4</a:t>
            </a:r>
            <a:r>
              <a:rPr lang="en-GB" sz="2100" dirty="0">
                <a:solidFill>
                  <a:srgbClr val="00B050"/>
                </a:solidFill>
                <a:latin typeface="APL385 Unicode" panose="020B0709000202000203" pitchFamily="49" charset="0"/>
              </a:rPr>
              <a:t>;</a:t>
            </a:r>
            <a:r>
              <a:rPr lang="en-GB" sz="2100" dirty="0">
                <a:solidFill>
                  <a:srgbClr val="FF6600"/>
                </a:solidFill>
                <a:latin typeface="APL385 Unicode" panose="020B0709000202000203" pitchFamily="49" charset="0"/>
              </a:rPr>
              <a:t>…</a:t>
            </a:r>
          </a:p>
          <a:p>
            <a:pPr>
              <a:buNone/>
              <a:defRPr/>
            </a:pPr>
            <a:endParaRPr lang="en-GB" dirty="0"/>
          </a:p>
          <a:p>
            <a:pPr>
              <a:buNone/>
              <a:defRPr/>
            </a:pPr>
            <a:r>
              <a:rPr lang="en-GB" dirty="0"/>
              <a:t>NB: Any name not localised is shared with the calling environment. Such "</a:t>
            </a:r>
            <a:r>
              <a:rPr lang="en-GB" dirty="0" err="1"/>
              <a:t>globals</a:t>
            </a:r>
            <a:r>
              <a:rPr lang="en-GB" dirty="0"/>
              <a:t>" should only be used with care and intent.</a:t>
            </a:r>
          </a:p>
        </p:txBody>
      </p:sp>
      <p:sp>
        <p:nvSpPr>
          <p:cNvPr id="3" name="Title 2">
            <a:extLst>
              <a:ext uri="{FF2B5EF4-FFF2-40B4-BE49-F238E27FC236}">
                <a16:creationId xmlns:a16="http://schemas.microsoft.com/office/drawing/2014/main" id="{4A977F88-47E3-70D1-57E3-A8E2E3CB55E1}"/>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60A6F21B-EFB7-AD17-CBFE-4FEBF5A34965}"/>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002725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1ACE0-5FE8-AFF0-19BA-742C9A7A1E7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1235C2-2BEB-51DD-D4AD-865B0138AE37}"/>
              </a:ext>
            </a:extLst>
          </p:cNvPr>
          <p:cNvSpPr>
            <a:spLocks noGrp="1"/>
          </p:cNvSpPr>
          <p:nvPr>
            <p:ph idx="1"/>
          </p:nvPr>
        </p:nvSpPr>
        <p:spPr/>
        <p:txBody>
          <a:bodyPr>
            <a:normAutofit fontScale="92500"/>
          </a:bodyPr>
          <a:lstStyle/>
          <a:p>
            <a:pPr>
              <a:buNone/>
              <a:defRPr/>
            </a:pPr>
            <a:r>
              <a:rPr lang="en-GB" dirty="0"/>
              <a:t>The names of the result variable, the left and the right argument only exist INSIDE the program (they are always </a:t>
            </a:r>
            <a:r>
              <a:rPr lang="en-GB" b="1" i="1" dirty="0">
                <a:solidFill>
                  <a:srgbClr val="FF6600"/>
                </a:solidFill>
              </a:rPr>
              <a:t>local</a:t>
            </a:r>
            <a:r>
              <a:rPr lang="en-GB" dirty="0"/>
              <a:t>).</a:t>
            </a:r>
          </a:p>
          <a:p>
            <a:pPr>
              <a:buNone/>
              <a:defRPr/>
            </a:pPr>
            <a:r>
              <a:rPr lang="en-GB" dirty="0"/>
              <a:t>		</a:t>
            </a:r>
            <a:r>
              <a:rPr lang="en-GB" dirty="0">
                <a:solidFill>
                  <a:srgbClr val="00B050"/>
                </a:solidFill>
                <a:latin typeface="APL385 Unicode" panose="020B0709000202000203" pitchFamily="49" charset="0"/>
              </a:rPr>
              <a:t>result ← left Function right</a:t>
            </a:r>
          </a:p>
          <a:p>
            <a:pPr>
              <a:buNone/>
              <a:defRPr/>
            </a:pPr>
            <a:r>
              <a:rPr lang="en-GB" dirty="0"/>
              <a:t>Names revert to previous state (undefined or previous value) after the program/function completes.</a:t>
            </a:r>
          </a:p>
          <a:p>
            <a:pPr>
              <a:buNone/>
              <a:defRPr/>
            </a:pPr>
            <a:r>
              <a:rPr lang="en-GB" dirty="0"/>
              <a:t>Note that local names are GLOBAL to any functions that the program calls (unless sub-functions localise the same names)</a:t>
            </a:r>
          </a:p>
        </p:txBody>
      </p:sp>
      <p:sp>
        <p:nvSpPr>
          <p:cNvPr id="3" name="Title 2">
            <a:extLst>
              <a:ext uri="{FF2B5EF4-FFF2-40B4-BE49-F238E27FC236}">
                <a16:creationId xmlns:a16="http://schemas.microsoft.com/office/drawing/2014/main" id="{99FD459F-EA79-F724-310D-EE36FB6F98AE}"/>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BFE01C25-A337-13F8-5211-DA0F69A5E99C}"/>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41348918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C6205-67F0-F803-775D-62A202EC73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5BABA2-E8A5-EB7C-C6A0-4031E623ED3B}"/>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9173515E-F536-3AB9-4A6E-B75FFDE606BF}"/>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F4DD8B8C-4B8B-8CBD-AACB-6A16E28FCA7F}"/>
              </a:ext>
            </a:extLst>
          </p:cNvPr>
          <p:cNvSpPr>
            <a:spLocks noGrp="1"/>
          </p:cNvSpPr>
          <p:nvPr>
            <p:ph type="media" sz="quarter" idx="11"/>
          </p:nvPr>
        </p:nvSpPr>
        <p:spPr/>
        <p:txBody>
          <a:bodyPr/>
          <a:lstStyle/>
          <a:p>
            <a:endParaRPr lang="en-GB"/>
          </a:p>
        </p:txBody>
      </p:sp>
      <p:pic>
        <p:nvPicPr>
          <p:cNvPr id="7" name="Picture 6">
            <a:extLst>
              <a:ext uri="{FF2B5EF4-FFF2-40B4-BE49-F238E27FC236}">
                <a16:creationId xmlns:a16="http://schemas.microsoft.com/office/drawing/2014/main" id="{158205D0-4FB9-5E26-DD09-941E9D161C2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0667" y="937451"/>
            <a:ext cx="6202666" cy="3938392"/>
          </a:xfrm>
          <a:prstGeom prst="rect">
            <a:avLst/>
          </a:prstGeom>
        </p:spPr>
      </p:pic>
    </p:spTree>
    <p:extLst>
      <p:ext uri="{BB962C8B-B14F-4D97-AF65-F5344CB8AC3E}">
        <p14:creationId xmlns:p14="http://schemas.microsoft.com/office/powerpoint/2010/main" val="22395928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0DB71-799D-6FB3-D4CF-DAF25803725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1A257F3-0AAA-5B40-529B-6A01949EB398}"/>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5F94A48F-2553-FF07-D0E4-9B00D27881E7}"/>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D309016C-85C1-270C-59C7-4576079D5D9C}"/>
              </a:ext>
            </a:extLst>
          </p:cNvPr>
          <p:cNvSpPr>
            <a:spLocks noGrp="1"/>
          </p:cNvSpPr>
          <p:nvPr>
            <p:ph type="media" sz="quarter" idx="11"/>
          </p:nvPr>
        </p:nvSpPr>
        <p:spPr/>
        <p:txBody>
          <a:bodyPr/>
          <a:lstStyle/>
          <a:p>
            <a:endParaRPr lang="en-GB"/>
          </a:p>
        </p:txBody>
      </p:sp>
      <p:pic>
        <p:nvPicPr>
          <p:cNvPr id="7" name="Picture 6">
            <a:extLst>
              <a:ext uri="{FF2B5EF4-FFF2-40B4-BE49-F238E27FC236}">
                <a16:creationId xmlns:a16="http://schemas.microsoft.com/office/drawing/2014/main" id="{017E2147-00DE-4B6B-CE7C-4A91C1EB231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0667" y="937451"/>
            <a:ext cx="6202666" cy="3938391"/>
          </a:xfrm>
          <a:prstGeom prst="rect">
            <a:avLst/>
          </a:prstGeom>
        </p:spPr>
      </p:pic>
    </p:spTree>
    <p:extLst>
      <p:ext uri="{BB962C8B-B14F-4D97-AF65-F5344CB8AC3E}">
        <p14:creationId xmlns:p14="http://schemas.microsoft.com/office/powerpoint/2010/main" val="34459532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8F078-2E1C-24CB-79DD-07C950A174C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D467B9-69ED-6F5A-C644-F3B839C6FCD4}"/>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FB1B43C3-D66B-E631-EF69-D8462C4A1985}"/>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50A784B9-6E28-4CC9-EF82-6E144B352399}"/>
              </a:ext>
            </a:extLst>
          </p:cNvPr>
          <p:cNvSpPr>
            <a:spLocks noGrp="1"/>
          </p:cNvSpPr>
          <p:nvPr>
            <p:ph type="media" sz="quarter" idx="11"/>
          </p:nvPr>
        </p:nvSpPr>
        <p:spPr/>
        <p:txBody>
          <a:bodyPr/>
          <a:lstStyle/>
          <a:p>
            <a:endParaRPr lang="en-GB"/>
          </a:p>
        </p:txBody>
      </p:sp>
      <p:pic>
        <p:nvPicPr>
          <p:cNvPr id="7" name="Picture 6">
            <a:extLst>
              <a:ext uri="{FF2B5EF4-FFF2-40B4-BE49-F238E27FC236}">
                <a16:creationId xmlns:a16="http://schemas.microsoft.com/office/drawing/2014/main" id="{CA985A26-9B83-3378-5CB7-3D56B59C33E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0667" y="937451"/>
            <a:ext cx="6202665" cy="3938391"/>
          </a:xfrm>
          <a:prstGeom prst="rect">
            <a:avLst/>
          </a:prstGeom>
        </p:spPr>
      </p:pic>
    </p:spTree>
    <p:extLst>
      <p:ext uri="{BB962C8B-B14F-4D97-AF65-F5344CB8AC3E}">
        <p14:creationId xmlns:p14="http://schemas.microsoft.com/office/powerpoint/2010/main" val="36459168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E70A0-9C5A-CB9E-412E-19CA708A881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37925F-4957-AAB9-7CBB-5EB3EDD58A99}"/>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DC3243A3-3038-739A-3C3D-C84862E79123}"/>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566BA233-9344-C705-82DA-CBE2341EF399}"/>
              </a:ext>
            </a:extLst>
          </p:cNvPr>
          <p:cNvSpPr>
            <a:spLocks noGrp="1"/>
          </p:cNvSpPr>
          <p:nvPr>
            <p:ph type="media" sz="quarter" idx="11"/>
          </p:nvPr>
        </p:nvSpPr>
        <p:spPr/>
        <p:txBody>
          <a:bodyPr/>
          <a:lstStyle/>
          <a:p>
            <a:endParaRPr lang="en-GB"/>
          </a:p>
        </p:txBody>
      </p:sp>
      <p:pic>
        <p:nvPicPr>
          <p:cNvPr id="7" name="Picture 6">
            <a:extLst>
              <a:ext uri="{FF2B5EF4-FFF2-40B4-BE49-F238E27FC236}">
                <a16:creationId xmlns:a16="http://schemas.microsoft.com/office/drawing/2014/main" id="{8FC09117-0987-BCE8-BE50-A749C85E638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0667" y="937451"/>
            <a:ext cx="6202665" cy="3938390"/>
          </a:xfrm>
          <a:prstGeom prst="rect">
            <a:avLst/>
          </a:prstGeom>
        </p:spPr>
      </p:pic>
    </p:spTree>
    <p:extLst>
      <p:ext uri="{BB962C8B-B14F-4D97-AF65-F5344CB8AC3E}">
        <p14:creationId xmlns:p14="http://schemas.microsoft.com/office/powerpoint/2010/main" val="2370755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9FED2-B363-01E2-E71A-CF31D71AF21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659FD70-99C2-3D84-4BEA-D50E236FB66F}"/>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43F35B37-47FB-E3AF-67A8-31F517693EF5}"/>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FE26410C-CB3D-5C82-ECCB-7718054C1A3B}"/>
              </a:ext>
            </a:extLst>
          </p:cNvPr>
          <p:cNvSpPr>
            <a:spLocks noGrp="1"/>
          </p:cNvSpPr>
          <p:nvPr>
            <p:ph type="media" sz="quarter" idx="11"/>
          </p:nvPr>
        </p:nvSpPr>
        <p:spPr/>
        <p:txBody>
          <a:bodyPr/>
          <a:lstStyle/>
          <a:p>
            <a:endParaRPr lang="en-GB"/>
          </a:p>
        </p:txBody>
      </p:sp>
      <p:pic>
        <p:nvPicPr>
          <p:cNvPr id="7" name="Picture 6">
            <a:extLst>
              <a:ext uri="{FF2B5EF4-FFF2-40B4-BE49-F238E27FC236}">
                <a16:creationId xmlns:a16="http://schemas.microsoft.com/office/drawing/2014/main" id="{CBA45C4C-0EC0-B51C-89A6-7E89484CDF7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0667" y="937451"/>
            <a:ext cx="6202666" cy="3938392"/>
          </a:xfrm>
          <a:prstGeom prst="rect">
            <a:avLst/>
          </a:prstGeom>
        </p:spPr>
      </p:pic>
    </p:spTree>
    <p:extLst>
      <p:ext uri="{BB962C8B-B14F-4D97-AF65-F5344CB8AC3E}">
        <p14:creationId xmlns:p14="http://schemas.microsoft.com/office/powerpoint/2010/main" val="18192661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6127F-A96D-6161-5ADE-7026FB083F7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1049C039-0E6D-2B5D-5AB8-B5109697630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0667" y="937451"/>
            <a:ext cx="6202666" cy="3938391"/>
          </a:xfrm>
          <a:prstGeom prst="rect">
            <a:avLst/>
          </a:prstGeom>
        </p:spPr>
      </p:pic>
      <p:pic>
        <p:nvPicPr>
          <p:cNvPr id="5" name="Picture 4">
            <a:extLst>
              <a:ext uri="{FF2B5EF4-FFF2-40B4-BE49-F238E27FC236}">
                <a16:creationId xmlns:a16="http://schemas.microsoft.com/office/drawing/2014/main" id="{C090780E-3FC5-3A09-C967-B38BEBC76528}"/>
              </a:ext>
            </a:extLst>
          </p:cNvPr>
          <p:cNvPicPr>
            <a:picLocks noChangeAspect="1"/>
          </p:cNvPicPr>
          <p:nvPr/>
        </p:nvPicPr>
        <p:blipFill>
          <a:blip r:embed="rId3">
            <a:extLst>
              <a:ext uri="{28A0092B-C50C-407E-A947-70E740481C1C}">
                <a14:useLocalDpi xmlns:a14="http://schemas.microsoft.com/office/drawing/2010/main" val="0"/>
              </a:ext>
            </a:extLst>
          </a:blip>
          <a:srcRect l="42472"/>
          <a:stretch>
            <a:fillRect/>
          </a:stretch>
        </p:blipFill>
        <p:spPr>
          <a:xfrm>
            <a:off x="4105071" y="937451"/>
            <a:ext cx="3568261" cy="3938392"/>
          </a:xfrm>
          <a:prstGeom prst="rect">
            <a:avLst/>
          </a:prstGeom>
        </p:spPr>
      </p:pic>
      <p:sp>
        <p:nvSpPr>
          <p:cNvPr id="3" name="Title 2">
            <a:extLst>
              <a:ext uri="{FF2B5EF4-FFF2-40B4-BE49-F238E27FC236}">
                <a16:creationId xmlns:a16="http://schemas.microsoft.com/office/drawing/2014/main" id="{4120C24E-5733-AB8E-6384-6B27D992B6D3}"/>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2C79332E-4873-311C-0631-D7B3A23F6AC1}"/>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4819126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9CB73-2B7A-CA23-100C-61A48F3F9B2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DC256FD-B677-5C1D-8EEB-48AD1A4B2FB2}"/>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5F0550CC-3D38-9086-9A26-8D934847AF53}"/>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15914197-4FEA-F07A-7E2B-BEE74FC2254B}"/>
              </a:ext>
            </a:extLst>
          </p:cNvPr>
          <p:cNvSpPr>
            <a:spLocks noGrp="1"/>
          </p:cNvSpPr>
          <p:nvPr>
            <p:ph type="media" sz="quarter" idx="11"/>
          </p:nvPr>
        </p:nvSpPr>
        <p:spPr/>
        <p:txBody>
          <a:bodyPr/>
          <a:lstStyle/>
          <a:p>
            <a:endParaRPr lang="en-GB"/>
          </a:p>
        </p:txBody>
      </p:sp>
      <p:pic>
        <p:nvPicPr>
          <p:cNvPr id="7" name="Picture 6">
            <a:extLst>
              <a:ext uri="{FF2B5EF4-FFF2-40B4-BE49-F238E27FC236}">
                <a16:creationId xmlns:a16="http://schemas.microsoft.com/office/drawing/2014/main" id="{31255726-E142-1634-7C2F-4E0C03818A6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0667" y="937451"/>
            <a:ext cx="6202666" cy="3938391"/>
          </a:xfrm>
          <a:prstGeom prst="rect">
            <a:avLst/>
          </a:prstGeom>
        </p:spPr>
      </p:pic>
    </p:spTree>
    <p:extLst>
      <p:ext uri="{BB962C8B-B14F-4D97-AF65-F5344CB8AC3E}">
        <p14:creationId xmlns:p14="http://schemas.microsoft.com/office/powerpoint/2010/main" val="32769714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7F48A-DF25-37C4-F315-E85A9065DED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AA9DED9-0F2E-FEFE-4DE4-31B2DA2C2EEA}"/>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7A0C9DAE-7912-EE10-F437-388518E56C25}"/>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E03CECEF-0365-ED33-B6A5-897CC86AEE09}"/>
              </a:ext>
            </a:extLst>
          </p:cNvPr>
          <p:cNvSpPr>
            <a:spLocks noGrp="1"/>
          </p:cNvSpPr>
          <p:nvPr>
            <p:ph type="media" sz="quarter" idx="11"/>
          </p:nvPr>
        </p:nvSpPr>
        <p:spPr/>
        <p:txBody>
          <a:bodyPr/>
          <a:lstStyle/>
          <a:p>
            <a:endParaRPr lang="en-GB"/>
          </a:p>
        </p:txBody>
      </p:sp>
      <p:pic>
        <p:nvPicPr>
          <p:cNvPr id="7" name="Picture 6">
            <a:extLst>
              <a:ext uri="{FF2B5EF4-FFF2-40B4-BE49-F238E27FC236}">
                <a16:creationId xmlns:a16="http://schemas.microsoft.com/office/drawing/2014/main" id="{82ED4BF6-DE58-F742-D1C1-35947FD54F4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0667" y="937451"/>
            <a:ext cx="6202665" cy="3938391"/>
          </a:xfrm>
          <a:prstGeom prst="rect">
            <a:avLst/>
          </a:prstGeom>
        </p:spPr>
      </p:pic>
    </p:spTree>
    <p:extLst>
      <p:ext uri="{BB962C8B-B14F-4D97-AF65-F5344CB8AC3E}">
        <p14:creationId xmlns:p14="http://schemas.microsoft.com/office/powerpoint/2010/main" val="32468300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31AEF-9FD5-7705-C62D-8E9E8AAC32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70D3ED1-0E0D-ADAC-2791-45F2CC3B4296}"/>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DA22CB6B-5891-75DD-92D0-537E8CB5BBEA}"/>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7AEFA296-68DC-EB5A-AF9C-ADCCB88CDEE6}"/>
              </a:ext>
            </a:extLst>
          </p:cNvPr>
          <p:cNvSpPr>
            <a:spLocks noGrp="1"/>
          </p:cNvSpPr>
          <p:nvPr>
            <p:ph type="media" sz="quarter" idx="11"/>
          </p:nvPr>
        </p:nvSpPr>
        <p:spPr/>
        <p:txBody>
          <a:bodyPr/>
          <a:lstStyle/>
          <a:p>
            <a:endParaRPr lang="en-GB"/>
          </a:p>
        </p:txBody>
      </p:sp>
      <p:pic>
        <p:nvPicPr>
          <p:cNvPr id="7" name="Picture 6">
            <a:extLst>
              <a:ext uri="{FF2B5EF4-FFF2-40B4-BE49-F238E27FC236}">
                <a16:creationId xmlns:a16="http://schemas.microsoft.com/office/drawing/2014/main" id="{BFB59B7E-9329-CAFE-4AAD-D5D3BE4D49B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0667" y="937451"/>
            <a:ext cx="6202665" cy="3938390"/>
          </a:xfrm>
          <a:prstGeom prst="rect">
            <a:avLst/>
          </a:prstGeom>
        </p:spPr>
      </p:pic>
    </p:spTree>
    <p:extLst>
      <p:ext uri="{BB962C8B-B14F-4D97-AF65-F5344CB8AC3E}">
        <p14:creationId xmlns:p14="http://schemas.microsoft.com/office/powerpoint/2010/main" val="16297818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B2E3B-0877-386C-F502-8A02254BAD0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7131526-6BCA-2992-706A-A3C146DD14BE}"/>
              </a:ext>
            </a:extLst>
          </p:cNvPr>
          <p:cNvSpPr>
            <a:spLocks noGrp="1"/>
          </p:cNvSpPr>
          <p:nvPr>
            <p:ph idx="1"/>
          </p:nvPr>
        </p:nvSpPr>
        <p:spPr/>
        <p:txBody>
          <a:bodyPr/>
          <a:lstStyle/>
          <a:p>
            <a:endParaRPr lang="en-GB"/>
          </a:p>
        </p:txBody>
      </p:sp>
      <p:sp>
        <p:nvSpPr>
          <p:cNvPr id="3" name="Title 2">
            <a:extLst>
              <a:ext uri="{FF2B5EF4-FFF2-40B4-BE49-F238E27FC236}">
                <a16:creationId xmlns:a16="http://schemas.microsoft.com/office/drawing/2014/main" id="{6B19A1B2-1E82-D6B0-4895-A901315685C7}"/>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5BFCCC95-EEB4-9EDE-755A-F7617620330A}"/>
              </a:ext>
            </a:extLst>
          </p:cNvPr>
          <p:cNvSpPr>
            <a:spLocks noGrp="1"/>
          </p:cNvSpPr>
          <p:nvPr>
            <p:ph type="media" sz="quarter" idx="11"/>
          </p:nvPr>
        </p:nvSpPr>
        <p:spPr/>
        <p:txBody>
          <a:bodyPr/>
          <a:lstStyle/>
          <a:p>
            <a:endParaRPr lang="en-GB"/>
          </a:p>
        </p:txBody>
      </p:sp>
      <p:pic>
        <p:nvPicPr>
          <p:cNvPr id="7" name="Picture 6">
            <a:extLst>
              <a:ext uri="{FF2B5EF4-FFF2-40B4-BE49-F238E27FC236}">
                <a16:creationId xmlns:a16="http://schemas.microsoft.com/office/drawing/2014/main" id="{3DFFA7C8-7D41-41F3-9A04-AAFC88DD6BC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470668" y="937451"/>
            <a:ext cx="6202663" cy="3938390"/>
          </a:xfrm>
          <a:prstGeom prst="rect">
            <a:avLst/>
          </a:prstGeom>
        </p:spPr>
      </p:pic>
    </p:spTree>
    <p:extLst>
      <p:ext uri="{BB962C8B-B14F-4D97-AF65-F5344CB8AC3E}">
        <p14:creationId xmlns:p14="http://schemas.microsoft.com/office/powerpoint/2010/main" val="25556983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18FED-5C97-2ADC-F9B9-3F6641135D8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47200A-AD5C-F449-32D8-33C641B16D23}"/>
              </a:ext>
            </a:extLst>
          </p:cNvPr>
          <p:cNvSpPr>
            <a:spLocks noGrp="1"/>
          </p:cNvSpPr>
          <p:nvPr>
            <p:ph idx="1"/>
          </p:nvPr>
        </p:nvSpPr>
        <p:spPr/>
        <p:txBody>
          <a:bodyPr>
            <a:normAutofit/>
          </a:bodyPr>
          <a:lstStyle/>
          <a:p>
            <a:pPr>
              <a:buNone/>
              <a:defRPr/>
            </a:pPr>
            <a:r>
              <a:rPr lang="en-GB" dirty="0"/>
              <a:t>Toggle local:</a:t>
            </a:r>
          </a:p>
          <a:p>
            <a:pPr>
              <a:buNone/>
              <a:defRPr/>
            </a:pPr>
            <a:endParaRPr lang="en-GB" dirty="0"/>
          </a:p>
        </p:txBody>
      </p:sp>
      <p:sp>
        <p:nvSpPr>
          <p:cNvPr id="3" name="Title 2">
            <a:extLst>
              <a:ext uri="{FF2B5EF4-FFF2-40B4-BE49-F238E27FC236}">
                <a16:creationId xmlns:a16="http://schemas.microsoft.com/office/drawing/2014/main" id="{FD0422A2-44E2-3399-CAF4-738EDAE2DC1A}"/>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FDB211D4-DD4F-CB0D-651A-87F7EF631E68}"/>
              </a:ext>
            </a:extLst>
          </p:cNvPr>
          <p:cNvSpPr>
            <a:spLocks noGrp="1"/>
          </p:cNvSpPr>
          <p:nvPr>
            <p:ph type="media" sz="quarter" idx="11"/>
          </p:nvPr>
        </p:nvSpPr>
        <p:spPr/>
        <p:txBody>
          <a:bodyPr/>
          <a:lstStyle/>
          <a:p>
            <a:endParaRPr lang="en-GB"/>
          </a:p>
        </p:txBody>
      </p:sp>
      <p:pic>
        <p:nvPicPr>
          <p:cNvPr id="6" name="Picture 5">
            <a:extLst>
              <a:ext uri="{FF2B5EF4-FFF2-40B4-BE49-F238E27FC236}">
                <a16:creationId xmlns:a16="http://schemas.microsoft.com/office/drawing/2014/main" id="{0CEF311F-06A2-D219-8F2F-8635FD3498D0}"/>
              </a:ext>
            </a:extLst>
          </p:cNvPr>
          <p:cNvPicPr>
            <a:picLocks noChangeAspect="1"/>
          </p:cNvPicPr>
          <p:nvPr/>
        </p:nvPicPr>
        <p:blipFill>
          <a:blip r:embed="rId2"/>
          <a:stretch>
            <a:fillRect/>
          </a:stretch>
        </p:blipFill>
        <p:spPr>
          <a:xfrm>
            <a:off x="2155526" y="1082605"/>
            <a:ext cx="4526629" cy="3547423"/>
          </a:xfrm>
          <a:prstGeom prst="rect">
            <a:avLst/>
          </a:prstGeom>
        </p:spPr>
      </p:pic>
      <p:pic>
        <p:nvPicPr>
          <p:cNvPr id="5" name="Picture 4">
            <a:extLst>
              <a:ext uri="{FF2B5EF4-FFF2-40B4-BE49-F238E27FC236}">
                <a16:creationId xmlns:a16="http://schemas.microsoft.com/office/drawing/2014/main" id="{1A13C87F-B219-3B12-1332-8A1138CBB579}"/>
              </a:ext>
            </a:extLst>
          </p:cNvPr>
          <p:cNvPicPr>
            <a:picLocks noChangeAspect="1"/>
          </p:cNvPicPr>
          <p:nvPr/>
        </p:nvPicPr>
        <p:blipFill>
          <a:blip r:embed="rId3"/>
          <a:srcRect t="22352"/>
          <a:stretch>
            <a:fillRect/>
          </a:stretch>
        </p:blipFill>
        <p:spPr>
          <a:xfrm>
            <a:off x="2778369" y="2861950"/>
            <a:ext cx="6246056" cy="1645014"/>
          </a:xfrm>
          <a:prstGeom prst="rect">
            <a:avLst/>
          </a:prstGeom>
        </p:spPr>
      </p:pic>
      <p:sp>
        <p:nvSpPr>
          <p:cNvPr id="7" name="Oval 6">
            <a:extLst>
              <a:ext uri="{FF2B5EF4-FFF2-40B4-BE49-F238E27FC236}">
                <a16:creationId xmlns:a16="http://schemas.microsoft.com/office/drawing/2014/main" id="{5D120597-81E0-D256-12CE-320234C760D3}"/>
              </a:ext>
            </a:extLst>
          </p:cNvPr>
          <p:cNvSpPr/>
          <p:nvPr/>
        </p:nvSpPr>
        <p:spPr>
          <a:xfrm>
            <a:off x="3052691" y="4100651"/>
            <a:ext cx="457200" cy="472125"/>
          </a:xfrm>
          <a:prstGeom prst="ellipse">
            <a:avLst/>
          </a:prstGeom>
          <a:no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FF6600"/>
              </a:solidFill>
            </a:endParaRPr>
          </a:p>
        </p:txBody>
      </p:sp>
      <p:sp>
        <p:nvSpPr>
          <p:cNvPr id="8" name="Oval 7">
            <a:extLst>
              <a:ext uri="{FF2B5EF4-FFF2-40B4-BE49-F238E27FC236}">
                <a16:creationId xmlns:a16="http://schemas.microsoft.com/office/drawing/2014/main" id="{6C5000B9-8DA7-4546-88E6-3E7DF789A9EB}"/>
              </a:ext>
            </a:extLst>
          </p:cNvPr>
          <p:cNvSpPr/>
          <p:nvPr/>
        </p:nvSpPr>
        <p:spPr>
          <a:xfrm>
            <a:off x="6960796" y="3760681"/>
            <a:ext cx="457200" cy="472125"/>
          </a:xfrm>
          <a:prstGeom prst="ellipse">
            <a:avLst/>
          </a:prstGeom>
          <a:no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FF6600"/>
              </a:solidFill>
            </a:endParaRPr>
          </a:p>
        </p:txBody>
      </p:sp>
      <p:sp>
        <p:nvSpPr>
          <p:cNvPr id="9" name="Rectangle: Rounded Corners 8">
            <a:extLst>
              <a:ext uri="{FF2B5EF4-FFF2-40B4-BE49-F238E27FC236}">
                <a16:creationId xmlns:a16="http://schemas.microsoft.com/office/drawing/2014/main" id="{4B8E52D0-2495-5341-BF2D-4B511C091CBF}"/>
              </a:ext>
            </a:extLst>
          </p:cNvPr>
          <p:cNvSpPr/>
          <p:nvPr/>
        </p:nvSpPr>
        <p:spPr>
          <a:xfrm>
            <a:off x="450166" y="1955409"/>
            <a:ext cx="675249" cy="3587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Ctrl</a:t>
            </a:r>
          </a:p>
        </p:txBody>
      </p:sp>
      <p:sp>
        <p:nvSpPr>
          <p:cNvPr id="10" name="Rectangle: Rounded Corners 9">
            <a:extLst>
              <a:ext uri="{FF2B5EF4-FFF2-40B4-BE49-F238E27FC236}">
                <a16:creationId xmlns:a16="http://schemas.microsoft.com/office/drawing/2014/main" id="{9BB0422D-0D3D-42DD-881F-0A61363D45F0}"/>
              </a:ext>
            </a:extLst>
          </p:cNvPr>
          <p:cNvSpPr/>
          <p:nvPr/>
        </p:nvSpPr>
        <p:spPr>
          <a:xfrm>
            <a:off x="1364596" y="1955409"/>
            <a:ext cx="407934" cy="3587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APL385 Unicode" panose="020B0709000202000203" pitchFamily="49" charset="0"/>
              </a:rPr>
              <a:t>↑</a:t>
            </a:r>
          </a:p>
        </p:txBody>
      </p:sp>
    </p:spTree>
    <p:extLst>
      <p:ext uri="{BB962C8B-B14F-4D97-AF65-F5344CB8AC3E}">
        <p14:creationId xmlns:p14="http://schemas.microsoft.com/office/powerpoint/2010/main" val="925877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5DE78-D1D0-FE33-160E-767CDA90262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AF1232-0797-5557-5E36-299845381856}"/>
              </a:ext>
            </a:extLst>
          </p:cNvPr>
          <p:cNvSpPr>
            <a:spLocks noGrp="1"/>
          </p:cNvSpPr>
          <p:nvPr>
            <p:ph idx="1"/>
          </p:nvPr>
        </p:nvSpPr>
        <p:spPr/>
        <p:txBody>
          <a:bodyPr>
            <a:normAutofit/>
          </a:bodyPr>
          <a:lstStyle/>
          <a:p>
            <a:pPr>
              <a:buNone/>
              <a:defRPr/>
            </a:pPr>
            <a:r>
              <a:rPr lang="en-GB" dirty="0"/>
              <a:t>Toggle local:</a:t>
            </a:r>
          </a:p>
          <a:p>
            <a:pPr>
              <a:buNone/>
              <a:defRPr/>
            </a:pPr>
            <a:endParaRPr lang="en-GB" dirty="0"/>
          </a:p>
        </p:txBody>
      </p:sp>
      <p:sp>
        <p:nvSpPr>
          <p:cNvPr id="3" name="Title 2">
            <a:extLst>
              <a:ext uri="{FF2B5EF4-FFF2-40B4-BE49-F238E27FC236}">
                <a16:creationId xmlns:a16="http://schemas.microsoft.com/office/drawing/2014/main" id="{21B6A4EE-65D0-E02D-788D-B9AC5CAFDC49}"/>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07D5300D-83CE-BD30-B011-56B7D6731815}"/>
              </a:ext>
            </a:extLst>
          </p:cNvPr>
          <p:cNvSpPr>
            <a:spLocks noGrp="1"/>
          </p:cNvSpPr>
          <p:nvPr>
            <p:ph type="media" sz="quarter" idx="11"/>
          </p:nvPr>
        </p:nvSpPr>
        <p:spPr/>
        <p:txBody>
          <a:bodyPr/>
          <a:lstStyle/>
          <a:p>
            <a:endParaRPr lang="en-GB"/>
          </a:p>
        </p:txBody>
      </p:sp>
      <p:pic>
        <p:nvPicPr>
          <p:cNvPr id="6" name="Picture 5">
            <a:extLst>
              <a:ext uri="{FF2B5EF4-FFF2-40B4-BE49-F238E27FC236}">
                <a16:creationId xmlns:a16="http://schemas.microsoft.com/office/drawing/2014/main" id="{5F3D7419-19F9-6C4E-AAF9-DC5526D3D26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55526" y="1082605"/>
            <a:ext cx="4526628" cy="3547423"/>
          </a:xfrm>
          <a:prstGeom prst="rect">
            <a:avLst/>
          </a:prstGeom>
        </p:spPr>
      </p:pic>
      <p:sp>
        <p:nvSpPr>
          <p:cNvPr id="5" name="Rectangle: Rounded Corners 4">
            <a:extLst>
              <a:ext uri="{FF2B5EF4-FFF2-40B4-BE49-F238E27FC236}">
                <a16:creationId xmlns:a16="http://schemas.microsoft.com/office/drawing/2014/main" id="{C0D42290-1532-FE74-B438-546F1C25B898}"/>
              </a:ext>
            </a:extLst>
          </p:cNvPr>
          <p:cNvSpPr/>
          <p:nvPr/>
        </p:nvSpPr>
        <p:spPr>
          <a:xfrm>
            <a:off x="450166" y="1955409"/>
            <a:ext cx="675249" cy="3587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Ctrl</a:t>
            </a:r>
          </a:p>
        </p:txBody>
      </p:sp>
      <p:sp>
        <p:nvSpPr>
          <p:cNvPr id="7" name="Rectangle: Rounded Corners 6">
            <a:extLst>
              <a:ext uri="{FF2B5EF4-FFF2-40B4-BE49-F238E27FC236}">
                <a16:creationId xmlns:a16="http://schemas.microsoft.com/office/drawing/2014/main" id="{AEB54B6B-1EC1-C437-D1AD-DE2CDDD0A6B9}"/>
              </a:ext>
            </a:extLst>
          </p:cNvPr>
          <p:cNvSpPr/>
          <p:nvPr/>
        </p:nvSpPr>
        <p:spPr>
          <a:xfrm>
            <a:off x="1364596" y="1955409"/>
            <a:ext cx="407934" cy="3587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APL385 Unicode" panose="020B0709000202000203" pitchFamily="49" charset="0"/>
              </a:rPr>
              <a:t>↑</a:t>
            </a:r>
          </a:p>
        </p:txBody>
      </p:sp>
    </p:spTree>
    <p:extLst>
      <p:ext uri="{BB962C8B-B14F-4D97-AF65-F5344CB8AC3E}">
        <p14:creationId xmlns:p14="http://schemas.microsoft.com/office/powerpoint/2010/main" val="403261483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0AA1C-3F06-4D72-211B-91384B4A496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B6C9211-4EFB-32E6-3BB0-FD20AD7343F1}"/>
              </a:ext>
            </a:extLst>
          </p:cNvPr>
          <p:cNvSpPr>
            <a:spLocks noGrp="1"/>
          </p:cNvSpPr>
          <p:nvPr>
            <p:ph idx="1"/>
          </p:nvPr>
        </p:nvSpPr>
        <p:spPr/>
        <p:txBody>
          <a:bodyPr>
            <a:normAutofit/>
          </a:bodyPr>
          <a:lstStyle/>
          <a:p>
            <a:pPr>
              <a:buNone/>
              <a:defRPr/>
            </a:pPr>
            <a:r>
              <a:rPr lang="en-GB" dirty="0"/>
              <a:t>Toggle local:</a:t>
            </a:r>
          </a:p>
          <a:p>
            <a:pPr>
              <a:buNone/>
              <a:defRPr/>
            </a:pPr>
            <a:endParaRPr lang="en-GB" dirty="0"/>
          </a:p>
        </p:txBody>
      </p:sp>
      <p:sp>
        <p:nvSpPr>
          <p:cNvPr id="3" name="Title 2">
            <a:extLst>
              <a:ext uri="{FF2B5EF4-FFF2-40B4-BE49-F238E27FC236}">
                <a16:creationId xmlns:a16="http://schemas.microsoft.com/office/drawing/2014/main" id="{8D31715E-3A8A-0ED7-FE87-B02FDAF8BE32}"/>
              </a:ext>
            </a:extLst>
          </p:cNvPr>
          <p:cNvSpPr>
            <a:spLocks noGrp="1"/>
          </p:cNvSpPr>
          <p:nvPr>
            <p:ph type="title"/>
          </p:nvPr>
        </p:nvSpPr>
        <p:spPr/>
        <p:txBody>
          <a:bodyPr/>
          <a:lstStyle/>
          <a:p>
            <a:r>
              <a:rPr lang="en-GB" dirty="0"/>
              <a:t>Local Names</a:t>
            </a:r>
          </a:p>
        </p:txBody>
      </p:sp>
      <p:sp>
        <p:nvSpPr>
          <p:cNvPr id="4" name="Media Placeholder 3">
            <a:extLst>
              <a:ext uri="{FF2B5EF4-FFF2-40B4-BE49-F238E27FC236}">
                <a16:creationId xmlns:a16="http://schemas.microsoft.com/office/drawing/2014/main" id="{DD46F465-4255-1422-A3AE-0DB3D68804F0}"/>
              </a:ext>
            </a:extLst>
          </p:cNvPr>
          <p:cNvSpPr>
            <a:spLocks noGrp="1"/>
          </p:cNvSpPr>
          <p:nvPr>
            <p:ph type="media" sz="quarter" idx="11"/>
          </p:nvPr>
        </p:nvSpPr>
        <p:spPr/>
        <p:txBody>
          <a:bodyPr/>
          <a:lstStyle/>
          <a:p>
            <a:endParaRPr lang="en-GB"/>
          </a:p>
        </p:txBody>
      </p:sp>
      <p:pic>
        <p:nvPicPr>
          <p:cNvPr id="6" name="Picture 5">
            <a:extLst>
              <a:ext uri="{FF2B5EF4-FFF2-40B4-BE49-F238E27FC236}">
                <a16:creationId xmlns:a16="http://schemas.microsoft.com/office/drawing/2014/main" id="{A559716D-0297-A094-A313-2752E6585B7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157511" y="1082605"/>
            <a:ext cx="4522658" cy="3547423"/>
          </a:xfrm>
          <a:prstGeom prst="rect">
            <a:avLst/>
          </a:prstGeom>
        </p:spPr>
      </p:pic>
      <p:sp>
        <p:nvSpPr>
          <p:cNvPr id="5" name="Rectangle: Rounded Corners 4">
            <a:extLst>
              <a:ext uri="{FF2B5EF4-FFF2-40B4-BE49-F238E27FC236}">
                <a16:creationId xmlns:a16="http://schemas.microsoft.com/office/drawing/2014/main" id="{F65389C7-4504-BCD8-D9AD-B9B6F07CC88F}"/>
              </a:ext>
            </a:extLst>
          </p:cNvPr>
          <p:cNvSpPr/>
          <p:nvPr/>
        </p:nvSpPr>
        <p:spPr>
          <a:xfrm>
            <a:off x="450166" y="1955409"/>
            <a:ext cx="675249" cy="3587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Ctrl</a:t>
            </a:r>
          </a:p>
        </p:txBody>
      </p:sp>
      <p:sp>
        <p:nvSpPr>
          <p:cNvPr id="7" name="Rectangle: Rounded Corners 6">
            <a:extLst>
              <a:ext uri="{FF2B5EF4-FFF2-40B4-BE49-F238E27FC236}">
                <a16:creationId xmlns:a16="http://schemas.microsoft.com/office/drawing/2014/main" id="{A194EBA5-6D6A-5BBE-A5A9-F9857348ECCF}"/>
              </a:ext>
            </a:extLst>
          </p:cNvPr>
          <p:cNvSpPr/>
          <p:nvPr/>
        </p:nvSpPr>
        <p:spPr>
          <a:xfrm>
            <a:off x="1364596" y="1955409"/>
            <a:ext cx="407934" cy="35872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latin typeface="APL385 Unicode" panose="020B0709000202000203" pitchFamily="49" charset="0"/>
              </a:rPr>
              <a:t>↑</a:t>
            </a:r>
          </a:p>
        </p:txBody>
      </p:sp>
      <p:pic>
        <p:nvPicPr>
          <p:cNvPr id="8" name="Picture 7">
            <a:extLst>
              <a:ext uri="{FF2B5EF4-FFF2-40B4-BE49-F238E27FC236}">
                <a16:creationId xmlns:a16="http://schemas.microsoft.com/office/drawing/2014/main" id="{92B3A7A4-E952-C066-EFA8-C74B15274B9D}"/>
              </a:ext>
            </a:extLst>
          </p:cNvPr>
          <p:cNvPicPr>
            <a:picLocks noChangeAspect="1"/>
          </p:cNvPicPr>
          <p:nvPr/>
        </p:nvPicPr>
        <p:blipFill>
          <a:blip r:embed="rId3">
            <a:extLst>
              <a:ext uri="{28A0092B-C50C-407E-A947-70E740481C1C}">
                <a14:useLocalDpi xmlns:a14="http://schemas.microsoft.com/office/drawing/2010/main" val="0"/>
              </a:ext>
            </a:extLst>
          </a:blip>
          <a:srcRect t="41978"/>
          <a:stretch>
            <a:fillRect/>
          </a:stretch>
        </p:blipFill>
        <p:spPr>
          <a:xfrm>
            <a:off x="2155526" y="2571750"/>
            <a:ext cx="4526628" cy="2058278"/>
          </a:xfrm>
          <a:prstGeom prst="rect">
            <a:avLst/>
          </a:prstGeom>
        </p:spPr>
      </p:pic>
    </p:spTree>
    <p:extLst>
      <p:ext uri="{BB962C8B-B14F-4D97-AF65-F5344CB8AC3E}">
        <p14:creationId xmlns:p14="http://schemas.microsoft.com/office/powerpoint/2010/main" val="27546726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5D9CD35-DCEC-530F-496E-050B7C351729}"/>
              </a:ext>
            </a:extLst>
          </p:cNvPr>
          <p:cNvSpPr>
            <a:spLocks noGrp="1"/>
          </p:cNvSpPr>
          <p:nvPr>
            <p:ph idx="1"/>
          </p:nvPr>
        </p:nvSpPr>
        <p:spPr/>
        <p:txBody>
          <a:bodyPr>
            <a:normAutofit fontScale="92500" lnSpcReduction="10000"/>
          </a:bodyPr>
          <a:lstStyle/>
          <a:p>
            <a:pPr marL="0" indent="0">
              <a:buNone/>
              <a:defRPr/>
            </a:pPr>
            <a:r>
              <a:rPr lang="en-GB" dirty="0"/>
              <a:t>In APL literature you will often see decorators when displaying functions with a del (</a:t>
            </a:r>
            <a:r>
              <a:rPr lang="en-GB" dirty="0">
                <a:latin typeface="APL385 Unicode" panose="020B0709000202000203" pitchFamily="49" charset="0"/>
              </a:rPr>
              <a:t>∇</a:t>
            </a:r>
            <a:r>
              <a:rPr lang="en-GB" dirty="0"/>
              <a:t>) starting and ending the program and line numbers:</a:t>
            </a:r>
            <a:br>
              <a:rPr lang="en-GB" dirty="0"/>
            </a:br>
            <a:endParaRPr lang="en-GB" dirty="0"/>
          </a:p>
          <a:p>
            <a:pPr marL="0" indent="0">
              <a:buNone/>
              <a:defRPr/>
            </a:pPr>
            <a:r>
              <a:rPr lang="en-GB" dirty="0">
                <a:latin typeface="APL385 Unicode" panose="020B0709000202000203" pitchFamily="49" charset="0"/>
              </a:rPr>
              <a:t>   </a:t>
            </a:r>
            <a:r>
              <a:rPr lang="en-GB" dirty="0">
                <a:solidFill>
                  <a:srgbClr val="FF6600"/>
                </a:solidFill>
                <a:latin typeface="APL385 Unicode" panose="020B0709000202000203" pitchFamily="49" charset="0"/>
              </a:rPr>
              <a:t>∇</a:t>
            </a:r>
            <a:r>
              <a:rPr lang="en-GB" dirty="0">
                <a:solidFill>
                  <a:srgbClr val="00B050"/>
                </a:solidFill>
                <a:latin typeface="APL385 Unicode" panose="020B0709000202000203" pitchFamily="49" charset="0"/>
              </a:rPr>
              <a:t> </a:t>
            </a:r>
            <a:r>
              <a:rPr lang="en-GB" dirty="0" err="1">
                <a:solidFill>
                  <a:srgbClr val="00B050"/>
                </a:solidFill>
                <a:latin typeface="APL385 Unicode" panose="020B0709000202000203" pitchFamily="49" charset="0"/>
              </a:rPr>
              <a:t>r←pgm_name</a:t>
            </a:r>
            <a:r>
              <a:rPr lang="en-GB" dirty="0">
                <a:solidFill>
                  <a:srgbClr val="00B050"/>
                </a:solidFill>
                <a:latin typeface="APL385 Unicode" panose="020B0709000202000203" pitchFamily="49" charset="0"/>
              </a:rPr>
              <a:t> </a:t>
            </a:r>
            <a:r>
              <a:rPr lang="en-GB" dirty="0" err="1">
                <a:solidFill>
                  <a:srgbClr val="00B050"/>
                </a:solidFill>
                <a:latin typeface="APL385 Unicode" panose="020B0709000202000203" pitchFamily="49" charset="0"/>
              </a:rPr>
              <a:t>args</a:t>
            </a:r>
            <a:endParaRPr lang="en-GB" dirty="0">
              <a:solidFill>
                <a:srgbClr val="00B050"/>
              </a:solidFill>
              <a:latin typeface="APL385 Unicode" panose="020B0709000202000203" pitchFamily="49" charset="0"/>
            </a:endParaRPr>
          </a:p>
          <a:p>
            <a:pPr marL="0" indent="0">
              <a:buNone/>
              <a:defRPr/>
            </a:pPr>
            <a:r>
              <a:rPr lang="en-GB" dirty="0">
                <a:solidFill>
                  <a:srgbClr val="FF6600"/>
                </a:solidFill>
                <a:latin typeface="APL385 Unicode" panose="020B0709000202000203" pitchFamily="49" charset="0"/>
              </a:rPr>
              <a:t>[1]  </a:t>
            </a:r>
            <a:r>
              <a:rPr lang="en-GB" dirty="0">
                <a:solidFill>
                  <a:srgbClr val="00B050"/>
                </a:solidFill>
                <a:latin typeface="APL385 Unicode" panose="020B0709000202000203" pitchFamily="49" charset="0"/>
              </a:rPr>
              <a:t>⍝ …</a:t>
            </a:r>
          </a:p>
          <a:p>
            <a:pPr marL="0" indent="0">
              <a:buNone/>
              <a:defRPr/>
            </a:pPr>
            <a:r>
              <a:rPr lang="en-GB" dirty="0">
                <a:solidFill>
                  <a:srgbClr val="FF6600"/>
                </a:solidFill>
                <a:latin typeface="APL385 Unicode" panose="020B0709000202000203" pitchFamily="49" charset="0"/>
              </a:rPr>
              <a:t>[2]  </a:t>
            </a:r>
            <a:r>
              <a:rPr lang="en-GB" dirty="0">
                <a:solidFill>
                  <a:srgbClr val="00B050"/>
                </a:solidFill>
                <a:latin typeface="APL385 Unicode" panose="020B0709000202000203" pitchFamily="49" charset="0"/>
              </a:rPr>
              <a:t>…</a:t>
            </a:r>
          </a:p>
          <a:p>
            <a:pPr marL="0" indent="0">
              <a:buNone/>
              <a:defRPr/>
            </a:pPr>
            <a:r>
              <a:rPr lang="en-GB" dirty="0">
                <a:solidFill>
                  <a:srgbClr val="00B050"/>
                </a:solidFill>
                <a:latin typeface="APL385 Unicode" panose="020B0709000202000203" pitchFamily="49" charset="0"/>
              </a:rPr>
              <a:t>   </a:t>
            </a:r>
            <a:r>
              <a:rPr lang="en-GB" dirty="0">
                <a:solidFill>
                  <a:srgbClr val="FF6600"/>
                </a:solidFill>
                <a:latin typeface="APL385 Unicode" panose="020B0709000202000203" pitchFamily="49" charset="0"/>
              </a:rPr>
              <a:t>∇</a:t>
            </a:r>
          </a:p>
        </p:txBody>
      </p:sp>
      <p:sp>
        <p:nvSpPr>
          <p:cNvPr id="3" name="Title 2">
            <a:extLst>
              <a:ext uri="{FF2B5EF4-FFF2-40B4-BE49-F238E27FC236}">
                <a16:creationId xmlns:a16="http://schemas.microsoft.com/office/drawing/2014/main" id="{F77AB28C-6AEF-4A24-98A0-9F52FD9C165A}"/>
              </a:ext>
            </a:extLst>
          </p:cNvPr>
          <p:cNvSpPr>
            <a:spLocks noGrp="1"/>
          </p:cNvSpPr>
          <p:nvPr>
            <p:ph type="title"/>
          </p:nvPr>
        </p:nvSpPr>
        <p:spPr/>
        <p:txBody>
          <a:bodyPr/>
          <a:lstStyle/>
          <a:p>
            <a:r>
              <a:rPr lang="en-GB" dirty="0"/>
              <a:t>Display Forms of Programs</a:t>
            </a:r>
          </a:p>
        </p:txBody>
      </p:sp>
      <p:sp>
        <p:nvSpPr>
          <p:cNvPr id="4" name="Media Placeholder 3">
            <a:extLst>
              <a:ext uri="{FF2B5EF4-FFF2-40B4-BE49-F238E27FC236}">
                <a16:creationId xmlns:a16="http://schemas.microsoft.com/office/drawing/2014/main" id="{3E2B4A76-E853-6BB6-9C58-4752A8313AA3}"/>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256821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BFD1EF-44B4-026F-945D-9D0A55EBA574}"/>
              </a:ext>
            </a:extLst>
          </p:cNvPr>
          <p:cNvSpPr>
            <a:spLocks noGrp="1"/>
          </p:cNvSpPr>
          <p:nvPr>
            <p:ph idx="1"/>
          </p:nvPr>
        </p:nvSpPr>
        <p:spPr/>
        <p:txBody>
          <a:bodyPr/>
          <a:lstStyle/>
          <a:p>
            <a:pPr marL="0" indent="0">
              <a:buNone/>
              <a:defRPr/>
            </a:pPr>
            <a:r>
              <a:rPr lang="en-GB" dirty="0"/>
              <a:t>By default, APL displays the result of any expression if it is not assigned to a name.</a:t>
            </a:r>
          </a:p>
          <a:p>
            <a:pPr marL="0" indent="0">
              <a:buNone/>
              <a:defRPr/>
            </a:pPr>
            <a:r>
              <a:rPr lang="en-GB" dirty="0"/>
              <a:t>It is sometimes desirable to make a result available to an interested caller, but NOT display the result in the session if it is not used.</a:t>
            </a:r>
          </a:p>
          <a:p>
            <a:pPr marL="0" indent="0">
              <a:buNone/>
              <a:defRPr/>
            </a:pPr>
            <a:r>
              <a:rPr lang="en-GB" dirty="0"/>
              <a:t>We can achieve this with a </a:t>
            </a:r>
            <a:r>
              <a:rPr lang="en-GB" b="1" i="1" dirty="0"/>
              <a:t>SHY</a:t>
            </a:r>
            <a:r>
              <a:rPr lang="en-GB" dirty="0"/>
              <a:t> result.</a:t>
            </a:r>
          </a:p>
        </p:txBody>
      </p:sp>
      <p:sp>
        <p:nvSpPr>
          <p:cNvPr id="3" name="Title 2">
            <a:extLst>
              <a:ext uri="{FF2B5EF4-FFF2-40B4-BE49-F238E27FC236}">
                <a16:creationId xmlns:a16="http://schemas.microsoft.com/office/drawing/2014/main" id="{21CDD315-C3C7-0A86-EEEB-756AB4604686}"/>
              </a:ext>
            </a:extLst>
          </p:cNvPr>
          <p:cNvSpPr>
            <a:spLocks noGrp="1"/>
          </p:cNvSpPr>
          <p:nvPr>
            <p:ph type="title"/>
          </p:nvPr>
        </p:nvSpPr>
        <p:spPr/>
        <p:txBody>
          <a:bodyPr/>
          <a:lstStyle/>
          <a:p>
            <a:r>
              <a:rPr lang="en-GB" dirty="0"/>
              <a:t>Shy Results</a:t>
            </a:r>
          </a:p>
        </p:txBody>
      </p:sp>
      <p:sp>
        <p:nvSpPr>
          <p:cNvPr id="4" name="Media Placeholder 3">
            <a:extLst>
              <a:ext uri="{FF2B5EF4-FFF2-40B4-BE49-F238E27FC236}">
                <a16:creationId xmlns:a16="http://schemas.microsoft.com/office/drawing/2014/main" id="{A245C66D-0AD8-B7B6-06F2-FF080E815221}"/>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8327161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3776D-C750-2505-BE5D-DC6EA99E514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80D6E7-6AD9-3A71-BF02-1A546936A92D}"/>
              </a:ext>
            </a:extLst>
          </p:cNvPr>
          <p:cNvSpPr>
            <a:spLocks noGrp="1"/>
          </p:cNvSpPr>
          <p:nvPr>
            <p:ph idx="1"/>
          </p:nvPr>
        </p:nvSpPr>
        <p:spPr/>
        <p:txBody>
          <a:bodyPr>
            <a:normAutofit fontScale="70000" lnSpcReduction="20000"/>
          </a:bodyPr>
          <a:lstStyle/>
          <a:p>
            <a:pPr marL="0" indent="0">
              <a:spcAft>
                <a:spcPts val="400"/>
              </a:spcAft>
              <a:buNone/>
              <a:defRPr/>
            </a:pPr>
            <a:r>
              <a:rPr lang="en-GB" dirty="0"/>
              <a:t>The result is shy if it is surrounded by curly braces:</a:t>
            </a:r>
            <a:br>
              <a:rPr lang="en-GB" dirty="0"/>
            </a:br>
            <a:endParaRPr lang="en-GB" dirty="0"/>
          </a:p>
          <a:p>
            <a:pPr marL="0" indent="0">
              <a:spcAft>
                <a:spcPts val="400"/>
              </a:spcAft>
              <a:buNone/>
              <a:defRPr/>
            </a:pPr>
            <a:r>
              <a:rPr lang="en-GB" dirty="0">
                <a:latin typeface="APL385 Unicode" panose="020B0709000202000203" pitchFamily="49" charset="0"/>
              </a:rPr>
              <a:t>   </a:t>
            </a:r>
            <a:r>
              <a:rPr lang="en-GB" dirty="0">
                <a:solidFill>
                  <a:srgbClr val="00B0F0"/>
                </a:solidFill>
                <a:latin typeface="APL385 Unicode" panose="020B0709000202000203" pitchFamily="49" charset="0"/>
              </a:rPr>
              <a:t>∇ {time}← </a:t>
            </a:r>
            <a:r>
              <a:rPr lang="en-GB" dirty="0" err="1">
                <a:solidFill>
                  <a:srgbClr val="00B0F0"/>
                </a:solidFill>
                <a:latin typeface="APL385 Unicode" panose="020B0709000202000203" pitchFamily="49" charset="0"/>
              </a:rPr>
              <a:t>WaitFor</a:t>
            </a:r>
            <a:r>
              <a:rPr lang="en-GB" dirty="0">
                <a:solidFill>
                  <a:srgbClr val="00B0F0"/>
                </a:solidFill>
                <a:latin typeface="APL385 Unicode" panose="020B0709000202000203" pitchFamily="49" charset="0"/>
              </a:rPr>
              <a:t> </a:t>
            </a:r>
            <a:r>
              <a:rPr lang="en-GB" dirty="0" err="1">
                <a:solidFill>
                  <a:srgbClr val="00B0F0"/>
                </a:solidFill>
                <a:latin typeface="APL385 Unicode" panose="020B0709000202000203" pitchFamily="49" charset="0"/>
              </a:rPr>
              <a:t>Nseconds</a:t>
            </a:r>
            <a:endParaRPr lang="en-GB" dirty="0">
              <a:solidFill>
                <a:srgbClr val="00B0F0"/>
              </a:solidFill>
              <a:latin typeface="APL385 Unicode" panose="020B0709000202000203" pitchFamily="49" charset="0"/>
            </a:endParaRPr>
          </a:p>
          <a:p>
            <a:pPr marL="0" indent="0">
              <a:spcAft>
                <a:spcPts val="400"/>
              </a:spcAft>
              <a:buNone/>
              <a:defRPr/>
            </a:pPr>
            <a:r>
              <a:rPr lang="en-GB" dirty="0">
                <a:solidFill>
                  <a:srgbClr val="00B0F0"/>
                </a:solidFill>
                <a:latin typeface="APL385 Unicode" panose="020B0709000202000203" pitchFamily="49" charset="0"/>
              </a:rPr>
              <a:t>[1]  … ⍝ spend N seconds here</a:t>
            </a:r>
          </a:p>
          <a:p>
            <a:pPr marL="0" indent="0">
              <a:spcAft>
                <a:spcPts val="400"/>
              </a:spcAft>
              <a:buNone/>
              <a:defRPr/>
            </a:pPr>
            <a:r>
              <a:rPr lang="en-GB" dirty="0">
                <a:solidFill>
                  <a:srgbClr val="00B0F0"/>
                </a:solidFill>
                <a:latin typeface="APL385 Unicode" panose="020B0709000202000203" pitchFamily="49" charset="0"/>
              </a:rPr>
              <a:t>[2]  </a:t>
            </a:r>
            <a:r>
              <a:rPr lang="en-GB" dirty="0" err="1">
                <a:solidFill>
                  <a:srgbClr val="00B0F0"/>
                </a:solidFill>
                <a:latin typeface="APL385 Unicode" panose="020B0709000202000203" pitchFamily="49" charset="0"/>
              </a:rPr>
              <a:t>time←Nseconds</a:t>
            </a:r>
            <a:endParaRPr lang="en-GB" dirty="0">
              <a:solidFill>
                <a:srgbClr val="00B0F0"/>
              </a:solidFill>
              <a:latin typeface="APL385 Unicode" panose="020B0709000202000203" pitchFamily="49" charset="0"/>
            </a:endParaRPr>
          </a:p>
          <a:p>
            <a:pPr marL="0" indent="0">
              <a:spcAft>
                <a:spcPts val="400"/>
              </a:spcAft>
              <a:buNone/>
              <a:defRPr/>
            </a:pPr>
            <a:r>
              <a:rPr lang="en-GB" dirty="0">
                <a:solidFill>
                  <a:srgbClr val="00B0F0"/>
                </a:solidFill>
                <a:latin typeface="APL385 Unicode" panose="020B0709000202000203" pitchFamily="49" charset="0"/>
              </a:rPr>
              <a:t>   ∇</a:t>
            </a:r>
            <a:br>
              <a:rPr lang="en-GB" dirty="0">
                <a:solidFill>
                  <a:srgbClr val="00B0F0"/>
                </a:solidFill>
                <a:latin typeface="APL385 Unicode" panose="020B0709000202000203" pitchFamily="49" charset="0"/>
              </a:rPr>
            </a:br>
            <a:endParaRPr lang="en-GB" dirty="0">
              <a:solidFill>
                <a:srgbClr val="00B0F0"/>
              </a:solidFill>
              <a:latin typeface="APL385 Unicode" panose="020B0709000202000203" pitchFamily="49" charset="0"/>
            </a:endParaRPr>
          </a:p>
          <a:p>
            <a:pPr marL="0" indent="0">
              <a:spcAft>
                <a:spcPts val="400"/>
              </a:spcAft>
              <a:buNone/>
              <a:defRPr/>
            </a:pPr>
            <a:r>
              <a:rPr lang="en-GB" dirty="0">
                <a:latin typeface="APL385 Unicode" panose="020B0709000202000203" pitchFamily="49" charset="0"/>
              </a:rPr>
              <a:t>   </a:t>
            </a:r>
            <a:r>
              <a:rPr lang="en-GB" dirty="0" err="1">
                <a:solidFill>
                  <a:srgbClr val="00B050"/>
                </a:solidFill>
                <a:latin typeface="APL385 Unicode" panose="020B0709000202000203" pitchFamily="49" charset="0"/>
              </a:rPr>
              <a:t>WaitFor</a:t>
            </a:r>
            <a:r>
              <a:rPr lang="en-GB" dirty="0">
                <a:solidFill>
                  <a:srgbClr val="00B050"/>
                </a:solidFill>
                <a:latin typeface="APL385 Unicode" panose="020B0709000202000203" pitchFamily="49" charset="0"/>
              </a:rPr>
              <a:t>  9   </a:t>
            </a:r>
            <a:r>
              <a:rPr lang="en-GB" dirty="0">
                <a:solidFill>
                  <a:srgbClr val="DD6DCD"/>
                </a:solidFill>
                <a:latin typeface="APL385 Unicode" panose="020B0709000202000203" pitchFamily="49" charset="0"/>
              </a:rPr>
              <a:t>⍝ nothing displayed</a:t>
            </a:r>
          </a:p>
          <a:p>
            <a:pPr marL="0" indent="0">
              <a:spcAft>
                <a:spcPts val="400"/>
              </a:spcAft>
              <a:buNone/>
              <a:defRPr/>
            </a:pPr>
            <a:r>
              <a:rPr lang="en-GB" dirty="0">
                <a:solidFill>
                  <a:srgbClr val="00B050"/>
                </a:solidFill>
                <a:latin typeface="APL385 Unicode" panose="020B0709000202000203" pitchFamily="49" charset="0"/>
              </a:rPr>
              <a:t>   ⎕←</a:t>
            </a:r>
            <a:r>
              <a:rPr lang="en-GB" dirty="0" err="1">
                <a:solidFill>
                  <a:srgbClr val="00B050"/>
                </a:solidFill>
                <a:latin typeface="APL385 Unicode" panose="020B0709000202000203" pitchFamily="49" charset="0"/>
              </a:rPr>
              <a:t>WaitFor</a:t>
            </a:r>
            <a:r>
              <a:rPr lang="en-GB" dirty="0">
                <a:solidFill>
                  <a:srgbClr val="00B050"/>
                </a:solidFill>
                <a:latin typeface="APL385 Unicode" panose="020B0709000202000203" pitchFamily="49" charset="0"/>
              </a:rPr>
              <a:t>  3</a:t>
            </a:r>
          </a:p>
          <a:p>
            <a:pPr marL="0" indent="0">
              <a:spcAft>
                <a:spcPts val="400"/>
              </a:spcAft>
              <a:buNone/>
              <a:defRPr/>
            </a:pPr>
            <a:r>
              <a:rPr lang="en-GB" dirty="0">
                <a:solidFill>
                  <a:srgbClr val="00B050"/>
                </a:solidFill>
                <a:latin typeface="APL385 Unicode" panose="020B0709000202000203" pitchFamily="49" charset="0"/>
              </a:rPr>
              <a:t>3</a:t>
            </a:r>
          </a:p>
          <a:p>
            <a:pPr marL="0" indent="0">
              <a:spcAft>
                <a:spcPts val="400"/>
              </a:spcAft>
              <a:buNone/>
              <a:defRPr/>
            </a:pPr>
            <a:endParaRPr lang="en-GB" dirty="0">
              <a:solidFill>
                <a:srgbClr val="00B050"/>
              </a:solidFill>
              <a:latin typeface="APL385 Unicode" panose="020B0709000202000203" pitchFamily="49" charset="0"/>
            </a:endParaRPr>
          </a:p>
          <a:p>
            <a:pPr marL="0" indent="0">
              <a:spcAft>
                <a:spcPts val="400"/>
              </a:spcAft>
              <a:buNone/>
              <a:defRPr/>
            </a:pPr>
            <a:r>
              <a:rPr lang="en-GB" dirty="0"/>
              <a:t>[NB. Morten thinks shy results are “too clever”]</a:t>
            </a:r>
          </a:p>
        </p:txBody>
      </p:sp>
      <p:sp>
        <p:nvSpPr>
          <p:cNvPr id="3" name="Title 2">
            <a:extLst>
              <a:ext uri="{FF2B5EF4-FFF2-40B4-BE49-F238E27FC236}">
                <a16:creationId xmlns:a16="http://schemas.microsoft.com/office/drawing/2014/main" id="{36FE6F01-1B13-2191-7CF2-2B8E2D8E3297}"/>
              </a:ext>
            </a:extLst>
          </p:cNvPr>
          <p:cNvSpPr>
            <a:spLocks noGrp="1"/>
          </p:cNvSpPr>
          <p:nvPr>
            <p:ph type="title"/>
          </p:nvPr>
        </p:nvSpPr>
        <p:spPr/>
        <p:txBody>
          <a:bodyPr/>
          <a:lstStyle/>
          <a:p>
            <a:r>
              <a:rPr lang="en-GB" dirty="0"/>
              <a:t>Shy Results</a:t>
            </a:r>
          </a:p>
        </p:txBody>
      </p:sp>
      <p:sp>
        <p:nvSpPr>
          <p:cNvPr id="4" name="Media Placeholder 3">
            <a:extLst>
              <a:ext uri="{FF2B5EF4-FFF2-40B4-BE49-F238E27FC236}">
                <a16:creationId xmlns:a16="http://schemas.microsoft.com/office/drawing/2014/main" id="{3A604A80-AAEF-1905-B4C0-E8D158B12228}"/>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1343513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85625E-C4B1-6987-9A25-6425B0DD0197}"/>
              </a:ext>
            </a:extLst>
          </p:cNvPr>
          <p:cNvSpPr>
            <a:spLocks noGrp="1"/>
          </p:cNvSpPr>
          <p:nvPr>
            <p:ph idx="1"/>
          </p:nvPr>
        </p:nvSpPr>
        <p:spPr/>
        <p:txBody>
          <a:bodyPr/>
          <a:lstStyle/>
          <a:p>
            <a:pPr marL="0" indent="0" algn="ctr">
              <a:buNone/>
            </a:pPr>
            <a:r>
              <a:rPr lang="en-GB" sz="9600" dirty="0"/>
              <a:t>🤔</a:t>
            </a:r>
          </a:p>
          <a:p>
            <a:pPr marL="0" indent="0">
              <a:buNone/>
            </a:pPr>
            <a:endParaRPr lang="en-GB" dirty="0"/>
          </a:p>
        </p:txBody>
      </p:sp>
      <p:sp>
        <p:nvSpPr>
          <p:cNvPr id="3" name="Title 2">
            <a:extLst>
              <a:ext uri="{FF2B5EF4-FFF2-40B4-BE49-F238E27FC236}">
                <a16:creationId xmlns:a16="http://schemas.microsoft.com/office/drawing/2014/main" id="{2F435AB1-555B-E59E-7D96-34A812CA1818}"/>
              </a:ext>
            </a:extLst>
          </p:cNvPr>
          <p:cNvSpPr>
            <a:spLocks noGrp="1"/>
          </p:cNvSpPr>
          <p:nvPr>
            <p:ph type="title"/>
          </p:nvPr>
        </p:nvSpPr>
        <p:spPr/>
        <p:txBody>
          <a:bodyPr/>
          <a:lstStyle/>
          <a:p>
            <a:r>
              <a:rPr lang="en-GB" dirty="0"/>
              <a:t>Questions?</a:t>
            </a:r>
          </a:p>
        </p:txBody>
      </p:sp>
      <p:sp>
        <p:nvSpPr>
          <p:cNvPr id="4" name="Media Placeholder 3">
            <a:extLst>
              <a:ext uri="{FF2B5EF4-FFF2-40B4-BE49-F238E27FC236}">
                <a16:creationId xmlns:a16="http://schemas.microsoft.com/office/drawing/2014/main" id="{8EB47DE4-C49C-7C06-1A4F-CBF8DCF6DE21}"/>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40934542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63FE3B5-2203-3974-D20E-F8E20BB89338}"/>
              </a:ext>
            </a:extLst>
          </p:cNvPr>
          <p:cNvSpPr>
            <a:spLocks noGrp="1"/>
          </p:cNvSpPr>
          <p:nvPr>
            <p:ph idx="1"/>
          </p:nvPr>
        </p:nvSpPr>
        <p:spPr/>
        <p:txBody>
          <a:bodyPr>
            <a:normAutofit fontScale="92500" lnSpcReduction="20000"/>
          </a:bodyPr>
          <a:lstStyle/>
          <a:p>
            <a:pPr marL="457200" indent="-457200">
              <a:buFont typeface="+mj-lt"/>
              <a:buAutoNum type="arabicPeriod"/>
            </a:pPr>
            <a:r>
              <a:rPr lang="en-GB" dirty="0"/>
              <a:t>Explain the role of each name in these </a:t>
            </a:r>
            <a:r>
              <a:rPr lang="en-GB" dirty="0" err="1"/>
              <a:t>tradfn</a:t>
            </a:r>
            <a:r>
              <a:rPr lang="en-GB" dirty="0"/>
              <a:t> </a:t>
            </a:r>
            <a:r>
              <a:rPr lang="en-GB" b="1" dirty="0"/>
              <a:t>headers</a:t>
            </a:r>
            <a:r>
              <a:rPr lang="en-GB" dirty="0"/>
              <a:t>:</a:t>
            </a:r>
          </a:p>
          <a:p>
            <a:pPr marL="757238" lvl="1" indent="-457200">
              <a:buFont typeface="+mj-lt"/>
              <a:buAutoNum type="alphaLcParenR"/>
            </a:pPr>
            <a:r>
              <a:rPr lang="en-GB" dirty="0">
                <a:solidFill>
                  <a:srgbClr val="0070C0"/>
                </a:solidFill>
                <a:latin typeface="APL385 Unicode" panose="020B0709000202000203" pitchFamily="49" charset="0"/>
              </a:rPr>
              <a:t>la </a:t>
            </a:r>
            <a:r>
              <a:rPr lang="en-GB" dirty="0" err="1">
                <a:solidFill>
                  <a:srgbClr val="0070C0"/>
                </a:solidFill>
                <a:latin typeface="APL385 Unicode" panose="020B0709000202000203" pitchFamily="49" charset="0"/>
              </a:rPr>
              <a:t>myPgm</a:t>
            </a:r>
            <a:r>
              <a:rPr lang="en-GB" dirty="0">
                <a:solidFill>
                  <a:srgbClr val="0070C0"/>
                </a:solidFill>
                <a:latin typeface="APL385 Unicode" panose="020B0709000202000203" pitchFamily="49" charset="0"/>
              </a:rPr>
              <a:t> </a:t>
            </a:r>
            <a:r>
              <a:rPr lang="en-GB" dirty="0" err="1">
                <a:solidFill>
                  <a:srgbClr val="0070C0"/>
                </a:solidFill>
                <a:latin typeface="APL385 Unicode" panose="020B0709000202000203" pitchFamily="49" charset="0"/>
              </a:rPr>
              <a:t>ra</a:t>
            </a:r>
            <a:endParaRPr lang="en-GB" dirty="0">
              <a:solidFill>
                <a:srgbClr val="0070C0"/>
              </a:solidFill>
              <a:latin typeface="APL385 Unicode" panose="020B0709000202000203" pitchFamily="49" charset="0"/>
            </a:endParaRPr>
          </a:p>
          <a:p>
            <a:pPr marL="757238" lvl="1" indent="-457200">
              <a:buFont typeface="+mj-lt"/>
              <a:buAutoNum type="alphaLcParenR"/>
            </a:pPr>
            <a:r>
              <a:rPr lang="en-GB" dirty="0">
                <a:solidFill>
                  <a:srgbClr val="0070C0"/>
                </a:solidFill>
                <a:latin typeface="APL385 Unicode" panose="020B0709000202000203" pitchFamily="49" charset="0"/>
              </a:rPr>
              <a:t>alpha←omega;Zeta0;∆</a:t>
            </a:r>
          </a:p>
          <a:p>
            <a:pPr marL="757238" lvl="1" indent="-457200">
              <a:buFont typeface="+mj-lt"/>
              <a:buAutoNum type="alphaLcParenR"/>
            </a:pPr>
            <a:r>
              <a:rPr lang="en-GB" dirty="0">
                <a:solidFill>
                  <a:srgbClr val="0070C0"/>
                </a:solidFill>
                <a:latin typeface="APL385 Unicode" panose="020B0709000202000203" pitchFamily="49" charset="0"/>
              </a:rPr>
              <a:t>W X Y ;Z</a:t>
            </a:r>
          </a:p>
          <a:p>
            <a:pPr marL="457200" indent="-457200">
              <a:buFont typeface="+mj-lt"/>
              <a:buAutoNum type="arabicPeriod"/>
            </a:pPr>
            <a:r>
              <a:rPr lang="en-GB" dirty="0"/>
              <a:t>Are these </a:t>
            </a:r>
            <a:r>
              <a:rPr lang="en-GB" b="1" dirty="0"/>
              <a:t>headers</a:t>
            </a:r>
            <a:r>
              <a:rPr lang="en-GB" dirty="0"/>
              <a:t> valid?</a:t>
            </a:r>
          </a:p>
          <a:p>
            <a:pPr marL="800100" lvl="1" indent="-457200">
              <a:buFont typeface="+mj-lt"/>
              <a:buAutoNum type="alphaLcParenR"/>
            </a:pPr>
            <a:r>
              <a:rPr lang="en-GB" dirty="0" err="1">
                <a:solidFill>
                  <a:srgbClr val="0070C0"/>
                </a:solidFill>
                <a:latin typeface="APL385 Unicode" panose="020B0709000202000203" pitchFamily="49" charset="0"/>
              </a:rPr>
              <a:t>LeftArg</a:t>
            </a:r>
            <a:r>
              <a:rPr lang="en-GB" dirty="0">
                <a:solidFill>
                  <a:srgbClr val="0070C0"/>
                </a:solidFill>
                <a:latin typeface="APL385 Unicode" panose="020B0709000202000203" pitchFamily="49" charset="0"/>
              </a:rPr>
              <a:t> </a:t>
            </a:r>
            <a:r>
              <a:rPr lang="en-GB" dirty="0" err="1">
                <a:solidFill>
                  <a:srgbClr val="0070C0"/>
                </a:solidFill>
                <a:latin typeface="APL385 Unicode" panose="020B0709000202000203" pitchFamily="49" charset="0"/>
              </a:rPr>
              <a:t>myFn</a:t>
            </a:r>
            <a:endParaRPr lang="en-GB" dirty="0">
              <a:solidFill>
                <a:srgbClr val="0070C0"/>
              </a:solidFill>
              <a:latin typeface="APL385 Unicode" panose="020B0709000202000203" pitchFamily="49" charset="0"/>
            </a:endParaRPr>
          </a:p>
          <a:p>
            <a:pPr marL="800100" lvl="1" indent="-457200">
              <a:buFont typeface="+mj-lt"/>
              <a:buAutoNum type="alphaLcParenR"/>
            </a:pPr>
            <a:r>
              <a:rPr lang="en-GB" dirty="0">
                <a:solidFill>
                  <a:srgbClr val="0070C0"/>
                </a:solidFill>
                <a:latin typeface="APL385 Unicode" panose="020B0709000202000203" pitchFamily="49" charset="0"/>
              </a:rPr>
              <a:t>{why}←not this?</a:t>
            </a:r>
          </a:p>
          <a:p>
            <a:pPr marL="800100" lvl="1" indent="-457200">
              <a:buFont typeface="+mj-lt"/>
              <a:buAutoNum type="alphaLcParenR"/>
            </a:pPr>
            <a:r>
              <a:rPr lang="en-GB" dirty="0">
                <a:solidFill>
                  <a:srgbClr val="0070C0"/>
                </a:solidFill>
                <a:latin typeface="APL385 Unicode" panose="020B0709000202000203" pitchFamily="49" charset="0"/>
              </a:rPr>
              <a:t>Hum</a:t>
            </a:r>
          </a:p>
        </p:txBody>
      </p:sp>
      <p:sp>
        <p:nvSpPr>
          <p:cNvPr id="3" name="Title 2">
            <a:extLst>
              <a:ext uri="{FF2B5EF4-FFF2-40B4-BE49-F238E27FC236}">
                <a16:creationId xmlns:a16="http://schemas.microsoft.com/office/drawing/2014/main" id="{5F9CFDD9-FE0D-C901-B9FC-4F0AB45ED612}"/>
              </a:ext>
            </a:extLst>
          </p:cNvPr>
          <p:cNvSpPr>
            <a:spLocks noGrp="1"/>
          </p:cNvSpPr>
          <p:nvPr>
            <p:ph type="title"/>
          </p:nvPr>
        </p:nvSpPr>
        <p:spPr/>
        <p:txBody>
          <a:bodyPr/>
          <a:lstStyle/>
          <a:p>
            <a:r>
              <a:rPr lang="en-GB" dirty="0"/>
              <a:t>Exercises</a:t>
            </a:r>
          </a:p>
        </p:txBody>
      </p:sp>
      <p:sp>
        <p:nvSpPr>
          <p:cNvPr id="4" name="Media Placeholder 3">
            <a:extLst>
              <a:ext uri="{FF2B5EF4-FFF2-40B4-BE49-F238E27FC236}">
                <a16:creationId xmlns:a16="http://schemas.microsoft.com/office/drawing/2014/main" id="{0536D1CC-2D98-5E62-AAC1-787A5DE56CD4}"/>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29673213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D8699-5308-D672-373C-79E3A7C8B39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24BE3F-5A17-1EB0-13F7-1AAB32F83495}"/>
              </a:ext>
            </a:extLst>
          </p:cNvPr>
          <p:cNvSpPr>
            <a:spLocks noGrp="1"/>
          </p:cNvSpPr>
          <p:nvPr>
            <p:ph idx="1"/>
          </p:nvPr>
        </p:nvSpPr>
        <p:spPr/>
        <p:txBody>
          <a:bodyPr>
            <a:normAutofit lnSpcReduction="10000"/>
          </a:bodyPr>
          <a:lstStyle/>
          <a:p>
            <a:pPr marL="0" indent="0">
              <a:buNone/>
            </a:pPr>
            <a:r>
              <a:rPr lang="en-GB" dirty="0"/>
              <a:t>Write </a:t>
            </a:r>
            <a:r>
              <a:rPr lang="en-GB" dirty="0" err="1"/>
              <a:t>TradFn</a:t>
            </a:r>
            <a:r>
              <a:rPr lang="en-GB" dirty="0"/>
              <a:t> versions of functions from previous exercises:</a:t>
            </a:r>
          </a:p>
          <a:p>
            <a:pPr>
              <a:buFont typeface="+mj-lt"/>
              <a:buAutoNum type="arabicPeriod"/>
            </a:pPr>
            <a:r>
              <a:rPr lang="en-GB" dirty="0" err="1">
                <a:latin typeface="APL385 Unicode" panose="020B0709000202000203" pitchFamily="49" charset="0"/>
              </a:rPr>
              <a:t>CtoF</a:t>
            </a:r>
            <a:r>
              <a:rPr lang="en-GB" dirty="0">
                <a:latin typeface="APL385 Unicode" panose="020B0709000202000203" pitchFamily="49" charset="0"/>
              </a:rPr>
              <a:t> ← {32+⍵×9÷5}</a:t>
            </a:r>
          </a:p>
          <a:p>
            <a:pPr>
              <a:buFont typeface="+mj-lt"/>
              <a:buAutoNum type="arabicPeriod"/>
            </a:pPr>
            <a:r>
              <a:rPr lang="en-GB" dirty="0">
                <a:latin typeface="APL385 Unicode" panose="020B0709000202000203" pitchFamily="49" charset="0"/>
              </a:rPr>
              <a:t>Eggs ← {⌈⍵×4÷3}</a:t>
            </a:r>
          </a:p>
          <a:p>
            <a:pPr>
              <a:buFont typeface="+mj-lt"/>
              <a:buAutoNum type="arabicPeriod"/>
            </a:pPr>
            <a:r>
              <a:rPr lang="en-GB" dirty="0">
                <a:latin typeface="APL385 Unicode" panose="020B0709000202000203" pitchFamily="49" charset="0"/>
              </a:rPr>
              <a:t>To   ← {⍺+s×¯1+⍳1+d×s←×d←⍵-⍺}</a:t>
            </a:r>
          </a:p>
          <a:p>
            <a:pPr>
              <a:buFont typeface="+mj-lt"/>
              <a:buAutoNum type="arabicPeriod"/>
            </a:pPr>
            <a:endParaRPr lang="en-GB" dirty="0">
              <a:latin typeface="APL385 Unicode" panose="020B0709000202000203" pitchFamily="49" charset="0"/>
            </a:endParaRPr>
          </a:p>
          <a:p>
            <a:pPr marL="0" indent="0">
              <a:buNone/>
            </a:pPr>
            <a:r>
              <a:rPr lang="en-GB" dirty="0">
                <a:latin typeface="+mj-lt"/>
              </a:rPr>
              <a:t>Use </a:t>
            </a:r>
            <a:r>
              <a:rPr lang="en-GB" dirty="0">
                <a:latin typeface="APL385 Unicode" panose="020B0709000202000203" pitchFamily="49" charset="0"/>
              </a:rPr>
              <a:t>)ED</a:t>
            </a:r>
            <a:r>
              <a:rPr lang="en-GB" dirty="0">
                <a:latin typeface="+mj-lt"/>
              </a:rPr>
              <a:t>, double-click or </a:t>
            </a:r>
            <a:r>
              <a:rPr lang="en-GB" dirty="0" err="1">
                <a:latin typeface="+mj-lt"/>
              </a:rPr>
              <a:t>Shift+Enter</a:t>
            </a:r>
            <a:r>
              <a:rPr lang="en-GB" dirty="0">
                <a:latin typeface="+mj-lt"/>
              </a:rPr>
              <a:t> to open the editor</a:t>
            </a:r>
          </a:p>
          <a:p>
            <a:pPr marL="0" indent="0">
              <a:buNone/>
            </a:pPr>
            <a:endParaRPr lang="en-GB" dirty="0"/>
          </a:p>
        </p:txBody>
      </p:sp>
      <p:sp>
        <p:nvSpPr>
          <p:cNvPr id="3" name="Title 2">
            <a:extLst>
              <a:ext uri="{FF2B5EF4-FFF2-40B4-BE49-F238E27FC236}">
                <a16:creationId xmlns:a16="http://schemas.microsoft.com/office/drawing/2014/main" id="{08E38704-3655-5D71-AEBB-865A1F286590}"/>
              </a:ext>
            </a:extLst>
          </p:cNvPr>
          <p:cNvSpPr>
            <a:spLocks noGrp="1"/>
          </p:cNvSpPr>
          <p:nvPr>
            <p:ph type="title"/>
          </p:nvPr>
        </p:nvSpPr>
        <p:spPr/>
        <p:txBody>
          <a:bodyPr/>
          <a:lstStyle/>
          <a:p>
            <a:r>
              <a:rPr lang="en-GB" dirty="0"/>
              <a:t>Exercises</a:t>
            </a:r>
          </a:p>
        </p:txBody>
      </p:sp>
      <p:sp>
        <p:nvSpPr>
          <p:cNvPr id="4" name="Media Placeholder 3">
            <a:extLst>
              <a:ext uri="{FF2B5EF4-FFF2-40B4-BE49-F238E27FC236}">
                <a16:creationId xmlns:a16="http://schemas.microsoft.com/office/drawing/2014/main" id="{79A9C935-EB8F-4B57-A868-182199ADD781}"/>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2722166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F67B541-77B6-45D0-BDA3-E911D52C05C7}"/>
              </a:ext>
            </a:extLst>
          </p:cNvPr>
          <p:cNvSpPr>
            <a:spLocks noGrp="1"/>
          </p:cNvSpPr>
          <p:nvPr>
            <p:ph idx="1"/>
          </p:nvPr>
        </p:nvSpPr>
        <p:spPr/>
        <p:txBody>
          <a:bodyPr/>
          <a:lstStyle/>
          <a:p>
            <a:pPr marL="0" indent="0">
              <a:buNone/>
            </a:pPr>
            <a:r>
              <a:rPr lang="en-GB" dirty="0"/>
              <a:t>Comparison functions are scalar functions</a:t>
            </a:r>
          </a:p>
          <a:p>
            <a:pPr marL="0" indent="0">
              <a:spcAft>
                <a:spcPts val="0"/>
              </a:spcAft>
              <a:buNone/>
            </a:pPr>
            <a:r>
              <a:rPr lang="en-GB" dirty="0">
                <a:latin typeface="APL385 Unicode" panose="020B0709000202000203" pitchFamily="49" charset="0"/>
              </a:rPr>
              <a:t>      </a:t>
            </a:r>
            <a:r>
              <a:rPr lang="en-GB" dirty="0">
                <a:solidFill>
                  <a:srgbClr val="00B050"/>
                </a:solidFill>
                <a:latin typeface="APL385 Unicode" panose="020B0709000202000203" pitchFamily="49" charset="0"/>
              </a:rPr>
              <a:t>['</a:t>
            </a:r>
            <a:r>
              <a:rPr lang="en-GB" dirty="0">
                <a:solidFill>
                  <a:srgbClr val="FF6600"/>
                </a:solidFill>
                <a:latin typeface="APL385 Unicode" panose="020B0709000202000203" pitchFamily="49" charset="0"/>
              </a:rPr>
              <a:t>A</a:t>
            </a:r>
            <a:r>
              <a:rPr lang="en-GB" dirty="0">
                <a:solidFill>
                  <a:srgbClr val="00B050"/>
                </a:solidFill>
                <a:latin typeface="APL385 Unicode" panose="020B0709000202000203" pitchFamily="49" charset="0"/>
              </a:rPr>
              <a:t>B</a:t>
            </a:r>
            <a:r>
              <a:rPr lang="en-GB" dirty="0">
                <a:solidFill>
                  <a:srgbClr val="FF6600"/>
                </a:solidFill>
                <a:latin typeface="APL385 Unicode" panose="020B0709000202000203" pitchFamily="49" charset="0"/>
              </a:rPr>
              <a:t>C</a:t>
            </a:r>
            <a:r>
              <a:rPr lang="en-GB" dirty="0">
                <a:solidFill>
                  <a:srgbClr val="00B050"/>
                </a:solidFill>
                <a:latin typeface="APL385 Unicode" panose="020B0709000202000203" pitchFamily="49" charset="0"/>
              </a:rPr>
              <a:t>'</a:t>
            </a:r>
          </a:p>
          <a:p>
            <a:pPr marL="0" indent="0">
              <a:spcAft>
                <a:spcPts val="0"/>
              </a:spcAft>
              <a:buNone/>
            </a:pPr>
            <a:r>
              <a:rPr lang="en-GB" dirty="0">
                <a:solidFill>
                  <a:srgbClr val="00B050"/>
                </a:solidFill>
                <a:latin typeface="APL385 Unicode" panose="020B0709000202000203" pitchFamily="49" charset="0"/>
              </a:rPr>
              <a:t>       'D</a:t>
            </a:r>
            <a:r>
              <a:rPr lang="en-GB" dirty="0">
                <a:solidFill>
                  <a:srgbClr val="FF6600"/>
                </a:solidFill>
                <a:latin typeface="APL385 Unicode" panose="020B0709000202000203" pitchFamily="49" charset="0"/>
              </a:rPr>
              <a:t>EF</a:t>
            </a:r>
            <a:r>
              <a:rPr lang="en-GB" dirty="0">
                <a:solidFill>
                  <a:srgbClr val="00B050"/>
                </a:solidFill>
                <a:latin typeface="APL385 Unicode" panose="020B0709000202000203" pitchFamily="49" charset="0"/>
              </a:rPr>
              <a:t>'] = ['</a:t>
            </a:r>
            <a:r>
              <a:rPr lang="en-GB" dirty="0">
                <a:solidFill>
                  <a:srgbClr val="FF6600"/>
                </a:solidFill>
                <a:latin typeface="APL385 Unicode" panose="020B0709000202000203" pitchFamily="49" charset="0"/>
              </a:rPr>
              <a:t>A</a:t>
            </a:r>
            <a:r>
              <a:rPr lang="en-GB" dirty="0">
                <a:solidFill>
                  <a:srgbClr val="00B050"/>
                </a:solidFill>
                <a:latin typeface="APL385 Unicode" panose="020B0709000202000203" pitchFamily="49" charset="0"/>
              </a:rPr>
              <a:t>A</a:t>
            </a:r>
            <a:r>
              <a:rPr lang="en-GB" dirty="0">
                <a:solidFill>
                  <a:srgbClr val="FF6600"/>
                </a:solidFill>
                <a:latin typeface="APL385 Unicode" panose="020B0709000202000203" pitchFamily="49" charset="0"/>
              </a:rPr>
              <a:t>C</a:t>
            </a:r>
            <a:r>
              <a:rPr lang="en-GB" dirty="0">
                <a:solidFill>
                  <a:srgbClr val="00B050"/>
                </a:solidFill>
                <a:latin typeface="APL385 Unicode" panose="020B0709000202000203" pitchFamily="49" charset="0"/>
              </a:rPr>
              <a:t>'</a:t>
            </a:r>
          </a:p>
          <a:p>
            <a:pPr marL="0" indent="0">
              <a:spcAft>
                <a:spcPts val="0"/>
              </a:spcAft>
              <a:buNone/>
            </a:pPr>
            <a:r>
              <a:rPr lang="en-GB" dirty="0">
                <a:solidFill>
                  <a:srgbClr val="00B050"/>
                </a:solidFill>
                <a:latin typeface="APL385 Unicode" panose="020B0709000202000203" pitchFamily="49" charset="0"/>
              </a:rPr>
              <a:t>                 'E</a:t>
            </a:r>
            <a:r>
              <a:rPr lang="en-GB" dirty="0">
                <a:solidFill>
                  <a:srgbClr val="FF6600"/>
                </a:solidFill>
                <a:latin typeface="APL385 Unicode" panose="020B0709000202000203" pitchFamily="49" charset="0"/>
              </a:rPr>
              <a:t>EF</a:t>
            </a:r>
            <a:r>
              <a:rPr lang="en-GB" dirty="0">
                <a:solidFill>
                  <a:srgbClr val="00B050"/>
                </a:solidFill>
                <a:latin typeface="APL385 Unicode" panose="020B0709000202000203" pitchFamily="49" charset="0"/>
              </a:rPr>
              <a:t>']</a:t>
            </a:r>
          </a:p>
          <a:p>
            <a:pPr marL="0" indent="0">
              <a:spcAft>
                <a:spcPts val="0"/>
              </a:spcAft>
              <a:buNone/>
            </a:pPr>
            <a:r>
              <a:rPr lang="en-GB" dirty="0">
                <a:latin typeface="APL385 Unicode" panose="020B0709000202000203" pitchFamily="49" charset="0"/>
              </a:rPr>
              <a:t>1 0 1</a:t>
            </a:r>
          </a:p>
          <a:p>
            <a:pPr marL="0" indent="0">
              <a:spcAft>
                <a:spcPts val="0"/>
              </a:spcAft>
              <a:buNone/>
            </a:pPr>
            <a:r>
              <a:rPr lang="en-GB" dirty="0">
                <a:latin typeface="APL385 Unicode" panose="020B0709000202000203" pitchFamily="49" charset="0"/>
              </a:rPr>
              <a:t>0 1 1</a:t>
            </a:r>
          </a:p>
        </p:txBody>
      </p:sp>
      <p:sp>
        <p:nvSpPr>
          <p:cNvPr id="3" name="Title 2">
            <a:extLst>
              <a:ext uri="{FF2B5EF4-FFF2-40B4-BE49-F238E27FC236}">
                <a16:creationId xmlns:a16="http://schemas.microsoft.com/office/drawing/2014/main" id="{FF737303-BA96-E5BC-1EB2-BA4479DE2C04}"/>
              </a:ext>
            </a:extLst>
          </p:cNvPr>
          <p:cNvSpPr>
            <a:spLocks noGrp="1"/>
          </p:cNvSpPr>
          <p:nvPr>
            <p:ph type="title"/>
          </p:nvPr>
        </p:nvSpPr>
        <p:spPr/>
        <p:txBody>
          <a:bodyPr/>
          <a:lstStyle/>
          <a:p>
            <a:r>
              <a:rPr lang="en-GB" dirty="0"/>
              <a:t>Comparing Arrays</a:t>
            </a:r>
          </a:p>
        </p:txBody>
      </p:sp>
      <p:sp>
        <p:nvSpPr>
          <p:cNvPr id="4" name="Media Placeholder 3">
            <a:extLst>
              <a:ext uri="{FF2B5EF4-FFF2-40B4-BE49-F238E27FC236}">
                <a16:creationId xmlns:a16="http://schemas.microsoft.com/office/drawing/2014/main" id="{A3548934-E59E-D345-BD63-9E4B16C03629}"/>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4483436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B30B8B-5FCB-513B-8091-FBE16117BC2A}"/>
              </a:ext>
            </a:extLst>
          </p:cNvPr>
          <p:cNvSpPr>
            <a:spLocks noGrp="1"/>
          </p:cNvSpPr>
          <p:nvPr>
            <p:ph idx="1"/>
          </p:nvPr>
        </p:nvSpPr>
        <p:spPr/>
        <p:txBody>
          <a:bodyPr/>
          <a:lstStyle/>
          <a:p>
            <a:pPr marL="0" indent="0">
              <a:buNone/>
            </a:pPr>
            <a:r>
              <a:rPr lang="en-GB" dirty="0"/>
              <a:t>Compare the shape and contents of two arrays</a:t>
            </a:r>
          </a:p>
          <a:p>
            <a:pPr marL="0" indent="0">
              <a:spcAft>
                <a:spcPts val="0"/>
              </a:spcAft>
              <a:buNone/>
            </a:pPr>
            <a:r>
              <a:rPr lang="en-GB" dirty="0">
                <a:latin typeface="APL385 Unicode" panose="020B0709000202000203" pitchFamily="49" charset="0"/>
              </a:rPr>
              <a:t>      </a:t>
            </a:r>
            <a:r>
              <a:rPr lang="en-GB" dirty="0">
                <a:solidFill>
                  <a:srgbClr val="00B050"/>
                </a:solidFill>
                <a:latin typeface="APL385 Unicode" panose="020B0709000202000203" pitchFamily="49" charset="0"/>
              </a:rPr>
              <a:t>['ABC'</a:t>
            </a:r>
          </a:p>
          <a:p>
            <a:pPr marL="0" indent="0">
              <a:spcAft>
                <a:spcPts val="0"/>
              </a:spcAft>
              <a:buNone/>
            </a:pPr>
            <a:r>
              <a:rPr lang="en-GB" dirty="0">
                <a:solidFill>
                  <a:srgbClr val="00B050"/>
                </a:solidFill>
                <a:latin typeface="APL385 Unicode" panose="020B0709000202000203" pitchFamily="49" charset="0"/>
              </a:rPr>
              <a:t>       'DEF'] </a:t>
            </a:r>
            <a:r>
              <a:rPr lang="en-GB" dirty="0">
                <a:solidFill>
                  <a:srgbClr val="FF6600"/>
                </a:solidFill>
                <a:latin typeface="APL385 Unicode" panose="020B0709000202000203" pitchFamily="49" charset="0"/>
              </a:rPr>
              <a:t>≡</a:t>
            </a:r>
            <a:r>
              <a:rPr lang="en-GB" dirty="0">
                <a:solidFill>
                  <a:srgbClr val="00B050"/>
                </a:solidFill>
                <a:latin typeface="APL385 Unicode" panose="020B0709000202000203" pitchFamily="49" charset="0"/>
              </a:rPr>
              <a:t> ['AAC'</a:t>
            </a:r>
          </a:p>
          <a:p>
            <a:pPr marL="0" indent="0">
              <a:spcAft>
                <a:spcPts val="0"/>
              </a:spcAft>
              <a:buNone/>
            </a:pPr>
            <a:r>
              <a:rPr lang="en-GB" dirty="0">
                <a:solidFill>
                  <a:srgbClr val="00B050"/>
                </a:solidFill>
                <a:latin typeface="APL385 Unicode" panose="020B0709000202000203" pitchFamily="49" charset="0"/>
              </a:rPr>
              <a:t>                 'EEF']</a:t>
            </a:r>
          </a:p>
          <a:p>
            <a:pPr marL="0" indent="0">
              <a:spcAft>
                <a:spcPts val="0"/>
              </a:spcAft>
              <a:buNone/>
            </a:pPr>
            <a:r>
              <a:rPr lang="en-GB" dirty="0">
                <a:latin typeface="APL385 Unicode" panose="020B0709000202000203" pitchFamily="49" charset="0"/>
              </a:rPr>
              <a:t>0</a:t>
            </a:r>
            <a:endParaRPr lang="en-GB" dirty="0"/>
          </a:p>
        </p:txBody>
      </p:sp>
      <p:sp>
        <p:nvSpPr>
          <p:cNvPr id="3" name="Title 2">
            <a:extLst>
              <a:ext uri="{FF2B5EF4-FFF2-40B4-BE49-F238E27FC236}">
                <a16:creationId xmlns:a16="http://schemas.microsoft.com/office/drawing/2014/main" id="{6A57217F-38CA-9A4F-3443-B6C79583F0C2}"/>
              </a:ext>
            </a:extLst>
          </p:cNvPr>
          <p:cNvSpPr>
            <a:spLocks noGrp="1"/>
          </p:cNvSpPr>
          <p:nvPr>
            <p:ph type="title"/>
          </p:nvPr>
        </p:nvSpPr>
        <p:spPr/>
        <p:txBody>
          <a:bodyPr/>
          <a:lstStyle/>
          <a:p>
            <a:r>
              <a:rPr lang="en-GB" dirty="0"/>
              <a:t>Match (</a:t>
            </a:r>
            <a:r>
              <a:rPr lang="en-GB" dirty="0">
                <a:solidFill>
                  <a:srgbClr val="FF6600"/>
                </a:solidFill>
                <a:latin typeface="APL385 Unicode" panose="020B0709000202000203" pitchFamily="49" charset="0"/>
              </a:rPr>
              <a:t>⍺≡⍵</a:t>
            </a:r>
            <a:r>
              <a:rPr lang="en-GB" dirty="0"/>
              <a:t>)</a:t>
            </a:r>
          </a:p>
        </p:txBody>
      </p:sp>
      <p:sp>
        <p:nvSpPr>
          <p:cNvPr id="4" name="Media Placeholder 3">
            <a:extLst>
              <a:ext uri="{FF2B5EF4-FFF2-40B4-BE49-F238E27FC236}">
                <a16:creationId xmlns:a16="http://schemas.microsoft.com/office/drawing/2014/main" id="{FC6F50D5-5E50-CEBC-03B9-69CA391391D6}"/>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0512210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FFA64-9A37-E0A7-A0F8-F924CEEF6D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47B20C-E376-3931-04BF-7613CD695BFA}"/>
              </a:ext>
            </a:extLst>
          </p:cNvPr>
          <p:cNvSpPr>
            <a:spLocks noGrp="1"/>
          </p:cNvSpPr>
          <p:nvPr>
            <p:ph idx="1"/>
          </p:nvPr>
        </p:nvSpPr>
        <p:spPr/>
        <p:txBody>
          <a:bodyPr/>
          <a:lstStyle/>
          <a:p>
            <a:pPr marL="0" indent="0">
              <a:buNone/>
            </a:pPr>
            <a:r>
              <a:rPr lang="en-GB" dirty="0"/>
              <a:t>Compare the shape and contents of two arrays</a:t>
            </a:r>
          </a:p>
          <a:p>
            <a:pPr marL="0" indent="0">
              <a:spcAft>
                <a:spcPts val="0"/>
              </a:spcAft>
              <a:buNone/>
            </a:pPr>
            <a:r>
              <a:rPr lang="en-GB" dirty="0">
                <a:latin typeface="APL385 Unicode" panose="020B0709000202000203" pitchFamily="49" charset="0"/>
              </a:rPr>
              <a:t>      </a:t>
            </a:r>
            <a:r>
              <a:rPr lang="en-GB" dirty="0">
                <a:solidFill>
                  <a:srgbClr val="00B050"/>
                </a:solidFill>
                <a:latin typeface="APL385 Unicode" panose="020B0709000202000203" pitchFamily="49" charset="0"/>
              </a:rPr>
              <a:t>['AAC'</a:t>
            </a:r>
          </a:p>
          <a:p>
            <a:pPr marL="0" indent="0">
              <a:spcAft>
                <a:spcPts val="0"/>
              </a:spcAft>
              <a:buNone/>
            </a:pPr>
            <a:r>
              <a:rPr lang="en-GB" dirty="0">
                <a:solidFill>
                  <a:srgbClr val="00B050"/>
                </a:solidFill>
                <a:latin typeface="APL385 Unicode" panose="020B0709000202000203" pitchFamily="49" charset="0"/>
              </a:rPr>
              <a:t>       'EEF'] </a:t>
            </a:r>
            <a:r>
              <a:rPr lang="en-GB" dirty="0">
                <a:solidFill>
                  <a:srgbClr val="FF6600"/>
                </a:solidFill>
                <a:latin typeface="APL385 Unicode" panose="020B0709000202000203" pitchFamily="49" charset="0"/>
              </a:rPr>
              <a:t>≡</a:t>
            </a:r>
            <a:r>
              <a:rPr lang="en-GB" dirty="0">
                <a:solidFill>
                  <a:srgbClr val="00B050"/>
                </a:solidFill>
                <a:latin typeface="APL385 Unicode" panose="020B0709000202000203" pitchFamily="49" charset="0"/>
              </a:rPr>
              <a:t> ['AAC'</a:t>
            </a:r>
          </a:p>
          <a:p>
            <a:pPr marL="0" indent="0">
              <a:spcAft>
                <a:spcPts val="0"/>
              </a:spcAft>
              <a:buNone/>
            </a:pPr>
            <a:r>
              <a:rPr lang="en-GB" dirty="0">
                <a:solidFill>
                  <a:srgbClr val="00B050"/>
                </a:solidFill>
                <a:latin typeface="APL385 Unicode" panose="020B0709000202000203" pitchFamily="49" charset="0"/>
              </a:rPr>
              <a:t>                 'EEF']</a:t>
            </a:r>
          </a:p>
          <a:p>
            <a:pPr marL="0" indent="0">
              <a:spcAft>
                <a:spcPts val="0"/>
              </a:spcAft>
              <a:buNone/>
            </a:pPr>
            <a:r>
              <a:rPr lang="en-GB" dirty="0"/>
              <a:t>1</a:t>
            </a:r>
          </a:p>
        </p:txBody>
      </p:sp>
      <p:sp>
        <p:nvSpPr>
          <p:cNvPr id="3" name="Title 2">
            <a:extLst>
              <a:ext uri="{FF2B5EF4-FFF2-40B4-BE49-F238E27FC236}">
                <a16:creationId xmlns:a16="http://schemas.microsoft.com/office/drawing/2014/main" id="{DF3F0FA8-91CC-162A-571B-140353024DAC}"/>
              </a:ext>
            </a:extLst>
          </p:cNvPr>
          <p:cNvSpPr>
            <a:spLocks noGrp="1"/>
          </p:cNvSpPr>
          <p:nvPr>
            <p:ph type="title"/>
          </p:nvPr>
        </p:nvSpPr>
        <p:spPr/>
        <p:txBody>
          <a:bodyPr/>
          <a:lstStyle/>
          <a:p>
            <a:r>
              <a:rPr lang="en-GB" dirty="0"/>
              <a:t>Match (</a:t>
            </a:r>
            <a:r>
              <a:rPr lang="en-GB" dirty="0">
                <a:solidFill>
                  <a:srgbClr val="FF6600"/>
                </a:solidFill>
                <a:latin typeface="APL385 Unicode" panose="020B0709000202000203" pitchFamily="49" charset="0"/>
              </a:rPr>
              <a:t>⍺≡⍵</a:t>
            </a:r>
            <a:r>
              <a:rPr lang="en-GB" dirty="0"/>
              <a:t>)</a:t>
            </a:r>
          </a:p>
        </p:txBody>
      </p:sp>
      <p:sp>
        <p:nvSpPr>
          <p:cNvPr id="4" name="Media Placeholder 3">
            <a:extLst>
              <a:ext uri="{FF2B5EF4-FFF2-40B4-BE49-F238E27FC236}">
                <a16:creationId xmlns:a16="http://schemas.microsoft.com/office/drawing/2014/main" id="{F24A6617-EEA0-668A-D441-5B7BD5FC62A5}"/>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1575724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3054F-4848-14A6-BABA-8C51C34F842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312CD9-5D79-EAAA-83B9-D69D1F833D23}"/>
              </a:ext>
            </a:extLst>
          </p:cNvPr>
          <p:cNvSpPr>
            <a:spLocks noGrp="1"/>
          </p:cNvSpPr>
          <p:nvPr>
            <p:ph idx="1"/>
          </p:nvPr>
        </p:nvSpPr>
        <p:spPr/>
        <p:txBody>
          <a:bodyPr/>
          <a:lstStyle/>
          <a:p>
            <a:pPr marL="0" indent="0">
              <a:buNone/>
            </a:pPr>
            <a:r>
              <a:rPr lang="en-GB" dirty="0"/>
              <a:t>Compare the shape and contents of two arrays</a:t>
            </a:r>
          </a:p>
          <a:p>
            <a:pPr marL="0" indent="0">
              <a:spcAft>
                <a:spcPts val="0"/>
              </a:spcAft>
              <a:buNone/>
            </a:pPr>
            <a:r>
              <a:rPr lang="en-GB" dirty="0">
                <a:latin typeface="APL385 Unicode" panose="020B0709000202000203" pitchFamily="49" charset="0"/>
              </a:rPr>
              <a:t>      </a:t>
            </a:r>
            <a:r>
              <a:rPr lang="en-GB" dirty="0">
                <a:solidFill>
                  <a:srgbClr val="00B050"/>
                </a:solidFill>
                <a:latin typeface="APL385 Unicode" panose="020B0709000202000203" pitchFamily="49" charset="0"/>
              </a:rPr>
              <a:t>['AAC'</a:t>
            </a:r>
          </a:p>
          <a:p>
            <a:pPr marL="0" indent="0">
              <a:spcAft>
                <a:spcPts val="0"/>
              </a:spcAft>
              <a:buNone/>
            </a:pPr>
            <a:r>
              <a:rPr lang="en-GB" dirty="0">
                <a:solidFill>
                  <a:srgbClr val="00B050"/>
                </a:solidFill>
                <a:latin typeface="APL385 Unicode" panose="020B0709000202000203" pitchFamily="49" charset="0"/>
              </a:rPr>
              <a:t>       'EEF'] </a:t>
            </a:r>
            <a:r>
              <a:rPr lang="en-GB" dirty="0">
                <a:solidFill>
                  <a:srgbClr val="FF6600"/>
                </a:solidFill>
                <a:latin typeface="APL385 Unicode" panose="020B0709000202000203" pitchFamily="49" charset="0"/>
              </a:rPr>
              <a:t>≢</a:t>
            </a:r>
            <a:r>
              <a:rPr lang="en-GB" dirty="0">
                <a:solidFill>
                  <a:srgbClr val="00B050"/>
                </a:solidFill>
                <a:latin typeface="APL385 Unicode" panose="020B0709000202000203" pitchFamily="49" charset="0"/>
              </a:rPr>
              <a:t> ['AAC'</a:t>
            </a:r>
          </a:p>
          <a:p>
            <a:pPr marL="0" indent="0">
              <a:spcAft>
                <a:spcPts val="0"/>
              </a:spcAft>
              <a:buNone/>
            </a:pPr>
            <a:r>
              <a:rPr lang="en-GB" dirty="0">
                <a:solidFill>
                  <a:srgbClr val="00B050"/>
                </a:solidFill>
                <a:latin typeface="APL385 Unicode" panose="020B0709000202000203" pitchFamily="49" charset="0"/>
              </a:rPr>
              <a:t>                 'EEF']</a:t>
            </a:r>
          </a:p>
          <a:p>
            <a:pPr marL="0" indent="0">
              <a:spcAft>
                <a:spcPts val="0"/>
              </a:spcAft>
              <a:buNone/>
            </a:pPr>
            <a:r>
              <a:rPr lang="en-GB" dirty="0"/>
              <a:t>0</a:t>
            </a:r>
          </a:p>
        </p:txBody>
      </p:sp>
      <p:sp>
        <p:nvSpPr>
          <p:cNvPr id="3" name="Title 2">
            <a:extLst>
              <a:ext uri="{FF2B5EF4-FFF2-40B4-BE49-F238E27FC236}">
                <a16:creationId xmlns:a16="http://schemas.microsoft.com/office/drawing/2014/main" id="{ED3FC900-93BE-D7D8-77DC-F451736892EA}"/>
              </a:ext>
            </a:extLst>
          </p:cNvPr>
          <p:cNvSpPr>
            <a:spLocks noGrp="1"/>
          </p:cNvSpPr>
          <p:nvPr>
            <p:ph type="title"/>
          </p:nvPr>
        </p:nvSpPr>
        <p:spPr/>
        <p:txBody>
          <a:bodyPr/>
          <a:lstStyle/>
          <a:p>
            <a:r>
              <a:rPr lang="en-GB" dirty="0" err="1"/>
              <a:t>Natch</a:t>
            </a:r>
            <a:r>
              <a:rPr lang="en-GB" dirty="0"/>
              <a:t> (</a:t>
            </a:r>
            <a:r>
              <a:rPr lang="en-GB" dirty="0">
                <a:solidFill>
                  <a:srgbClr val="FF6600"/>
                </a:solidFill>
                <a:latin typeface="APL385 Unicode" panose="020B0709000202000203" pitchFamily="49" charset="0"/>
              </a:rPr>
              <a:t>⍺≢⍵</a:t>
            </a:r>
            <a:r>
              <a:rPr lang="en-GB" dirty="0"/>
              <a:t>)</a:t>
            </a:r>
          </a:p>
        </p:txBody>
      </p:sp>
      <p:sp>
        <p:nvSpPr>
          <p:cNvPr id="4" name="Media Placeholder 3">
            <a:extLst>
              <a:ext uri="{FF2B5EF4-FFF2-40B4-BE49-F238E27FC236}">
                <a16:creationId xmlns:a16="http://schemas.microsoft.com/office/drawing/2014/main" id="{A6D259D9-13F3-44BA-0ECA-9A01519BE17F}"/>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2724002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1724D85-87C2-2585-CDAB-E710C4550B6B}"/>
              </a:ext>
            </a:extLst>
          </p:cNvPr>
          <p:cNvSpPr>
            <a:spLocks noGrp="1"/>
          </p:cNvSpPr>
          <p:nvPr>
            <p:ph idx="1"/>
          </p:nvPr>
        </p:nvSpPr>
        <p:spPr/>
        <p:txBody>
          <a:bodyPr/>
          <a:lstStyle/>
          <a:p>
            <a:pPr>
              <a:buNone/>
              <a:defRPr/>
            </a:pPr>
            <a:r>
              <a:rPr lang="en-GB" dirty="0"/>
              <a:t>Structural functions are functions that allow you to select or rearrange elements from an array</a:t>
            </a:r>
          </a:p>
          <a:p>
            <a:pPr>
              <a:buNone/>
              <a:defRPr/>
            </a:pPr>
            <a:endParaRPr lang="en-GB" dirty="0"/>
          </a:p>
          <a:p>
            <a:pPr>
              <a:buNone/>
              <a:defRPr/>
            </a:pPr>
            <a:r>
              <a:rPr lang="en-GB" dirty="0"/>
              <a:t>… as opposed to functions that "compute" things from the elements of arrays</a:t>
            </a:r>
          </a:p>
        </p:txBody>
      </p:sp>
      <p:sp>
        <p:nvSpPr>
          <p:cNvPr id="3" name="Title 2">
            <a:extLst>
              <a:ext uri="{FF2B5EF4-FFF2-40B4-BE49-F238E27FC236}">
                <a16:creationId xmlns:a16="http://schemas.microsoft.com/office/drawing/2014/main" id="{60A4728D-85C0-0EF8-1334-19999E26640F}"/>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DBB3E1BC-7461-4E1A-8C32-2BAA7ABE1389}"/>
              </a:ext>
            </a:extLst>
          </p:cNvPr>
          <p:cNvSpPr>
            <a:spLocks noGrp="1"/>
          </p:cNvSpPr>
          <p:nvPr>
            <p:ph type="media" sz="quarter" idx="11"/>
          </p:nvPr>
        </p:nvSpPr>
        <p:spPr/>
        <p:txBody>
          <a:bodyPr/>
          <a:lstStyle/>
          <a:p>
            <a:endParaRPr lang="en-GB"/>
          </a:p>
        </p:txBody>
      </p:sp>
      <p:pic>
        <p:nvPicPr>
          <p:cNvPr id="6" name="Graphic 5" descr="Crane with solid fill">
            <a:extLst>
              <a:ext uri="{FF2B5EF4-FFF2-40B4-BE49-F238E27FC236}">
                <a16:creationId xmlns:a16="http://schemas.microsoft.com/office/drawing/2014/main" id="{3BD0A953-DBA9-6190-6686-45BA8C4A9BF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9829" y="153224"/>
            <a:ext cx="914400" cy="914400"/>
          </a:xfrm>
          <a:prstGeom prst="rect">
            <a:avLst/>
          </a:prstGeom>
        </p:spPr>
      </p:pic>
    </p:spTree>
    <p:extLst>
      <p:ext uri="{BB962C8B-B14F-4D97-AF65-F5344CB8AC3E}">
        <p14:creationId xmlns:p14="http://schemas.microsoft.com/office/powerpoint/2010/main" val="378056986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6DBCB-1D74-9857-6A3C-13F791F0F8C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7C91B3A-816A-C646-EA6D-52385DACF719}"/>
              </a:ext>
            </a:extLst>
          </p:cNvPr>
          <p:cNvSpPr>
            <a:spLocks noGrp="1"/>
          </p:cNvSpPr>
          <p:nvPr>
            <p:ph idx="1"/>
          </p:nvPr>
        </p:nvSpPr>
        <p:spPr/>
        <p:txBody>
          <a:bodyPr>
            <a:normAutofit fontScale="85000" lnSpcReduction="20000"/>
          </a:bodyPr>
          <a:lstStyle/>
          <a:p>
            <a:pPr>
              <a:buNone/>
              <a:defRPr/>
            </a:pPr>
            <a:r>
              <a:rPr lang="en-US" b="1" dirty="0"/>
              <a:t>Take</a:t>
            </a:r>
            <a:r>
              <a:rPr lang="en-US" dirty="0"/>
              <a:t>:   </a:t>
            </a:r>
            <a:r>
              <a:rPr lang="en-US" dirty="0" err="1">
                <a:solidFill>
                  <a:srgbClr val="FF6600"/>
                </a:solidFill>
                <a:latin typeface="APL385 Unicode" panose="020B0709000202000203" pitchFamily="49" charset="0"/>
              </a:rPr>
              <a:t>n</a:t>
            </a:r>
            <a:r>
              <a:rPr lang="en-US" dirty="0" err="1">
                <a:latin typeface="APL385 Unicode" panose="020B0709000202000203" pitchFamily="49" charset="0"/>
              </a:rPr>
              <a:t>↑A</a:t>
            </a:r>
            <a:r>
              <a:rPr lang="en-US" dirty="0"/>
              <a:t> </a:t>
            </a:r>
          </a:p>
          <a:p>
            <a:pPr>
              <a:buNone/>
              <a:defRPr/>
            </a:pPr>
            <a:r>
              <a:rPr lang="en-US" i="1" dirty="0"/>
              <a:t>Take</a:t>
            </a:r>
            <a:r>
              <a:rPr lang="en-US" dirty="0"/>
              <a:t> takes the </a:t>
            </a:r>
            <a:r>
              <a:rPr lang="en-US" b="1" dirty="0"/>
              <a:t>first</a:t>
            </a:r>
            <a:r>
              <a:rPr lang="en-US" dirty="0">
                <a:solidFill>
                  <a:srgbClr val="FF6600"/>
                </a:solidFill>
              </a:rPr>
              <a:t> </a:t>
            </a:r>
            <a:r>
              <a:rPr lang="en-US" i="1" dirty="0">
                <a:solidFill>
                  <a:srgbClr val="FF6600"/>
                </a:solidFill>
              </a:rPr>
              <a:t>n</a:t>
            </a:r>
            <a:r>
              <a:rPr lang="en-US" dirty="0">
                <a:solidFill>
                  <a:srgbClr val="FF6600"/>
                </a:solidFill>
              </a:rPr>
              <a:t> </a:t>
            </a:r>
            <a:r>
              <a:rPr lang="en-US" dirty="0"/>
              <a:t>elements of an array:</a:t>
            </a:r>
          </a:p>
          <a:p>
            <a:pPr>
              <a:buNone/>
              <a:defRPr/>
            </a:pPr>
            <a:r>
              <a:rPr lang="en-US" dirty="0">
                <a:latin typeface="APL385 Unicode" panose="020B0709000202000203" pitchFamily="49" charset="0"/>
              </a:rPr>
              <a:t>     A ← </a:t>
            </a:r>
            <a:r>
              <a:rPr lang="en-US" dirty="0">
                <a:solidFill>
                  <a:srgbClr val="FF6600"/>
                </a:solidFill>
                <a:latin typeface="APL385 Unicode" panose="020B0709000202000203" pitchFamily="49" charset="0"/>
              </a:rPr>
              <a:t>2 7 </a:t>
            </a:r>
            <a:r>
              <a:rPr lang="en-US" dirty="0">
                <a:latin typeface="APL385 Unicode" panose="020B0709000202000203" pitchFamily="49" charset="0"/>
              </a:rPr>
              <a:t>9 </a:t>
            </a:r>
            <a:r>
              <a:rPr lang="en-US" dirty="0">
                <a:solidFill>
                  <a:srgbClr val="7030A0"/>
                </a:solidFill>
                <a:latin typeface="APL385 Unicode" panose="020B0709000202000203" pitchFamily="49" charset="0"/>
              </a:rPr>
              <a:t>¯2 12 ¯33</a:t>
            </a:r>
          </a:p>
          <a:p>
            <a:pPr>
              <a:buNone/>
              <a:defRPr/>
            </a:pPr>
            <a:r>
              <a:rPr lang="en-US" dirty="0">
                <a:latin typeface="APL385 Unicode" panose="020B0709000202000203" pitchFamily="49" charset="0"/>
              </a:rPr>
              <a:t>     </a:t>
            </a:r>
            <a:r>
              <a:rPr lang="en-US" dirty="0">
                <a:solidFill>
                  <a:srgbClr val="FF6600"/>
                </a:solidFill>
                <a:latin typeface="APL385 Unicode" panose="020B0709000202000203" pitchFamily="49" charset="0"/>
              </a:rPr>
              <a:t>2</a:t>
            </a:r>
            <a:r>
              <a:rPr lang="en-US" dirty="0">
                <a:latin typeface="APL385 Unicode" panose="020B0709000202000203" pitchFamily="49" charset="0"/>
              </a:rPr>
              <a:t>↑A</a:t>
            </a:r>
          </a:p>
          <a:p>
            <a:pPr>
              <a:buNone/>
              <a:defRPr/>
            </a:pPr>
            <a:r>
              <a:rPr lang="en-US" dirty="0">
                <a:solidFill>
                  <a:srgbClr val="FF6600"/>
                </a:solidFill>
                <a:latin typeface="APL385 Unicode" panose="020B0709000202000203" pitchFamily="49" charset="0"/>
              </a:rPr>
              <a:t>2 7</a:t>
            </a:r>
          </a:p>
          <a:p>
            <a:pPr>
              <a:buNone/>
              <a:defRPr/>
            </a:pPr>
            <a:r>
              <a:rPr lang="en-US" dirty="0"/>
              <a:t>If </a:t>
            </a:r>
            <a:r>
              <a:rPr lang="en-US" i="1" dirty="0">
                <a:solidFill>
                  <a:srgbClr val="FF6600"/>
                </a:solidFill>
              </a:rPr>
              <a:t>n</a:t>
            </a:r>
            <a:r>
              <a:rPr lang="en-US" dirty="0"/>
              <a:t> is negative it takes from the </a:t>
            </a:r>
            <a:r>
              <a:rPr lang="en-US" b="1" dirty="0"/>
              <a:t>end</a:t>
            </a:r>
            <a:r>
              <a:rPr lang="en-US" dirty="0"/>
              <a:t>: </a:t>
            </a:r>
          </a:p>
          <a:p>
            <a:pPr>
              <a:buNone/>
              <a:defRPr/>
            </a:pPr>
            <a:r>
              <a:rPr lang="en-US" dirty="0">
                <a:latin typeface="APL385 Unicode" panose="020B0709000202000203" pitchFamily="49" charset="0"/>
              </a:rPr>
              <a:t>     </a:t>
            </a:r>
            <a:r>
              <a:rPr lang="en-US" dirty="0">
                <a:solidFill>
                  <a:srgbClr val="7030A0"/>
                </a:solidFill>
                <a:latin typeface="APL385 Unicode" panose="020B0709000202000203" pitchFamily="49" charset="0"/>
              </a:rPr>
              <a:t>¯3</a:t>
            </a:r>
            <a:r>
              <a:rPr lang="en-US" dirty="0">
                <a:latin typeface="APL385 Unicode" panose="020B0709000202000203" pitchFamily="49" charset="0"/>
              </a:rPr>
              <a:t>↑A</a:t>
            </a:r>
          </a:p>
          <a:p>
            <a:pPr>
              <a:buNone/>
              <a:defRPr/>
            </a:pPr>
            <a:r>
              <a:rPr lang="en-US" dirty="0">
                <a:solidFill>
                  <a:srgbClr val="7030A0"/>
                </a:solidFill>
                <a:latin typeface="APL385 Unicode" panose="020B0709000202000203" pitchFamily="49" charset="0"/>
              </a:rPr>
              <a:t>¯2 12 ¯33</a:t>
            </a:r>
          </a:p>
        </p:txBody>
      </p:sp>
      <p:sp>
        <p:nvSpPr>
          <p:cNvPr id="3" name="Title 2">
            <a:extLst>
              <a:ext uri="{FF2B5EF4-FFF2-40B4-BE49-F238E27FC236}">
                <a16:creationId xmlns:a16="http://schemas.microsoft.com/office/drawing/2014/main" id="{3D815CFA-B10A-F9A0-FABC-B24B7AFA9B37}"/>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1F35ADF0-F5D8-D2DD-9139-563CA0134663}"/>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5555999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B8D5F-E3B4-EE68-2452-3520896A20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CF17B3E-D8C0-764B-C3B5-20D7F5BC79E3}"/>
              </a:ext>
            </a:extLst>
          </p:cNvPr>
          <p:cNvSpPr>
            <a:spLocks noGrp="1"/>
          </p:cNvSpPr>
          <p:nvPr>
            <p:ph idx="1"/>
          </p:nvPr>
        </p:nvSpPr>
        <p:spPr/>
        <p:txBody>
          <a:bodyPr>
            <a:normAutofit/>
          </a:bodyPr>
          <a:lstStyle/>
          <a:p>
            <a:pPr>
              <a:buNone/>
              <a:defRPr/>
            </a:pPr>
            <a:r>
              <a:rPr lang="en-US" dirty="0"/>
              <a:t>If </a:t>
            </a:r>
            <a:r>
              <a:rPr lang="en-US" dirty="0">
                <a:solidFill>
                  <a:srgbClr val="00B050"/>
                </a:solidFill>
              </a:rPr>
              <a:t>n</a:t>
            </a:r>
            <a:r>
              <a:rPr lang="en-US" dirty="0"/>
              <a:t> is greater than the length of V it is padded with the </a:t>
            </a:r>
            <a:r>
              <a:rPr lang="en-US" b="1" i="1" dirty="0">
                <a:solidFill>
                  <a:srgbClr val="FF6600"/>
                </a:solidFill>
              </a:rPr>
              <a:t>prototypical element</a:t>
            </a:r>
            <a:r>
              <a:rPr lang="en-US" b="1" dirty="0">
                <a:solidFill>
                  <a:srgbClr val="FF6600"/>
                </a:solidFill>
              </a:rPr>
              <a:t> </a:t>
            </a:r>
            <a:r>
              <a:rPr lang="en-US" dirty="0"/>
              <a:t>of the array. </a:t>
            </a:r>
          </a:p>
          <a:p>
            <a:pPr>
              <a:buNone/>
              <a:defRPr/>
            </a:pPr>
            <a:endParaRPr lang="en-US" dirty="0">
              <a:solidFill>
                <a:srgbClr val="00B050"/>
              </a:solidFill>
              <a:latin typeface="APL385 Unicode" panose="020B0709000202000203" pitchFamily="49" charset="0"/>
            </a:endParaRPr>
          </a:p>
          <a:p>
            <a:pPr>
              <a:buNone/>
              <a:defRPr/>
            </a:pPr>
            <a:r>
              <a:rPr lang="en-US" dirty="0">
                <a:solidFill>
                  <a:srgbClr val="00B050"/>
                </a:solidFill>
                <a:latin typeface="APL385 Unicode" panose="020B0709000202000203" pitchFamily="49" charset="0"/>
              </a:rPr>
              <a:t>      A← 2 ¯7 1.2</a:t>
            </a:r>
            <a:endParaRPr lang="en-US" dirty="0">
              <a:solidFill>
                <a:srgbClr val="DD6DCD"/>
              </a:solidFill>
              <a:latin typeface="APL385 Unicode" panose="020B0709000202000203" pitchFamily="49" charset="0"/>
            </a:endParaRPr>
          </a:p>
          <a:p>
            <a:pPr>
              <a:buNone/>
              <a:defRPr/>
            </a:pPr>
            <a:r>
              <a:rPr lang="en-US" dirty="0">
                <a:solidFill>
                  <a:srgbClr val="00B050"/>
                </a:solidFill>
                <a:latin typeface="APL385 Unicode" panose="020B0709000202000203" pitchFamily="49" charset="0"/>
              </a:rPr>
              <a:t>      5↑A </a:t>
            </a:r>
            <a:r>
              <a:rPr lang="en-US" dirty="0">
                <a:solidFill>
                  <a:srgbClr val="DD6DCD"/>
                </a:solidFill>
                <a:latin typeface="APL385 Unicode" panose="020B0709000202000203" pitchFamily="49" charset="0"/>
              </a:rPr>
              <a:t>⍝ ask for 5</a:t>
            </a:r>
            <a:endParaRPr lang="en-US" dirty="0">
              <a:solidFill>
                <a:srgbClr val="00B050"/>
              </a:solidFill>
              <a:latin typeface="APL385 Unicode" panose="020B0709000202000203" pitchFamily="49" charset="0"/>
            </a:endParaRPr>
          </a:p>
          <a:p>
            <a:pPr>
              <a:buNone/>
              <a:defRPr/>
            </a:pPr>
            <a:r>
              <a:rPr lang="en-US" dirty="0">
                <a:solidFill>
                  <a:schemeClr val="accent3">
                    <a:lumMod val="50000"/>
                  </a:schemeClr>
                </a:solidFill>
                <a:latin typeface="APL385 Unicode" panose="020B0709000202000203" pitchFamily="49" charset="0"/>
              </a:rPr>
              <a:t>2 ¯7 1.2 </a:t>
            </a:r>
            <a:r>
              <a:rPr lang="en-US" dirty="0">
                <a:solidFill>
                  <a:schemeClr val="tx1"/>
                </a:solidFill>
                <a:latin typeface="APL385 Unicode" panose="020B0709000202000203" pitchFamily="49" charset="0"/>
              </a:rPr>
              <a:t>0 0</a:t>
            </a:r>
          </a:p>
        </p:txBody>
      </p:sp>
      <p:sp>
        <p:nvSpPr>
          <p:cNvPr id="3" name="Title 2">
            <a:extLst>
              <a:ext uri="{FF2B5EF4-FFF2-40B4-BE49-F238E27FC236}">
                <a16:creationId xmlns:a16="http://schemas.microsoft.com/office/drawing/2014/main" id="{C2B3CE38-EA63-832A-8EC7-63D4F0D9000C}"/>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BB6EB36E-54BB-920C-CA2D-A5FAE593DCF2}"/>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6551028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C0C76-EF69-4345-C801-3B08AB5B59C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CD54A1-49BC-CB1D-A993-5F7E05B0DCB2}"/>
              </a:ext>
            </a:extLst>
          </p:cNvPr>
          <p:cNvSpPr>
            <a:spLocks noGrp="1"/>
          </p:cNvSpPr>
          <p:nvPr>
            <p:ph idx="1"/>
          </p:nvPr>
        </p:nvSpPr>
        <p:spPr/>
        <p:txBody>
          <a:bodyPr>
            <a:normAutofit fontScale="85000" lnSpcReduction="20000"/>
          </a:bodyPr>
          <a:lstStyle/>
          <a:p>
            <a:pPr>
              <a:buNone/>
              <a:defRPr/>
            </a:pPr>
            <a:r>
              <a:rPr lang="en-US" dirty="0"/>
              <a:t>For character arrays, APL fills with spaces:</a:t>
            </a:r>
          </a:p>
          <a:p>
            <a:pPr>
              <a:buNone/>
              <a:defRPr/>
            </a:pPr>
            <a:endParaRPr lang="en-US" sz="1800" dirty="0"/>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A←'</a:t>
            </a:r>
            <a:r>
              <a:rPr lang="en-US" dirty="0" err="1">
                <a:solidFill>
                  <a:srgbClr val="00B050"/>
                </a:solidFill>
                <a:latin typeface="APL385 Unicode" panose="020B0709000202000203" pitchFamily="49" charset="0"/>
              </a:rPr>
              <a:t>abc</a:t>
            </a:r>
            <a:r>
              <a:rPr lang="en-US" dirty="0">
                <a:solidFill>
                  <a:srgbClr val="00B050"/>
                </a:solidFill>
                <a:latin typeface="APL385 Unicode" panose="020B0709000202000203" pitchFamily="49" charset="0"/>
              </a:rPr>
              <a:t>' </a:t>
            </a:r>
            <a:r>
              <a:rPr lang="en-US" dirty="0">
                <a:solidFill>
                  <a:srgbClr val="DD6DCD"/>
                </a:solidFill>
                <a:latin typeface="APL385 Unicode" pitchFamily="49" charset="0"/>
              </a:rPr>
              <a:t>⍝ only 3 elements</a:t>
            </a:r>
          </a:p>
          <a:p>
            <a:pPr>
              <a:buNone/>
              <a:defRPr/>
            </a:pPr>
            <a:r>
              <a:rPr lang="en-US" dirty="0">
                <a:solidFill>
                  <a:srgbClr val="00B050"/>
                </a:solidFill>
                <a:latin typeface="APL385 Unicode" panose="020B0709000202000203" pitchFamily="49" charset="0"/>
              </a:rPr>
              <a:t>      ⍴</a:t>
            </a:r>
            <a:r>
              <a:rPr lang="en-GB" dirty="0">
                <a:solidFill>
                  <a:srgbClr val="00B050"/>
                </a:solidFill>
                <a:latin typeface="APL385 Unicode" panose="020B0709000202000203" pitchFamily="49" charset="0"/>
              </a:rPr>
              <a:t>⎕←</a:t>
            </a:r>
            <a:r>
              <a:rPr lang="en-US" dirty="0">
                <a:solidFill>
                  <a:srgbClr val="00B050"/>
                </a:solidFill>
                <a:latin typeface="APL385 Unicode" panose="020B0709000202000203" pitchFamily="49" charset="0"/>
              </a:rPr>
              <a:t>5↑A  </a:t>
            </a:r>
            <a:r>
              <a:rPr lang="en-US" dirty="0">
                <a:solidFill>
                  <a:srgbClr val="DD6DCD"/>
                </a:solidFill>
                <a:latin typeface="APL385 Unicode" pitchFamily="49" charset="0"/>
              </a:rPr>
              <a:t>⍝ ask for 5</a:t>
            </a:r>
            <a:endParaRPr lang="en-US" dirty="0">
              <a:solidFill>
                <a:srgbClr val="00B050"/>
              </a:solidFill>
              <a:latin typeface="APL385 Unicode" panose="020B0709000202000203" pitchFamily="49" charset="0"/>
            </a:endParaRPr>
          </a:p>
          <a:p>
            <a:pPr>
              <a:buNone/>
              <a:defRPr/>
            </a:pPr>
            <a:r>
              <a:rPr lang="en-US" dirty="0" err="1">
                <a:solidFill>
                  <a:schemeClr val="accent3">
                    <a:lumMod val="50000"/>
                  </a:schemeClr>
                </a:solidFill>
                <a:latin typeface="APL385 Unicode" panose="020B0709000202000203" pitchFamily="49" charset="0"/>
              </a:rPr>
              <a:t>abc</a:t>
            </a:r>
            <a:endParaRPr lang="en-US" dirty="0">
              <a:solidFill>
                <a:schemeClr val="accent3">
                  <a:lumMod val="50000"/>
                </a:schemeClr>
              </a:solidFill>
              <a:latin typeface="APL385 Unicode" panose="020B0709000202000203" pitchFamily="49" charset="0"/>
            </a:endParaRPr>
          </a:p>
          <a:p>
            <a:pPr>
              <a:buNone/>
              <a:defRPr/>
            </a:pPr>
            <a:r>
              <a:rPr lang="en-US" dirty="0">
                <a:solidFill>
                  <a:schemeClr val="accent3">
                    <a:lumMod val="50000"/>
                  </a:schemeClr>
                </a:solidFill>
                <a:latin typeface="APL385 Unicode" panose="020B0709000202000203" pitchFamily="49" charset="0"/>
              </a:rPr>
              <a:t>5</a:t>
            </a:r>
          </a:p>
          <a:p>
            <a:pPr>
              <a:buNone/>
              <a:defRPr/>
            </a:pPr>
            <a:r>
              <a:rPr lang="en-US" dirty="0">
                <a:solidFill>
                  <a:srgbClr val="00B050"/>
                </a:solidFill>
                <a:latin typeface="APL385 Unicode" panose="020B0709000202000203" pitchFamily="49" charset="0"/>
              </a:rPr>
              <a:t>      (5↑A),'!'</a:t>
            </a:r>
          </a:p>
          <a:p>
            <a:pPr>
              <a:buNone/>
              <a:defRPr/>
            </a:pPr>
            <a:r>
              <a:rPr lang="en-US" dirty="0" err="1">
                <a:solidFill>
                  <a:schemeClr val="accent3">
                    <a:lumMod val="50000"/>
                  </a:schemeClr>
                </a:solidFill>
                <a:latin typeface="APL385 Unicode" panose="020B0709000202000203" pitchFamily="49" charset="0"/>
              </a:rPr>
              <a:t>abc</a:t>
            </a:r>
            <a:r>
              <a:rPr lang="en-US" dirty="0">
                <a:solidFill>
                  <a:schemeClr val="accent3">
                    <a:lumMod val="50000"/>
                  </a:schemeClr>
                </a:solidFill>
                <a:latin typeface="APL385 Unicode" panose="020B0709000202000203" pitchFamily="49" charset="0"/>
              </a:rPr>
              <a:t>   !</a:t>
            </a:r>
          </a:p>
        </p:txBody>
      </p:sp>
      <p:sp>
        <p:nvSpPr>
          <p:cNvPr id="3" name="Title 2">
            <a:extLst>
              <a:ext uri="{FF2B5EF4-FFF2-40B4-BE49-F238E27FC236}">
                <a16:creationId xmlns:a16="http://schemas.microsoft.com/office/drawing/2014/main" id="{D3AD1FBD-21C7-12CB-4F1B-F106729C8073}"/>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3CDD19E3-07D9-3EAF-8960-9DC1748F0B47}"/>
              </a:ext>
            </a:extLst>
          </p:cNvPr>
          <p:cNvSpPr>
            <a:spLocks noGrp="1"/>
          </p:cNvSpPr>
          <p:nvPr>
            <p:ph type="media" sz="quarter" idx="11"/>
          </p:nvPr>
        </p:nvSpPr>
        <p:spPr/>
        <p:txBody>
          <a:bodyPr/>
          <a:lstStyle/>
          <a:p>
            <a:endParaRPr lang="en-GB"/>
          </a:p>
        </p:txBody>
      </p:sp>
      <p:grpSp>
        <p:nvGrpSpPr>
          <p:cNvPr id="8" name="Group 7">
            <a:extLst>
              <a:ext uri="{FF2B5EF4-FFF2-40B4-BE49-F238E27FC236}">
                <a16:creationId xmlns:a16="http://schemas.microsoft.com/office/drawing/2014/main" id="{E83B72FE-117E-040E-84CD-6570B66FEE18}"/>
              </a:ext>
            </a:extLst>
          </p:cNvPr>
          <p:cNvGrpSpPr/>
          <p:nvPr/>
        </p:nvGrpSpPr>
        <p:grpSpPr>
          <a:xfrm>
            <a:off x="866399" y="4010564"/>
            <a:ext cx="486054" cy="432048"/>
            <a:chOff x="1102510" y="5488204"/>
            <a:chExt cx="360040" cy="576064"/>
          </a:xfrm>
        </p:grpSpPr>
        <p:sp>
          <p:nvSpPr>
            <p:cNvPr id="9" name="Rectangle 8">
              <a:extLst>
                <a:ext uri="{FF2B5EF4-FFF2-40B4-BE49-F238E27FC236}">
                  <a16:creationId xmlns:a16="http://schemas.microsoft.com/office/drawing/2014/main" id="{90148560-FC24-5107-5B93-DC8995487388}"/>
                </a:ext>
              </a:extLst>
            </p:cNvPr>
            <p:cNvSpPr/>
            <p:nvPr/>
          </p:nvSpPr>
          <p:spPr bwMode="auto">
            <a:xfrm>
              <a:off x="1102510" y="5488204"/>
              <a:ext cx="360040" cy="576064"/>
            </a:xfrm>
            <a:prstGeom prst="rect">
              <a:avLst/>
            </a:prstGeom>
            <a:noFill/>
            <a:ln w="9525" cap="flat" cmpd="sng" algn="ctr">
              <a:solidFill>
                <a:schemeClr val="tx1"/>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cxnSp>
          <p:nvCxnSpPr>
            <p:cNvPr id="10" name="Straight Connector 9">
              <a:extLst>
                <a:ext uri="{FF2B5EF4-FFF2-40B4-BE49-F238E27FC236}">
                  <a16:creationId xmlns:a16="http://schemas.microsoft.com/office/drawing/2014/main" id="{6D6A0F06-AC65-BB08-2256-A866CB4BF897}"/>
                </a:ext>
              </a:extLst>
            </p:cNvPr>
            <p:cNvCxnSpPr>
              <a:stCxn id="9" idx="0"/>
            </p:cNvCxnSpPr>
            <p:nvPr/>
          </p:nvCxnSpPr>
          <p:spPr bwMode="auto">
            <a:xfrm>
              <a:off x="1282530" y="5488204"/>
              <a:ext cx="0" cy="576064"/>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grpSp>
        <p:nvGrpSpPr>
          <p:cNvPr id="11" name="Group 10">
            <a:extLst>
              <a:ext uri="{FF2B5EF4-FFF2-40B4-BE49-F238E27FC236}">
                <a16:creationId xmlns:a16="http://schemas.microsoft.com/office/drawing/2014/main" id="{88CA5E19-0164-2707-69BC-926CC5794270}"/>
              </a:ext>
            </a:extLst>
          </p:cNvPr>
          <p:cNvGrpSpPr/>
          <p:nvPr/>
        </p:nvGrpSpPr>
        <p:grpSpPr>
          <a:xfrm>
            <a:off x="869644" y="2814063"/>
            <a:ext cx="486054" cy="432048"/>
            <a:chOff x="1102510" y="5488204"/>
            <a:chExt cx="360040" cy="576064"/>
          </a:xfrm>
        </p:grpSpPr>
        <p:sp>
          <p:nvSpPr>
            <p:cNvPr id="12" name="Rectangle 11">
              <a:extLst>
                <a:ext uri="{FF2B5EF4-FFF2-40B4-BE49-F238E27FC236}">
                  <a16:creationId xmlns:a16="http://schemas.microsoft.com/office/drawing/2014/main" id="{57A34593-37AE-2CE2-BD94-86F88DE95498}"/>
                </a:ext>
              </a:extLst>
            </p:cNvPr>
            <p:cNvSpPr/>
            <p:nvPr/>
          </p:nvSpPr>
          <p:spPr bwMode="auto">
            <a:xfrm>
              <a:off x="1102510" y="5488204"/>
              <a:ext cx="360040" cy="576064"/>
            </a:xfrm>
            <a:prstGeom prst="rect">
              <a:avLst/>
            </a:prstGeom>
            <a:noFill/>
            <a:ln w="9525" cap="flat" cmpd="sng" algn="ctr">
              <a:solidFill>
                <a:schemeClr val="tx1"/>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cxnSp>
          <p:nvCxnSpPr>
            <p:cNvPr id="13" name="Straight Connector 12">
              <a:extLst>
                <a:ext uri="{FF2B5EF4-FFF2-40B4-BE49-F238E27FC236}">
                  <a16:creationId xmlns:a16="http://schemas.microsoft.com/office/drawing/2014/main" id="{B7930C4F-438E-7265-2DA3-2D500150C4CD}"/>
                </a:ext>
              </a:extLst>
            </p:cNvPr>
            <p:cNvCxnSpPr>
              <a:stCxn id="12" idx="0"/>
            </p:cNvCxnSpPr>
            <p:nvPr/>
          </p:nvCxnSpPr>
          <p:spPr bwMode="auto">
            <a:xfrm>
              <a:off x="1282530" y="5488204"/>
              <a:ext cx="0" cy="576064"/>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3452220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EADF9-8532-6583-AA61-2E5A5C0B022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806B1B-B489-A9CA-73D1-2DF92BDD5046}"/>
              </a:ext>
            </a:extLst>
          </p:cNvPr>
          <p:cNvSpPr>
            <a:spLocks noGrp="1"/>
          </p:cNvSpPr>
          <p:nvPr>
            <p:ph idx="1"/>
          </p:nvPr>
        </p:nvSpPr>
        <p:spPr/>
        <p:txBody>
          <a:bodyPr>
            <a:normAutofit fontScale="85000" lnSpcReduction="20000"/>
          </a:bodyPr>
          <a:lstStyle/>
          <a:p>
            <a:pPr>
              <a:buNone/>
              <a:defRPr/>
            </a:pPr>
            <a:r>
              <a:rPr lang="en-US" b="1" dirty="0"/>
              <a:t>Drop</a:t>
            </a:r>
            <a:r>
              <a:rPr lang="en-US" dirty="0"/>
              <a:t>:   </a:t>
            </a:r>
            <a:r>
              <a:rPr lang="en-US" dirty="0" err="1">
                <a:solidFill>
                  <a:srgbClr val="FF6600"/>
                </a:solidFill>
                <a:latin typeface="APL385 Unicode" panose="020B0709000202000203" pitchFamily="49" charset="0"/>
              </a:rPr>
              <a:t>n</a:t>
            </a:r>
            <a:r>
              <a:rPr lang="en-US" dirty="0" err="1">
                <a:latin typeface="APL385 Unicode" panose="020B0709000202000203" pitchFamily="49" charset="0"/>
              </a:rPr>
              <a:t>↓A</a:t>
            </a:r>
            <a:r>
              <a:rPr lang="en-US" dirty="0"/>
              <a:t> </a:t>
            </a:r>
          </a:p>
          <a:p>
            <a:pPr>
              <a:buNone/>
              <a:defRPr/>
            </a:pPr>
            <a:r>
              <a:rPr lang="en-US" i="1" dirty="0"/>
              <a:t>Drop</a:t>
            </a:r>
            <a:r>
              <a:rPr lang="en-US" dirty="0"/>
              <a:t> drops the </a:t>
            </a:r>
            <a:r>
              <a:rPr lang="en-US" b="1" dirty="0"/>
              <a:t>first</a:t>
            </a:r>
            <a:r>
              <a:rPr lang="en-US" dirty="0">
                <a:solidFill>
                  <a:srgbClr val="FF6600"/>
                </a:solidFill>
              </a:rPr>
              <a:t> </a:t>
            </a:r>
            <a:r>
              <a:rPr lang="en-US" i="1" dirty="0">
                <a:solidFill>
                  <a:srgbClr val="FF6600"/>
                </a:solidFill>
              </a:rPr>
              <a:t>n</a:t>
            </a:r>
            <a:r>
              <a:rPr lang="en-US" dirty="0">
                <a:solidFill>
                  <a:srgbClr val="FF6600"/>
                </a:solidFill>
              </a:rPr>
              <a:t> </a:t>
            </a:r>
            <a:r>
              <a:rPr lang="en-US" dirty="0"/>
              <a:t>elements of an array:</a:t>
            </a:r>
          </a:p>
          <a:p>
            <a:pPr>
              <a:buNone/>
              <a:defRPr/>
            </a:pPr>
            <a:r>
              <a:rPr lang="en-US" dirty="0">
                <a:latin typeface="APL385 Unicode" panose="020B0709000202000203" pitchFamily="49" charset="0"/>
              </a:rPr>
              <a:t>     A ← </a:t>
            </a:r>
            <a:r>
              <a:rPr lang="en-US" dirty="0">
                <a:solidFill>
                  <a:srgbClr val="FF6600"/>
                </a:solidFill>
                <a:latin typeface="APL385 Unicode" panose="020B0709000202000203" pitchFamily="49" charset="0"/>
              </a:rPr>
              <a:t>2 7 </a:t>
            </a:r>
            <a:r>
              <a:rPr lang="en-US" dirty="0">
                <a:latin typeface="APL385 Unicode" panose="020B0709000202000203" pitchFamily="49" charset="0"/>
              </a:rPr>
              <a:t>9 </a:t>
            </a:r>
            <a:r>
              <a:rPr lang="en-US" dirty="0">
                <a:solidFill>
                  <a:srgbClr val="7030A0"/>
                </a:solidFill>
                <a:latin typeface="APL385 Unicode" panose="020B0709000202000203" pitchFamily="49" charset="0"/>
              </a:rPr>
              <a:t>¯2 12 ¯33</a:t>
            </a:r>
          </a:p>
          <a:p>
            <a:pPr>
              <a:buNone/>
              <a:defRPr/>
            </a:pPr>
            <a:r>
              <a:rPr lang="en-US" dirty="0">
                <a:latin typeface="APL385 Unicode" panose="020B0709000202000203" pitchFamily="49" charset="0"/>
              </a:rPr>
              <a:t>     </a:t>
            </a:r>
            <a:r>
              <a:rPr lang="en-US" dirty="0">
                <a:solidFill>
                  <a:srgbClr val="FF6600"/>
                </a:solidFill>
                <a:latin typeface="APL385 Unicode" panose="020B0709000202000203" pitchFamily="49" charset="0"/>
              </a:rPr>
              <a:t>2</a:t>
            </a:r>
            <a:r>
              <a:rPr lang="en-US" dirty="0">
                <a:solidFill>
                  <a:schemeClr val="tx1"/>
                </a:solidFill>
                <a:latin typeface="APL385 Unicode" panose="020B0709000202000203" pitchFamily="49" charset="0"/>
              </a:rPr>
              <a:t>↓A</a:t>
            </a:r>
          </a:p>
          <a:p>
            <a:pPr>
              <a:buNone/>
              <a:defRPr/>
            </a:pPr>
            <a:r>
              <a:rPr lang="en-US" dirty="0">
                <a:solidFill>
                  <a:schemeClr val="tx1"/>
                </a:solidFill>
                <a:latin typeface="APL385 Unicode" panose="020B0709000202000203" pitchFamily="49" charset="0"/>
              </a:rPr>
              <a:t>9 ¯2 12 ¯33</a:t>
            </a:r>
          </a:p>
          <a:p>
            <a:pPr>
              <a:buNone/>
              <a:defRPr/>
            </a:pPr>
            <a:r>
              <a:rPr lang="en-US" dirty="0"/>
              <a:t>If </a:t>
            </a:r>
            <a:r>
              <a:rPr lang="en-US" i="1" dirty="0">
                <a:solidFill>
                  <a:srgbClr val="FF6600"/>
                </a:solidFill>
              </a:rPr>
              <a:t>n</a:t>
            </a:r>
            <a:r>
              <a:rPr lang="en-US" dirty="0"/>
              <a:t> is negative it drops from the </a:t>
            </a:r>
            <a:r>
              <a:rPr lang="en-US" b="1" dirty="0"/>
              <a:t>end</a:t>
            </a:r>
            <a:r>
              <a:rPr lang="en-US" dirty="0"/>
              <a:t>: </a:t>
            </a:r>
          </a:p>
          <a:p>
            <a:pPr>
              <a:buNone/>
              <a:defRPr/>
            </a:pPr>
            <a:r>
              <a:rPr lang="en-US" dirty="0">
                <a:latin typeface="APL385 Unicode" panose="020B0709000202000203" pitchFamily="49" charset="0"/>
              </a:rPr>
              <a:t>     </a:t>
            </a:r>
            <a:r>
              <a:rPr lang="en-US" dirty="0">
                <a:solidFill>
                  <a:srgbClr val="7030A0"/>
                </a:solidFill>
                <a:latin typeface="APL385 Unicode" panose="020B0709000202000203" pitchFamily="49" charset="0"/>
              </a:rPr>
              <a:t>¯3</a:t>
            </a:r>
            <a:r>
              <a:rPr lang="en-US" dirty="0">
                <a:solidFill>
                  <a:schemeClr val="tx1"/>
                </a:solidFill>
                <a:latin typeface="APL385 Unicode" panose="020B0709000202000203" pitchFamily="49" charset="0"/>
              </a:rPr>
              <a:t>↓</a:t>
            </a:r>
            <a:r>
              <a:rPr lang="en-US" dirty="0">
                <a:latin typeface="APL385 Unicode" panose="020B0709000202000203" pitchFamily="49" charset="0"/>
              </a:rPr>
              <a:t>A</a:t>
            </a:r>
          </a:p>
          <a:p>
            <a:pPr>
              <a:buNone/>
              <a:defRPr/>
            </a:pPr>
            <a:r>
              <a:rPr lang="en-US" dirty="0">
                <a:solidFill>
                  <a:srgbClr val="7030A0"/>
                </a:solidFill>
                <a:latin typeface="APL385 Unicode" panose="020B0709000202000203" pitchFamily="49" charset="0"/>
              </a:rPr>
              <a:t>2 7 9</a:t>
            </a:r>
          </a:p>
        </p:txBody>
      </p:sp>
      <p:sp>
        <p:nvSpPr>
          <p:cNvPr id="3" name="Title 2">
            <a:extLst>
              <a:ext uri="{FF2B5EF4-FFF2-40B4-BE49-F238E27FC236}">
                <a16:creationId xmlns:a16="http://schemas.microsoft.com/office/drawing/2014/main" id="{6776F4F4-4FEC-8709-6BF0-E4CAF637A114}"/>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FB10EFDA-26CC-640F-9776-F0BDAD82852F}"/>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5133703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F20EB-A3F2-BD39-1EC6-083D9F9E6D5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4A189D-C924-6A65-FAE5-05FB8E23A02F}"/>
              </a:ext>
            </a:extLst>
          </p:cNvPr>
          <p:cNvSpPr>
            <a:spLocks noGrp="1"/>
          </p:cNvSpPr>
          <p:nvPr>
            <p:ph idx="1"/>
          </p:nvPr>
        </p:nvSpPr>
        <p:spPr/>
        <p:txBody>
          <a:bodyPr>
            <a:normAutofit fontScale="55000" lnSpcReduction="20000"/>
          </a:bodyPr>
          <a:lstStyle/>
          <a:p>
            <a:pPr>
              <a:buNone/>
              <a:defRPr/>
            </a:pPr>
            <a:r>
              <a:rPr lang="en-US" sz="3200" dirty="0"/>
              <a:t>Find the difference between each pair of numbers in a vector – without writing a loop:</a:t>
            </a:r>
            <a:br>
              <a:rPr lang="en-US" sz="3200" dirty="0"/>
            </a:br>
            <a:endParaRPr lang="en-US" sz="3200" dirty="0"/>
          </a:p>
          <a:p>
            <a:pPr>
              <a:buNone/>
              <a:defRPr/>
            </a:pPr>
            <a:r>
              <a:rPr lang="en-US" dirty="0">
                <a:latin typeface="APL385 Unicode" panose="020B0709000202000203" pitchFamily="49" charset="0"/>
              </a:rPr>
              <a:t>    A← </a:t>
            </a:r>
            <a:r>
              <a:rPr lang="en-US" dirty="0">
                <a:solidFill>
                  <a:srgbClr val="000000"/>
                </a:solidFill>
                <a:latin typeface="APL385 Unicode" panose="020B0709000202000203" pitchFamily="49" charset="0"/>
              </a:rPr>
              <a:t>2 7 9 ¯2 12 ¯33</a:t>
            </a:r>
          </a:p>
          <a:p>
            <a:pPr>
              <a:buNone/>
              <a:defRPr/>
            </a:pPr>
            <a:r>
              <a:rPr lang="en-US" dirty="0">
                <a:solidFill>
                  <a:srgbClr val="000000"/>
                </a:solidFill>
                <a:latin typeface="APL385 Unicode" panose="020B0709000202000203" pitchFamily="49" charset="0"/>
              </a:rPr>
              <a:t>	  ¯1↓A</a:t>
            </a:r>
          </a:p>
          <a:p>
            <a:pPr>
              <a:buNone/>
              <a:defRPr/>
            </a:pPr>
            <a:r>
              <a:rPr lang="en-US" dirty="0">
                <a:solidFill>
                  <a:srgbClr val="FF6600"/>
                </a:solidFill>
                <a:latin typeface="APL385 Unicode" panose="020B0709000202000203" pitchFamily="49" charset="0"/>
              </a:rPr>
              <a:t>2</a:t>
            </a:r>
            <a:r>
              <a:rPr lang="en-US" dirty="0">
                <a:solidFill>
                  <a:srgbClr val="FF0000"/>
                </a:solidFill>
                <a:latin typeface="APL385 Unicode" panose="020B0709000202000203" pitchFamily="49" charset="0"/>
              </a:rPr>
              <a:t> </a:t>
            </a:r>
            <a:r>
              <a:rPr lang="en-US" dirty="0">
                <a:solidFill>
                  <a:srgbClr val="000000"/>
                </a:solidFill>
                <a:latin typeface="APL385 Unicode" panose="020B0709000202000203" pitchFamily="49" charset="0"/>
              </a:rPr>
              <a:t>7 </a:t>
            </a:r>
            <a:r>
              <a:rPr lang="en-US" dirty="0">
                <a:solidFill>
                  <a:srgbClr val="339933"/>
                </a:solidFill>
                <a:latin typeface="APL385 Unicode" panose="020B0709000202000203" pitchFamily="49" charset="0"/>
              </a:rPr>
              <a:t>9</a:t>
            </a:r>
            <a:r>
              <a:rPr lang="en-US" dirty="0">
                <a:solidFill>
                  <a:srgbClr val="000000"/>
                </a:solidFill>
                <a:latin typeface="APL385 Unicode" panose="020B0709000202000203" pitchFamily="49" charset="0"/>
              </a:rPr>
              <a:t> </a:t>
            </a:r>
            <a:r>
              <a:rPr lang="en-US" dirty="0">
                <a:solidFill>
                  <a:srgbClr val="CC00CC"/>
                </a:solidFill>
                <a:latin typeface="APL385 Unicode" panose="020B0709000202000203" pitchFamily="49" charset="0"/>
              </a:rPr>
              <a:t>¯2 </a:t>
            </a:r>
            <a:r>
              <a:rPr lang="en-US" dirty="0">
                <a:solidFill>
                  <a:srgbClr val="000000"/>
                </a:solidFill>
                <a:latin typeface="APL385 Unicode" panose="020B0709000202000203" pitchFamily="49" charset="0"/>
              </a:rPr>
              <a:t>12</a:t>
            </a:r>
          </a:p>
          <a:p>
            <a:pPr>
              <a:buNone/>
              <a:defRPr/>
            </a:pPr>
            <a:r>
              <a:rPr lang="en-US" dirty="0">
                <a:solidFill>
                  <a:srgbClr val="000000"/>
                </a:solidFill>
                <a:latin typeface="APL385 Unicode" panose="020B0709000202000203" pitchFamily="49" charset="0"/>
              </a:rPr>
              <a:t>	  1↓A </a:t>
            </a:r>
          </a:p>
          <a:p>
            <a:pPr>
              <a:buNone/>
              <a:defRPr/>
            </a:pPr>
            <a:r>
              <a:rPr lang="en-US" dirty="0">
                <a:solidFill>
                  <a:srgbClr val="FF6600"/>
                </a:solidFill>
                <a:latin typeface="APL385 Unicode" panose="020B0709000202000203" pitchFamily="49" charset="0"/>
              </a:rPr>
              <a:t>7</a:t>
            </a:r>
            <a:r>
              <a:rPr lang="en-US" dirty="0">
                <a:solidFill>
                  <a:srgbClr val="000000"/>
                </a:solidFill>
                <a:latin typeface="APL385 Unicode" panose="020B0709000202000203" pitchFamily="49" charset="0"/>
              </a:rPr>
              <a:t> 9 </a:t>
            </a:r>
            <a:r>
              <a:rPr lang="en-US" dirty="0">
                <a:solidFill>
                  <a:srgbClr val="339933"/>
                </a:solidFill>
                <a:latin typeface="APL385 Unicode" panose="020B0709000202000203" pitchFamily="49" charset="0"/>
              </a:rPr>
              <a:t>¯2 </a:t>
            </a:r>
            <a:r>
              <a:rPr lang="en-US" dirty="0">
                <a:solidFill>
                  <a:srgbClr val="CC00CC"/>
                </a:solidFill>
                <a:latin typeface="APL385 Unicode" panose="020B0709000202000203" pitchFamily="49" charset="0"/>
              </a:rPr>
              <a:t>12</a:t>
            </a:r>
            <a:r>
              <a:rPr lang="en-US" dirty="0">
                <a:solidFill>
                  <a:srgbClr val="000000"/>
                </a:solidFill>
                <a:latin typeface="APL385 Unicode" panose="020B0709000202000203" pitchFamily="49" charset="0"/>
              </a:rPr>
              <a:t> ¯33</a:t>
            </a:r>
          </a:p>
          <a:p>
            <a:pPr>
              <a:buNone/>
              <a:defRPr/>
            </a:pPr>
            <a:r>
              <a:rPr lang="en-US" dirty="0">
                <a:latin typeface="APL385 Unicode" panose="020B0709000202000203" pitchFamily="49" charset="0"/>
              </a:rPr>
              <a:t>	  </a:t>
            </a:r>
            <a:r>
              <a:rPr lang="en-US" dirty="0">
                <a:solidFill>
                  <a:srgbClr val="000000"/>
                </a:solidFill>
                <a:latin typeface="APL385 Unicode" panose="020B0709000202000203" pitchFamily="49" charset="0"/>
              </a:rPr>
              <a:t>(¯1↓A)-(1↓A)</a:t>
            </a:r>
          </a:p>
          <a:p>
            <a:pPr>
              <a:buNone/>
              <a:defRPr/>
            </a:pPr>
            <a:r>
              <a:rPr lang="en-US" dirty="0">
                <a:solidFill>
                  <a:srgbClr val="FF6600"/>
                </a:solidFill>
                <a:latin typeface="APL385 Unicode" panose="020B0709000202000203" pitchFamily="49" charset="0"/>
              </a:rPr>
              <a:t>¯5 </a:t>
            </a:r>
            <a:r>
              <a:rPr lang="en-US" dirty="0">
                <a:latin typeface="APL385 Unicode" panose="020B0709000202000203" pitchFamily="49" charset="0"/>
              </a:rPr>
              <a:t>¯2 </a:t>
            </a:r>
            <a:r>
              <a:rPr lang="en-US" dirty="0">
                <a:solidFill>
                  <a:srgbClr val="339933"/>
                </a:solidFill>
                <a:latin typeface="APL385 Unicode" panose="020B0709000202000203" pitchFamily="49" charset="0"/>
              </a:rPr>
              <a:t>11</a:t>
            </a:r>
            <a:r>
              <a:rPr lang="en-US" dirty="0">
                <a:latin typeface="APL385 Unicode" panose="020B0709000202000203" pitchFamily="49" charset="0"/>
              </a:rPr>
              <a:t> </a:t>
            </a:r>
            <a:r>
              <a:rPr lang="en-US" dirty="0">
                <a:solidFill>
                  <a:srgbClr val="CC00CC"/>
                </a:solidFill>
                <a:latin typeface="APL385 Unicode" panose="020B0709000202000203" pitchFamily="49" charset="0"/>
              </a:rPr>
              <a:t>¯14 </a:t>
            </a:r>
            <a:r>
              <a:rPr lang="en-US" dirty="0">
                <a:latin typeface="APL385 Unicode" panose="020B0709000202000203" pitchFamily="49" charset="0"/>
              </a:rPr>
              <a:t>45</a:t>
            </a:r>
          </a:p>
        </p:txBody>
      </p:sp>
      <p:sp>
        <p:nvSpPr>
          <p:cNvPr id="3" name="Title 2">
            <a:extLst>
              <a:ext uri="{FF2B5EF4-FFF2-40B4-BE49-F238E27FC236}">
                <a16:creationId xmlns:a16="http://schemas.microsoft.com/office/drawing/2014/main" id="{AE9C8801-4524-A1F3-4DC2-239B18638B8F}"/>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15455CDD-3DE5-745B-AB02-441CCFC22A7A}"/>
              </a:ext>
            </a:extLst>
          </p:cNvPr>
          <p:cNvSpPr>
            <a:spLocks noGrp="1"/>
          </p:cNvSpPr>
          <p:nvPr>
            <p:ph type="media" sz="quarter" idx="11"/>
          </p:nvPr>
        </p:nvSpPr>
        <p:spPr/>
        <p:txBody>
          <a:bodyPr/>
          <a:lstStyle/>
          <a:p>
            <a:endParaRPr lang="en-GB"/>
          </a:p>
        </p:txBody>
      </p:sp>
      <p:sp>
        <p:nvSpPr>
          <p:cNvPr id="5" name="TextBox 4">
            <a:extLst>
              <a:ext uri="{FF2B5EF4-FFF2-40B4-BE49-F238E27FC236}">
                <a16:creationId xmlns:a16="http://schemas.microsoft.com/office/drawing/2014/main" id="{B376A6A0-89B5-275F-C1F6-08BFBB5F038E}"/>
              </a:ext>
            </a:extLst>
          </p:cNvPr>
          <p:cNvSpPr txBox="1"/>
          <p:nvPr/>
        </p:nvSpPr>
        <p:spPr>
          <a:xfrm>
            <a:off x="5246451" y="2892357"/>
            <a:ext cx="2440092" cy="369332"/>
          </a:xfrm>
          <a:prstGeom prst="rect">
            <a:avLst/>
          </a:prstGeom>
          <a:noFill/>
        </p:spPr>
        <p:txBody>
          <a:bodyPr wrap="none" rtlCol="0">
            <a:spAutoFit/>
          </a:bodyPr>
          <a:lstStyle/>
          <a:p>
            <a:r>
              <a:rPr lang="en-GB" dirty="0"/>
              <a:t>Note: this is also </a:t>
            </a:r>
            <a:r>
              <a:rPr lang="en-GB" dirty="0">
                <a:solidFill>
                  <a:srgbClr val="00B050"/>
                </a:solidFill>
                <a:latin typeface="APL385 Unicode" panose="020B0709000202000203" pitchFamily="49" charset="0"/>
              </a:rPr>
              <a:t>2-/A</a:t>
            </a:r>
          </a:p>
        </p:txBody>
      </p:sp>
    </p:spTree>
    <p:extLst>
      <p:ext uri="{BB962C8B-B14F-4D97-AF65-F5344CB8AC3E}">
        <p14:creationId xmlns:p14="http://schemas.microsoft.com/office/powerpoint/2010/main" val="1971967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5EC3C-4C9D-4805-5061-BC908F0214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EFA55E-2431-58A4-A7CF-5B25F04CCEC0}"/>
              </a:ext>
            </a:extLst>
          </p:cNvPr>
          <p:cNvSpPr>
            <a:spLocks noGrp="1"/>
          </p:cNvSpPr>
          <p:nvPr>
            <p:ph idx="1"/>
          </p:nvPr>
        </p:nvSpPr>
        <p:spPr/>
        <p:txBody>
          <a:bodyPr>
            <a:normAutofit fontScale="92500" lnSpcReduction="10000"/>
          </a:bodyPr>
          <a:lstStyle/>
          <a:p>
            <a:pPr>
              <a:buNone/>
              <a:defRPr/>
            </a:pPr>
            <a:r>
              <a:rPr lang="en-US" b="1" dirty="0"/>
              <a:t>Compress</a:t>
            </a:r>
            <a:r>
              <a:rPr lang="en-US" dirty="0"/>
              <a:t>:   </a:t>
            </a:r>
            <a:r>
              <a:rPr lang="en-US" dirty="0">
                <a:solidFill>
                  <a:srgbClr val="FF6600"/>
                </a:solidFill>
                <a:latin typeface="APL385 Unicode" panose="020B0709000202000203" pitchFamily="49" charset="0"/>
              </a:rPr>
              <a:t>s / A</a:t>
            </a:r>
          </a:p>
          <a:p>
            <a:pPr>
              <a:buNone/>
              <a:defRPr/>
            </a:pPr>
            <a:r>
              <a:rPr lang="en-US" dirty="0"/>
              <a:t>Keep each item of A if the corresponding item of the Boolean array is 1:</a:t>
            </a:r>
          </a:p>
          <a:p>
            <a:pPr>
              <a:buNone/>
              <a:defRPr/>
            </a:pPr>
            <a:r>
              <a:rPr lang="en-US" dirty="0">
                <a:solidFill>
                  <a:srgbClr val="00B050"/>
                </a:solidFill>
                <a:latin typeface="APL385 Unicode" panose="020B0709000202000203" pitchFamily="49" charset="0"/>
              </a:rPr>
              <a:t>    s← 0 </a:t>
            </a:r>
            <a:r>
              <a:rPr lang="en-US" dirty="0">
                <a:solidFill>
                  <a:srgbClr val="FF6600"/>
                </a:solidFill>
                <a:latin typeface="APL385 Unicode" panose="020B0709000202000203" pitchFamily="49" charset="0"/>
              </a:rPr>
              <a:t>1</a:t>
            </a:r>
            <a:r>
              <a:rPr lang="en-US" dirty="0">
                <a:latin typeface="APL385 Unicode" panose="020B0709000202000203" pitchFamily="49" charset="0"/>
              </a:rPr>
              <a:t> </a:t>
            </a:r>
            <a:r>
              <a:rPr lang="en-US" dirty="0">
                <a:solidFill>
                  <a:srgbClr val="00B050"/>
                </a:solidFill>
                <a:latin typeface="APL385 Unicode" panose="020B0709000202000203" pitchFamily="49" charset="0"/>
              </a:rPr>
              <a:t>0</a:t>
            </a:r>
            <a:r>
              <a:rPr lang="en-US" dirty="0">
                <a:latin typeface="APL385 Unicode" panose="020B0709000202000203" pitchFamily="49" charset="0"/>
              </a:rPr>
              <a:t> </a:t>
            </a:r>
            <a:r>
              <a:rPr lang="en-US" dirty="0">
                <a:solidFill>
                  <a:srgbClr val="FF6600"/>
                </a:solidFill>
                <a:latin typeface="APL385 Unicode" panose="020B0709000202000203" pitchFamily="49" charset="0"/>
              </a:rPr>
              <a:t>1</a:t>
            </a:r>
            <a:r>
              <a:rPr lang="en-US" dirty="0">
                <a:latin typeface="APL385 Unicode" panose="020B0709000202000203" pitchFamily="49" charset="0"/>
              </a:rPr>
              <a:t>  </a:t>
            </a:r>
            <a:r>
              <a:rPr lang="en-US" dirty="0">
                <a:solidFill>
                  <a:srgbClr val="00B050"/>
                </a:solidFill>
                <a:latin typeface="APL385 Unicode" panose="020B0709000202000203" pitchFamily="49" charset="0"/>
              </a:rPr>
              <a:t>0</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A← 2</a:t>
            </a:r>
            <a:r>
              <a:rPr lang="en-US" dirty="0">
                <a:latin typeface="APL385 Unicode" panose="020B0709000202000203" pitchFamily="49" charset="0"/>
              </a:rPr>
              <a:t> </a:t>
            </a:r>
            <a:r>
              <a:rPr lang="en-US" dirty="0">
                <a:solidFill>
                  <a:srgbClr val="FF6600"/>
                </a:solidFill>
                <a:latin typeface="APL385 Unicode" panose="020B0709000202000203" pitchFamily="49" charset="0"/>
              </a:rPr>
              <a:t>3</a:t>
            </a:r>
            <a:r>
              <a:rPr lang="en-US" dirty="0">
                <a:latin typeface="APL385 Unicode" panose="020B0709000202000203" pitchFamily="49" charset="0"/>
              </a:rPr>
              <a:t> </a:t>
            </a:r>
            <a:r>
              <a:rPr lang="en-US" dirty="0">
                <a:solidFill>
                  <a:srgbClr val="00B050"/>
                </a:solidFill>
                <a:latin typeface="APL385 Unicode" panose="020B0709000202000203" pitchFamily="49" charset="0"/>
              </a:rPr>
              <a:t>5</a:t>
            </a:r>
            <a:r>
              <a:rPr lang="en-US" dirty="0">
                <a:latin typeface="APL385 Unicode" panose="020B0709000202000203" pitchFamily="49" charset="0"/>
              </a:rPr>
              <a:t> </a:t>
            </a:r>
            <a:r>
              <a:rPr lang="en-US" dirty="0">
                <a:solidFill>
                  <a:srgbClr val="FF6600"/>
                </a:solidFill>
                <a:latin typeface="APL385 Unicode" panose="020B0709000202000203" pitchFamily="49" charset="0"/>
              </a:rPr>
              <a:t>7</a:t>
            </a:r>
            <a:r>
              <a:rPr lang="en-US" dirty="0">
                <a:latin typeface="APL385 Unicode" panose="020B0709000202000203" pitchFamily="49" charset="0"/>
              </a:rPr>
              <a:t> </a:t>
            </a:r>
            <a:r>
              <a:rPr lang="en-US" dirty="0">
                <a:solidFill>
                  <a:srgbClr val="00B050"/>
                </a:solidFill>
                <a:latin typeface="APL385 Unicode" panose="020B0709000202000203" pitchFamily="49" charset="0"/>
              </a:rPr>
              <a:t>11</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s / A</a:t>
            </a:r>
          </a:p>
          <a:p>
            <a:pPr>
              <a:buNone/>
              <a:defRPr/>
            </a:pPr>
            <a:r>
              <a:rPr lang="en-US" dirty="0">
                <a:latin typeface="APL385 Unicode" panose="020B0709000202000203" pitchFamily="49" charset="0"/>
              </a:rPr>
              <a:t>3 7</a:t>
            </a:r>
          </a:p>
        </p:txBody>
      </p:sp>
      <p:sp>
        <p:nvSpPr>
          <p:cNvPr id="3" name="Title 2">
            <a:extLst>
              <a:ext uri="{FF2B5EF4-FFF2-40B4-BE49-F238E27FC236}">
                <a16:creationId xmlns:a16="http://schemas.microsoft.com/office/drawing/2014/main" id="{6955793A-1769-F7B2-A3D3-ED484B033301}"/>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4861FF84-21F5-4F93-632E-5DD306F08BB7}"/>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41693140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BFACD-3DF4-FA5B-E969-1839E974F2D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0835E6-13BE-3627-1972-6E46067EB867}"/>
              </a:ext>
            </a:extLst>
          </p:cNvPr>
          <p:cNvSpPr>
            <a:spLocks noGrp="1"/>
          </p:cNvSpPr>
          <p:nvPr>
            <p:ph idx="1"/>
          </p:nvPr>
        </p:nvSpPr>
        <p:spPr/>
        <p:txBody>
          <a:bodyPr>
            <a:normAutofit fontScale="85000" lnSpcReduction="20000"/>
          </a:bodyPr>
          <a:lstStyle/>
          <a:p>
            <a:pPr>
              <a:buNone/>
              <a:defRPr/>
            </a:pPr>
            <a:r>
              <a:rPr lang="en-US" b="1" dirty="0"/>
              <a:t>Replicate</a:t>
            </a:r>
            <a:r>
              <a:rPr lang="en-US" dirty="0"/>
              <a:t>:   </a:t>
            </a:r>
            <a:r>
              <a:rPr lang="en-US" dirty="0">
                <a:solidFill>
                  <a:srgbClr val="FF6600"/>
                </a:solidFill>
                <a:latin typeface="APL385 Unicode" panose="020B0709000202000203" pitchFamily="49" charset="0"/>
              </a:rPr>
              <a:t>s / A</a:t>
            </a:r>
          </a:p>
          <a:p>
            <a:pPr>
              <a:buNone/>
              <a:defRPr/>
            </a:pPr>
            <a:r>
              <a:rPr lang="en-US" dirty="0"/>
              <a:t>If s contains numbers &lt;0 or &gt;1. Ex:</a:t>
            </a:r>
          </a:p>
          <a:p>
            <a:pPr>
              <a:buNone/>
              <a:defRPr/>
            </a:pPr>
            <a:r>
              <a:rPr lang="en-US" dirty="0">
                <a:solidFill>
                  <a:srgbClr val="00B050"/>
                </a:solidFill>
                <a:latin typeface="APL385 Unicode" panose="020B0709000202000203" pitchFamily="49" charset="0"/>
              </a:rPr>
              <a:t>     s←</a:t>
            </a:r>
            <a:r>
              <a:rPr lang="en-US" dirty="0">
                <a:solidFill>
                  <a:srgbClr val="FF6600"/>
                </a:solidFill>
                <a:latin typeface="APL385 Unicode" panose="020B0709000202000203" pitchFamily="49" charset="0"/>
              </a:rPr>
              <a:t>2</a:t>
            </a:r>
          </a:p>
          <a:p>
            <a:pPr>
              <a:buNone/>
              <a:defRPr/>
            </a:pPr>
            <a:r>
              <a:rPr lang="en-US" dirty="0">
                <a:solidFill>
                  <a:srgbClr val="00B050"/>
                </a:solidFill>
                <a:latin typeface="APL385 Unicode" panose="020B0709000202000203" pitchFamily="49" charset="0"/>
              </a:rPr>
              <a:t>     A←2 3 5 7 11</a:t>
            </a:r>
          </a:p>
          <a:p>
            <a:pPr>
              <a:buNone/>
              <a:defRPr/>
            </a:pPr>
            <a:r>
              <a:rPr lang="en-US" dirty="0">
                <a:solidFill>
                  <a:srgbClr val="00B050"/>
                </a:solidFill>
                <a:latin typeface="APL385 Unicode" panose="020B0709000202000203" pitchFamily="49" charset="0"/>
              </a:rPr>
              <a:t>     s/A</a:t>
            </a:r>
          </a:p>
          <a:p>
            <a:pPr>
              <a:buNone/>
              <a:defRPr/>
            </a:pPr>
            <a:r>
              <a:rPr lang="en-US" dirty="0">
                <a:latin typeface="APL385 Unicode" panose="020B0709000202000203" pitchFamily="49" charset="0"/>
              </a:rPr>
              <a:t>2 2 3 3 5 5 7 7 11 11</a:t>
            </a:r>
          </a:p>
          <a:p>
            <a:pPr>
              <a:buNone/>
              <a:defRPr/>
            </a:pPr>
            <a:endParaRPr lang="en-US" dirty="0"/>
          </a:p>
          <a:p>
            <a:pPr>
              <a:buNone/>
              <a:defRPr/>
            </a:pPr>
            <a:r>
              <a:rPr lang="en-US" dirty="0"/>
              <a:t>Discuss: Is </a:t>
            </a:r>
            <a:r>
              <a:rPr lang="en-US" dirty="0">
                <a:latin typeface="APL385 Unicode" panose="020B0709000202000203" pitchFamily="49" charset="0"/>
              </a:rPr>
              <a:t>/</a:t>
            </a:r>
            <a:r>
              <a:rPr lang="en-US" dirty="0"/>
              <a:t> a scalar function?</a:t>
            </a:r>
          </a:p>
        </p:txBody>
      </p:sp>
      <p:sp>
        <p:nvSpPr>
          <p:cNvPr id="3" name="Title 2">
            <a:extLst>
              <a:ext uri="{FF2B5EF4-FFF2-40B4-BE49-F238E27FC236}">
                <a16:creationId xmlns:a16="http://schemas.microsoft.com/office/drawing/2014/main" id="{83C2C25A-FFE3-1932-D3EB-4630A8A6BB9E}"/>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1358445B-8176-EB55-67B5-DA91771403E8}"/>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9374378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1DEEC-4B88-077F-F86C-F1C9AD43B7E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9865E9-4653-DDD3-2403-A10CFA1A7997}"/>
              </a:ext>
            </a:extLst>
          </p:cNvPr>
          <p:cNvSpPr>
            <a:spLocks noGrp="1"/>
          </p:cNvSpPr>
          <p:nvPr>
            <p:ph idx="1"/>
          </p:nvPr>
        </p:nvSpPr>
        <p:spPr/>
        <p:txBody>
          <a:bodyPr>
            <a:normAutofit fontScale="92500" lnSpcReduction="10000"/>
          </a:bodyPr>
          <a:lstStyle/>
          <a:p>
            <a:pPr>
              <a:buNone/>
              <a:defRPr/>
            </a:pPr>
            <a:r>
              <a:rPr lang="en-US" b="1" dirty="0"/>
              <a:t>Replicate</a:t>
            </a:r>
            <a:r>
              <a:rPr lang="en-US" dirty="0"/>
              <a:t>:   </a:t>
            </a:r>
            <a:r>
              <a:rPr lang="en-US" dirty="0">
                <a:solidFill>
                  <a:srgbClr val="FF6600"/>
                </a:solidFill>
                <a:latin typeface="APL385 Unicode" panose="020B0709000202000203" pitchFamily="49" charset="0"/>
              </a:rPr>
              <a:t>s / A</a:t>
            </a:r>
          </a:p>
          <a:p>
            <a:pPr>
              <a:buNone/>
              <a:defRPr/>
            </a:pPr>
            <a:r>
              <a:rPr lang="en-US" dirty="0">
                <a:latin typeface="APL385 Unicode" panose="020B0709000202000203" pitchFamily="49" charset="0"/>
              </a:rPr>
              <a:t>     s← 0 </a:t>
            </a:r>
            <a:r>
              <a:rPr lang="en-US" dirty="0">
                <a:solidFill>
                  <a:srgbClr val="FF6600"/>
                </a:solidFill>
                <a:latin typeface="APL385 Unicode" panose="020B0709000202000203" pitchFamily="49" charset="0"/>
              </a:rPr>
              <a:t>1</a:t>
            </a:r>
            <a:r>
              <a:rPr lang="en-US" dirty="0">
                <a:latin typeface="APL385 Unicode" panose="020B0709000202000203" pitchFamily="49" charset="0"/>
              </a:rPr>
              <a:t> 0 </a:t>
            </a:r>
            <a:r>
              <a:rPr lang="en-US" dirty="0">
                <a:solidFill>
                  <a:srgbClr val="FF6600"/>
                </a:solidFill>
                <a:latin typeface="APL385 Unicode" panose="020B0709000202000203" pitchFamily="49" charset="0"/>
              </a:rPr>
              <a:t>4</a:t>
            </a:r>
            <a:r>
              <a:rPr lang="en-US" dirty="0">
                <a:solidFill>
                  <a:srgbClr val="FF0000"/>
                </a:solidFill>
                <a:latin typeface="APL385 Unicode" panose="020B0709000202000203" pitchFamily="49" charset="0"/>
              </a:rPr>
              <a:t>  </a:t>
            </a:r>
            <a:r>
              <a:rPr lang="en-US" dirty="0">
                <a:latin typeface="APL385 Unicode" panose="020B0709000202000203" pitchFamily="49" charset="0"/>
              </a:rPr>
              <a:t>0</a:t>
            </a:r>
            <a:endParaRPr lang="en-US" dirty="0">
              <a:solidFill>
                <a:srgbClr val="0070C0"/>
              </a:solidFill>
              <a:latin typeface="APL385 Unicode" panose="020B0709000202000203" pitchFamily="49" charset="0"/>
            </a:endParaRPr>
          </a:p>
          <a:p>
            <a:pPr>
              <a:buNone/>
              <a:defRPr/>
            </a:pPr>
            <a:r>
              <a:rPr lang="en-US" dirty="0">
                <a:latin typeface="APL385 Unicode" panose="020B0709000202000203" pitchFamily="49" charset="0"/>
              </a:rPr>
              <a:t>     A← 2 </a:t>
            </a:r>
            <a:r>
              <a:rPr lang="en-US" dirty="0">
                <a:solidFill>
                  <a:srgbClr val="FF6600"/>
                </a:solidFill>
                <a:latin typeface="APL385 Unicode" panose="020B0709000202000203" pitchFamily="49" charset="0"/>
              </a:rPr>
              <a:t>3</a:t>
            </a:r>
            <a:r>
              <a:rPr lang="en-US" dirty="0">
                <a:latin typeface="APL385 Unicode" panose="020B0709000202000203" pitchFamily="49" charset="0"/>
              </a:rPr>
              <a:t> 5 </a:t>
            </a:r>
            <a:r>
              <a:rPr lang="en-US" dirty="0">
                <a:solidFill>
                  <a:srgbClr val="FF6600"/>
                </a:solidFill>
                <a:latin typeface="APL385 Unicode" panose="020B0709000202000203" pitchFamily="49" charset="0"/>
              </a:rPr>
              <a:t>7</a:t>
            </a:r>
            <a:r>
              <a:rPr lang="en-US" dirty="0">
                <a:latin typeface="APL385 Unicode" panose="020B0709000202000203" pitchFamily="49" charset="0"/>
              </a:rPr>
              <a:t> 11</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s/A</a:t>
            </a:r>
          </a:p>
          <a:p>
            <a:pPr>
              <a:buNone/>
              <a:defRPr/>
            </a:pPr>
            <a:r>
              <a:rPr lang="en-US" dirty="0">
                <a:solidFill>
                  <a:schemeClr val="accent3">
                    <a:lumMod val="50000"/>
                  </a:schemeClr>
                </a:solidFill>
                <a:latin typeface="APL385 Unicode" panose="020B0709000202000203" pitchFamily="49" charset="0"/>
              </a:rPr>
              <a:t>3 7 7 7 7</a:t>
            </a:r>
            <a:endParaRPr lang="en-US" dirty="0">
              <a:solidFill>
                <a:srgbClr val="0070C0"/>
              </a:solidFill>
              <a:latin typeface="APL385 Unicode" panose="020B0709000202000203" pitchFamily="49" charset="0"/>
            </a:endParaRPr>
          </a:p>
          <a:p>
            <a:pPr>
              <a:buNone/>
              <a:defRPr/>
            </a:pPr>
            <a:r>
              <a:rPr lang="en-US" dirty="0"/>
              <a:t>The shape of s and A must </a:t>
            </a:r>
            <a:r>
              <a:rPr lang="en-US" i="1" dirty="0"/>
              <a:t>conform</a:t>
            </a:r>
            <a:r>
              <a:rPr lang="en-US" dirty="0"/>
              <a:t>. </a:t>
            </a:r>
          </a:p>
          <a:p>
            <a:pPr>
              <a:buNone/>
              <a:defRPr/>
            </a:pPr>
            <a:r>
              <a:rPr lang="en-US" dirty="0"/>
              <a:t>The length of the result is </a:t>
            </a:r>
            <a:r>
              <a:rPr lang="en-US" dirty="0">
                <a:latin typeface="APL385 Unicode" panose="020B0709000202000203" pitchFamily="49" charset="0"/>
              </a:rPr>
              <a:t>+/s</a:t>
            </a:r>
          </a:p>
        </p:txBody>
      </p:sp>
      <p:sp>
        <p:nvSpPr>
          <p:cNvPr id="3" name="Title 2">
            <a:extLst>
              <a:ext uri="{FF2B5EF4-FFF2-40B4-BE49-F238E27FC236}">
                <a16:creationId xmlns:a16="http://schemas.microsoft.com/office/drawing/2014/main" id="{016B574E-07E7-6EA7-D9BF-B1CA952B40D2}"/>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10BC3165-54C0-CF22-D9F4-D238AD256DC3}"/>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4760439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308E9-1E36-E488-BDB1-8C567E0001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285D03-9231-CEAD-6401-F5ADED418E25}"/>
              </a:ext>
            </a:extLst>
          </p:cNvPr>
          <p:cNvSpPr>
            <a:spLocks noGrp="1"/>
          </p:cNvSpPr>
          <p:nvPr>
            <p:ph idx="1"/>
          </p:nvPr>
        </p:nvSpPr>
        <p:spPr/>
        <p:txBody>
          <a:bodyPr>
            <a:normAutofit fontScale="92500" lnSpcReduction="10000"/>
          </a:bodyPr>
          <a:lstStyle/>
          <a:p>
            <a:pPr>
              <a:buNone/>
              <a:defRPr/>
            </a:pPr>
            <a:r>
              <a:rPr lang="en-US" b="1" dirty="0"/>
              <a:t>Replicate</a:t>
            </a:r>
            <a:r>
              <a:rPr lang="en-US" dirty="0"/>
              <a:t>:   </a:t>
            </a:r>
            <a:r>
              <a:rPr lang="en-US" dirty="0">
                <a:solidFill>
                  <a:srgbClr val="FF6600"/>
                </a:solidFill>
                <a:latin typeface="APL385 Unicode" panose="020B0709000202000203" pitchFamily="49" charset="0"/>
              </a:rPr>
              <a:t>s / A</a:t>
            </a:r>
          </a:p>
          <a:p>
            <a:pPr>
              <a:buNone/>
              <a:defRPr/>
            </a:pPr>
            <a:r>
              <a:rPr lang="en-US" dirty="0">
                <a:solidFill>
                  <a:schemeClr val="tx1"/>
                </a:solidFill>
              </a:rPr>
              <a:t>Negative numbers REPLACE with prototypes.</a:t>
            </a:r>
          </a:p>
          <a:p>
            <a:pPr>
              <a:buNone/>
              <a:defRPr/>
            </a:pPr>
            <a:r>
              <a:rPr lang="en-US" dirty="0">
                <a:solidFill>
                  <a:srgbClr val="00B050"/>
                </a:solidFill>
                <a:latin typeface="APL385 Unicode" panose="020B0709000202000203" pitchFamily="49" charset="0"/>
              </a:rPr>
              <a:t>     s← 3 1 </a:t>
            </a:r>
            <a:r>
              <a:rPr lang="en-US" dirty="0">
                <a:solidFill>
                  <a:srgbClr val="FF6600"/>
                </a:solidFill>
                <a:latin typeface="APL385 Unicode" panose="020B0709000202000203" pitchFamily="49" charset="0"/>
              </a:rPr>
              <a:t>¯2</a:t>
            </a:r>
            <a:r>
              <a:rPr lang="en-US" dirty="0">
                <a:solidFill>
                  <a:srgbClr val="FF0000"/>
                </a:solidFill>
                <a:latin typeface="APL385 Unicode" panose="020B0709000202000203" pitchFamily="49" charset="0"/>
              </a:rPr>
              <a:t> </a:t>
            </a:r>
            <a:r>
              <a:rPr lang="en-US" dirty="0">
                <a:solidFill>
                  <a:srgbClr val="00B050"/>
                </a:solidFill>
                <a:latin typeface="APL385 Unicode" panose="020B0709000202000203" pitchFamily="49" charset="0"/>
              </a:rPr>
              <a:t>4  0</a:t>
            </a:r>
          </a:p>
          <a:p>
            <a:pPr>
              <a:buNone/>
              <a:defRPr/>
            </a:pPr>
            <a:r>
              <a:rPr lang="en-US" dirty="0">
                <a:solidFill>
                  <a:srgbClr val="00B050"/>
                </a:solidFill>
                <a:latin typeface="APL385 Unicode" panose="020B0709000202000203" pitchFamily="49" charset="0"/>
              </a:rPr>
              <a:t>     A← 2 3  </a:t>
            </a:r>
            <a:r>
              <a:rPr lang="en-US" dirty="0">
                <a:solidFill>
                  <a:srgbClr val="FF6600"/>
                </a:solidFill>
                <a:latin typeface="APL385 Unicode" panose="020B0709000202000203" pitchFamily="49" charset="0"/>
              </a:rPr>
              <a:t>5</a:t>
            </a:r>
            <a:r>
              <a:rPr lang="en-US" dirty="0">
                <a:solidFill>
                  <a:srgbClr val="00B050"/>
                </a:solidFill>
                <a:latin typeface="APL385 Unicode" panose="020B0709000202000203" pitchFamily="49" charset="0"/>
              </a:rPr>
              <a:t> 7 11</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s/A</a:t>
            </a:r>
          </a:p>
          <a:p>
            <a:pPr>
              <a:buNone/>
              <a:defRPr/>
            </a:pPr>
            <a:r>
              <a:rPr lang="en-US" dirty="0">
                <a:solidFill>
                  <a:schemeClr val="accent3">
                    <a:lumMod val="50000"/>
                  </a:schemeClr>
                </a:solidFill>
                <a:latin typeface="APL385 Unicode" panose="020B0709000202000203" pitchFamily="49" charset="0"/>
              </a:rPr>
              <a:t>2 2 2 3 </a:t>
            </a:r>
            <a:r>
              <a:rPr lang="en-US" dirty="0">
                <a:solidFill>
                  <a:srgbClr val="FF6600"/>
                </a:solidFill>
                <a:latin typeface="APL385 Unicode" panose="020B0709000202000203" pitchFamily="49" charset="0"/>
              </a:rPr>
              <a:t>0 0</a:t>
            </a:r>
            <a:r>
              <a:rPr lang="en-US" dirty="0">
                <a:solidFill>
                  <a:srgbClr val="FF0000"/>
                </a:solidFill>
                <a:latin typeface="APL385 Unicode" panose="020B0709000202000203" pitchFamily="49" charset="0"/>
              </a:rPr>
              <a:t> </a:t>
            </a:r>
            <a:r>
              <a:rPr lang="en-US" dirty="0">
                <a:solidFill>
                  <a:schemeClr val="accent3">
                    <a:lumMod val="50000"/>
                  </a:schemeClr>
                </a:solidFill>
                <a:latin typeface="APL385 Unicode" panose="020B0709000202000203" pitchFamily="49" charset="0"/>
              </a:rPr>
              <a:t>7 7 7 7</a:t>
            </a:r>
          </a:p>
          <a:p>
            <a:pPr>
              <a:buNone/>
              <a:defRPr/>
            </a:pPr>
            <a:r>
              <a:rPr lang="en-US" dirty="0"/>
              <a:t>The length of the result is </a:t>
            </a:r>
            <a:r>
              <a:rPr lang="en-US" dirty="0">
                <a:latin typeface="APL385 Unicode" panose="020B0709000202000203" pitchFamily="49" charset="0"/>
              </a:rPr>
              <a:t>+/|s</a:t>
            </a:r>
          </a:p>
        </p:txBody>
      </p:sp>
      <p:sp>
        <p:nvSpPr>
          <p:cNvPr id="3" name="Title 2">
            <a:extLst>
              <a:ext uri="{FF2B5EF4-FFF2-40B4-BE49-F238E27FC236}">
                <a16:creationId xmlns:a16="http://schemas.microsoft.com/office/drawing/2014/main" id="{BB727327-1711-2FC2-3F0E-03498884B42A}"/>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CF9E5B30-17F2-5DAB-F566-BECFD1C8444C}"/>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7332272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B7BDC-98EC-FD2F-D328-BEC320E1338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851843-DCC3-F7A9-7340-35977CA348CA}"/>
              </a:ext>
            </a:extLst>
          </p:cNvPr>
          <p:cNvSpPr>
            <a:spLocks noGrp="1"/>
          </p:cNvSpPr>
          <p:nvPr>
            <p:ph idx="1"/>
          </p:nvPr>
        </p:nvSpPr>
        <p:spPr/>
        <p:txBody>
          <a:bodyPr>
            <a:normAutofit fontScale="92500" lnSpcReduction="10000"/>
          </a:bodyPr>
          <a:lstStyle/>
          <a:p>
            <a:pPr>
              <a:buNone/>
              <a:defRPr/>
            </a:pPr>
            <a:r>
              <a:rPr lang="en-US" b="1" dirty="0"/>
              <a:t>Expand</a:t>
            </a:r>
            <a:r>
              <a:rPr lang="en-US" dirty="0"/>
              <a:t>:   </a:t>
            </a:r>
            <a:r>
              <a:rPr lang="en-US" dirty="0">
                <a:solidFill>
                  <a:srgbClr val="FF6600"/>
                </a:solidFill>
                <a:latin typeface="APL385 Unicode" panose="020B0709000202000203" pitchFamily="49" charset="0"/>
              </a:rPr>
              <a:t>s \ A</a:t>
            </a:r>
          </a:p>
          <a:p>
            <a:pPr>
              <a:buNone/>
              <a:defRPr/>
            </a:pPr>
            <a:r>
              <a:rPr lang="en-US" b="1" i="1" dirty="0">
                <a:solidFill>
                  <a:srgbClr val="00B050"/>
                </a:solidFill>
                <a:latin typeface="APL385 Unicode" panose="020B0709000202000203" pitchFamily="49" charset="0"/>
              </a:rPr>
              <a:t>s</a:t>
            </a:r>
            <a:r>
              <a:rPr lang="en-US" dirty="0"/>
              <a:t> is a vector where </a:t>
            </a:r>
            <a:r>
              <a:rPr lang="en-US" dirty="0">
                <a:solidFill>
                  <a:srgbClr val="00B050"/>
                </a:solidFill>
              </a:rPr>
              <a:t>1</a:t>
            </a:r>
            <a:r>
              <a:rPr lang="en-US" dirty="0"/>
              <a:t>s correspond to elements of </a:t>
            </a:r>
            <a:r>
              <a:rPr lang="en-US" b="1" i="1" dirty="0">
                <a:solidFill>
                  <a:srgbClr val="00B050"/>
                </a:solidFill>
                <a:latin typeface="APL385 Unicode" panose="020B0709000202000203" pitchFamily="49" charset="0"/>
              </a:rPr>
              <a:t>A</a:t>
            </a:r>
            <a:r>
              <a:rPr lang="en-US" i="1" dirty="0"/>
              <a:t> </a:t>
            </a:r>
            <a:r>
              <a:rPr lang="en-US" dirty="0"/>
              <a:t>and </a:t>
            </a:r>
            <a:r>
              <a:rPr lang="en-US" dirty="0">
                <a:solidFill>
                  <a:srgbClr val="00B050"/>
                </a:solidFill>
              </a:rPr>
              <a:t>0</a:t>
            </a:r>
            <a:r>
              <a:rPr lang="en-US" dirty="0"/>
              <a:t>s insert a prototype:</a:t>
            </a:r>
          </a:p>
          <a:p>
            <a:pPr>
              <a:buNone/>
              <a:defRPr/>
            </a:pPr>
            <a:r>
              <a:rPr lang="en-US" dirty="0">
                <a:solidFill>
                  <a:srgbClr val="00B050"/>
                </a:solidFill>
                <a:latin typeface="APL385 Unicode" panose="020B0709000202000203" pitchFamily="49" charset="0"/>
              </a:rPr>
              <a:t>     s← 0 </a:t>
            </a:r>
            <a:r>
              <a:rPr lang="en-US" dirty="0">
                <a:solidFill>
                  <a:srgbClr val="FF6600"/>
                </a:solidFill>
                <a:latin typeface="APL385 Unicode" panose="020B0709000202000203" pitchFamily="49" charset="0"/>
              </a:rPr>
              <a:t>1</a:t>
            </a:r>
            <a:r>
              <a:rPr lang="en-US" dirty="0">
                <a:latin typeface="APL385 Unicode" panose="020B0709000202000203" pitchFamily="49" charset="0"/>
              </a:rPr>
              <a:t> </a:t>
            </a:r>
            <a:r>
              <a:rPr lang="en-US" dirty="0">
                <a:solidFill>
                  <a:srgbClr val="00B050"/>
                </a:solidFill>
                <a:latin typeface="APL385 Unicode" panose="020B0709000202000203" pitchFamily="49" charset="0"/>
              </a:rPr>
              <a:t>0</a:t>
            </a:r>
            <a:r>
              <a:rPr lang="en-US" dirty="0">
                <a:latin typeface="APL385 Unicode" panose="020B0709000202000203" pitchFamily="49" charset="0"/>
              </a:rPr>
              <a:t> </a:t>
            </a:r>
            <a:r>
              <a:rPr lang="en-US" dirty="0">
                <a:solidFill>
                  <a:srgbClr val="FF6600"/>
                </a:solidFill>
                <a:latin typeface="APL385 Unicode" panose="020B0709000202000203" pitchFamily="49" charset="0"/>
              </a:rPr>
              <a:t>1</a:t>
            </a:r>
            <a:r>
              <a:rPr lang="en-US" dirty="0">
                <a:latin typeface="APL385 Unicode" panose="020B0709000202000203" pitchFamily="49" charset="0"/>
              </a:rPr>
              <a:t> </a:t>
            </a:r>
            <a:r>
              <a:rPr lang="en-US" dirty="0">
                <a:solidFill>
                  <a:srgbClr val="00B050"/>
                </a:solidFill>
                <a:latin typeface="APL385 Unicode" panose="020B0709000202000203" pitchFamily="49" charset="0"/>
              </a:rPr>
              <a:t> 0</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A←   </a:t>
            </a:r>
            <a:r>
              <a:rPr lang="en-US" dirty="0">
                <a:solidFill>
                  <a:srgbClr val="FF6600"/>
                </a:solidFill>
                <a:latin typeface="APL385 Unicode" panose="020B0709000202000203" pitchFamily="49" charset="0"/>
              </a:rPr>
              <a:t>3</a:t>
            </a:r>
            <a:r>
              <a:rPr lang="en-US" dirty="0">
                <a:latin typeface="APL385 Unicode" panose="020B0709000202000203" pitchFamily="49" charset="0"/>
              </a:rPr>
              <a:t>   </a:t>
            </a:r>
            <a:r>
              <a:rPr lang="en-US" dirty="0">
                <a:solidFill>
                  <a:srgbClr val="FF6600"/>
                </a:solidFill>
                <a:latin typeface="APL385 Unicode" panose="020B0709000202000203" pitchFamily="49" charset="0"/>
              </a:rPr>
              <a:t>7</a:t>
            </a:r>
            <a:r>
              <a:rPr lang="en-US" dirty="0">
                <a:latin typeface="APL385 Unicode" panose="020B0709000202000203" pitchFamily="49" charset="0"/>
              </a:rPr>
              <a:t> </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s\A</a:t>
            </a:r>
          </a:p>
          <a:p>
            <a:pPr>
              <a:buNone/>
              <a:defRPr/>
            </a:pPr>
            <a:r>
              <a:rPr lang="en-US" dirty="0">
                <a:latin typeface="APL385 Unicode" panose="020B0709000202000203" pitchFamily="49" charset="0"/>
              </a:rPr>
              <a:t>0  </a:t>
            </a:r>
            <a:r>
              <a:rPr lang="en-US" dirty="0">
                <a:solidFill>
                  <a:srgbClr val="FF6600"/>
                </a:solidFill>
                <a:latin typeface="APL385 Unicode" panose="020B0709000202000203" pitchFamily="49" charset="0"/>
              </a:rPr>
              <a:t>3 </a:t>
            </a:r>
            <a:r>
              <a:rPr lang="en-US" dirty="0">
                <a:latin typeface="APL385 Unicode" panose="020B0709000202000203" pitchFamily="49" charset="0"/>
              </a:rPr>
              <a:t> 0  </a:t>
            </a:r>
            <a:r>
              <a:rPr lang="en-US" dirty="0">
                <a:solidFill>
                  <a:srgbClr val="FF6600"/>
                </a:solidFill>
                <a:latin typeface="APL385 Unicode" panose="020B0709000202000203" pitchFamily="49" charset="0"/>
              </a:rPr>
              <a:t>7</a:t>
            </a:r>
            <a:r>
              <a:rPr lang="en-US" dirty="0">
                <a:latin typeface="APL385 Unicode" panose="020B0709000202000203" pitchFamily="49" charset="0"/>
              </a:rPr>
              <a:t>  0</a:t>
            </a:r>
          </a:p>
        </p:txBody>
      </p:sp>
      <p:sp>
        <p:nvSpPr>
          <p:cNvPr id="3" name="Title 2">
            <a:extLst>
              <a:ext uri="{FF2B5EF4-FFF2-40B4-BE49-F238E27FC236}">
                <a16:creationId xmlns:a16="http://schemas.microsoft.com/office/drawing/2014/main" id="{CEEBA609-300F-81EF-2011-B403F3259F86}"/>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021AD30D-7D73-22F4-7A00-E6E14467913B}"/>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3178007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4BF95-BBA2-5C8C-62AF-B28EEA7D372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26BC61-F8B0-038F-364E-30BCA4E09953}"/>
              </a:ext>
            </a:extLst>
          </p:cNvPr>
          <p:cNvSpPr>
            <a:spLocks noGrp="1"/>
          </p:cNvSpPr>
          <p:nvPr>
            <p:ph idx="1"/>
          </p:nvPr>
        </p:nvSpPr>
        <p:spPr/>
        <p:txBody>
          <a:bodyPr>
            <a:normAutofit/>
          </a:bodyPr>
          <a:lstStyle/>
          <a:p>
            <a:pPr>
              <a:buNone/>
              <a:defRPr/>
            </a:pPr>
            <a:r>
              <a:rPr lang="en-US" b="1" dirty="0"/>
              <a:t>Expand</a:t>
            </a:r>
            <a:r>
              <a:rPr lang="en-US" dirty="0"/>
              <a:t>:   </a:t>
            </a:r>
            <a:r>
              <a:rPr lang="en-US" dirty="0">
                <a:solidFill>
                  <a:srgbClr val="FF6600"/>
                </a:solidFill>
                <a:latin typeface="APL385 Unicode" panose="020B0709000202000203" pitchFamily="49" charset="0"/>
              </a:rPr>
              <a:t>s \ A</a:t>
            </a:r>
          </a:p>
          <a:p>
            <a:pPr>
              <a:buNone/>
              <a:defRPr/>
            </a:pPr>
            <a:r>
              <a:rPr lang="en-US" dirty="0"/>
              <a:t>The number of positive numbers in s must match the number of elements in A.</a:t>
            </a:r>
          </a:p>
          <a:p>
            <a:pPr>
              <a:buNone/>
              <a:defRPr/>
            </a:pPr>
            <a:endParaRPr lang="en-US" dirty="0"/>
          </a:p>
          <a:p>
            <a:pPr>
              <a:buNone/>
              <a:defRPr/>
            </a:pPr>
            <a:r>
              <a:rPr lang="en-US" dirty="0"/>
              <a:t>The length of the result is </a:t>
            </a:r>
            <a:r>
              <a:rPr lang="en-US" dirty="0">
                <a:latin typeface="APL385 Unicode" panose="020B0709000202000203" pitchFamily="49" charset="0"/>
              </a:rPr>
              <a:t>+/1⌈|s</a:t>
            </a:r>
          </a:p>
        </p:txBody>
      </p:sp>
      <p:sp>
        <p:nvSpPr>
          <p:cNvPr id="3" name="Title 2">
            <a:extLst>
              <a:ext uri="{FF2B5EF4-FFF2-40B4-BE49-F238E27FC236}">
                <a16:creationId xmlns:a16="http://schemas.microsoft.com/office/drawing/2014/main" id="{C9528DD8-6FAD-0B16-BD17-BF051A479613}"/>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D3EAB91A-DEDB-4FAE-4B02-7FF69A439BC2}"/>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4793620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D621D-9385-C4FA-F959-7F3FAE81539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03CB71C-0B90-719D-8638-24EB7CDBA5A8}"/>
              </a:ext>
            </a:extLst>
          </p:cNvPr>
          <p:cNvSpPr>
            <a:spLocks noGrp="1"/>
          </p:cNvSpPr>
          <p:nvPr>
            <p:ph idx="1"/>
          </p:nvPr>
        </p:nvSpPr>
        <p:spPr/>
        <p:txBody>
          <a:bodyPr>
            <a:normAutofit fontScale="92500" lnSpcReduction="20000"/>
          </a:bodyPr>
          <a:lstStyle/>
          <a:p>
            <a:pPr>
              <a:buNone/>
              <a:defRPr/>
            </a:pPr>
            <a:r>
              <a:rPr lang="en-US" b="1" dirty="0"/>
              <a:t>Compress</a:t>
            </a:r>
            <a:r>
              <a:rPr lang="en-US" dirty="0"/>
              <a:t> example: find the accounts with balances greater than $1,000</a:t>
            </a:r>
            <a:br>
              <a:rPr lang="en-US" dirty="0"/>
            </a:br>
            <a:endParaRPr lang="en-US" dirty="0"/>
          </a:p>
          <a:p>
            <a:pPr>
              <a:buNone/>
              <a:defRPr/>
            </a:pPr>
            <a:r>
              <a:rPr lang="en-US" dirty="0">
                <a:latin typeface="APL385 Unicode" panose="020B0709000202000203" pitchFamily="49" charset="0"/>
              </a:rPr>
              <a:t>    balance←100 </a:t>
            </a:r>
            <a:r>
              <a:rPr lang="en-US" dirty="0">
                <a:solidFill>
                  <a:srgbClr val="FF6600"/>
                </a:solidFill>
                <a:latin typeface="APL385 Unicode" panose="020B0709000202000203" pitchFamily="49" charset="0"/>
              </a:rPr>
              <a:t>2000</a:t>
            </a:r>
            <a:r>
              <a:rPr lang="en-US" dirty="0">
                <a:latin typeface="APL385 Unicode" panose="020B0709000202000203" pitchFamily="49" charset="0"/>
              </a:rPr>
              <a:t> 500 </a:t>
            </a:r>
            <a:r>
              <a:rPr lang="en-US" dirty="0">
                <a:solidFill>
                  <a:srgbClr val="FF6600"/>
                </a:solidFill>
                <a:latin typeface="APL385 Unicode" panose="020B0709000202000203" pitchFamily="49" charset="0"/>
              </a:rPr>
              <a:t>5000</a:t>
            </a:r>
          </a:p>
          <a:p>
            <a:pPr>
              <a:buNone/>
              <a:defRPr/>
            </a:pPr>
            <a:r>
              <a:rPr lang="en-US" dirty="0">
                <a:latin typeface="APL385 Unicode" panose="020B0709000202000203" pitchFamily="49" charset="0"/>
              </a:rPr>
              <a:t>    account←123 </a:t>
            </a:r>
            <a:r>
              <a:rPr lang="en-US" dirty="0">
                <a:solidFill>
                  <a:srgbClr val="FF6600"/>
                </a:solidFill>
                <a:latin typeface="APL385 Unicode" panose="020B0709000202000203" pitchFamily="49" charset="0"/>
              </a:rPr>
              <a:t>4321</a:t>
            </a:r>
            <a:r>
              <a:rPr lang="en-US" dirty="0">
                <a:latin typeface="APL385 Unicode" panose="020B0709000202000203" pitchFamily="49" charset="0"/>
              </a:rPr>
              <a:t> 2345 </a:t>
            </a:r>
            <a:r>
              <a:rPr lang="en-US" dirty="0">
                <a:solidFill>
                  <a:srgbClr val="FF6600"/>
                </a:solidFill>
                <a:latin typeface="APL385 Unicode" panose="020B0709000202000203" pitchFamily="49" charset="0"/>
              </a:rPr>
              <a:t>666</a:t>
            </a:r>
          </a:p>
          <a:p>
            <a:pPr>
              <a:buNone/>
              <a:defRPr/>
            </a:pPr>
            <a:r>
              <a:rPr lang="en-US" dirty="0">
                <a:solidFill>
                  <a:srgbClr val="00B050"/>
                </a:solidFill>
                <a:latin typeface="APL385 Unicode" panose="020B0709000202000203" pitchFamily="49" charset="0"/>
              </a:rPr>
              <a:t>    </a:t>
            </a:r>
            <a:r>
              <a:rPr lang="en-US" dirty="0" err="1">
                <a:solidFill>
                  <a:srgbClr val="00B050"/>
                </a:solidFill>
                <a:latin typeface="APL385 Unicode" panose="020B0709000202000203" pitchFamily="49" charset="0"/>
              </a:rPr>
              <a:t>s←balance</a:t>
            </a:r>
            <a:r>
              <a:rPr lang="en-US" dirty="0">
                <a:solidFill>
                  <a:srgbClr val="00B050"/>
                </a:solidFill>
                <a:latin typeface="APL385 Unicode" panose="020B0709000202000203" pitchFamily="49" charset="0"/>
              </a:rPr>
              <a:t> &gt; 1000</a:t>
            </a:r>
          </a:p>
          <a:p>
            <a:pPr>
              <a:buNone/>
              <a:defRPr/>
            </a:pPr>
            <a:r>
              <a:rPr lang="en-US" dirty="0">
                <a:solidFill>
                  <a:srgbClr val="00B050"/>
                </a:solidFill>
                <a:latin typeface="APL385 Unicode" panose="020B0709000202000203" pitchFamily="49" charset="0"/>
              </a:rPr>
              <a:t>    s / account</a:t>
            </a:r>
          </a:p>
          <a:p>
            <a:pPr>
              <a:buNone/>
              <a:defRPr/>
            </a:pPr>
            <a:r>
              <a:rPr lang="en-US" dirty="0">
                <a:solidFill>
                  <a:schemeClr val="accent3">
                    <a:lumMod val="50000"/>
                  </a:schemeClr>
                </a:solidFill>
                <a:latin typeface="APL385 Unicode" panose="020B0709000202000203" pitchFamily="49" charset="0"/>
              </a:rPr>
              <a:t>4321 666</a:t>
            </a:r>
          </a:p>
        </p:txBody>
      </p:sp>
      <p:sp>
        <p:nvSpPr>
          <p:cNvPr id="3" name="Title 2">
            <a:extLst>
              <a:ext uri="{FF2B5EF4-FFF2-40B4-BE49-F238E27FC236}">
                <a16:creationId xmlns:a16="http://schemas.microsoft.com/office/drawing/2014/main" id="{661D2EC1-75A9-4790-8B5C-1C9B3ADB63F5}"/>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D4A9E395-F9BE-4A3D-1A91-D70C2F42E88A}"/>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69907355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5B4769-5AC7-A071-8605-48E658AC1DD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BF94B30-2C80-5381-910D-35FF126B2EAF}"/>
              </a:ext>
            </a:extLst>
          </p:cNvPr>
          <p:cNvSpPr>
            <a:spLocks noGrp="1"/>
          </p:cNvSpPr>
          <p:nvPr>
            <p:ph idx="1"/>
          </p:nvPr>
        </p:nvSpPr>
        <p:spPr/>
        <p:txBody>
          <a:bodyPr>
            <a:normAutofit fontScale="85000" lnSpcReduction="10000"/>
          </a:bodyPr>
          <a:lstStyle/>
          <a:p>
            <a:pPr>
              <a:buNone/>
              <a:defRPr/>
            </a:pPr>
            <a:r>
              <a:rPr lang="en-US" dirty="0"/>
              <a:t>Here we want to replace each occurrence of a specific character by space.</a:t>
            </a:r>
          </a:p>
          <a:p>
            <a:pPr>
              <a:buNone/>
              <a:defRPr/>
            </a:pPr>
            <a:r>
              <a:rPr lang="en-US" dirty="0">
                <a:solidFill>
                  <a:schemeClr val="accent3">
                    <a:lumMod val="50000"/>
                  </a:schemeClr>
                </a:solidFill>
                <a:latin typeface="APL385 Unicode" panose="020B0709000202000203" pitchFamily="49" charset="0"/>
              </a:rPr>
              <a:t>	</a:t>
            </a:r>
            <a:r>
              <a:rPr lang="en-US" dirty="0">
                <a:solidFill>
                  <a:srgbClr val="00B050"/>
                </a:solidFill>
                <a:latin typeface="APL385 Unicode" panose="020B0709000202000203" pitchFamily="49" charset="0"/>
              </a:rPr>
              <a:t>	 '</a:t>
            </a:r>
            <a:r>
              <a:rPr lang="en-US" dirty="0" err="1">
                <a:solidFill>
                  <a:srgbClr val="00B050"/>
                </a:solidFill>
                <a:latin typeface="APL385 Unicode" panose="020B0709000202000203" pitchFamily="49" charset="0"/>
              </a:rPr>
              <a:t>APL;is;great</a:t>
            </a:r>
            <a:r>
              <a:rPr lang="en-US" dirty="0">
                <a:solidFill>
                  <a:srgbClr val="00B050"/>
                </a:solidFill>
                <a:latin typeface="APL385 Unicode" panose="020B0709000202000203" pitchFamily="49" charset="0"/>
              </a:rPr>
              <a:t>' Space ';'</a:t>
            </a:r>
          </a:p>
          <a:p>
            <a:pPr>
              <a:buNone/>
              <a:defRPr/>
            </a:pPr>
            <a:r>
              <a:rPr lang="en-US" dirty="0">
                <a:solidFill>
                  <a:schemeClr val="accent3">
                    <a:lumMod val="50000"/>
                  </a:schemeClr>
                </a:solidFill>
                <a:latin typeface="APL385 Unicode" panose="020B0709000202000203" pitchFamily="49" charset="0"/>
              </a:rPr>
              <a:t>APL is great</a:t>
            </a:r>
          </a:p>
          <a:p>
            <a:pPr>
              <a:buNone/>
              <a:defRPr/>
            </a:pPr>
            <a:endParaRPr lang="en-US" dirty="0">
              <a:solidFill>
                <a:schemeClr val="accent3">
                  <a:lumMod val="50000"/>
                </a:schemeClr>
              </a:solidFill>
              <a:latin typeface="APL385 Unicode" panose="020B0709000202000203" pitchFamily="49" charset="0"/>
            </a:endParaRPr>
          </a:p>
          <a:p>
            <a:pPr>
              <a:buNone/>
              <a:defRPr/>
            </a:pPr>
            <a:r>
              <a:rPr lang="en-US" sz="1800" dirty="0"/>
              <a:t>Oops! Spot something</a:t>
            </a:r>
          </a:p>
          <a:p>
            <a:pPr>
              <a:buNone/>
              <a:defRPr/>
            </a:pPr>
            <a:r>
              <a:rPr lang="en-US" sz="1800" dirty="0"/>
              <a:t>Unfortunate about that</a:t>
            </a:r>
          </a:p>
          <a:p>
            <a:pPr>
              <a:buNone/>
              <a:defRPr/>
            </a:pPr>
            <a:r>
              <a:rPr lang="en-US" sz="1800" dirty="0"/>
              <a:t>function?</a:t>
            </a:r>
          </a:p>
          <a:p>
            <a:pPr>
              <a:buNone/>
              <a:defRPr/>
            </a:pPr>
            <a:r>
              <a:rPr lang="en-US" sz="1800" dirty="0"/>
              <a:t>Let's trace / fix it…</a:t>
            </a:r>
          </a:p>
        </p:txBody>
      </p:sp>
      <p:sp>
        <p:nvSpPr>
          <p:cNvPr id="3" name="Title 2">
            <a:extLst>
              <a:ext uri="{FF2B5EF4-FFF2-40B4-BE49-F238E27FC236}">
                <a16:creationId xmlns:a16="http://schemas.microsoft.com/office/drawing/2014/main" id="{9137FB0F-C0C7-438E-339C-0A4D096AC75C}"/>
              </a:ext>
            </a:extLst>
          </p:cNvPr>
          <p:cNvSpPr>
            <a:spLocks noGrp="1"/>
          </p:cNvSpPr>
          <p:nvPr>
            <p:ph type="title"/>
          </p:nvPr>
        </p:nvSpPr>
        <p:spPr/>
        <p:txBody>
          <a:bodyPr/>
          <a:lstStyle/>
          <a:p>
            <a:r>
              <a:rPr lang="en-GB" dirty="0"/>
              <a:t>Structural Functions</a:t>
            </a:r>
          </a:p>
        </p:txBody>
      </p:sp>
      <p:sp>
        <p:nvSpPr>
          <p:cNvPr id="4" name="Media Placeholder 3">
            <a:extLst>
              <a:ext uri="{FF2B5EF4-FFF2-40B4-BE49-F238E27FC236}">
                <a16:creationId xmlns:a16="http://schemas.microsoft.com/office/drawing/2014/main" id="{33E868BD-BC3F-50D2-ADE9-6BF763DD890A}"/>
              </a:ext>
            </a:extLst>
          </p:cNvPr>
          <p:cNvSpPr>
            <a:spLocks noGrp="1"/>
          </p:cNvSpPr>
          <p:nvPr>
            <p:ph type="media" sz="quarter" idx="11"/>
          </p:nvPr>
        </p:nvSpPr>
        <p:spPr/>
        <p:txBody>
          <a:bodyPr/>
          <a:lstStyle/>
          <a:p>
            <a:endParaRPr lang="en-GB"/>
          </a:p>
        </p:txBody>
      </p:sp>
      <p:pic>
        <p:nvPicPr>
          <p:cNvPr id="5" name="Picture 2">
            <a:extLst>
              <a:ext uri="{FF2B5EF4-FFF2-40B4-BE49-F238E27FC236}">
                <a16:creationId xmlns:a16="http://schemas.microsoft.com/office/drawing/2014/main" id="{C45CE362-347B-32D2-0EF4-8CB8E2631C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2954" y="2161512"/>
            <a:ext cx="3530036" cy="24287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524896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2254DA-497A-564D-98AE-3321B1C51501}"/>
              </a:ext>
            </a:extLst>
          </p:cNvPr>
          <p:cNvSpPr>
            <a:spLocks noGrp="1"/>
          </p:cNvSpPr>
          <p:nvPr>
            <p:ph idx="1"/>
          </p:nvPr>
        </p:nvSpPr>
        <p:spPr/>
        <p:txBody>
          <a:bodyPr>
            <a:normAutofit lnSpcReduction="10000"/>
          </a:bodyPr>
          <a:lstStyle/>
          <a:p>
            <a:pPr>
              <a:buNone/>
              <a:defRPr/>
            </a:pPr>
            <a:r>
              <a:rPr lang="en-GB" dirty="0"/>
              <a:t>A matrix </a:t>
            </a:r>
            <a:r>
              <a:rPr lang="en-GB" dirty="0">
                <a:latin typeface="APL385 Unicode" panose="020B0709000202000203" pitchFamily="49" charset="0"/>
              </a:rPr>
              <a:t>A</a:t>
            </a:r>
            <a:r>
              <a:rPr lang="en-GB" dirty="0"/>
              <a:t> with elements whose digits identify its row and column</a:t>
            </a:r>
            <a:br>
              <a:rPr lang="en-GB" dirty="0"/>
            </a:br>
            <a:endParaRPr lang="en-GB" dirty="0"/>
          </a:p>
          <a:p>
            <a:pPr>
              <a:buNone/>
              <a:defRPr/>
            </a:pPr>
            <a:r>
              <a:rPr lang="en-GB" dirty="0">
                <a:latin typeface="APL385 Unicode" panose="020B0709000202000203" pitchFamily="49" charset="0"/>
              </a:rPr>
              <a:t>	 </a:t>
            </a:r>
            <a:r>
              <a:rPr lang="en-GB" dirty="0">
                <a:solidFill>
                  <a:srgbClr val="00B050"/>
                </a:solidFill>
                <a:latin typeface="APL385 Unicode" panose="020B0709000202000203" pitchFamily="49" charset="0"/>
              </a:rPr>
              <a:t>⎕←A←10 20 30 ∘.+ 1 2 3 4</a:t>
            </a:r>
          </a:p>
          <a:p>
            <a:pPr>
              <a:buNone/>
              <a:defRPr/>
            </a:pPr>
            <a:r>
              <a:rPr lang="en-GB" dirty="0">
                <a:solidFill>
                  <a:schemeClr val="accent3">
                    <a:lumMod val="50000"/>
                  </a:schemeClr>
                </a:solidFill>
                <a:latin typeface="APL385 Unicode" panose="020B0709000202000203" pitchFamily="49" charset="0"/>
              </a:rPr>
              <a:t>11 12 13 14</a:t>
            </a:r>
          </a:p>
          <a:p>
            <a:pPr>
              <a:buNone/>
              <a:defRPr/>
            </a:pPr>
            <a:r>
              <a:rPr lang="en-GB" dirty="0">
                <a:solidFill>
                  <a:schemeClr val="accent3">
                    <a:lumMod val="50000"/>
                  </a:schemeClr>
                </a:solidFill>
                <a:latin typeface="APL385 Unicode" panose="020B0709000202000203" pitchFamily="49" charset="0"/>
              </a:rPr>
              <a:t>21 22 23 24</a:t>
            </a:r>
          </a:p>
          <a:p>
            <a:pPr>
              <a:buNone/>
              <a:defRPr/>
            </a:pPr>
            <a:r>
              <a:rPr lang="en-GB" dirty="0">
                <a:solidFill>
                  <a:schemeClr val="accent3">
                    <a:lumMod val="50000"/>
                  </a:schemeClr>
                </a:solidFill>
                <a:latin typeface="APL385 Unicode" panose="020B0709000202000203" pitchFamily="49" charset="0"/>
              </a:rPr>
              <a:t>31 32 33 34</a:t>
            </a:r>
          </a:p>
        </p:txBody>
      </p:sp>
      <p:sp>
        <p:nvSpPr>
          <p:cNvPr id="3" name="Title 2">
            <a:extLst>
              <a:ext uri="{FF2B5EF4-FFF2-40B4-BE49-F238E27FC236}">
                <a16:creationId xmlns:a16="http://schemas.microsoft.com/office/drawing/2014/main" id="{3B7520F2-38D6-9C42-0177-D1B39636E007}"/>
              </a:ext>
            </a:extLst>
          </p:cNvPr>
          <p:cNvSpPr>
            <a:spLocks noGrp="1"/>
          </p:cNvSpPr>
          <p:nvPr>
            <p:ph type="title"/>
          </p:nvPr>
        </p:nvSpPr>
        <p:spPr/>
        <p:txBody>
          <a:bodyPr/>
          <a:lstStyle/>
          <a:p>
            <a:r>
              <a:rPr lang="en-GB" sz="3400" dirty="0"/>
              <a:t>Selection from High Rank Arrays</a:t>
            </a:r>
          </a:p>
        </p:txBody>
      </p:sp>
      <p:sp>
        <p:nvSpPr>
          <p:cNvPr id="4" name="Media Placeholder 3">
            <a:extLst>
              <a:ext uri="{FF2B5EF4-FFF2-40B4-BE49-F238E27FC236}">
                <a16:creationId xmlns:a16="http://schemas.microsoft.com/office/drawing/2014/main" id="{AE63A2A4-F526-5DFF-A56F-333446DE3B9E}"/>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23357522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EA8ED-3323-3FC5-58BF-A55C57543C7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55FEB6-4C2B-987E-6621-68BAEACAFB3A}"/>
              </a:ext>
            </a:extLst>
          </p:cNvPr>
          <p:cNvSpPr>
            <a:spLocks noGrp="1"/>
          </p:cNvSpPr>
          <p:nvPr>
            <p:ph idx="1"/>
          </p:nvPr>
        </p:nvSpPr>
        <p:spPr/>
        <p:txBody>
          <a:bodyPr>
            <a:normAutofit fontScale="92500" lnSpcReduction="10000"/>
          </a:bodyPr>
          <a:lstStyle/>
          <a:p>
            <a:pPr>
              <a:buNone/>
              <a:defRPr/>
            </a:pPr>
            <a:r>
              <a:rPr lang="en-US" b="1" dirty="0"/>
              <a:t>Take</a:t>
            </a:r>
            <a:r>
              <a:rPr lang="en-US" dirty="0"/>
              <a:t>:  </a:t>
            </a:r>
            <a:r>
              <a:rPr lang="en-US" i="1" dirty="0"/>
              <a:t>n</a:t>
            </a:r>
            <a:r>
              <a:rPr lang="en-US" dirty="0"/>
              <a:t> is 2 elements for rows and columns</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2 2 ↑ A</a:t>
            </a:r>
          </a:p>
          <a:p>
            <a:pPr marL="0" indent="0">
              <a:buNone/>
              <a:defRPr/>
            </a:pPr>
            <a:r>
              <a:rPr lang="en-US" dirty="0">
                <a:solidFill>
                  <a:schemeClr val="accent3">
                    <a:lumMod val="50000"/>
                  </a:schemeClr>
                </a:solidFill>
                <a:latin typeface="APL385 Unicode" panose="020B0709000202000203" pitchFamily="49" charset="0"/>
              </a:rPr>
              <a:t>11 12</a:t>
            </a:r>
          </a:p>
          <a:p>
            <a:pPr>
              <a:buNone/>
              <a:defRPr/>
            </a:pPr>
            <a:r>
              <a:rPr lang="en-US" dirty="0">
                <a:solidFill>
                  <a:schemeClr val="accent3">
                    <a:lumMod val="50000"/>
                  </a:schemeClr>
                </a:solidFill>
                <a:latin typeface="APL385 Unicode" panose="020B0709000202000203" pitchFamily="49" charset="0"/>
              </a:rPr>
              <a:t>21 22</a:t>
            </a:r>
          </a:p>
          <a:p>
            <a:pPr>
              <a:buNone/>
              <a:defRPr/>
            </a:pPr>
            <a:r>
              <a:rPr lang="en-US" dirty="0"/>
              <a:t>If </a:t>
            </a:r>
            <a:r>
              <a:rPr lang="en-US" i="1" dirty="0"/>
              <a:t>n</a:t>
            </a:r>
            <a:r>
              <a:rPr lang="en-US" dirty="0"/>
              <a:t> is negative it takes from the end: </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¯1 3↑A</a:t>
            </a:r>
          </a:p>
          <a:p>
            <a:pPr>
              <a:buNone/>
              <a:defRPr/>
            </a:pPr>
            <a:r>
              <a:rPr lang="en-US" dirty="0">
                <a:solidFill>
                  <a:schemeClr val="accent3">
                    <a:lumMod val="50000"/>
                  </a:schemeClr>
                </a:solidFill>
                <a:latin typeface="APL385 Unicode" panose="020B0709000202000203" pitchFamily="49" charset="0"/>
              </a:rPr>
              <a:t>31 32 33</a:t>
            </a:r>
          </a:p>
        </p:txBody>
      </p:sp>
      <p:sp>
        <p:nvSpPr>
          <p:cNvPr id="3" name="Title 2">
            <a:extLst>
              <a:ext uri="{FF2B5EF4-FFF2-40B4-BE49-F238E27FC236}">
                <a16:creationId xmlns:a16="http://schemas.microsoft.com/office/drawing/2014/main" id="{0702BA97-7FA2-7C8F-DCD6-2C07E62139D1}"/>
              </a:ext>
            </a:extLst>
          </p:cNvPr>
          <p:cNvSpPr>
            <a:spLocks noGrp="1"/>
          </p:cNvSpPr>
          <p:nvPr>
            <p:ph type="title"/>
          </p:nvPr>
        </p:nvSpPr>
        <p:spPr/>
        <p:txBody>
          <a:bodyPr/>
          <a:lstStyle/>
          <a:p>
            <a:r>
              <a:rPr lang="en-GB" sz="3400" dirty="0"/>
              <a:t>Selection from High Rank Arrays</a:t>
            </a:r>
          </a:p>
        </p:txBody>
      </p:sp>
      <p:sp>
        <p:nvSpPr>
          <p:cNvPr id="4" name="Media Placeholder 3">
            <a:extLst>
              <a:ext uri="{FF2B5EF4-FFF2-40B4-BE49-F238E27FC236}">
                <a16:creationId xmlns:a16="http://schemas.microsoft.com/office/drawing/2014/main" id="{71A76426-73DF-F76D-13D2-A8DC1C33F4F1}"/>
              </a:ext>
            </a:extLst>
          </p:cNvPr>
          <p:cNvSpPr>
            <a:spLocks noGrp="1"/>
          </p:cNvSpPr>
          <p:nvPr>
            <p:ph type="media" sz="quarter" idx="11"/>
          </p:nvPr>
        </p:nvSpPr>
        <p:spPr/>
        <p:txBody>
          <a:bodyPr/>
          <a:lstStyle/>
          <a:p>
            <a:endParaRPr lang="en-GB"/>
          </a:p>
        </p:txBody>
      </p:sp>
      <p:grpSp>
        <p:nvGrpSpPr>
          <p:cNvPr id="5" name="Group 4">
            <a:extLst>
              <a:ext uri="{FF2B5EF4-FFF2-40B4-BE49-F238E27FC236}">
                <a16:creationId xmlns:a16="http://schemas.microsoft.com/office/drawing/2014/main" id="{EA4C230C-7771-66FC-E0C3-A55174219655}"/>
              </a:ext>
            </a:extLst>
          </p:cNvPr>
          <p:cNvGrpSpPr/>
          <p:nvPr/>
        </p:nvGrpSpPr>
        <p:grpSpPr>
          <a:xfrm>
            <a:off x="6696067" y="3376923"/>
            <a:ext cx="1514536" cy="1017428"/>
            <a:chOff x="4982487" y="4150881"/>
            <a:chExt cx="2019381" cy="1356571"/>
          </a:xfrm>
        </p:grpSpPr>
        <p:sp>
          <p:nvSpPr>
            <p:cNvPr id="6" name="TextBox 5">
              <a:extLst>
                <a:ext uri="{FF2B5EF4-FFF2-40B4-BE49-F238E27FC236}">
                  <a16:creationId xmlns:a16="http://schemas.microsoft.com/office/drawing/2014/main" id="{CCCDD626-FBAE-5669-5ADA-4FA999EBECDD}"/>
                </a:ext>
              </a:extLst>
            </p:cNvPr>
            <p:cNvSpPr txBox="1"/>
            <p:nvPr/>
          </p:nvSpPr>
          <p:spPr>
            <a:xfrm>
              <a:off x="5580111" y="4534316"/>
              <a:ext cx="1421757" cy="954108"/>
            </a:xfrm>
            <a:prstGeom prst="rect">
              <a:avLst/>
            </a:prstGeom>
            <a:noFill/>
          </p:spPr>
          <p:txBody>
            <a:bodyPr wrap="none" rtlCol="0">
              <a:spAutoFit/>
            </a:bodyPr>
            <a:lstStyle/>
            <a:p>
              <a:pPr eaLnBrk="1" hangingPunct="1">
                <a:buFontTx/>
                <a:buNone/>
                <a:defRPr/>
              </a:pPr>
              <a:r>
                <a:rPr lang="en-GB" sz="1350" dirty="0"/>
                <a:t>11 12 13 14</a:t>
              </a:r>
            </a:p>
            <a:p>
              <a:pPr eaLnBrk="1" hangingPunct="1">
                <a:buFontTx/>
                <a:buNone/>
                <a:defRPr/>
              </a:pPr>
              <a:r>
                <a:rPr lang="en-GB" sz="1350" dirty="0"/>
                <a:t>21 22 23 24</a:t>
              </a:r>
            </a:p>
            <a:p>
              <a:pPr eaLnBrk="1" hangingPunct="1">
                <a:buFontTx/>
                <a:buNone/>
                <a:defRPr/>
              </a:pPr>
              <a:r>
                <a:rPr lang="en-GB" sz="1350" dirty="0"/>
                <a:t>31 32 33 34</a:t>
              </a:r>
            </a:p>
          </p:txBody>
        </p:sp>
        <p:sp>
          <p:nvSpPr>
            <p:cNvPr id="7" name="Rectangle 6">
              <a:extLst>
                <a:ext uri="{FF2B5EF4-FFF2-40B4-BE49-F238E27FC236}">
                  <a16:creationId xmlns:a16="http://schemas.microsoft.com/office/drawing/2014/main" id="{A4178A6E-109C-0703-43E3-F8A2160261FE}"/>
                </a:ext>
              </a:extLst>
            </p:cNvPr>
            <p:cNvSpPr/>
            <p:nvPr/>
          </p:nvSpPr>
          <p:spPr bwMode="auto">
            <a:xfrm>
              <a:off x="5686707" y="5149183"/>
              <a:ext cx="882211" cy="307501"/>
            </a:xfrm>
            <a:prstGeom prst="rect">
              <a:avLst/>
            </a:prstGeom>
            <a:solidFill>
              <a:srgbClr val="FFC000">
                <a:alpha val="70980"/>
              </a:srgb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cxnSp>
          <p:nvCxnSpPr>
            <p:cNvPr id="8" name="Straight Arrow Connector 7">
              <a:extLst>
                <a:ext uri="{FF2B5EF4-FFF2-40B4-BE49-F238E27FC236}">
                  <a16:creationId xmlns:a16="http://schemas.microsoft.com/office/drawing/2014/main" id="{E4C91ECE-0228-B54C-23D1-5A1B99792A36}"/>
                </a:ext>
              </a:extLst>
            </p:cNvPr>
            <p:cNvCxnSpPr/>
            <p:nvPr/>
          </p:nvCxnSpPr>
          <p:spPr bwMode="auto">
            <a:xfrm>
              <a:off x="5652120" y="4580387"/>
              <a:ext cx="1152128" cy="0"/>
            </a:xfrm>
            <a:prstGeom prst="straightConnector1">
              <a:avLst/>
            </a:prstGeom>
            <a:solidFill>
              <a:schemeClr val="accent1"/>
            </a:solidFill>
            <a:ln w="28575" cap="flat" cmpd="sng" algn="ctr">
              <a:solidFill>
                <a:srgbClr val="00B050"/>
              </a:solidFill>
              <a:prstDash val="solid"/>
              <a:round/>
              <a:headEnd type="none" w="med" len="med"/>
              <a:tailEnd type="arrow"/>
            </a:ln>
            <a:effectLst/>
          </p:spPr>
        </p:cxnSp>
        <p:cxnSp>
          <p:nvCxnSpPr>
            <p:cNvPr id="9" name="Straight Arrow Connector 8">
              <a:extLst>
                <a:ext uri="{FF2B5EF4-FFF2-40B4-BE49-F238E27FC236}">
                  <a16:creationId xmlns:a16="http://schemas.microsoft.com/office/drawing/2014/main" id="{27DAE6C1-6EDC-EA02-D2CD-78551C1D5813}"/>
                </a:ext>
              </a:extLst>
            </p:cNvPr>
            <p:cNvCxnSpPr/>
            <p:nvPr/>
          </p:nvCxnSpPr>
          <p:spPr bwMode="auto">
            <a:xfrm flipV="1">
              <a:off x="5446716" y="5098417"/>
              <a:ext cx="0" cy="409035"/>
            </a:xfrm>
            <a:prstGeom prst="straightConnector1">
              <a:avLst/>
            </a:prstGeom>
            <a:solidFill>
              <a:schemeClr val="accent1"/>
            </a:solidFill>
            <a:ln w="28575" cap="flat" cmpd="sng" algn="ctr">
              <a:solidFill>
                <a:srgbClr val="00B050"/>
              </a:solidFill>
              <a:prstDash val="solid"/>
              <a:round/>
              <a:headEnd type="none" w="med" len="med"/>
              <a:tailEnd type="arrow"/>
            </a:ln>
            <a:effectLst/>
          </p:spPr>
        </p:cxnSp>
        <p:sp>
          <p:nvSpPr>
            <p:cNvPr id="10" name="TextBox 9">
              <a:extLst>
                <a:ext uri="{FF2B5EF4-FFF2-40B4-BE49-F238E27FC236}">
                  <a16:creationId xmlns:a16="http://schemas.microsoft.com/office/drawing/2014/main" id="{9A6FFA54-8842-B39D-2C0D-1D4AA24E3A66}"/>
                </a:ext>
              </a:extLst>
            </p:cNvPr>
            <p:cNvSpPr txBox="1"/>
            <p:nvPr/>
          </p:nvSpPr>
          <p:spPr>
            <a:xfrm>
              <a:off x="5580111" y="4150881"/>
              <a:ext cx="372325" cy="400109"/>
            </a:xfrm>
            <a:prstGeom prst="rect">
              <a:avLst/>
            </a:prstGeom>
            <a:noFill/>
          </p:spPr>
          <p:txBody>
            <a:bodyPr wrap="none" rtlCol="0">
              <a:spAutoFit/>
            </a:bodyPr>
            <a:lstStyle/>
            <a:p>
              <a:r>
                <a:rPr lang="en-GB" sz="1350" dirty="0"/>
                <a:t>3</a:t>
              </a:r>
            </a:p>
          </p:txBody>
        </p:sp>
        <p:sp>
          <p:nvSpPr>
            <p:cNvPr id="11" name="TextBox 10">
              <a:extLst>
                <a:ext uri="{FF2B5EF4-FFF2-40B4-BE49-F238E27FC236}">
                  <a16:creationId xmlns:a16="http://schemas.microsoft.com/office/drawing/2014/main" id="{C82FAB59-78B4-3A1A-2401-A73588F3C27F}"/>
                </a:ext>
              </a:extLst>
            </p:cNvPr>
            <p:cNvSpPr txBox="1"/>
            <p:nvPr/>
          </p:nvSpPr>
          <p:spPr>
            <a:xfrm>
              <a:off x="4982487" y="5107342"/>
              <a:ext cx="464229" cy="400109"/>
            </a:xfrm>
            <a:prstGeom prst="rect">
              <a:avLst/>
            </a:prstGeom>
            <a:noFill/>
          </p:spPr>
          <p:txBody>
            <a:bodyPr wrap="none" rtlCol="0">
              <a:spAutoFit/>
            </a:bodyPr>
            <a:lstStyle/>
            <a:p>
              <a:r>
                <a:rPr lang="en-GB" sz="1350" dirty="0"/>
                <a:t>¯1</a:t>
              </a:r>
            </a:p>
          </p:txBody>
        </p:sp>
      </p:grpSp>
      <p:grpSp>
        <p:nvGrpSpPr>
          <p:cNvPr id="12" name="Group 11">
            <a:extLst>
              <a:ext uri="{FF2B5EF4-FFF2-40B4-BE49-F238E27FC236}">
                <a16:creationId xmlns:a16="http://schemas.microsoft.com/office/drawing/2014/main" id="{89C0567F-FD63-6FBF-7A55-10C88AAB4F8F}"/>
              </a:ext>
            </a:extLst>
          </p:cNvPr>
          <p:cNvGrpSpPr/>
          <p:nvPr/>
        </p:nvGrpSpPr>
        <p:grpSpPr>
          <a:xfrm>
            <a:off x="6188862" y="1606392"/>
            <a:ext cx="1562967" cy="1447242"/>
            <a:chOff x="4917913" y="1866355"/>
            <a:chExt cx="2083956" cy="1929656"/>
          </a:xfrm>
        </p:grpSpPr>
        <p:sp>
          <p:nvSpPr>
            <p:cNvPr id="13" name="TextBox 12">
              <a:extLst>
                <a:ext uri="{FF2B5EF4-FFF2-40B4-BE49-F238E27FC236}">
                  <a16:creationId xmlns:a16="http://schemas.microsoft.com/office/drawing/2014/main" id="{B7D68FF4-F146-EC6F-AFE9-93A48BE39754}"/>
                </a:ext>
              </a:extLst>
            </p:cNvPr>
            <p:cNvSpPr txBox="1"/>
            <p:nvPr/>
          </p:nvSpPr>
          <p:spPr>
            <a:xfrm>
              <a:off x="5580112" y="2564904"/>
              <a:ext cx="1421757" cy="1231107"/>
            </a:xfrm>
            <a:prstGeom prst="rect">
              <a:avLst/>
            </a:prstGeom>
            <a:noFill/>
          </p:spPr>
          <p:txBody>
            <a:bodyPr wrap="none" rtlCol="0">
              <a:spAutoFit/>
            </a:bodyPr>
            <a:lstStyle/>
            <a:p>
              <a:pPr eaLnBrk="1" hangingPunct="1">
                <a:buFontTx/>
                <a:buNone/>
                <a:defRPr/>
              </a:pPr>
              <a:r>
                <a:rPr lang="en-GB" sz="1350" dirty="0"/>
                <a:t>11 12 13 14</a:t>
              </a:r>
            </a:p>
            <a:p>
              <a:pPr eaLnBrk="1" hangingPunct="1">
                <a:buFontTx/>
                <a:buNone/>
                <a:defRPr/>
              </a:pPr>
              <a:r>
                <a:rPr lang="en-GB" sz="1350" dirty="0"/>
                <a:t>21 22 23 24</a:t>
              </a:r>
            </a:p>
            <a:p>
              <a:pPr eaLnBrk="1" hangingPunct="1">
                <a:buFontTx/>
                <a:buNone/>
                <a:defRPr/>
              </a:pPr>
              <a:r>
                <a:rPr lang="en-GB" sz="1350" dirty="0"/>
                <a:t>31 32 33 34</a:t>
              </a:r>
            </a:p>
            <a:p>
              <a:endParaRPr lang="en-GB" sz="1350" dirty="0"/>
            </a:p>
          </p:txBody>
        </p:sp>
        <p:sp>
          <p:nvSpPr>
            <p:cNvPr id="14" name="Rectangle 13">
              <a:extLst>
                <a:ext uri="{FF2B5EF4-FFF2-40B4-BE49-F238E27FC236}">
                  <a16:creationId xmlns:a16="http://schemas.microsoft.com/office/drawing/2014/main" id="{CE018F19-24F8-4193-3F22-201E77019F55}"/>
                </a:ext>
              </a:extLst>
            </p:cNvPr>
            <p:cNvSpPr/>
            <p:nvPr/>
          </p:nvSpPr>
          <p:spPr bwMode="auto">
            <a:xfrm>
              <a:off x="5685913" y="2596480"/>
              <a:ext cx="611697" cy="594409"/>
            </a:xfrm>
            <a:prstGeom prst="rect">
              <a:avLst/>
            </a:prstGeom>
            <a:solidFill>
              <a:srgbClr val="FFC000">
                <a:alpha val="70980"/>
              </a:srgb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cxnSp>
          <p:nvCxnSpPr>
            <p:cNvPr id="15" name="Straight Arrow Connector 14">
              <a:extLst>
                <a:ext uri="{FF2B5EF4-FFF2-40B4-BE49-F238E27FC236}">
                  <a16:creationId xmlns:a16="http://schemas.microsoft.com/office/drawing/2014/main" id="{73E9057A-CA69-A0F9-4F5D-9E059DF161A8}"/>
                </a:ext>
              </a:extLst>
            </p:cNvPr>
            <p:cNvCxnSpPr/>
            <p:nvPr/>
          </p:nvCxnSpPr>
          <p:spPr bwMode="auto">
            <a:xfrm>
              <a:off x="5292080" y="2564904"/>
              <a:ext cx="0" cy="784830"/>
            </a:xfrm>
            <a:prstGeom prst="straightConnector1">
              <a:avLst/>
            </a:prstGeom>
            <a:solidFill>
              <a:schemeClr val="accent1"/>
            </a:solidFill>
            <a:ln w="28575" cap="flat" cmpd="sng" algn="ctr">
              <a:solidFill>
                <a:srgbClr val="00B050"/>
              </a:solidFill>
              <a:prstDash val="solid"/>
              <a:round/>
              <a:headEnd type="none" w="med" len="med"/>
              <a:tailEnd type="arrow"/>
            </a:ln>
            <a:effectLst/>
          </p:spPr>
        </p:cxnSp>
        <p:cxnSp>
          <p:nvCxnSpPr>
            <p:cNvPr id="16" name="Straight Arrow Connector 15">
              <a:extLst>
                <a:ext uri="{FF2B5EF4-FFF2-40B4-BE49-F238E27FC236}">
                  <a16:creationId xmlns:a16="http://schemas.microsoft.com/office/drawing/2014/main" id="{6BFD742D-8192-4CCF-EE8F-5AB9DA776912}"/>
                </a:ext>
              </a:extLst>
            </p:cNvPr>
            <p:cNvCxnSpPr/>
            <p:nvPr/>
          </p:nvCxnSpPr>
          <p:spPr bwMode="auto">
            <a:xfrm>
              <a:off x="5580111" y="2324889"/>
              <a:ext cx="823302" cy="0"/>
            </a:xfrm>
            <a:prstGeom prst="straightConnector1">
              <a:avLst/>
            </a:prstGeom>
            <a:solidFill>
              <a:schemeClr val="accent1"/>
            </a:solidFill>
            <a:ln w="28575" cap="flat" cmpd="sng" algn="ctr">
              <a:solidFill>
                <a:srgbClr val="00B050"/>
              </a:solidFill>
              <a:prstDash val="solid"/>
              <a:round/>
              <a:headEnd type="none" w="med" len="med"/>
              <a:tailEnd type="arrow"/>
            </a:ln>
            <a:effectLst/>
          </p:spPr>
        </p:cxnSp>
        <p:sp>
          <p:nvSpPr>
            <p:cNvPr id="17" name="TextBox 16">
              <a:extLst>
                <a:ext uri="{FF2B5EF4-FFF2-40B4-BE49-F238E27FC236}">
                  <a16:creationId xmlns:a16="http://schemas.microsoft.com/office/drawing/2014/main" id="{4D1201EA-8C2F-D19E-5500-1611607565BD}"/>
                </a:ext>
              </a:extLst>
            </p:cNvPr>
            <p:cNvSpPr txBox="1"/>
            <p:nvPr/>
          </p:nvSpPr>
          <p:spPr>
            <a:xfrm>
              <a:off x="4917913" y="2564902"/>
              <a:ext cx="372325" cy="400109"/>
            </a:xfrm>
            <a:prstGeom prst="rect">
              <a:avLst/>
            </a:prstGeom>
            <a:noFill/>
          </p:spPr>
          <p:txBody>
            <a:bodyPr wrap="none" rtlCol="0">
              <a:spAutoFit/>
            </a:bodyPr>
            <a:lstStyle/>
            <a:p>
              <a:r>
                <a:rPr lang="en-GB" sz="1350" dirty="0"/>
                <a:t>2</a:t>
              </a:r>
            </a:p>
          </p:txBody>
        </p:sp>
        <p:sp>
          <p:nvSpPr>
            <p:cNvPr id="18" name="TextBox 17">
              <a:extLst>
                <a:ext uri="{FF2B5EF4-FFF2-40B4-BE49-F238E27FC236}">
                  <a16:creationId xmlns:a16="http://schemas.microsoft.com/office/drawing/2014/main" id="{B69EB0C4-1B85-EEBD-3CE2-B645393C0730}"/>
                </a:ext>
              </a:extLst>
            </p:cNvPr>
            <p:cNvSpPr txBox="1"/>
            <p:nvPr/>
          </p:nvSpPr>
          <p:spPr>
            <a:xfrm>
              <a:off x="5460617" y="1866355"/>
              <a:ext cx="372325" cy="400109"/>
            </a:xfrm>
            <a:prstGeom prst="rect">
              <a:avLst/>
            </a:prstGeom>
            <a:noFill/>
          </p:spPr>
          <p:txBody>
            <a:bodyPr wrap="none" rtlCol="0">
              <a:spAutoFit/>
            </a:bodyPr>
            <a:lstStyle/>
            <a:p>
              <a:r>
                <a:rPr lang="en-GB" sz="1350" dirty="0"/>
                <a:t>2</a:t>
              </a:r>
            </a:p>
          </p:txBody>
        </p:sp>
      </p:grpSp>
    </p:spTree>
    <p:extLst>
      <p:ext uri="{BB962C8B-B14F-4D97-AF65-F5344CB8AC3E}">
        <p14:creationId xmlns:p14="http://schemas.microsoft.com/office/powerpoint/2010/main" val="25680651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BF60B-072C-6FE2-F0E2-F9EB793C79E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3F11480-7646-B4B3-47B4-A007B11515BD}"/>
              </a:ext>
            </a:extLst>
          </p:cNvPr>
          <p:cNvSpPr>
            <a:spLocks noGrp="1"/>
          </p:cNvSpPr>
          <p:nvPr>
            <p:ph idx="1"/>
          </p:nvPr>
        </p:nvSpPr>
        <p:spPr/>
        <p:txBody>
          <a:bodyPr>
            <a:normAutofit fontScale="92500" lnSpcReduction="10000"/>
          </a:bodyPr>
          <a:lstStyle/>
          <a:p>
            <a:pPr>
              <a:buNone/>
              <a:defRPr/>
            </a:pPr>
            <a:r>
              <a:rPr lang="en-US" b="1" dirty="0"/>
              <a:t>Drop</a:t>
            </a:r>
            <a:r>
              <a:rPr lang="en-US" dirty="0"/>
              <a:t>:  drops the first rows and columns:</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2 2 ↓ A</a:t>
            </a:r>
          </a:p>
          <a:p>
            <a:pPr>
              <a:buNone/>
              <a:defRPr/>
            </a:pPr>
            <a:r>
              <a:rPr lang="en-US" dirty="0">
                <a:solidFill>
                  <a:schemeClr val="accent3">
                    <a:lumMod val="50000"/>
                  </a:schemeClr>
                </a:solidFill>
                <a:latin typeface="APL385 Unicode" panose="020B0709000202000203" pitchFamily="49" charset="0"/>
              </a:rPr>
              <a:t>33 34</a:t>
            </a:r>
          </a:p>
          <a:p>
            <a:pPr>
              <a:buNone/>
              <a:defRPr/>
            </a:pPr>
            <a:r>
              <a:rPr lang="en-US" dirty="0"/>
              <a:t>If</a:t>
            </a:r>
            <a:r>
              <a:rPr lang="en-US" dirty="0">
                <a:solidFill>
                  <a:srgbClr val="00B050"/>
                </a:solidFill>
              </a:rPr>
              <a:t> </a:t>
            </a:r>
            <a:r>
              <a:rPr lang="en-US" i="1" dirty="0">
                <a:solidFill>
                  <a:srgbClr val="00B050"/>
                </a:solidFill>
              </a:rPr>
              <a:t>n</a:t>
            </a:r>
            <a:r>
              <a:rPr lang="en-US" dirty="0">
                <a:solidFill>
                  <a:srgbClr val="00B050"/>
                </a:solidFill>
              </a:rPr>
              <a:t> </a:t>
            </a:r>
            <a:r>
              <a:rPr lang="en-US" dirty="0"/>
              <a:t>is negative it drops from the end:</a:t>
            </a:r>
          </a:p>
          <a:p>
            <a:pPr>
              <a:buNone/>
              <a:defRPr/>
            </a:pPr>
            <a:r>
              <a:rPr lang="en-US" dirty="0">
                <a:solidFill>
                  <a:srgbClr val="00B050"/>
                </a:solidFill>
                <a:latin typeface="APL385 Unicode" panose="020B0709000202000203" pitchFamily="49" charset="0"/>
              </a:rPr>
              <a:t>      ¯1 3↓A</a:t>
            </a:r>
          </a:p>
          <a:p>
            <a:pPr>
              <a:buNone/>
              <a:defRPr/>
            </a:pPr>
            <a:r>
              <a:rPr lang="en-US" dirty="0">
                <a:solidFill>
                  <a:schemeClr val="accent3">
                    <a:lumMod val="50000"/>
                  </a:schemeClr>
                </a:solidFill>
                <a:latin typeface="APL385 Unicode" panose="020B0709000202000203" pitchFamily="49" charset="0"/>
              </a:rPr>
              <a:t>14</a:t>
            </a:r>
          </a:p>
          <a:p>
            <a:pPr>
              <a:buNone/>
              <a:defRPr/>
            </a:pPr>
            <a:r>
              <a:rPr lang="en-US" dirty="0">
                <a:solidFill>
                  <a:schemeClr val="accent3">
                    <a:lumMod val="50000"/>
                  </a:schemeClr>
                </a:solidFill>
                <a:latin typeface="APL385 Unicode" panose="020B0709000202000203" pitchFamily="49" charset="0"/>
              </a:rPr>
              <a:t>24</a:t>
            </a:r>
          </a:p>
        </p:txBody>
      </p:sp>
      <p:sp>
        <p:nvSpPr>
          <p:cNvPr id="3" name="Title 2">
            <a:extLst>
              <a:ext uri="{FF2B5EF4-FFF2-40B4-BE49-F238E27FC236}">
                <a16:creationId xmlns:a16="http://schemas.microsoft.com/office/drawing/2014/main" id="{0096E93A-3F0A-3A55-91E2-540F3983F015}"/>
              </a:ext>
            </a:extLst>
          </p:cNvPr>
          <p:cNvSpPr>
            <a:spLocks noGrp="1"/>
          </p:cNvSpPr>
          <p:nvPr>
            <p:ph type="title"/>
          </p:nvPr>
        </p:nvSpPr>
        <p:spPr/>
        <p:txBody>
          <a:bodyPr/>
          <a:lstStyle/>
          <a:p>
            <a:r>
              <a:rPr lang="en-GB" sz="3400" dirty="0"/>
              <a:t>Selection from High Rank Arrays</a:t>
            </a:r>
          </a:p>
        </p:txBody>
      </p:sp>
      <p:sp>
        <p:nvSpPr>
          <p:cNvPr id="4" name="Media Placeholder 3">
            <a:extLst>
              <a:ext uri="{FF2B5EF4-FFF2-40B4-BE49-F238E27FC236}">
                <a16:creationId xmlns:a16="http://schemas.microsoft.com/office/drawing/2014/main" id="{2749E658-14F9-5174-F298-CA6C11F6731E}"/>
              </a:ext>
            </a:extLst>
          </p:cNvPr>
          <p:cNvSpPr>
            <a:spLocks noGrp="1"/>
          </p:cNvSpPr>
          <p:nvPr>
            <p:ph type="media" sz="quarter" idx="11"/>
          </p:nvPr>
        </p:nvSpPr>
        <p:spPr/>
        <p:txBody>
          <a:bodyPr/>
          <a:lstStyle/>
          <a:p>
            <a:endParaRPr lang="en-GB"/>
          </a:p>
        </p:txBody>
      </p:sp>
      <p:grpSp>
        <p:nvGrpSpPr>
          <p:cNvPr id="5" name="Group 4">
            <a:extLst>
              <a:ext uri="{FF2B5EF4-FFF2-40B4-BE49-F238E27FC236}">
                <a16:creationId xmlns:a16="http://schemas.microsoft.com/office/drawing/2014/main" id="{A2D888E1-7F99-271D-AE7B-A3BCB1F5842A}"/>
              </a:ext>
            </a:extLst>
          </p:cNvPr>
          <p:cNvGrpSpPr/>
          <p:nvPr/>
        </p:nvGrpSpPr>
        <p:grpSpPr>
          <a:xfrm>
            <a:off x="6424232" y="1871907"/>
            <a:ext cx="1066318" cy="923330"/>
            <a:chOff x="5328084" y="1761660"/>
            <a:chExt cx="1066318" cy="923330"/>
          </a:xfrm>
        </p:grpSpPr>
        <p:sp>
          <p:nvSpPr>
            <p:cNvPr id="6" name="TextBox 5">
              <a:extLst>
                <a:ext uri="{FF2B5EF4-FFF2-40B4-BE49-F238E27FC236}">
                  <a16:creationId xmlns:a16="http://schemas.microsoft.com/office/drawing/2014/main" id="{9A3245A9-0E29-C437-AE2C-B70B43A47CB9}"/>
                </a:ext>
              </a:extLst>
            </p:cNvPr>
            <p:cNvSpPr txBox="1"/>
            <p:nvPr/>
          </p:nvSpPr>
          <p:spPr>
            <a:xfrm>
              <a:off x="5328084" y="1761660"/>
              <a:ext cx="1066318" cy="923330"/>
            </a:xfrm>
            <a:prstGeom prst="rect">
              <a:avLst/>
            </a:prstGeom>
            <a:noFill/>
          </p:spPr>
          <p:txBody>
            <a:bodyPr wrap="none" rtlCol="0">
              <a:spAutoFit/>
            </a:bodyPr>
            <a:lstStyle/>
            <a:p>
              <a:pPr eaLnBrk="1" hangingPunct="1">
                <a:buFontTx/>
                <a:buNone/>
                <a:defRPr/>
              </a:pPr>
              <a:r>
                <a:rPr lang="en-GB" sz="1350" dirty="0"/>
                <a:t>11 12 13 14</a:t>
              </a:r>
            </a:p>
            <a:p>
              <a:pPr eaLnBrk="1" hangingPunct="1">
                <a:buFontTx/>
                <a:buNone/>
                <a:defRPr/>
              </a:pPr>
              <a:r>
                <a:rPr lang="en-GB" sz="1350" dirty="0"/>
                <a:t>21 22 23 24</a:t>
              </a:r>
            </a:p>
            <a:p>
              <a:pPr eaLnBrk="1" hangingPunct="1">
                <a:buFontTx/>
                <a:buNone/>
                <a:defRPr/>
              </a:pPr>
              <a:r>
                <a:rPr lang="en-GB" sz="1350" dirty="0"/>
                <a:t>31 32 33 34</a:t>
              </a:r>
            </a:p>
            <a:p>
              <a:endParaRPr lang="en-GB" sz="1350" dirty="0"/>
            </a:p>
          </p:txBody>
        </p:sp>
        <p:sp>
          <p:nvSpPr>
            <p:cNvPr id="7" name="Rectangle 6">
              <a:extLst>
                <a:ext uri="{FF2B5EF4-FFF2-40B4-BE49-F238E27FC236}">
                  <a16:creationId xmlns:a16="http://schemas.microsoft.com/office/drawing/2014/main" id="{89564659-D83F-259F-CAD9-24B5D3C8FEB0}"/>
                </a:ext>
              </a:extLst>
            </p:cNvPr>
            <p:cNvSpPr/>
            <p:nvPr/>
          </p:nvSpPr>
          <p:spPr bwMode="auto">
            <a:xfrm>
              <a:off x="5388412" y="1790097"/>
              <a:ext cx="486054" cy="648072"/>
            </a:xfrm>
            <a:prstGeom prst="rect">
              <a:avLst/>
            </a:prstGeom>
            <a:solidFill>
              <a:srgbClr val="FFC000">
                <a:alpha val="70980"/>
              </a:srgb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sp>
          <p:nvSpPr>
            <p:cNvPr id="8" name="Rectangle 7">
              <a:extLst>
                <a:ext uri="{FF2B5EF4-FFF2-40B4-BE49-F238E27FC236}">
                  <a16:creationId xmlns:a16="http://schemas.microsoft.com/office/drawing/2014/main" id="{569A3F26-AFD1-A743-07F5-0F496FBA7B92}"/>
                </a:ext>
              </a:extLst>
            </p:cNvPr>
            <p:cNvSpPr/>
            <p:nvPr/>
          </p:nvSpPr>
          <p:spPr bwMode="auto">
            <a:xfrm>
              <a:off x="5388413" y="1790097"/>
              <a:ext cx="926216" cy="432048"/>
            </a:xfrm>
            <a:prstGeom prst="rect">
              <a:avLst/>
            </a:prstGeom>
            <a:solidFill>
              <a:srgbClr val="FFC000">
                <a:alpha val="70980"/>
              </a:srgb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grpSp>
      <p:grpSp>
        <p:nvGrpSpPr>
          <p:cNvPr id="9" name="Group 8">
            <a:extLst>
              <a:ext uri="{FF2B5EF4-FFF2-40B4-BE49-F238E27FC236}">
                <a16:creationId xmlns:a16="http://schemas.microsoft.com/office/drawing/2014/main" id="{D5D6BB9B-3500-D5DF-1ABF-0F4693E5D08B}"/>
              </a:ext>
            </a:extLst>
          </p:cNvPr>
          <p:cNvGrpSpPr/>
          <p:nvPr/>
        </p:nvGrpSpPr>
        <p:grpSpPr>
          <a:xfrm>
            <a:off x="7042279" y="3466257"/>
            <a:ext cx="1066318" cy="923330"/>
            <a:chOff x="5388412" y="3107711"/>
            <a:chExt cx="1066318" cy="923330"/>
          </a:xfrm>
        </p:grpSpPr>
        <p:sp>
          <p:nvSpPr>
            <p:cNvPr id="10" name="TextBox 9">
              <a:extLst>
                <a:ext uri="{FF2B5EF4-FFF2-40B4-BE49-F238E27FC236}">
                  <a16:creationId xmlns:a16="http://schemas.microsoft.com/office/drawing/2014/main" id="{D50D593D-49E9-63F1-0EF5-8448EBF8184A}"/>
                </a:ext>
              </a:extLst>
            </p:cNvPr>
            <p:cNvSpPr txBox="1"/>
            <p:nvPr/>
          </p:nvSpPr>
          <p:spPr>
            <a:xfrm>
              <a:off x="5388412" y="3107711"/>
              <a:ext cx="1066318" cy="923330"/>
            </a:xfrm>
            <a:prstGeom prst="rect">
              <a:avLst/>
            </a:prstGeom>
            <a:noFill/>
          </p:spPr>
          <p:txBody>
            <a:bodyPr wrap="none" rtlCol="0">
              <a:spAutoFit/>
            </a:bodyPr>
            <a:lstStyle/>
            <a:p>
              <a:pPr eaLnBrk="1" hangingPunct="1">
                <a:buFontTx/>
                <a:buNone/>
                <a:defRPr/>
              </a:pPr>
              <a:r>
                <a:rPr lang="en-GB" sz="1350" dirty="0"/>
                <a:t>11 12 13 14</a:t>
              </a:r>
            </a:p>
            <a:p>
              <a:pPr eaLnBrk="1" hangingPunct="1">
                <a:buFontTx/>
                <a:buNone/>
                <a:defRPr/>
              </a:pPr>
              <a:r>
                <a:rPr lang="en-GB" sz="1350" dirty="0"/>
                <a:t>21 22 23 24</a:t>
              </a:r>
            </a:p>
            <a:p>
              <a:pPr eaLnBrk="1" hangingPunct="1">
                <a:buFontTx/>
                <a:buNone/>
                <a:defRPr/>
              </a:pPr>
              <a:r>
                <a:rPr lang="en-GB" sz="1350" dirty="0"/>
                <a:t>31 32 33 34</a:t>
              </a:r>
            </a:p>
            <a:p>
              <a:endParaRPr lang="en-GB" sz="1350" dirty="0"/>
            </a:p>
          </p:txBody>
        </p:sp>
        <p:sp>
          <p:nvSpPr>
            <p:cNvPr id="11" name="Rectangle 10">
              <a:extLst>
                <a:ext uri="{FF2B5EF4-FFF2-40B4-BE49-F238E27FC236}">
                  <a16:creationId xmlns:a16="http://schemas.microsoft.com/office/drawing/2014/main" id="{8ED0628D-8ED7-EB86-BAE3-1B69D22F6F18}"/>
                </a:ext>
              </a:extLst>
            </p:cNvPr>
            <p:cNvSpPr/>
            <p:nvPr/>
          </p:nvSpPr>
          <p:spPr bwMode="auto">
            <a:xfrm>
              <a:off x="5462035" y="3575681"/>
              <a:ext cx="912911" cy="190686"/>
            </a:xfrm>
            <a:prstGeom prst="rect">
              <a:avLst/>
            </a:prstGeom>
            <a:solidFill>
              <a:srgbClr val="FFC000">
                <a:alpha val="70980"/>
              </a:srgb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sp>
          <p:nvSpPr>
            <p:cNvPr id="12" name="Rectangle 11">
              <a:extLst>
                <a:ext uri="{FF2B5EF4-FFF2-40B4-BE49-F238E27FC236}">
                  <a16:creationId xmlns:a16="http://schemas.microsoft.com/office/drawing/2014/main" id="{515BB315-3414-658B-A58C-83C03903D600}"/>
                </a:ext>
              </a:extLst>
            </p:cNvPr>
            <p:cNvSpPr/>
            <p:nvPr/>
          </p:nvSpPr>
          <p:spPr bwMode="auto">
            <a:xfrm>
              <a:off x="5462035" y="3172301"/>
              <a:ext cx="684683" cy="594066"/>
            </a:xfrm>
            <a:prstGeom prst="rect">
              <a:avLst/>
            </a:prstGeom>
            <a:solidFill>
              <a:srgbClr val="FFC000">
                <a:alpha val="70980"/>
              </a:srgb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grpSp>
    </p:spTree>
    <p:extLst>
      <p:ext uri="{BB962C8B-B14F-4D97-AF65-F5344CB8AC3E}">
        <p14:creationId xmlns:p14="http://schemas.microsoft.com/office/powerpoint/2010/main" val="11601567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5F93D-F480-4E55-D7F4-9838E8CB896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6476924-577E-1584-7AEA-3F549B2E7151}"/>
              </a:ext>
            </a:extLst>
          </p:cNvPr>
          <p:cNvSpPr>
            <a:spLocks noGrp="1"/>
          </p:cNvSpPr>
          <p:nvPr>
            <p:ph idx="1"/>
          </p:nvPr>
        </p:nvSpPr>
        <p:spPr/>
        <p:txBody>
          <a:bodyPr>
            <a:normAutofit fontScale="92500" lnSpcReduction="10000"/>
          </a:bodyPr>
          <a:lstStyle/>
          <a:p>
            <a:pPr>
              <a:buNone/>
              <a:defRPr/>
            </a:pPr>
            <a:r>
              <a:rPr lang="en-US" b="1" dirty="0"/>
              <a:t>Compress</a:t>
            </a:r>
            <a:r>
              <a:rPr lang="en-US" dirty="0"/>
              <a:t> (</a:t>
            </a:r>
            <a:r>
              <a:rPr lang="en-US" dirty="0">
                <a:latin typeface="APL385 Unicode" panose="020B0709000202000203" pitchFamily="49" charset="0"/>
              </a:rPr>
              <a:t>/</a:t>
            </a:r>
            <a:r>
              <a:rPr lang="en-US" dirty="0"/>
              <a:t>):  selects columns in matrices</a:t>
            </a:r>
          </a:p>
          <a:p>
            <a:pPr>
              <a:buNone/>
              <a:defRPr/>
            </a:pPr>
            <a:r>
              <a:rPr lang="en-US" i="1" dirty="0"/>
              <a:t>s</a:t>
            </a:r>
            <a:r>
              <a:rPr lang="en-US" dirty="0"/>
              <a:t> is a vector of the same width as </a:t>
            </a:r>
            <a:r>
              <a:rPr lang="en-US" i="1" dirty="0"/>
              <a:t>A</a:t>
            </a:r>
            <a:r>
              <a:rPr lang="en-US" dirty="0"/>
              <a:t>. Ex:</a:t>
            </a:r>
          </a:p>
          <a:p>
            <a:pPr>
              <a:buNone/>
              <a:defRPr/>
            </a:pPr>
            <a:r>
              <a:rPr lang="en-US" dirty="0">
                <a:latin typeface="APL385 Unicode" panose="020B0709000202000203" pitchFamily="49" charset="0"/>
              </a:rPr>
              <a:t>		s← 0 </a:t>
            </a:r>
            <a:r>
              <a:rPr lang="en-US" dirty="0">
                <a:solidFill>
                  <a:srgbClr val="FF0000"/>
                </a:solidFill>
                <a:latin typeface="APL385 Unicode" panose="020B0709000202000203" pitchFamily="49" charset="0"/>
              </a:rPr>
              <a:t>1</a:t>
            </a:r>
            <a:r>
              <a:rPr lang="en-US" dirty="0">
                <a:latin typeface="APL385 Unicode" panose="020B0709000202000203" pitchFamily="49" charset="0"/>
              </a:rPr>
              <a:t> 0 </a:t>
            </a:r>
            <a:r>
              <a:rPr lang="en-US" dirty="0">
                <a:solidFill>
                  <a:srgbClr val="FF0000"/>
                </a:solidFill>
                <a:latin typeface="APL385 Unicode" panose="020B0709000202000203" pitchFamily="49" charset="0"/>
              </a:rPr>
              <a:t>1</a:t>
            </a:r>
            <a:r>
              <a:rPr lang="en-US" dirty="0">
                <a:latin typeface="APL385 Unicode" panose="020B0709000202000203" pitchFamily="49" charset="0"/>
              </a:rPr>
              <a:t> </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s / A</a:t>
            </a:r>
          </a:p>
          <a:p>
            <a:pPr>
              <a:buNone/>
              <a:defRPr/>
            </a:pPr>
            <a:r>
              <a:rPr lang="en-US" dirty="0">
                <a:solidFill>
                  <a:schemeClr val="accent3">
                    <a:lumMod val="50000"/>
                  </a:schemeClr>
                </a:solidFill>
                <a:latin typeface="APL385 Unicode" panose="020B0709000202000203" pitchFamily="49" charset="0"/>
              </a:rPr>
              <a:t>12 14</a:t>
            </a:r>
          </a:p>
          <a:p>
            <a:pPr>
              <a:buNone/>
              <a:defRPr/>
            </a:pPr>
            <a:r>
              <a:rPr lang="en-US" dirty="0">
                <a:solidFill>
                  <a:schemeClr val="accent3">
                    <a:lumMod val="50000"/>
                  </a:schemeClr>
                </a:solidFill>
                <a:latin typeface="APL385 Unicode" panose="020B0709000202000203" pitchFamily="49" charset="0"/>
              </a:rPr>
              <a:t>22 24</a:t>
            </a:r>
          </a:p>
          <a:p>
            <a:pPr>
              <a:buNone/>
              <a:defRPr/>
            </a:pPr>
            <a:r>
              <a:rPr lang="en-US" dirty="0">
                <a:solidFill>
                  <a:schemeClr val="accent3">
                    <a:lumMod val="50000"/>
                  </a:schemeClr>
                </a:solidFill>
                <a:latin typeface="APL385 Unicode" panose="020B0709000202000203" pitchFamily="49" charset="0"/>
              </a:rPr>
              <a:t>32 34</a:t>
            </a:r>
          </a:p>
        </p:txBody>
      </p:sp>
      <p:sp>
        <p:nvSpPr>
          <p:cNvPr id="3" name="Title 2">
            <a:extLst>
              <a:ext uri="{FF2B5EF4-FFF2-40B4-BE49-F238E27FC236}">
                <a16:creationId xmlns:a16="http://schemas.microsoft.com/office/drawing/2014/main" id="{61276109-4876-1574-D7CB-D521B97AB083}"/>
              </a:ext>
            </a:extLst>
          </p:cNvPr>
          <p:cNvSpPr>
            <a:spLocks noGrp="1"/>
          </p:cNvSpPr>
          <p:nvPr>
            <p:ph type="title"/>
          </p:nvPr>
        </p:nvSpPr>
        <p:spPr/>
        <p:txBody>
          <a:bodyPr/>
          <a:lstStyle/>
          <a:p>
            <a:r>
              <a:rPr lang="en-GB" sz="3400" dirty="0"/>
              <a:t>Selection from High Rank Arrays</a:t>
            </a:r>
          </a:p>
        </p:txBody>
      </p:sp>
      <p:sp>
        <p:nvSpPr>
          <p:cNvPr id="4" name="Media Placeholder 3">
            <a:extLst>
              <a:ext uri="{FF2B5EF4-FFF2-40B4-BE49-F238E27FC236}">
                <a16:creationId xmlns:a16="http://schemas.microsoft.com/office/drawing/2014/main" id="{AD674C6F-2AAC-A227-3587-E0E3ED789557}"/>
              </a:ext>
            </a:extLst>
          </p:cNvPr>
          <p:cNvSpPr>
            <a:spLocks noGrp="1"/>
          </p:cNvSpPr>
          <p:nvPr>
            <p:ph type="media" sz="quarter" idx="11"/>
          </p:nvPr>
        </p:nvSpPr>
        <p:spPr/>
        <p:txBody>
          <a:bodyPr/>
          <a:lstStyle/>
          <a:p>
            <a:endParaRPr lang="en-GB"/>
          </a:p>
        </p:txBody>
      </p:sp>
      <p:pic>
        <p:nvPicPr>
          <p:cNvPr id="11" name="Picture 10">
            <a:extLst>
              <a:ext uri="{FF2B5EF4-FFF2-40B4-BE49-F238E27FC236}">
                <a16:creationId xmlns:a16="http://schemas.microsoft.com/office/drawing/2014/main" id="{F8008B59-9F3B-1C67-B632-D6DB337EAC3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463345" y="2797670"/>
            <a:ext cx="1602534" cy="1381495"/>
          </a:xfrm>
          <a:prstGeom prst="rect">
            <a:avLst/>
          </a:prstGeom>
        </p:spPr>
      </p:pic>
    </p:spTree>
    <p:extLst>
      <p:ext uri="{BB962C8B-B14F-4D97-AF65-F5344CB8AC3E}">
        <p14:creationId xmlns:p14="http://schemas.microsoft.com/office/powerpoint/2010/main" val="27676750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8A891-7CC3-4D24-1341-359B45A765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83CFB1A-7EC9-544D-A3BB-906CC39AB6F9}"/>
              </a:ext>
            </a:extLst>
          </p:cNvPr>
          <p:cNvSpPr>
            <a:spLocks noGrp="1"/>
          </p:cNvSpPr>
          <p:nvPr>
            <p:ph idx="1"/>
          </p:nvPr>
        </p:nvSpPr>
        <p:spPr/>
        <p:txBody>
          <a:bodyPr>
            <a:normAutofit/>
          </a:bodyPr>
          <a:lstStyle/>
          <a:p>
            <a:pPr>
              <a:buNone/>
              <a:defRPr/>
            </a:pPr>
            <a:r>
              <a:rPr lang="en-US" b="1" dirty="0"/>
              <a:t>Compress First</a:t>
            </a:r>
            <a:r>
              <a:rPr lang="en-US" dirty="0"/>
              <a:t> (</a:t>
            </a:r>
            <a:r>
              <a:rPr lang="en-US" dirty="0">
                <a:latin typeface="APL385 Unicode" panose="020B0709000202000203" pitchFamily="49" charset="0"/>
              </a:rPr>
              <a:t>⌿</a:t>
            </a:r>
            <a:r>
              <a:rPr lang="en-US" dirty="0"/>
              <a:t>):  selects rows in matrices</a:t>
            </a:r>
          </a:p>
          <a:p>
            <a:pPr>
              <a:buNone/>
              <a:defRPr/>
            </a:pPr>
            <a:r>
              <a:rPr lang="en-US" dirty="0">
                <a:latin typeface="APL385 Unicode" panose="020B0709000202000203" pitchFamily="49" charset="0"/>
              </a:rPr>
              <a:t>s</a:t>
            </a:r>
            <a:r>
              <a:rPr lang="en-US" dirty="0"/>
              <a:t> is a vector corresponding to rows </a:t>
            </a:r>
            <a:r>
              <a:rPr lang="en-US" dirty="0">
                <a:latin typeface="APL385 Unicode" panose="020B0709000202000203" pitchFamily="49" charset="0"/>
              </a:rPr>
              <a:t>A</a:t>
            </a:r>
            <a:r>
              <a:rPr lang="en-US" dirty="0"/>
              <a:t>:</a:t>
            </a:r>
          </a:p>
          <a:p>
            <a:pPr>
              <a:buNone/>
              <a:defRPr/>
            </a:pPr>
            <a:r>
              <a:rPr lang="en-US" dirty="0">
                <a:latin typeface="APL385 Unicode" panose="020B0709000202000203" pitchFamily="49" charset="0"/>
              </a:rPr>
              <a:t>	s← </a:t>
            </a:r>
            <a:r>
              <a:rPr lang="en-US" dirty="0">
                <a:solidFill>
                  <a:srgbClr val="FF0000"/>
                </a:solidFill>
                <a:latin typeface="APL385 Unicode" panose="020B0709000202000203" pitchFamily="49" charset="0"/>
              </a:rPr>
              <a:t>1</a:t>
            </a:r>
            <a:r>
              <a:rPr lang="en-US" dirty="0">
                <a:latin typeface="APL385 Unicode" panose="020B0709000202000203" pitchFamily="49" charset="0"/>
              </a:rPr>
              <a:t> 0 </a:t>
            </a:r>
            <a:r>
              <a:rPr lang="en-US" dirty="0">
                <a:solidFill>
                  <a:srgbClr val="FF0000"/>
                </a:solidFill>
                <a:latin typeface="APL385 Unicode" panose="020B0709000202000203" pitchFamily="49" charset="0"/>
              </a:rPr>
              <a:t>1</a:t>
            </a:r>
            <a:r>
              <a:rPr lang="en-US" dirty="0">
                <a:latin typeface="APL385 Unicode" panose="020B0709000202000203" pitchFamily="49" charset="0"/>
              </a:rPr>
              <a:t> </a:t>
            </a:r>
          </a:p>
          <a:p>
            <a:pPr>
              <a:buNone/>
              <a:defRPr/>
            </a:pPr>
            <a:r>
              <a:rPr lang="en-US" dirty="0">
                <a:latin typeface="APL385 Unicode" panose="020B0709000202000203" pitchFamily="49" charset="0"/>
              </a:rPr>
              <a:t>	</a:t>
            </a:r>
            <a:r>
              <a:rPr lang="en-US" dirty="0">
                <a:solidFill>
                  <a:srgbClr val="00B050"/>
                </a:solidFill>
                <a:latin typeface="APL385 Unicode" panose="020B0709000202000203" pitchFamily="49" charset="0"/>
              </a:rPr>
              <a:t>s ⌿ A</a:t>
            </a:r>
          </a:p>
          <a:p>
            <a:pPr marL="0" indent="0">
              <a:buNone/>
              <a:defRPr/>
            </a:pPr>
            <a:r>
              <a:rPr lang="en-US" dirty="0">
                <a:solidFill>
                  <a:schemeClr val="accent3">
                    <a:lumMod val="50000"/>
                  </a:schemeClr>
                </a:solidFill>
                <a:latin typeface="APL385 Unicode" panose="020B0709000202000203" pitchFamily="49" charset="0"/>
              </a:rPr>
              <a:t>11  12  13  14</a:t>
            </a:r>
          </a:p>
          <a:p>
            <a:pPr>
              <a:buNone/>
              <a:defRPr/>
            </a:pPr>
            <a:r>
              <a:rPr lang="en-US" dirty="0">
                <a:solidFill>
                  <a:schemeClr val="accent3">
                    <a:lumMod val="50000"/>
                  </a:schemeClr>
                </a:solidFill>
                <a:latin typeface="APL385 Unicode" panose="020B0709000202000203" pitchFamily="49" charset="0"/>
              </a:rPr>
              <a:t>31  32  33  34</a:t>
            </a:r>
          </a:p>
        </p:txBody>
      </p:sp>
      <p:sp>
        <p:nvSpPr>
          <p:cNvPr id="3" name="Title 2">
            <a:extLst>
              <a:ext uri="{FF2B5EF4-FFF2-40B4-BE49-F238E27FC236}">
                <a16:creationId xmlns:a16="http://schemas.microsoft.com/office/drawing/2014/main" id="{54AEF33F-917F-219F-0115-808CDEA3D127}"/>
              </a:ext>
            </a:extLst>
          </p:cNvPr>
          <p:cNvSpPr>
            <a:spLocks noGrp="1"/>
          </p:cNvSpPr>
          <p:nvPr>
            <p:ph type="title"/>
          </p:nvPr>
        </p:nvSpPr>
        <p:spPr/>
        <p:txBody>
          <a:bodyPr/>
          <a:lstStyle/>
          <a:p>
            <a:r>
              <a:rPr lang="en-GB" sz="3400" dirty="0"/>
              <a:t>Selection from High Rank Arrays</a:t>
            </a:r>
          </a:p>
        </p:txBody>
      </p:sp>
      <p:sp>
        <p:nvSpPr>
          <p:cNvPr id="4" name="Media Placeholder 3">
            <a:extLst>
              <a:ext uri="{FF2B5EF4-FFF2-40B4-BE49-F238E27FC236}">
                <a16:creationId xmlns:a16="http://schemas.microsoft.com/office/drawing/2014/main" id="{74AB0989-A2F8-BCE2-0707-31E08547DBDF}"/>
              </a:ext>
            </a:extLst>
          </p:cNvPr>
          <p:cNvSpPr>
            <a:spLocks noGrp="1"/>
          </p:cNvSpPr>
          <p:nvPr>
            <p:ph type="media" sz="quarter" idx="11"/>
          </p:nvPr>
        </p:nvSpPr>
        <p:spPr/>
        <p:txBody>
          <a:bodyPr/>
          <a:lstStyle/>
          <a:p>
            <a:endParaRPr lang="en-GB"/>
          </a:p>
        </p:txBody>
      </p:sp>
      <p:pic>
        <p:nvPicPr>
          <p:cNvPr id="10" name="Picture 9" descr="A screenshot of a number&#10;&#10;AI-generated content may be incorrect.">
            <a:extLst>
              <a:ext uri="{FF2B5EF4-FFF2-40B4-BE49-F238E27FC236}">
                <a16:creationId xmlns:a16="http://schemas.microsoft.com/office/drawing/2014/main" id="{64C2E934-E622-6C81-5C65-8796459962E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60459" y="2797670"/>
            <a:ext cx="1608307" cy="1381495"/>
          </a:xfrm>
          <a:prstGeom prst="rect">
            <a:avLst/>
          </a:prstGeom>
        </p:spPr>
      </p:pic>
    </p:spTree>
    <p:extLst>
      <p:ext uri="{BB962C8B-B14F-4D97-AF65-F5344CB8AC3E}">
        <p14:creationId xmlns:p14="http://schemas.microsoft.com/office/powerpoint/2010/main" val="32484138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A2D72CA-9A18-B540-AC72-0692CFD8BEAF}"/>
              </a:ext>
            </a:extLst>
          </p:cNvPr>
          <p:cNvSpPr>
            <a:spLocks noGrp="1"/>
          </p:cNvSpPr>
          <p:nvPr>
            <p:ph idx="1"/>
          </p:nvPr>
        </p:nvSpPr>
        <p:spPr/>
        <p:txBody>
          <a:bodyPr>
            <a:normAutofit fontScale="92500" lnSpcReduction="20000"/>
          </a:bodyPr>
          <a:lstStyle/>
          <a:p>
            <a:pPr>
              <a:buNone/>
              <a:defRPr/>
            </a:pPr>
            <a:r>
              <a:rPr lang="en-US" b="1" dirty="0"/>
              <a:t>Indexing</a:t>
            </a:r>
            <a:r>
              <a:rPr lang="en-US" dirty="0"/>
              <a:t>:  </a:t>
            </a:r>
            <a:r>
              <a:rPr lang="en-US" dirty="0">
                <a:latin typeface="APL385 Unicode" panose="020B0709000202000203" pitchFamily="49" charset="0"/>
              </a:rPr>
              <a:t>A[</a:t>
            </a:r>
            <a:r>
              <a:rPr lang="en-US" dirty="0" err="1">
                <a:latin typeface="APL385 Unicode" panose="020B0709000202000203" pitchFamily="49" charset="0"/>
              </a:rPr>
              <a:t>r</a:t>
            </a:r>
            <a:r>
              <a:rPr lang="en-US" sz="2700" dirty="0" err="1">
                <a:solidFill>
                  <a:srgbClr val="FF6600"/>
                </a:solidFill>
                <a:latin typeface="APL385 Unicode" panose="020B0709000202000203" pitchFamily="49" charset="0"/>
              </a:rPr>
              <a:t>;</a:t>
            </a:r>
            <a:r>
              <a:rPr lang="en-US" dirty="0" err="1">
                <a:latin typeface="APL385 Unicode" panose="020B0709000202000203" pitchFamily="49" charset="0"/>
              </a:rPr>
              <a:t>c</a:t>
            </a:r>
            <a:r>
              <a:rPr lang="en-US" dirty="0">
                <a:latin typeface="APL385 Unicode" panose="020B0709000202000203" pitchFamily="49" charset="0"/>
              </a:rPr>
              <a:t>] </a:t>
            </a:r>
          </a:p>
          <a:p>
            <a:pPr>
              <a:buNone/>
              <a:defRPr/>
            </a:pPr>
            <a:r>
              <a:rPr lang="en-US" i="1" dirty="0">
                <a:solidFill>
                  <a:srgbClr val="7030A0"/>
                </a:solidFill>
              </a:rPr>
              <a:t>r</a:t>
            </a:r>
            <a:r>
              <a:rPr lang="en-US" i="1" dirty="0"/>
              <a:t> </a:t>
            </a:r>
            <a:r>
              <a:rPr lang="en-US" dirty="0"/>
              <a:t>represents the rows(s) and </a:t>
            </a:r>
            <a:r>
              <a:rPr lang="en-US" i="1" dirty="0">
                <a:solidFill>
                  <a:srgbClr val="7030A0"/>
                </a:solidFill>
              </a:rPr>
              <a:t>c</a:t>
            </a:r>
            <a:r>
              <a:rPr lang="en-US" dirty="0"/>
              <a:t> the column(s) to be selected.</a:t>
            </a:r>
          </a:p>
          <a:p>
            <a:pPr>
              <a:buNone/>
              <a:defRPr/>
            </a:pPr>
            <a:r>
              <a:rPr lang="en-US" dirty="0">
                <a:solidFill>
                  <a:srgbClr val="00B050"/>
                </a:solidFill>
                <a:latin typeface="APL385 Unicode" panose="020B0709000202000203" pitchFamily="49" charset="0"/>
              </a:rPr>
              <a:t>      A[1;3]</a:t>
            </a:r>
          </a:p>
          <a:p>
            <a:pPr>
              <a:buNone/>
              <a:defRPr/>
            </a:pPr>
            <a:r>
              <a:rPr lang="en-US" dirty="0">
                <a:solidFill>
                  <a:schemeClr val="accent3">
                    <a:lumMod val="50000"/>
                  </a:schemeClr>
                </a:solidFill>
                <a:latin typeface="APL385 Unicode" panose="020B0709000202000203" pitchFamily="49" charset="0"/>
              </a:rPr>
              <a:t>13</a:t>
            </a:r>
          </a:p>
          <a:p>
            <a:pPr>
              <a:buNone/>
              <a:defRPr/>
            </a:pPr>
            <a:r>
              <a:rPr lang="en-US" dirty="0">
                <a:solidFill>
                  <a:srgbClr val="00B050"/>
                </a:solidFill>
                <a:latin typeface="APL385 Unicode" panose="020B0709000202000203" pitchFamily="49" charset="0"/>
              </a:rPr>
              <a:t>      A[1 3;</a:t>
            </a:r>
            <a:r>
              <a:rPr lang="en-US" dirty="0">
                <a:solidFill>
                  <a:schemeClr val="tx2">
                    <a:lumMod val="60000"/>
                    <a:lumOff val="40000"/>
                  </a:schemeClr>
                </a:solidFill>
                <a:latin typeface="APL385 Unicode" panose="020B0709000202000203" pitchFamily="49" charset="0"/>
              </a:rPr>
              <a:t>4</a:t>
            </a:r>
            <a:r>
              <a:rPr lang="en-US" dirty="0">
                <a:solidFill>
                  <a:srgbClr val="00B050"/>
                </a:solidFill>
                <a:latin typeface="APL385 Unicode" panose="020B0709000202000203" pitchFamily="49" charset="0"/>
              </a:rPr>
              <a:t> </a:t>
            </a:r>
            <a:r>
              <a:rPr lang="en-US" dirty="0">
                <a:solidFill>
                  <a:schemeClr val="accent6">
                    <a:lumMod val="75000"/>
                  </a:schemeClr>
                </a:solidFill>
                <a:latin typeface="APL385 Unicode" panose="020B0709000202000203" pitchFamily="49" charset="0"/>
              </a:rPr>
              <a:t>1</a:t>
            </a:r>
            <a:r>
              <a:rPr lang="en-US" dirty="0">
                <a:solidFill>
                  <a:srgbClr val="00B050"/>
                </a:solidFill>
                <a:latin typeface="APL385 Unicode" panose="020B0709000202000203" pitchFamily="49" charset="0"/>
              </a:rPr>
              <a:t>]</a:t>
            </a:r>
          </a:p>
          <a:p>
            <a:pPr>
              <a:buNone/>
              <a:defRPr/>
            </a:pPr>
            <a:r>
              <a:rPr lang="en-US" dirty="0">
                <a:solidFill>
                  <a:schemeClr val="tx2">
                    <a:lumMod val="60000"/>
                    <a:lumOff val="40000"/>
                  </a:schemeClr>
                </a:solidFill>
                <a:latin typeface="APL385 Unicode" panose="020B0709000202000203" pitchFamily="49" charset="0"/>
              </a:rPr>
              <a:t>14</a:t>
            </a:r>
            <a:r>
              <a:rPr lang="en-US" dirty="0">
                <a:solidFill>
                  <a:schemeClr val="accent3">
                    <a:lumMod val="50000"/>
                  </a:schemeClr>
                </a:solidFill>
                <a:latin typeface="APL385 Unicode" panose="020B0709000202000203" pitchFamily="49" charset="0"/>
              </a:rPr>
              <a:t> </a:t>
            </a:r>
            <a:r>
              <a:rPr lang="en-US" dirty="0">
                <a:solidFill>
                  <a:schemeClr val="accent6">
                    <a:lumMod val="75000"/>
                  </a:schemeClr>
                </a:solidFill>
                <a:latin typeface="APL385 Unicode" panose="020B0709000202000203" pitchFamily="49" charset="0"/>
              </a:rPr>
              <a:t>11</a:t>
            </a:r>
          </a:p>
          <a:p>
            <a:pPr>
              <a:buNone/>
              <a:defRPr/>
            </a:pPr>
            <a:r>
              <a:rPr lang="en-US" dirty="0">
                <a:solidFill>
                  <a:schemeClr val="tx2">
                    <a:lumMod val="60000"/>
                    <a:lumOff val="40000"/>
                  </a:schemeClr>
                </a:solidFill>
                <a:latin typeface="APL385 Unicode" panose="020B0709000202000203" pitchFamily="49" charset="0"/>
              </a:rPr>
              <a:t>34</a:t>
            </a:r>
            <a:r>
              <a:rPr lang="en-US" dirty="0">
                <a:solidFill>
                  <a:schemeClr val="accent3">
                    <a:lumMod val="50000"/>
                  </a:schemeClr>
                </a:solidFill>
                <a:latin typeface="APL385 Unicode" panose="020B0709000202000203" pitchFamily="49" charset="0"/>
              </a:rPr>
              <a:t> </a:t>
            </a:r>
            <a:r>
              <a:rPr lang="en-US" dirty="0">
                <a:solidFill>
                  <a:schemeClr val="accent6">
                    <a:lumMod val="75000"/>
                  </a:schemeClr>
                </a:solidFill>
                <a:latin typeface="APL385 Unicode" panose="020B0709000202000203" pitchFamily="49" charset="0"/>
              </a:rPr>
              <a:t>31</a:t>
            </a:r>
          </a:p>
        </p:txBody>
      </p:sp>
      <p:sp>
        <p:nvSpPr>
          <p:cNvPr id="3" name="Title 2">
            <a:extLst>
              <a:ext uri="{FF2B5EF4-FFF2-40B4-BE49-F238E27FC236}">
                <a16:creationId xmlns:a16="http://schemas.microsoft.com/office/drawing/2014/main" id="{7DB620F1-10FD-3907-2228-BAF495EE876C}"/>
              </a:ext>
            </a:extLst>
          </p:cNvPr>
          <p:cNvSpPr>
            <a:spLocks noGrp="1"/>
          </p:cNvSpPr>
          <p:nvPr>
            <p:ph type="title"/>
          </p:nvPr>
        </p:nvSpPr>
        <p:spPr/>
        <p:txBody>
          <a:bodyPr/>
          <a:lstStyle/>
          <a:p>
            <a:r>
              <a:rPr lang="en-GB" sz="3400" dirty="0"/>
              <a:t>Selection from High Rank Arrays</a:t>
            </a:r>
          </a:p>
        </p:txBody>
      </p:sp>
      <p:sp>
        <p:nvSpPr>
          <p:cNvPr id="4" name="Media Placeholder 3">
            <a:extLst>
              <a:ext uri="{FF2B5EF4-FFF2-40B4-BE49-F238E27FC236}">
                <a16:creationId xmlns:a16="http://schemas.microsoft.com/office/drawing/2014/main" id="{0D7F9E3C-AD2E-DDE5-2E6C-A5B988DE934B}"/>
              </a:ext>
            </a:extLst>
          </p:cNvPr>
          <p:cNvSpPr>
            <a:spLocks noGrp="1"/>
          </p:cNvSpPr>
          <p:nvPr>
            <p:ph type="media" sz="quarter" idx="11"/>
          </p:nvPr>
        </p:nvSpPr>
        <p:spPr/>
        <p:txBody>
          <a:bodyPr/>
          <a:lstStyle/>
          <a:p>
            <a:endParaRPr lang="en-GB"/>
          </a:p>
        </p:txBody>
      </p:sp>
      <p:sp>
        <p:nvSpPr>
          <p:cNvPr id="5" name="TextBox 4">
            <a:extLst>
              <a:ext uri="{FF2B5EF4-FFF2-40B4-BE49-F238E27FC236}">
                <a16:creationId xmlns:a16="http://schemas.microsoft.com/office/drawing/2014/main" id="{3D5719EC-1ECD-0866-D176-C94D9438F598}"/>
              </a:ext>
            </a:extLst>
          </p:cNvPr>
          <p:cNvSpPr txBox="1"/>
          <p:nvPr/>
        </p:nvSpPr>
        <p:spPr>
          <a:xfrm>
            <a:off x="5015660" y="2521371"/>
            <a:ext cx="1066318" cy="715581"/>
          </a:xfrm>
          <a:prstGeom prst="rect">
            <a:avLst/>
          </a:prstGeom>
          <a:noFill/>
        </p:spPr>
        <p:txBody>
          <a:bodyPr wrap="none" rtlCol="0">
            <a:spAutoFit/>
          </a:bodyPr>
          <a:lstStyle/>
          <a:p>
            <a:pPr eaLnBrk="1" hangingPunct="1">
              <a:buFontTx/>
              <a:buNone/>
              <a:defRPr/>
            </a:pPr>
            <a:r>
              <a:rPr lang="en-GB" sz="1350" dirty="0"/>
              <a:t>11 12 13 14</a:t>
            </a:r>
          </a:p>
          <a:p>
            <a:pPr eaLnBrk="1" hangingPunct="1">
              <a:buFontTx/>
              <a:buNone/>
              <a:defRPr/>
            </a:pPr>
            <a:r>
              <a:rPr lang="en-GB" sz="1350" dirty="0"/>
              <a:t>21 22 23 24</a:t>
            </a:r>
          </a:p>
          <a:p>
            <a:pPr eaLnBrk="1" hangingPunct="1">
              <a:buFontTx/>
              <a:buNone/>
              <a:defRPr/>
            </a:pPr>
            <a:r>
              <a:rPr lang="en-GB" sz="1350" dirty="0"/>
              <a:t>31 32 33 34</a:t>
            </a:r>
          </a:p>
        </p:txBody>
      </p:sp>
      <p:sp>
        <p:nvSpPr>
          <p:cNvPr id="6" name="TextBox 5">
            <a:extLst>
              <a:ext uri="{FF2B5EF4-FFF2-40B4-BE49-F238E27FC236}">
                <a16:creationId xmlns:a16="http://schemas.microsoft.com/office/drawing/2014/main" id="{68FF7B40-35FB-860C-1154-C75C2AD057B8}"/>
              </a:ext>
            </a:extLst>
          </p:cNvPr>
          <p:cNvSpPr txBox="1"/>
          <p:nvPr/>
        </p:nvSpPr>
        <p:spPr>
          <a:xfrm>
            <a:off x="5015659" y="3583635"/>
            <a:ext cx="1066318" cy="923330"/>
          </a:xfrm>
          <a:prstGeom prst="rect">
            <a:avLst/>
          </a:prstGeom>
          <a:noFill/>
        </p:spPr>
        <p:txBody>
          <a:bodyPr wrap="none" rtlCol="0">
            <a:spAutoFit/>
          </a:bodyPr>
          <a:lstStyle/>
          <a:p>
            <a:pPr eaLnBrk="1" hangingPunct="1">
              <a:buFontTx/>
              <a:buNone/>
              <a:defRPr/>
            </a:pPr>
            <a:r>
              <a:rPr lang="en-GB" sz="1350" dirty="0"/>
              <a:t>11 12 13 14</a:t>
            </a:r>
          </a:p>
          <a:p>
            <a:pPr eaLnBrk="1" hangingPunct="1">
              <a:buFontTx/>
              <a:buNone/>
              <a:defRPr/>
            </a:pPr>
            <a:r>
              <a:rPr lang="en-GB" sz="1350" dirty="0"/>
              <a:t>21 22 23 24</a:t>
            </a:r>
          </a:p>
          <a:p>
            <a:pPr eaLnBrk="1" hangingPunct="1">
              <a:buFontTx/>
              <a:buNone/>
              <a:defRPr/>
            </a:pPr>
            <a:r>
              <a:rPr lang="en-GB" sz="1350" dirty="0"/>
              <a:t>31 32 33 34</a:t>
            </a:r>
          </a:p>
          <a:p>
            <a:endParaRPr lang="en-GB" sz="1350" dirty="0"/>
          </a:p>
        </p:txBody>
      </p:sp>
      <p:cxnSp>
        <p:nvCxnSpPr>
          <p:cNvPr id="7" name="Straight Arrow Connector 6">
            <a:extLst>
              <a:ext uri="{FF2B5EF4-FFF2-40B4-BE49-F238E27FC236}">
                <a16:creationId xmlns:a16="http://schemas.microsoft.com/office/drawing/2014/main" id="{A8EC58CF-3395-3667-05D5-FB2369B7B8AA}"/>
              </a:ext>
            </a:extLst>
          </p:cNvPr>
          <p:cNvCxnSpPr>
            <a:cxnSpLocks/>
          </p:cNvCxnSpPr>
          <p:nvPr/>
        </p:nvCxnSpPr>
        <p:spPr bwMode="auto">
          <a:xfrm>
            <a:off x="4583612" y="2665533"/>
            <a:ext cx="483438" cy="0"/>
          </a:xfrm>
          <a:prstGeom prst="straightConnector1">
            <a:avLst/>
          </a:prstGeom>
          <a:solidFill>
            <a:schemeClr val="accent1"/>
          </a:solidFill>
          <a:ln w="28575" cap="flat" cmpd="sng" algn="ctr">
            <a:solidFill>
              <a:srgbClr val="FF6600"/>
            </a:solidFill>
            <a:prstDash val="solid"/>
            <a:round/>
            <a:headEnd type="none" w="med" len="med"/>
            <a:tailEnd type="arrow"/>
          </a:ln>
          <a:effectLst/>
        </p:spPr>
      </p:cxnSp>
      <p:cxnSp>
        <p:nvCxnSpPr>
          <p:cNvPr id="8" name="Straight Arrow Connector 7">
            <a:extLst>
              <a:ext uri="{FF2B5EF4-FFF2-40B4-BE49-F238E27FC236}">
                <a16:creationId xmlns:a16="http://schemas.microsoft.com/office/drawing/2014/main" id="{26046934-0069-D16D-3AE4-65FC20D754F4}"/>
              </a:ext>
            </a:extLst>
          </p:cNvPr>
          <p:cNvCxnSpPr/>
          <p:nvPr/>
        </p:nvCxnSpPr>
        <p:spPr bwMode="auto">
          <a:xfrm>
            <a:off x="5650294" y="2179478"/>
            <a:ext cx="0" cy="341892"/>
          </a:xfrm>
          <a:prstGeom prst="straightConnector1">
            <a:avLst/>
          </a:prstGeom>
          <a:solidFill>
            <a:schemeClr val="accent1"/>
          </a:solidFill>
          <a:ln w="28575" cap="flat" cmpd="sng" algn="ctr">
            <a:solidFill>
              <a:srgbClr val="FF6600"/>
            </a:solidFill>
            <a:prstDash val="solid"/>
            <a:round/>
            <a:headEnd type="none" w="med" len="med"/>
            <a:tailEnd type="arrow"/>
          </a:ln>
          <a:effectLst/>
        </p:spPr>
      </p:cxnSp>
      <p:cxnSp>
        <p:nvCxnSpPr>
          <p:cNvPr id="9" name="Straight Arrow Connector 8">
            <a:extLst>
              <a:ext uri="{FF2B5EF4-FFF2-40B4-BE49-F238E27FC236}">
                <a16:creationId xmlns:a16="http://schemas.microsoft.com/office/drawing/2014/main" id="{2DA7020F-9239-A913-D7E2-BC98A3B3DB2C}"/>
              </a:ext>
            </a:extLst>
          </p:cNvPr>
          <p:cNvCxnSpPr/>
          <p:nvPr/>
        </p:nvCxnSpPr>
        <p:spPr bwMode="auto">
          <a:xfrm>
            <a:off x="4583612" y="3767003"/>
            <a:ext cx="437661" cy="0"/>
          </a:xfrm>
          <a:prstGeom prst="straightConnector1">
            <a:avLst/>
          </a:prstGeom>
          <a:solidFill>
            <a:schemeClr val="accent1"/>
          </a:solidFill>
          <a:ln w="28575" cap="flat" cmpd="sng" algn="ctr">
            <a:solidFill>
              <a:srgbClr val="FF6600"/>
            </a:solidFill>
            <a:prstDash val="solid"/>
            <a:round/>
            <a:headEnd type="none" w="med" len="med"/>
            <a:tailEnd type="arrow"/>
          </a:ln>
          <a:effectLst/>
        </p:spPr>
      </p:cxnSp>
      <p:cxnSp>
        <p:nvCxnSpPr>
          <p:cNvPr id="10" name="Straight Arrow Connector 9">
            <a:extLst>
              <a:ext uri="{FF2B5EF4-FFF2-40B4-BE49-F238E27FC236}">
                <a16:creationId xmlns:a16="http://schemas.microsoft.com/office/drawing/2014/main" id="{01C79DC3-C155-51EC-7B80-F6B79F216F27}"/>
              </a:ext>
            </a:extLst>
          </p:cNvPr>
          <p:cNvCxnSpPr>
            <a:cxnSpLocks/>
          </p:cNvCxnSpPr>
          <p:nvPr/>
        </p:nvCxnSpPr>
        <p:spPr bwMode="auto">
          <a:xfrm>
            <a:off x="5199449" y="3314026"/>
            <a:ext cx="0" cy="269609"/>
          </a:xfrm>
          <a:prstGeom prst="straightConnector1">
            <a:avLst/>
          </a:prstGeom>
          <a:solidFill>
            <a:schemeClr val="accent1"/>
          </a:solidFill>
          <a:ln w="28575" cap="flat" cmpd="sng" algn="ctr">
            <a:solidFill>
              <a:srgbClr val="FF6600"/>
            </a:solidFill>
            <a:prstDash val="solid"/>
            <a:round/>
            <a:headEnd type="none" w="med" len="med"/>
            <a:tailEnd type="arrow"/>
          </a:ln>
          <a:effectLst/>
        </p:spPr>
      </p:cxnSp>
      <p:cxnSp>
        <p:nvCxnSpPr>
          <p:cNvPr id="11" name="Straight Arrow Connector 10">
            <a:extLst>
              <a:ext uri="{FF2B5EF4-FFF2-40B4-BE49-F238E27FC236}">
                <a16:creationId xmlns:a16="http://schemas.microsoft.com/office/drawing/2014/main" id="{23A76CCD-D776-21E0-2B5C-382C3B3E35B6}"/>
              </a:ext>
            </a:extLst>
          </p:cNvPr>
          <p:cNvCxnSpPr/>
          <p:nvPr/>
        </p:nvCxnSpPr>
        <p:spPr bwMode="auto">
          <a:xfrm>
            <a:off x="4577998" y="4164281"/>
            <a:ext cx="437661" cy="0"/>
          </a:xfrm>
          <a:prstGeom prst="straightConnector1">
            <a:avLst/>
          </a:prstGeom>
          <a:solidFill>
            <a:schemeClr val="accent1"/>
          </a:solidFill>
          <a:ln w="28575" cap="flat" cmpd="sng" algn="ctr">
            <a:solidFill>
              <a:srgbClr val="FF6600"/>
            </a:solidFill>
            <a:prstDash val="solid"/>
            <a:round/>
            <a:headEnd type="none" w="med" len="med"/>
            <a:tailEnd type="arrow"/>
          </a:ln>
          <a:effectLst/>
        </p:spPr>
      </p:cxnSp>
      <p:cxnSp>
        <p:nvCxnSpPr>
          <p:cNvPr id="12" name="Straight Arrow Connector 11">
            <a:extLst>
              <a:ext uri="{FF2B5EF4-FFF2-40B4-BE49-F238E27FC236}">
                <a16:creationId xmlns:a16="http://schemas.microsoft.com/office/drawing/2014/main" id="{14923AA1-1186-2330-C057-85C233D4006B}"/>
              </a:ext>
            </a:extLst>
          </p:cNvPr>
          <p:cNvCxnSpPr>
            <a:cxnSpLocks/>
          </p:cNvCxnSpPr>
          <p:nvPr/>
        </p:nvCxnSpPr>
        <p:spPr bwMode="auto">
          <a:xfrm>
            <a:off x="5825750" y="3314026"/>
            <a:ext cx="0" cy="289562"/>
          </a:xfrm>
          <a:prstGeom prst="straightConnector1">
            <a:avLst/>
          </a:prstGeom>
          <a:solidFill>
            <a:schemeClr val="accent1"/>
          </a:solidFill>
          <a:ln w="28575" cap="flat" cmpd="sng" algn="ctr">
            <a:solidFill>
              <a:srgbClr val="FF6600"/>
            </a:solidFill>
            <a:prstDash val="solid"/>
            <a:round/>
            <a:headEnd type="none" w="med" len="med"/>
            <a:tailEnd type="arrow"/>
          </a:ln>
          <a:effectLst/>
        </p:spPr>
      </p:cxnSp>
      <p:sp>
        <p:nvSpPr>
          <p:cNvPr id="13" name="Rectangle 12">
            <a:extLst>
              <a:ext uri="{FF2B5EF4-FFF2-40B4-BE49-F238E27FC236}">
                <a16:creationId xmlns:a16="http://schemas.microsoft.com/office/drawing/2014/main" id="{24B1B53F-ACF6-6C7E-95A6-12D02BE36A8F}"/>
              </a:ext>
            </a:extLst>
          </p:cNvPr>
          <p:cNvSpPr/>
          <p:nvPr/>
        </p:nvSpPr>
        <p:spPr bwMode="auto">
          <a:xfrm>
            <a:off x="5550978" y="2566699"/>
            <a:ext cx="215603" cy="223609"/>
          </a:xfrm>
          <a:prstGeom prst="rect">
            <a:avLst/>
          </a:prstGeom>
          <a:solidFill>
            <a:srgbClr val="FFC000">
              <a:alpha val="70980"/>
            </a:srgb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sp>
        <p:nvSpPr>
          <p:cNvPr id="14" name="Rectangle 13">
            <a:extLst>
              <a:ext uri="{FF2B5EF4-FFF2-40B4-BE49-F238E27FC236}">
                <a16:creationId xmlns:a16="http://schemas.microsoft.com/office/drawing/2014/main" id="{3867A016-4013-6FDA-2E05-3CD1ACA6B513}"/>
              </a:ext>
            </a:extLst>
          </p:cNvPr>
          <p:cNvSpPr/>
          <p:nvPr/>
        </p:nvSpPr>
        <p:spPr bwMode="auto">
          <a:xfrm>
            <a:off x="5787030" y="3623043"/>
            <a:ext cx="201505" cy="225236"/>
          </a:xfrm>
          <a:prstGeom prst="rect">
            <a:avLst/>
          </a:prstGeom>
          <a:solidFill>
            <a:schemeClr val="tx2">
              <a:lumMod val="40000"/>
              <a:lumOff val="60000"/>
              <a:alpha val="70980"/>
            </a:scheme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sp>
        <p:nvSpPr>
          <p:cNvPr id="15" name="Rectangle 14">
            <a:extLst>
              <a:ext uri="{FF2B5EF4-FFF2-40B4-BE49-F238E27FC236}">
                <a16:creationId xmlns:a16="http://schemas.microsoft.com/office/drawing/2014/main" id="{7C298E7B-BCB4-0892-3FB8-DA8C31E9D90F}"/>
              </a:ext>
            </a:extLst>
          </p:cNvPr>
          <p:cNvSpPr/>
          <p:nvPr/>
        </p:nvSpPr>
        <p:spPr bwMode="auto">
          <a:xfrm>
            <a:off x="5092990" y="3616683"/>
            <a:ext cx="202482" cy="238081"/>
          </a:xfrm>
          <a:prstGeom prst="rect">
            <a:avLst/>
          </a:prstGeom>
          <a:solidFill>
            <a:srgbClr val="FFC000">
              <a:alpha val="70980"/>
            </a:srgb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sp>
        <p:nvSpPr>
          <p:cNvPr id="16" name="Rectangle 15">
            <a:extLst>
              <a:ext uri="{FF2B5EF4-FFF2-40B4-BE49-F238E27FC236}">
                <a16:creationId xmlns:a16="http://schemas.microsoft.com/office/drawing/2014/main" id="{8136A1B4-43EB-79BA-A915-EA35A6F53943}"/>
              </a:ext>
            </a:extLst>
          </p:cNvPr>
          <p:cNvSpPr/>
          <p:nvPr/>
        </p:nvSpPr>
        <p:spPr bwMode="auto">
          <a:xfrm>
            <a:off x="5770945" y="4039155"/>
            <a:ext cx="224075" cy="217736"/>
          </a:xfrm>
          <a:prstGeom prst="rect">
            <a:avLst/>
          </a:prstGeom>
          <a:solidFill>
            <a:schemeClr val="tx2">
              <a:lumMod val="40000"/>
              <a:lumOff val="60000"/>
              <a:alpha val="70980"/>
            </a:scheme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a:latin typeface="Times" pitchFamily="18" charset="0"/>
              <a:cs typeface="Arial" charset="0"/>
            </a:endParaRPr>
          </a:p>
        </p:txBody>
      </p:sp>
      <p:sp>
        <p:nvSpPr>
          <p:cNvPr id="17" name="Rectangle 16">
            <a:extLst>
              <a:ext uri="{FF2B5EF4-FFF2-40B4-BE49-F238E27FC236}">
                <a16:creationId xmlns:a16="http://schemas.microsoft.com/office/drawing/2014/main" id="{B15270FF-5A45-DA19-4781-F96326A21E07}"/>
              </a:ext>
            </a:extLst>
          </p:cNvPr>
          <p:cNvSpPr/>
          <p:nvPr/>
        </p:nvSpPr>
        <p:spPr bwMode="auto">
          <a:xfrm>
            <a:off x="5092990" y="4047145"/>
            <a:ext cx="202482" cy="203261"/>
          </a:xfrm>
          <a:prstGeom prst="rect">
            <a:avLst/>
          </a:prstGeom>
          <a:solidFill>
            <a:srgbClr val="FFC000">
              <a:alpha val="70980"/>
            </a:srgbClr>
          </a:solidFill>
          <a:ln w="9525" cap="flat" cmpd="sng" algn="ctr">
            <a:solidFill>
              <a:srgbClr val="000000">
                <a:alpha val="47843"/>
              </a:srgbClr>
            </a:solidFill>
            <a:prstDash val="solid"/>
            <a:round/>
            <a:headEnd type="none" w="med" len="med"/>
            <a:tailEnd type="none" w="med" len="med"/>
          </a:ln>
          <a:effectLst/>
        </p:spPr>
        <p:txBody>
          <a:bodyPr vert="horz" wrap="none" lIns="68580" tIns="34290" rIns="68580" bIns="34290" numCol="1" rtlCol="0" anchor="t" anchorCtr="0" compatLnSpc="1">
            <a:prstTxWarp prst="textNoShape">
              <a:avLst/>
            </a:prstTxWarp>
          </a:bodyPr>
          <a:lstStyle/>
          <a:p>
            <a:pPr defTabSz="685800" eaLnBrk="0" fontAlgn="base" hangingPunct="0">
              <a:spcBef>
                <a:spcPct val="0"/>
              </a:spcBef>
              <a:spcAft>
                <a:spcPct val="0"/>
              </a:spcAft>
            </a:pPr>
            <a:endParaRPr lang="en-GB" dirty="0">
              <a:latin typeface="Times" pitchFamily="18" charset="0"/>
              <a:cs typeface="Arial" charset="0"/>
            </a:endParaRPr>
          </a:p>
        </p:txBody>
      </p:sp>
    </p:spTree>
    <p:extLst>
      <p:ext uri="{BB962C8B-B14F-4D97-AF65-F5344CB8AC3E}">
        <p14:creationId xmlns:p14="http://schemas.microsoft.com/office/powerpoint/2010/main" val="316781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5" end="5"/>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3" grpId="0" animBg="1"/>
      <p:bldP spid="14" grpId="0" animBg="1"/>
      <p:bldP spid="15" grpId="0" animBg="1"/>
      <p:bldP spid="16" grpId="0" animBg="1"/>
      <p:bldP spid="17"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0347DD-F5E2-88D3-A743-08B5E2484094}"/>
              </a:ext>
            </a:extLst>
          </p:cNvPr>
          <p:cNvSpPr>
            <a:spLocks noGrp="1"/>
          </p:cNvSpPr>
          <p:nvPr>
            <p:ph idx="1"/>
          </p:nvPr>
        </p:nvSpPr>
        <p:spPr/>
        <p:txBody>
          <a:bodyPr>
            <a:normAutofit fontScale="92500" lnSpcReduction="20000"/>
          </a:bodyPr>
          <a:lstStyle/>
          <a:p>
            <a:pPr>
              <a:buNone/>
              <a:defRPr/>
            </a:pPr>
            <a:r>
              <a:rPr lang="en-US" b="1" dirty="0">
                <a:solidFill>
                  <a:schemeClr val="tx1"/>
                </a:solidFill>
              </a:rPr>
              <a:t>Indexing</a:t>
            </a:r>
            <a:r>
              <a:rPr lang="en-US" dirty="0">
                <a:solidFill>
                  <a:schemeClr val="tx1"/>
                </a:solidFill>
              </a:rPr>
              <a:t>:  </a:t>
            </a:r>
            <a:r>
              <a:rPr lang="en-US" dirty="0">
                <a:solidFill>
                  <a:schemeClr val="tx1"/>
                </a:solidFill>
                <a:latin typeface="APL385 Unicode" panose="020B0709000202000203" pitchFamily="49" charset="0"/>
              </a:rPr>
              <a:t>A[</a:t>
            </a:r>
            <a:r>
              <a:rPr lang="en-US" dirty="0" err="1">
                <a:solidFill>
                  <a:schemeClr val="tx1"/>
                </a:solidFill>
                <a:latin typeface="APL385 Unicode" panose="020B0709000202000203" pitchFamily="49" charset="0"/>
              </a:rPr>
              <a:t>r;c</a:t>
            </a:r>
            <a:r>
              <a:rPr lang="en-US" dirty="0">
                <a:solidFill>
                  <a:schemeClr val="tx1"/>
                </a:solidFill>
                <a:latin typeface="APL385 Unicode" panose="020B0709000202000203" pitchFamily="49" charset="0"/>
              </a:rPr>
              <a:t>]</a:t>
            </a:r>
            <a:r>
              <a:rPr lang="en-US" dirty="0">
                <a:solidFill>
                  <a:schemeClr val="tx1"/>
                </a:solidFill>
              </a:rPr>
              <a:t> </a:t>
            </a:r>
          </a:p>
          <a:p>
            <a:pPr>
              <a:buNone/>
              <a:defRPr/>
            </a:pPr>
            <a:r>
              <a:rPr lang="en-US" dirty="0">
                <a:solidFill>
                  <a:schemeClr val="tx1"/>
                </a:solidFill>
              </a:rPr>
              <a:t>There is a very simple rule for the shape of the result: it is </a:t>
            </a:r>
            <a:r>
              <a:rPr lang="en-US" dirty="0">
                <a:solidFill>
                  <a:srgbClr val="FF6600"/>
                </a:solidFill>
                <a:latin typeface="APL385 Unicode" panose="020B0709000202000203" pitchFamily="49" charset="0"/>
              </a:rPr>
              <a:t>(⍴r),⍴c</a:t>
            </a:r>
            <a:r>
              <a:rPr lang="en-US" dirty="0">
                <a:solidFill>
                  <a:srgbClr val="FF6600"/>
                </a:solidFill>
              </a:rPr>
              <a:t> </a:t>
            </a:r>
            <a:r>
              <a:rPr lang="en-US" dirty="0">
                <a:solidFill>
                  <a:schemeClr val="tx1"/>
                </a:solidFill>
              </a:rPr>
              <a:t>– regardless of the ranks of r and c.</a:t>
            </a:r>
            <a:endParaRPr lang="en-US" i="1" dirty="0">
              <a:solidFill>
                <a:schemeClr val="tx1"/>
              </a:solidFill>
            </a:endParaRPr>
          </a:p>
          <a:p>
            <a:pPr algn="ctr">
              <a:buNone/>
              <a:defRPr/>
            </a:pPr>
            <a:r>
              <a:rPr lang="en-US" b="1" dirty="0">
                <a:solidFill>
                  <a:schemeClr val="tx1"/>
                </a:solidFill>
              </a:rPr>
              <a:t>THIS IS </a:t>
            </a:r>
            <a:r>
              <a:rPr lang="en-US" b="1" dirty="0"/>
              <a:t>WORTH TAKING SOME </a:t>
            </a:r>
            <a:br>
              <a:rPr lang="en-US" b="1" dirty="0"/>
            </a:br>
            <a:r>
              <a:rPr lang="en-US" b="1" dirty="0"/>
              <a:t>TIME TO UNDERSTAND</a:t>
            </a:r>
            <a:endParaRPr lang="en-US" b="1" dirty="0">
              <a:solidFill>
                <a:schemeClr val="tx1"/>
              </a:solidFill>
            </a:endParaRPr>
          </a:p>
          <a:p>
            <a:pPr>
              <a:buNone/>
              <a:defRPr/>
            </a:pPr>
            <a:endParaRPr lang="en-US" dirty="0">
              <a:solidFill>
                <a:schemeClr val="tx1"/>
              </a:solidFill>
            </a:endParaRPr>
          </a:p>
          <a:p>
            <a:pPr>
              <a:buNone/>
              <a:defRPr/>
            </a:pPr>
            <a:r>
              <a:rPr lang="en-US" dirty="0">
                <a:solidFill>
                  <a:schemeClr val="tx1"/>
                </a:solidFill>
              </a:rPr>
              <a:t>If </a:t>
            </a:r>
            <a:r>
              <a:rPr lang="en-US" dirty="0">
                <a:solidFill>
                  <a:srgbClr val="FF6600"/>
                </a:solidFill>
                <a:latin typeface="APL385 Unicode" panose="020B0709000202000203" pitchFamily="49" charset="0"/>
              </a:rPr>
              <a:t>⍴r</a:t>
            </a:r>
            <a:r>
              <a:rPr lang="en-US" dirty="0">
                <a:solidFill>
                  <a:srgbClr val="FF0000"/>
                </a:solidFill>
              </a:rPr>
              <a:t> </a:t>
            </a:r>
            <a:r>
              <a:rPr lang="en-US" dirty="0">
                <a:solidFill>
                  <a:schemeClr val="tx1"/>
                </a:solidFill>
              </a:rPr>
              <a:t>is </a:t>
            </a:r>
            <a:r>
              <a:rPr lang="en-US" dirty="0">
                <a:solidFill>
                  <a:srgbClr val="00B0F0"/>
                </a:solidFill>
              </a:rPr>
              <a:t>2</a:t>
            </a:r>
            <a:r>
              <a:rPr lang="en-US" dirty="0">
                <a:solidFill>
                  <a:schemeClr val="tx1"/>
                </a:solidFill>
              </a:rPr>
              <a:t> and </a:t>
            </a:r>
            <a:r>
              <a:rPr lang="en-US" dirty="0">
                <a:solidFill>
                  <a:srgbClr val="FF6600"/>
                </a:solidFill>
                <a:latin typeface="APL385 Unicode" panose="020B0709000202000203" pitchFamily="49" charset="0"/>
              </a:rPr>
              <a:t>⍴c</a:t>
            </a:r>
            <a:r>
              <a:rPr lang="en-US" dirty="0">
                <a:solidFill>
                  <a:srgbClr val="FF0000"/>
                </a:solidFill>
              </a:rPr>
              <a:t> </a:t>
            </a:r>
            <a:r>
              <a:rPr lang="en-US" dirty="0">
                <a:solidFill>
                  <a:schemeClr val="tx1"/>
                </a:solidFill>
              </a:rPr>
              <a:t>is </a:t>
            </a:r>
            <a:r>
              <a:rPr lang="en-US" dirty="0">
                <a:solidFill>
                  <a:srgbClr val="00B0F0"/>
                </a:solidFill>
              </a:rPr>
              <a:t>3</a:t>
            </a:r>
            <a:r>
              <a:rPr lang="en-US" dirty="0">
                <a:solidFill>
                  <a:schemeClr val="tx1"/>
                </a:solidFill>
              </a:rPr>
              <a:t> the shape of the result is </a:t>
            </a:r>
            <a:r>
              <a:rPr lang="en-US" dirty="0">
                <a:solidFill>
                  <a:srgbClr val="00B0F0"/>
                </a:solidFill>
              </a:rPr>
              <a:t>2 3</a:t>
            </a:r>
          </a:p>
          <a:p>
            <a:pPr>
              <a:buNone/>
              <a:defRPr/>
            </a:pPr>
            <a:r>
              <a:rPr lang="en-US" b="1" dirty="0"/>
              <a:t>NB: A 1-element vector is NOT the same as a scalar!</a:t>
            </a:r>
          </a:p>
        </p:txBody>
      </p:sp>
      <p:sp>
        <p:nvSpPr>
          <p:cNvPr id="3" name="Title 2">
            <a:extLst>
              <a:ext uri="{FF2B5EF4-FFF2-40B4-BE49-F238E27FC236}">
                <a16:creationId xmlns:a16="http://schemas.microsoft.com/office/drawing/2014/main" id="{C9F80E6F-EE6C-F99A-34DA-335FED595071}"/>
              </a:ext>
            </a:extLst>
          </p:cNvPr>
          <p:cNvSpPr>
            <a:spLocks noGrp="1"/>
          </p:cNvSpPr>
          <p:nvPr>
            <p:ph type="title"/>
          </p:nvPr>
        </p:nvSpPr>
        <p:spPr/>
        <p:txBody>
          <a:bodyPr/>
          <a:lstStyle/>
          <a:p>
            <a:r>
              <a:rPr lang="en-GB" sz="3400" dirty="0"/>
              <a:t>Selection from High Rank Arrays</a:t>
            </a:r>
          </a:p>
        </p:txBody>
      </p:sp>
      <p:sp>
        <p:nvSpPr>
          <p:cNvPr id="4" name="Media Placeholder 3">
            <a:extLst>
              <a:ext uri="{FF2B5EF4-FFF2-40B4-BE49-F238E27FC236}">
                <a16:creationId xmlns:a16="http://schemas.microsoft.com/office/drawing/2014/main" id="{14A2F5EF-35C0-2019-15D8-C963F5C0689C}"/>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166389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7767E-90D9-E415-5E6D-B822F211F39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EE09E9-EB33-8721-BCCA-BA8EAF16DA92}"/>
              </a:ext>
            </a:extLst>
          </p:cNvPr>
          <p:cNvSpPr>
            <a:spLocks noGrp="1"/>
          </p:cNvSpPr>
          <p:nvPr>
            <p:ph idx="1"/>
          </p:nvPr>
        </p:nvSpPr>
        <p:spPr/>
        <p:txBody>
          <a:bodyPr>
            <a:noAutofit/>
          </a:bodyPr>
          <a:lstStyle/>
          <a:p>
            <a:pPr>
              <a:buNone/>
              <a:defRPr/>
            </a:pPr>
            <a:r>
              <a:rPr lang="en-US" sz="2000" b="1" dirty="0">
                <a:solidFill>
                  <a:schemeClr val="tx1"/>
                </a:solidFill>
              </a:rPr>
              <a:t>Note: A 1-element vector is not the same as a scalar</a:t>
            </a:r>
          </a:p>
          <a:p>
            <a:pPr>
              <a:buNone/>
              <a:defRPr/>
            </a:pPr>
            <a:r>
              <a:rPr lang="en-US" sz="2000" b="1" dirty="0">
                <a:solidFill>
                  <a:schemeClr val="tx1"/>
                </a:solidFill>
                <a:latin typeface="APL385 Unicode" panose="020B0709000202000203" pitchFamily="49" charset="0"/>
              </a:rPr>
              <a:t>      ⍴42</a:t>
            </a:r>
          </a:p>
          <a:p>
            <a:pPr>
              <a:buNone/>
              <a:defRPr/>
            </a:pPr>
            <a:endParaRPr lang="en-US" sz="2000" b="1" dirty="0">
              <a:solidFill>
                <a:schemeClr val="tx1"/>
              </a:solidFill>
              <a:latin typeface="APL385 Unicode" panose="020B0709000202000203" pitchFamily="49" charset="0"/>
            </a:endParaRPr>
          </a:p>
          <a:p>
            <a:pPr>
              <a:buNone/>
              <a:defRPr/>
            </a:pPr>
            <a:r>
              <a:rPr lang="en-US" sz="2000" b="1" dirty="0">
                <a:solidFill>
                  <a:schemeClr val="tx1"/>
                </a:solidFill>
                <a:latin typeface="APL385 Unicode" panose="020B0709000202000203" pitchFamily="49" charset="0"/>
              </a:rPr>
              <a:t>      ⍴,42</a:t>
            </a:r>
          </a:p>
          <a:p>
            <a:pPr>
              <a:buNone/>
              <a:defRPr/>
            </a:pPr>
            <a:r>
              <a:rPr lang="en-US" sz="2000" b="1" dirty="0">
                <a:solidFill>
                  <a:schemeClr val="tx1"/>
                </a:solidFill>
                <a:latin typeface="APL385 Unicode" panose="020B0709000202000203" pitchFamily="49" charset="0"/>
              </a:rPr>
              <a:t>1</a:t>
            </a:r>
          </a:p>
          <a:p>
            <a:pPr>
              <a:buNone/>
              <a:defRPr/>
            </a:pPr>
            <a:r>
              <a:rPr lang="en-US" sz="2000" b="1" dirty="0">
                <a:solidFill>
                  <a:schemeClr val="tx1"/>
                </a:solidFill>
                <a:latin typeface="APL385 Unicode" panose="020B0709000202000203" pitchFamily="49" charset="0"/>
              </a:rPr>
              <a:t>      42≡,42</a:t>
            </a:r>
          </a:p>
          <a:p>
            <a:pPr>
              <a:buNone/>
              <a:defRPr/>
            </a:pPr>
            <a:r>
              <a:rPr lang="en-US" sz="2000" b="1" dirty="0">
                <a:solidFill>
                  <a:schemeClr val="tx1"/>
                </a:solidFill>
                <a:latin typeface="APL385 Unicode" panose="020B0709000202000203" pitchFamily="49" charset="0"/>
              </a:rPr>
              <a:t>0</a:t>
            </a:r>
          </a:p>
        </p:txBody>
      </p:sp>
      <p:sp>
        <p:nvSpPr>
          <p:cNvPr id="3" name="Title 2">
            <a:extLst>
              <a:ext uri="{FF2B5EF4-FFF2-40B4-BE49-F238E27FC236}">
                <a16:creationId xmlns:a16="http://schemas.microsoft.com/office/drawing/2014/main" id="{C08FAE50-3716-693D-2BB8-24D59E5363A5}"/>
              </a:ext>
            </a:extLst>
          </p:cNvPr>
          <p:cNvSpPr>
            <a:spLocks noGrp="1"/>
          </p:cNvSpPr>
          <p:nvPr>
            <p:ph type="title"/>
          </p:nvPr>
        </p:nvSpPr>
        <p:spPr/>
        <p:txBody>
          <a:bodyPr/>
          <a:lstStyle/>
          <a:p>
            <a:r>
              <a:rPr lang="en-GB" sz="3400" dirty="0"/>
              <a:t>Selection from High Rank Arrays</a:t>
            </a:r>
          </a:p>
        </p:txBody>
      </p:sp>
      <p:sp>
        <p:nvSpPr>
          <p:cNvPr id="4" name="Media Placeholder 3">
            <a:extLst>
              <a:ext uri="{FF2B5EF4-FFF2-40B4-BE49-F238E27FC236}">
                <a16:creationId xmlns:a16="http://schemas.microsoft.com/office/drawing/2014/main" id="{8693E2BD-5908-9A6C-BA5E-20FC075153A3}"/>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2640116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27280-ECE8-B8FB-C4BC-810EE2F8F2B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2F782DF-607F-2CCA-F9ED-DF677426D47F}"/>
              </a:ext>
            </a:extLst>
          </p:cNvPr>
          <p:cNvSpPr>
            <a:spLocks noGrp="1"/>
          </p:cNvSpPr>
          <p:nvPr>
            <p:ph idx="1"/>
          </p:nvPr>
        </p:nvSpPr>
        <p:spPr>
          <a:xfrm rot="18962600">
            <a:off x="323527" y="1365421"/>
            <a:ext cx="8443592" cy="3141543"/>
          </a:xfrm>
        </p:spPr>
        <p:txBody>
          <a:bodyPr>
            <a:normAutofit/>
          </a:bodyPr>
          <a:lstStyle/>
          <a:p>
            <a:pPr marL="0" indent="0" algn="ctr">
              <a:buNone/>
            </a:pPr>
            <a:r>
              <a:rPr lang="en-GB" sz="15000" dirty="0"/>
              <a:t>🤔</a:t>
            </a:r>
          </a:p>
        </p:txBody>
      </p:sp>
      <p:sp>
        <p:nvSpPr>
          <p:cNvPr id="3" name="Title 2">
            <a:extLst>
              <a:ext uri="{FF2B5EF4-FFF2-40B4-BE49-F238E27FC236}">
                <a16:creationId xmlns:a16="http://schemas.microsoft.com/office/drawing/2014/main" id="{473C7017-B48B-8905-AD69-2612689F61CE}"/>
              </a:ext>
            </a:extLst>
          </p:cNvPr>
          <p:cNvSpPr>
            <a:spLocks noGrp="1"/>
          </p:cNvSpPr>
          <p:nvPr>
            <p:ph type="title"/>
          </p:nvPr>
        </p:nvSpPr>
        <p:spPr/>
        <p:txBody>
          <a:bodyPr/>
          <a:lstStyle/>
          <a:p>
            <a:r>
              <a:rPr lang="en-GB" dirty="0"/>
              <a:t>Questions?</a:t>
            </a:r>
          </a:p>
        </p:txBody>
      </p:sp>
      <p:sp>
        <p:nvSpPr>
          <p:cNvPr id="4" name="Media Placeholder 3">
            <a:extLst>
              <a:ext uri="{FF2B5EF4-FFF2-40B4-BE49-F238E27FC236}">
                <a16:creationId xmlns:a16="http://schemas.microsoft.com/office/drawing/2014/main" id="{B1FD21AF-1211-EB93-7D9C-5F213F36221A}"/>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39211894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E47CAF4-DD2A-9CD0-5ACD-8AA7C777418B}"/>
              </a:ext>
            </a:extLst>
          </p:cNvPr>
          <p:cNvSpPr>
            <a:spLocks noGrp="1"/>
          </p:cNvSpPr>
          <p:nvPr>
            <p:ph idx="1"/>
          </p:nvPr>
        </p:nvSpPr>
        <p:spPr/>
        <p:txBody>
          <a:bodyPr/>
          <a:lstStyle/>
          <a:p>
            <a:pPr marL="0" indent="0">
              <a:buNone/>
            </a:pPr>
            <a:r>
              <a:rPr lang="en-GB" dirty="0"/>
              <a:t>https://rikedyp.uk/APLBootcamp</a:t>
            </a:r>
          </a:p>
          <a:p>
            <a:pPr marL="0" indent="0">
              <a:buNone/>
            </a:pPr>
            <a:r>
              <a:rPr lang="en-GB" dirty="0"/>
              <a:t>Part 3</a:t>
            </a:r>
          </a:p>
        </p:txBody>
      </p:sp>
      <p:sp>
        <p:nvSpPr>
          <p:cNvPr id="3" name="Title 2">
            <a:extLst>
              <a:ext uri="{FF2B5EF4-FFF2-40B4-BE49-F238E27FC236}">
                <a16:creationId xmlns:a16="http://schemas.microsoft.com/office/drawing/2014/main" id="{96196F01-A0ED-2004-FA5A-52F8E5C542B8}"/>
              </a:ext>
            </a:extLst>
          </p:cNvPr>
          <p:cNvSpPr>
            <a:spLocks noGrp="1"/>
          </p:cNvSpPr>
          <p:nvPr>
            <p:ph type="title"/>
          </p:nvPr>
        </p:nvSpPr>
        <p:spPr/>
        <p:txBody>
          <a:bodyPr/>
          <a:lstStyle/>
          <a:p>
            <a:r>
              <a:rPr lang="en-GB" dirty="0"/>
              <a:t>Exercises</a:t>
            </a:r>
          </a:p>
        </p:txBody>
      </p:sp>
      <p:sp>
        <p:nvSpPr>
          <p:cNvPr id="4" name="Media Placeholder 3">
            <a:extLst>
              <a:ext uri="{FF2B5EF4-FFF2-40B4-BE49-F238E27FC236}">
                <a16:creationId xmlns:a16="http://schemas.microsoft.com/office/drawing/2014/main" id="{D8E01DC1-6CB9-3AD3-C20B-68F1224F8271}"/>
              </a:ext>
            </a:extLst>
          </p:cNvPr>
          <p:cNvSpPr>
            <a:spLocks noGrp="1"/>
          </p:cNvSpPr>
          <p:nvPr>
            <p:ph type="media" sz="quarter" idx="11"/>
          </p:nvPr>
        </p:nvSpPr>
        <p:spPr/>
        <p:txBody>
          <a:bodyPr/>
          <a:lstStyle/>
          <a:p>
            <a:endParaRPr lang="en-GB"/>
          </a:p>
        </p:txBody>
      </p:sp>
    </p:spTree>
    <p:extLst>
      <p:ext uri="{BB962C8B-B14F-4D97-AF65-F5344CB8AC3E}">
        <p14:creationId xmlns:p14="http://schemas.microsoft.com/office/powerpoint/2010/main" val="418054179"/>
      </p:ext>
    </p:extLst>
  </p:cSld>
  <p:clrMapOvr>
    <a:masterClrMapping/>
  </p:clrMapOvr>
</p:sld>
</file>

<file path=ppt/theme/theme1.xml><?xml version="1.0" encoding="utf-8"?>
<a:theme xmlns:a="http://schemas.openxmlformats.org/drawingml/2006/main" name="Office Theme">
  <a:themeElements>
    <a:clrScheme name="Dyalog">
      <a:dk1>
        <a:srgbClr val="3B475E"/>
      </a:dk1>
      <a:lt1>
        <a:sysClr val="window" lastClr="FFFFFF"/>
      </a:lt1>
      <a:dk2>
        <a:srgbClr val="5A6D8F"/>
      </a:dk2>
      <a:lt2>
        <a:srgbClr val="F6F6D9"/>
      </a:lt2>
      <a:accent1>
        <a:srgbClr val="ED7F00"/>
      </a:accent1>
      <a:accent2>
        <a:srgbClr val="928ABD"/>
      </a:accent2>
      <a:accent3>
        <a:srgbClr val="2C5656"/>
      </a:accent3>
      <a:accent4>
        <a:srgbClr val="FFA336"/>
      </a:accent4>
      <a:accent5>
        <a:srgbClr val="BBB5D6"/>
      </a:accent5>
      <a:accent6>
        <a:srgbClr val="231F20"/>
      </a:accent6>
      <a:hlink>
        <a:srgbClr val="5A6D8F"/>
      </a:hlink>
      <a:folHlink>
        <a:srgbClr val="928ABD"/>
      </a:folHlink>
    </a:clrScheme>
    <a:fontScheme name="Sarabun">
      <a:majorFont>
        <a:latin typeface="Sarabun"/>
        <a:ea typeface=""/>
        <a:cs typeface=""/>
      </a:majorFont>
      <a:minorFont>
        <a:latin typeface="Sarabu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yalog19_template_bold_calibri.potx" id="{F0C38D23-3AC9-47E9-8D0D-BEDB5EAFCAD2}" vid="{35320D08-F00A-4224-9D94-CDC48BBB4D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2999</TotalTime>
  <Words>3049</Words>
  <Application>Microsoft Office PowerPoint</Application>
  <PresentationFormat>On-screen Show (16:9)</PresentationFormat>
  <Paragraphs>476</Paragraphs>
  <Slides>81</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81</vt:i4>
      </vt:variant>
    </vt:vector>
  </HeadingPairs>
  <TitlesOfParts>
    <vt:vector size="88" baseType="lpstr">
      <vt:lpstr>APL385 Unicode</vt:lpstr>
      <vt:lpstr>Sarabun</vt:lpstr>
      <vt:lpstr>Calibri</vt:lpstr>
      <vt:lpstr>Times</vt:lpstr>
      <vt:lpstr>Arial</vt:lpstr>
      <vt:lpstr>Wingdings 2</vt:lpstr>
      <vt:lpstr>Office Theme</vt:lpstr>
      <vt:lpstr>APL Bootcamp – Part 4</vt:lpstr>
      <vt:lpstr>User-defined Functions</vt:lpstr>
      <vt:lpstr>User-defined Functions</vt:lpstr>
      <vt:lpstr>User-defined Functions</vt:lpstr>
      <vt:lpstr>User-defined Functions</vt:lpstr>
      <vt:lpstr>User-defined Functions</vt:lpstr>
      <vt:lpstr>User-defined Functions</vt:lpstr>
      <vt:lpstr>User-defined Functions</vt:lpstr>
      <vt:lpstr>User-defined Functions</vt:lpstr>
      <vt:lpstr>User-defined Functions</vt:lpstr>
      <vt:lpstr>User-defined Functions</vt:lpstr>
      <vt:lpstr>User-defined Functions</vt:lpstr>
      <vt:lpstr>Operator Application</vt:lpstr>
      <vt:lpstr>User-defined Functions</vt:lpstr>
      <vt:lpstr>Programs</vt:lpstr>
      <vt:lpstr>User-defined Functions</vt:lpstr>
      <vt:lpstr>Types of Programs</vt:lpstr>
      <vt:lpstr>Dyadic Functions</vt:lpstr>
      <vt:lpstr>Monadic Functions</vt:lpstr>
      <vt:lpstr>Niladic Functions</vt:lpstr>
      <vt:lpstr>Returning a Result</vt:lpstr>
      <vt:lpstr>Tradfn Headers</vt:lpstr>
      <vt:lpstr>Tradfn Headers</vt:lpstr>
      <vt:lpstr>Tradfn Headers</vt:lpstr>
      <vt:lpstr>Tradfn Headers</vt:lpstr>
      <vt:lpstr>Tradfn Headers (no result)</vt:lpstr>
      <vt:lpstr>Tradfn Headers</vt:lpstr>
      <vt:lpstr>Tradfn Headers</vt:lpstr>
      <vt:lpstr>Tradfn Headers</vt:lpstr>
      <vt:lpstr>Tradfn Headers</vt:lpstr>
      <vt:lpstr>Tradfn Headers</vt:lpstr>
      <vt:lpstr>Tradfn Headers</vt:lpstr>
      <vt:lpstr>Local Names</vt:lpstr>
      <vt:lpstr>Local Names</vt:lpstr>
      <vt:lpstr>Local Names</vt:lpstr>
      <vt:lpstr>Local Names</vt:lpstr>
      <vt:lpstr>Local Names</vt:lpstr>
      <vt:lpstr>Local Names</vt:lpstr>
      <vt:lpstr>Local Names</vt:lpstr>
      <vt:lpstr>Local Names</vt:lpstr>
      <vt:lpstr>Local Names</vt:lpstr>
      <vt:lpstr>Local Names</vt:lpstr>
      <vt:lpstr>Local Names</vt:lpstr>
      <vt:lpstr>Local Names</vt:lpstr>
      <vt:lpstr>Local Names</vt:lpstr>
      <vt:lpstr>Local Names</vt:lpstr>
      <vt:lpstr>Local Names</vt:lpstr>
      <vt:lpstr>Display Forms of Programs</vt:lpstr>
      <vt:lpstr>Shy Results</vt:lpstr>
      <vt:lpstr>Shy Results</vt:lpstr>
      <vt:lpstr>Questions?</vt:lpstr>
      <vt:lpstr>Exercises</vt:lpstr>
      <vt:lpstr>Exercises</vt:lpstr>
      <vt:lpstr>Comparing Arrays</vt:lpstr>
      <vt:lpstr>Match (⍺≡⍵)</vt:lpstr>
      <vt:lpstr>Match (⍺≡⍵)</vt:lpstr>
      <vt:lpstr>Natch (⍺≢⍵)</vt:lpstr>
      <vt:lpstr>Structural Functions</vt:lpstr>
      <vt:lpstr>Structural Functions</vt:lpstr>
      <vt:lpstr>Structural Functions</vt:lpstr>
      <vt:lpstr>Structural Functions</vt:lpstr>
      <vt:lpstr>Structural Functions</vt:lpstr>
      <vt:lpstr>Structural Functions</vt:lpstr>
      <vt:lpstr>Structural Functions</vt:lpstr>
      <vt:lpstr>Structural Functions</vt:lpstr>
      <vt:lpstr>Structural Functions</vt:lpstr>
      <vt:lpstr>Structural Functions</vt:lpstr>
      <vt:lpstr>Structural Functions</vt:lpstr>
      <vt:lpstr>Structural Functions</vt:lpstr>
      <vt:lpstr>Structural Functions</vt:lpstr>
      <vt:lpstr>Structural Functions</vt:lpstr>
      <vt:lpstr>Selection from High Rank Arrays</vt:lpstr>
      <vt:lpstr>Selection from High Rank Arrays</vt:lpstr>
      <vt:lpstr>Selection from High Rank Arrays</vt:lpstr>
      <vt:lpstr>Selection from High Rank Arrays</vt:lpstr>
      <vt:lpstr>Selection from High Rank Arrays</vt:lpstr>
      <vt:lpstr>Selection from High Rank Arrays</vt:lpstr>
      <vt:lpstr>Selection from High Rank Arrays</vt:lpstr>
      <vt:lpstr>Selection from High Rank Arrays</vt:lpstr>
      <vt:lpstr>Questions?</vt:lpstr>
      <vt:lpstr>Exercises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Fiona Smith</dc:creator>
  <cp:lastModifiedBy>Rich Park</cp:lastModifiedBy>
  <cp:revision>304</cp:revision>
  <dcterms:created xsi:type="dcterms:W3CDTF">2019-07-25T11:46:05Z</dcterms:created>
  <dcterms:modified xsi:type="dcterms:W3CDTF">2025-08-20T15:51:34Z</dcterms:modified>
</cp:coreProperties>
</file>