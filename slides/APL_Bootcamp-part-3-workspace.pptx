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57" r:id="rId2"/>
    <p:sldId id="793" r:id="rId3"/>
    <p:sldId id="794" r:id="rId4"/>
    <p:sldId id="795" r:id="rId5"/>
    <p:sldId id="797" r:id="rId6"/>
    <p:sldId id="798" r:id="rId7"/>
    <p:sldId id="800" r:id="rId8"/>
    <p:sldId id="801" r:id="rId9"/>
    <p:sldId id="802" r:id="rId10"/>
    <p:sldId id="804" r:id="rId11"/>
    <p:sldId id="805" r:id="rId12"/>
    <p:sldId id="806" r:id="rId13"/>
    <p:sldId id="807" r:id="rId14"/>
    <p:sldId id="808" r:id="rId15"/>
    <p:sldId id="809" r:id="rId16"/>
    <p:sldId id="814" r:id="rId17"/>
    <p:sldId id="815" r:id="rId18"/>
    <p:sldId id="816" r:id="rId19"/>
    <p:sldId id="817" r:id="rId20"/>
    <p:sldId id="818" r:id="rId21"/>
    <p:sldId id="819" r:id="rId22"/>
    <p:sldId id="820" r:id="rId23"/>
    <p:sldId id="821" r:id="rId24"/>
    <p:sldId id="822" r:id="rId25"/>
    <p:sldId id="823" r:id="rId26"/>
    <p:sldId id="824" r:id="rId27"/>
    <p:sldId id="825" r:id="rId28"/>
    <p:sldId id="826" r:id="rId29"/>
    <p:sldId id="827" r:id="rId30"/>
    <p:sldId id="832" r:id="rId31"/>
    <p:sldId id="828" r:id="rId32"/>
    <p:sldId id="829" r:id="rId33"/>
    <p:sldId id="830" r:id="rId34"/>
    <p:sldId id="840" r:id="rId35"/>
    <p:sldId id="831" r:id="rId36"/>
    <p:sldId id="833" r:id="rId37"/>
    <p:sldId id="834" r:id="rId38"/>
    <p:sldId id="841" r:id="rId39"/>
    <p:sldId id="835" r:id="rId40"/>
    <p:sldId id="836" r:id="rId41"/>
    <p:sldId id="837" r:id="rId42"/>
    <p:sldId id="838" r:id="rId43"/>
    <p:sldId id="839" r:id="rId44"/>
    <p:sldId id="796" r:id="rId45"/>
    <p:sldId id="799" r:id="rId46"/>
    <p:sldId id="810" r:id="rId47"/>
    <p:sldId id="811" r:id="rId48"/>
    <p:sldId id="812" r:id="rId49"/>
    <p:sldId id="813" r:id="rId50"/>
    <p:sldId id="843" r:id="rId51"/>
    <p:sldId id="844" r:id="rId52"/>
    <p:sldId id="842" r:id="rId53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56"/>
    </p:embeddedFont>
    <p:embeddedFont>
      <p:font typeface="Consolas" panose="020B0609020204030204" pitchFamily="49" charset="0"/>
      <p:regular r:id="rId57"/>
      <p:bold r:id="rId58"/>
      <p:italic r:id="rId59"/>
      <p:boldItalic r:id="rId60"/>
    </p:embeddedFont>
    <p:embeddedFont>
      <p:font typeface="Sarabun" panose="00000500000000000000" pitchFamily="2" charset="-34"/>
      <p:regular r:id="rId61"/>
      <p:bold r:id="rId62"/>
      <p:italic r:id="rId63"/>
      <p:boldItalic r:id="rId64"/>
    </p:embeddedFont>
    <p:embeddedFont>
      <p:font typeface="Wingdings 2" panose="05020102010507070707" pitchFamily="18" charset="2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A6D8F"/>
    <a:srgbClr val="3B475E"/>
    <a:srgbClr val="ED7F00"/>
    <a:srgbClr val="FDFDF5"/>
    <a:srgbClr val="F6F6D9"/>
    <a:srgbClr val="BBB5D6"/>
    <a:srgbClr val="928ABD"/>
    <a:srgbClr val="3735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5508" autoAdjust="0"/>
  </p:normalViewPr>
  <p:slideViewPr>
    <p:cSldViewPr snapToGrid="0">
      <p:cViewPr varScale="1">
        <p:scale>
          <a:sx n="139" d="100"/>
          <a:sy n="139" d="100"/>
        </p:scale>
        <p:origin x="73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NUL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10/08/2025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10/08/2025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in Classic – see Windows UI Guide p.13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502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Part 3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hyperlink" Target="mk:@MSITStore:C:\Program%20Files%20(x86)\Dyalog\V132U\help\dyalog.chm::/Language/System%20Commands/holds.htm" TargetMode="External"/><Relationship Id="rId18" Type="http://schemas.openxmlformats.org/officeDocument/2006/relationships/hyperlink" Target="mk:@MSITStore:C:\Program%20Files%20(x86)\Dyalog\V132U\help\dyalog.chm::/Language/System%20Commands/objects.htm" TargetMode="External"/><Relationship Id="rId26" Type="http://schemas.openxmlformats.org/officeDocument/2006/relationships/hyperlink" Target="mk:@MSITStore:C:\Program%20Files%20(x86)\Dyalog\V132U\help\dyalog.chm::/Language/System%20Commands/sh.htm" TargetMode="External"/><Relationship Id="rId3" Type="http://schemas.openxmlformats.org/officeDocument/2006/relationships/hyperlink" Target="mk:@MSITStore:C:\Program%20Files%20(x86)\Dyalog\V132U\help\dyalog.chm::/Language/System%20Commands/clear.htm" TargetMode="External"/><Relationship Id="rId21" Type="http://schemas.openxmlformats.org/officeDocument/2006/relationships/hyperlink" Target="mk:@MSITStore:C:\Program%20Files%20(x86)\Dyalog\V132U\help\dyalog.chm::/Language/System%20Commands/ops.htm" TargetMode="External"/><Relationship Id="rId7" Type="http://schemas.openxmlformats.org/officeDocument/2006/relationships/hyperlink" Target="mk:@MSITStore:C:\Program%20Files%20(x86)\Dyalog\V132U\help\dyalog.chm::/Language/System%20Commands/cs.htm" TargetMode="External"/><Relationship Id="rId12" Type="http://schemas.openxmlformats.org/officeDocument/2006/relationships/hyperlink" Target="mk:@MSITStore:C:\Program%20Files%20(x86)\Dyalog\V132U\help\dyalog.chm::/Language/System%20Commands/fns.htm" TargetMode="External"/><Relationship Id="rId17" Type="http://schemas.openxmlformats.org/officeDocument/2006/relationships/hyperlink" Target="mk:@MSITStore:C:\Program%20Files%20(x86)\Dyalog\V132U\help\dyalog.chm::/Language/System%20Commands/ns.htm" TargetMode="External"/><Relationship Id="rId25" Type="http://schemas.openxmlformats.org/officeDocument/2006/relationships/hyperlink" Target="mk:@MSITStore:C:\Program%20Files%20(x86)\Dyalog\V132U\help\dyalog.chm::/Language/System%20Commands/save.htm" TargetMode="External"/><Relationship Id="rId33" Type="http://schemas.openxmlformats.org/officeDocument/2006/relationships/hyperlink" Target="mk:@MSITStore:C:\Program%20Files%20(x86)\Dyalog\V132U\help\dyalog.chm::/Language/System%20Commands/xload.htm" TargetMode="External"/><Relationship Id="rId2" Type="http://schemas.openxmlformats.org/officeDocument/2006/relationships/hyperlink" Target="mk:@MSITStore:C:\Program%20Files%20(x86)\Dyalog\V132U\help\dyalog.chm::/Language/System%20Commands/classes.htm" TargetMode="External"/><Relationship Id="rId16" Type="http://schemas.openxmlformats.org/officeDocument/2006/relationships/hyperlink" Target="mk:@MSITStore:C:\Program%20Files%20(x86)\Dyalog\V132U\help\dyalog.chm::/Language/System%20Commands/methods.htm" TargetMode="External"/><Relationship Id="rId20" Type="http://schemas.openxmlformats.org/officeDocument/2006/relationships/hyperlink" Target="mk:@MSITStore:C:\Program%20Files%20(x86)\Dyalog\V132U\help\dyalog.chm::/Language/System%20Commands/off.htm" TargetMode="External"/><Relationship Id="rId29" Type="http://schemas.openxmlformats.org/officeDocument/2006/relationships/hyperlink" Target="mk:@MSITStore:C:\Program%20Files%20(x86)\Dyalog\V132U\help\dyalog.chm::/Language/System%20Commands/sinl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k:@MSITStore:C:\Program%20Files%20(x86)\Dyalog\V132U\help\dyalog.chm::/Language/System%20Commands/copy.htm" TargetMode="External"/><Relationship Id="rId11" Type="http://schemas.openxmlformats.org/officeDocument/2006/relationships/hyperlink" Target="mk:@MSITStore:C:\Program%20Files%20(x86)\Dyalog\V132U\help\dyalog.chm::/Language/System%20Commands/events.htm" TargetMode="External"/><Relationship Id="rId24" Type="http://schemas.openxmlformats.org/officeDocument/2006/relationships/hyperlink" Target="mk:@MSITStore:C:\Program%20Files%20(x86)\Dyalog\V132U\help\dyalog.chm::/Language/System%20Commands/reset.htm" TargetMode="External"/><Relationship Id="rId32" Type="http://schemas.openxmlformats.org/officeDocument/2006/relationships/hyperlink" Target="mk:@MSITStore:C:\Program%20Files%20(x86)\Dyalog\V132U\help\dyalog.chm::/Language/System%20Commands/wsid.htm" TargetMode="External"/><Relationship Id="rId5" Type="http://schemas.openxmlformats.org/officeDocument/2006/relationships/hyperlink" Target="mk:@MSITStore:C:\Program%20Files%20(x86)\Dyalog\V132U\help\dyalog.chm::/Language/System%20Commands/continue.htm" TargetMode="External"/><Relationship Id="rId15" Type="http://schemas.openxmlformats.org/officeDocument/2006/relationships/hyperlink" Target="mk:@MSITStore:C:\Program%20Files%20(x86)\Dyalog\V132U\help\dyalog.chm::/Language/System%20Commands/load.htm" TargetMode="External"/><Relationship Id="rId23" Type="http://schemas.openxmlformats.org/officeDocument/2006/relationships/hyperlink" Target="mk:@MSITStore:C:\Program%20Files%20(x86)\Dyalog\V132U\help\dyalog.chm::/Language/System%20Commands/props.htm" TargetMode="External"/><Relationship Id="rId28" Type="http://schemas.openxmlformats.org/officeDocument/2006/relationships/hyperlink" Target="mk:@MSITStore:C:\Program%20Files%20(x86)\Dyalog\V132U\help\dyalog.chm::/Language/System%20Commands/sic.htm" TargetMode="External"/><Relationship Id="rId10" Type="http://schemas.openxmlformats.org/officeDocument/2006/relationships/hyperlink" Target="mk:@MSITStore:C:\Program%20Files%20(x86)\Dyalog\V132U\help\dyalog.chm::/Language/System%20Commands/erase.htm" TargetMode="External"/><Relationship Id="rId19" Type="http://schemas.openxmlformats.org/officeDocument/2006/relationships/hyperlink" Target="mk:@MSITStore:C:\Program%20Files%20(x86)\Dyalog\V132U\help\dyalog.chm::/Language/System%20Commands/obs.htm" TargetMode="External"/><Relationship Id="rId31" Type="http://schemas.openxmlformats.org/officeDocument/2006/relationships/hyperlink" Target="mk:@MSITStore:C:\Program%20Files%20(x86)\Dyalog\V132U\help\dyalog.chm::/Language/System%20Commands/vars.htm" TargetMode="External"/><Relationship Id="rId4" Type="http://schemas.openxmlformats.org/officeDocument/2006/relationships/hyperlink" Target="mk:@MSITStore:C:\Program%20Files%20(x86)\Dyalog\V132U\help\dyalog.chm::/Language/System%20Commands/cmd.htm" TargetMode="External"/><Relationship Id="rId9" Type="http://schemas.openxmlformats.org/officeDocument/2006/relationships/hyperlink" Target="mk:@MSITStore:C:\Program%20Files%20(x86)\Dyalog\V132U\help\dyalog.chm::/Language/System%20Commands/ed.htm" TargetMode="External"/><Relationship Id="rId14" Type="http://schemas.openxmlformats.org/officeDocument/2006/relationships/hyperlink" Target="mk:@MSITStore:C:\Program%20Files%20(x86)\Dyalog\V132U\help\dyalog.chm::/Language/System%20Commands/lib.htm" TargetMode="External"/><Relationship Id="rId22" Type="http://schemas.openxmlformats.org/officeDocument/2006/relationships/hyperlink" Target="mk:@MSITStore:C:\Program%20Files%20(x86)\Dyalog\V132U\help\dyalog.chm::/Language/System%20Commands/pcopy.htm" TargetMode="External"/><Relationship Id="rId27" Type="http://schemas.openxmlformats.org/officeDocument/2006/relationships/hyperlink" Target="mk:@MSITStore:C:\Program%20Files%20(x86)\Dyalog\V132U\help\dyalog.chm::/Language/System%20Commands/si.htm" TargetMode="External"/><Relationship Id="rId30" Type="http://schemas.openxmlformats.org/officeDocument/2006/relationships/hyperlink" Target="mk:@MSITStore:C:\Program%20Files%20(x86)\Dyalog\V132U\help\dyalog.chm::/Language/System%20Commands/tid.htm" TargetMode="External"/><Relationship Id="rId8" Type="http://schemas.openxmlformats.org/officeDocument/2006/relationships/hyperlink" Target="mk:@MSITStore:C:\Program%20Files%20(x86)\Dyalog\V132U\help\dyalog.chm::/Language/System%20Commands/drop.htm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 – Part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Introduction to the Workspace and IDE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DFB31A-3EC7-0C50-9010-2FA2A1A71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APL maintains the variables and functions that you define in a memory area called the </a:t>
            </a:r>
            <a:r>
              <a:rPr lang="en-GB" b="1" i="1" dirty="0">
                <a:solidFill>
                  <a:srgbClr val="FF6600"/>
                </a:solidFill>
              </a:rPr>
              <a:t>active workspace</a:t>
            </a:r>
            <a:r>
              <a:rPr lang="en-GB" dirty="0"/>
              <a:t>.</a:t>
            </a:r>
          </a:p>
          <a:p>
            <a:pPr lvl="1"/>
            <a:r>
              <a:rPr lang="da-DK" dirty="0"/>
              <a:t>I</a:t>
            </a:r>
            <a:r>
              <a:rPr lang="en-GB" dirty="0"/>
              <a:t>t is like an Excel Spreadsheet containing data and macros.</a:t>
            </a:r>
          </a:p>
          <a:p>
            <a:r>
              <a:rPr lang="en-GB" dirty="0"/>
              <a:t>A copy of your active workspace can be saved and retrieved later.</a:t>
            </a:r>
          </a:p>
          <a:p>
            <a:r>
              <a:rPr lang="en-GB" dirty="0"/>
              <a:t>The file name will have an extension of .</a:t>
            </a:r>
            <a:r>
              <a:rPr lang="en-GB" dirty="0" err="1"/>
              <a:t>dws</a:t>
            </a:r>
            <a:r>
              <a:rPr lang="en-GB" dirty="0"/>
              <a:t> (Dyalog Work Space).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469949-1C5D-BAA3-8E06-15380387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Workspace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18453FD-4CCA-5863-0121-B7D79913725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695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27A167-FC10-FC8A-8442-2E52D5C6A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 startup your active workspace has no name (CLEAR WS)</a:t>
            </a:r>
          </a:p>
          <a:p>
            <a:r>
              <a:rPr lang="en-GB" dirty="0"/>
              <a:t>To give your active workspace a name use the system command </a:t>
            </a:r>
            <a:r>
              <a:rPr lang="en-GB" dirty="0">
                <a:latin typeface="APL385 Unicode" panose="020B0709000202000203" pitchFamily="49" charset="0"/>
              </a:rPr>
              <a:t>)WSID</a:t>
            </a:r>
            <a:r>
              <a:rPr lang="en-GB" dirty="0"/>
              <a:t> as in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    )WSID </a:t>
            </a:r>
            <a:r>
              <a:rPr lang="en-GB" dirty="0" err="1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mywork</a:t>
            </a:r>
            <a:endParaRPr lang="en-GB" dirty="0">
              <a:solidFill>
                <a:schemeClr val="accent3">
                  <a:lumMod val="75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was CLEAR WS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360F8E-4057-80CF-EECB-D982B7B1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ID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F660737-E9BB-E35B-5C6D-C6F0F58CC4A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85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022A74-214C-0E29-BFAA-4952A89AC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To save your active workspace enter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     )SAVE [name]</a:t>
            </a:r>
          </a:p>
          <a:p>
            <a:r>
              <a:rPr lang="en-GB" dirty="0"/>
              <a:t>Where name, if present, is a name of your choice.</a:t>
            </a:r>
          </a:p>
          <a:p>
            <a:r>
              <a:rPr lang="en-GB" dirty="0"/>
              <a:t>Name can include a path (full or relative)</a:t>
            </a:r>
          </a:p>
          <a:p>
            <a:r>
              <a:rPr lang="en-GB" dirty="0"/>
              <a:t>This also has the effect of (re)naming your </a:t>
            </a:r>
            <a:r>
              <a:rPr lang="en-GB" i="1" dirty="0"/>
              <a:t>active</a:t>
            </a:r>
            <a:r>
              <a:rPr lang="en-GB" dirty="0"/>
              <a:t> workspace.</a:t>
            </a:r>
          </a:p>
          <a:p>
            <a:r>
              <a:rPr lang="da-DK" dirty="0"/>
              <a:t>I</a:t>
            </a:r>
            <a:r>
              <a:rPr lang="en-GB" dirty="0"/>
              <a:t>f you change the name and the name already exists, you will get an error. Use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)WSID </a:t>
            </a:r>
            <a:r>
              <a:rPr lang="en-GB" dirty="0"/>
              <a:t>to change the name and then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)SAVE </a:t>
            </a:r>
            <a:r>
              <a:rPr lang="en-GB" dirty="0"/>
              <a:t>with no name.</a:t>
            </a:r>
          </a:p>
          <a:p>
            <a:r>
              <a:rPr lang="en-GB" dirty="0"/>
              <a:t>From version 16.0        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)SAVE </a:t>
            </a:r>
            <a:r>
              <a:rPr lang="en-GB" dirty="0" err="1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NewName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-force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33531A-B2B0-AAD6-D1F0-70810A7D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)SAVE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F43BAD7-6A8F-58F1-48C8-5F350C989C7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10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5B5DF9-B8F6-98A7-D3C9-44D16C7F1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)SAVE </a:t>
            </a:r>
            <a:r>
              <a:rPr lang="en-GB" dirty="0" err="1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xyz</a:t>
            </a:r>
            <a:endParaRPr lang="en-GB" dirty="0">
              <a:solidFill>
                <a:schemeClr val="accent3">
                  <a:lumMod val="75000"/>
                </a:schemeClr>
              </a:solidFill>
              <a:latin typeface="APL385 Unicode" panose="020B0709000202000203" pitchFamily="49" charset="0"/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latin typeface="APL385 Unicode" panose="020B0709000202000203" pitchFamily="49" charset="0"/>
              </a:rPr>
              <a:t>)SAVE</a:t>
            </a:r>
            <a:r>
              <a:rPr lang="en-GB" dirty="0"/>
              <a:t> changes the name of the current workspace and overwrites the file on disk with the same name</a:t>
            </a:r>
          </a:p>
          <a:p>
            <a:r>
              <a:rPr lang="en-GB" dirty="0"/>
              <a:t>Use </a:t>
            </a:r>
            <a:r>
              <a:rPr lang="en-GB" dirty="0">
                <a:latin typeface="APL385 Unicode" panose="020B0709000202000203" pitchFamily="49" charset="0"/>
              </a:rPr>
              <a:t>]CD</a:t>
            </a:r>
            <a:r>
              <a:rPr lang="en-GB" dirty="0"/>
              <a:t> to view or change current directory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D35692-5873-5E2C-C80B-27224BA58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)SAVE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EF48B63-3D8E-A7CE-3633-83E0CC67259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lowchart: Internal Storage 4">
            <a:extLst>
              <a:ext uri="{FF2B5EF4-FFF2-40B4-BE49-F238E27FC236}">
                <a16:creationId xmlns:a16="http://schemas.microsoft.com/office/drawing/2014/main" id="{705DF3B9-5FE6-C9D1-49B4-90832DED4ABB}"/>
              </a:ext>
            </a:extLst>
          </p:cNvPr>
          <p:cNvSpPr/>
          <p:nvPr/>
        </p:nvSpPr>
        <p:spPr bwMode="auto">
          <a:xfrm>
            <a:off x="1871700" y="1923678"/>
            <a:ext cx="1836204" cy="1242138"/>
          </a:xfrm>
          <a:prstGeom prst="flowChartInternalStorage">
            <a:avLst/>
          </a:prstGeom>
          <a:solidFill>
            <a:srgbClr val="FF6600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Active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workspace </a:t>
            </a:r>
          </a:p>
        </p:txBody>
      </p:sp>
      <p:sp>
        <p:nvSpPr>
          <p:cNvPr id="6" name="Notched Right Arrow 5">
            <a:extLst>
              <a:ext uri="{FF2B5EF4-FFF2-40B4-BE49-F238E27FC236}">
                <a16:creationId xmlns:a16="http://schemas.microsoft.com/office/drawing/2014/main" id="{27A23CC5-29F0-3181-B2AF-9779D0DE73B5}"/>
              </a:ext>
            </a:extLst>
          </p:cNvPr>
          <p:cNvSpPr/>
          <p:nvPr/>
        </p:nvSpPr>
        <p:spPr bwMode="auto">
          <a:xfrm>
            <a:off x="3815916" y="2193708"/>
            <a:ext cx="1350150" cy="594066"/>
          </a:xfrm>
          <a:prstGeom prst="notchedRightArrow">
            <a:avLst/>
          </a:prstGeom>
          <a:solidFill>
            <a:srgbClr val="FF6600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)SAVE xyz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8AE70AD1-1007-AC12-1BE1-272C69526E31}"/>
              </a:ext>
            </a:extLst>
          </p:cNvPr>
          <p:cNvSpPr/>
          <p:nvPr/>
        </p:nvSpPr>
        <p:spPr bwMode="auto">
          <a:xfrm>
            <a:off x="5274822" y="2085696"/>
            <a:ext cx="1620180" cy="702078"/>
          </a:xfrm>
          <a:prstGeom prst="can">
            <a:avLst/>
          </a:prstGeom>
          <a:solidFill>
            <a:srgbClr val="FF6600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 err="1">
                <a:solidFill>
                  <a:schemeClr val="bg1"/>
                </a:solidFill>
                <a:latin typeface="+mj-lt"/>
                <a:cs typeface="Arial" charset="0"/>
              </a:rPr>
              <a:t>xyz.</a:t>
            </a:r>
            <a:r>
              <a:rPr lang="en-GB" b="1" dirty="0" err="1">
                <a:solidFill>
                  <a:schemeClr val="bg1"/>
                </a:solidFill>
                <a:latin typeface="+mj-lt"/>
                <a:cs typeface="Arial" charset="0"/>
              </a:rPr>
              <a:t>dws</a:t>
            </a:r>
            <a:endParaRPr lang="en-GB" b="1" dirty="0">
              <a:solidFill>
                <a:schemeClr val="bg1"/>
              </a:solidFill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09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453E1D-280E-C609-3AFC-DAEAD4C18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bring back a workspace from file enter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     )LOAD name</a:t>
            </a:r>
          </a:p>
          <a:p>
            <a:r>
              <a:rPr lang="en-GB" dirty="0"/>
              <a:t>Where name is a name of an existing workspace.</a:t>
            </a:r>
          </a:p>
          <a:p>
            <a:r>
              <a:rPr lang="en-GB" dirty="0"/>
              <a:t>Name can include a path (full or relative), and you can also include the .</a:t>
            </a:r>
            <a:r>
              <a:rPr lang="en-GB" dirty="0" err="1"/>
              <a:t>dws</a:t>
            </a:r>
            <a:r>
              <a:rPr lang="en-GB" dirty="0"/>
              <a:t> extension.</a:t>
            </a:r>
          </a:p>
          <a:p>
            <a:r>
              <a:rPr lang="en-GB" dirty="0"/>
              <a:t>The )loaded workspace becomes your </a:t>
            </a:r>
            <a:r>
              <a:rPr lang="en-GB" i="1" dirty="0"/>
              <a:t>active</a:t>
            </a:r>
            <a:r>
              <a:rPr lang="en-GB" dirty="0"/>
              <a:t> workspace.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3ADA85-23E8-BC93-08F5-A2955917D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)LOAD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BE50EE5-6BD3-EB7E-F1A0-A6A67D904C9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63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69C7-DD9A-0BFD-6099-E4CEA5C0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E2BB5-197F-1225-972E-C959B040D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)LOAD  </a:t>
            </a:r>
            <a:r>
              <a:rPr lang="en-GB" sz="1800" dirty="0" err="1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xyz</a:t>
            </a:r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r>
              <a:rPr lang="en-GB" sz="1800" dirty="0"/>
              <a:t>)LOAD overwrites the active workspace with the contents of the file on disk.</a:t>
            </a:r>
          </a:p>
          <a:p>
            <a:r>
              <a:rPr lang="en-GB" sz="1800" dirty="0">
                <a:solidFill>
                  <a:srgbClr val="FF0000"/>
                </a:solidFill>
              </a:rPr>
              <a:t>All functions and variables will be deleted and replaced by whatever is in the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3A721C-199B-3A00-5220-CAC21D61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)LOAD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BBD8BF2-A449-0598-8511-CF45FB39D8A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E3FBE6-6666-87F0-F445-6700BB105810}"/>
              </a:ext>
            </a:extLst>
          </p:cNvPr>
          <p:cNvGrpSpPr/>
          <p:nvPr/>
        </p:nvGrpSpPr>
        <p:grpSpPr>
          <a:xfrm>
            <a:off x="2371455" y="1377777"/>
            <a:ext cx="5130570" cy="1242138"/>
            <a:chOff x="971600" y="2564904"/>
            <a:chExt cx="6840760" cy="1656184"/>
          </a:xfrm>
          <a:solidFill>
            <a:srgbClr val="FF6600"/>
          </a:solidFill>
        </p:grpSpPr>
        <p:sp>
          <p:nvSpPr>
            <p:cNvPr id="6" name="Flowchart: Internal Storage 5">
              <a:extLst>
                <a:ext uri="{FF2B5EF4-FFF2-40B4-BE49-F238E27FC236}">
                  <a16:creationId xmlns:a16="http://schemas.microsoft.com/office/drawing/2014/main" id="{8E0CFACE-E8C4-388C-EFED-31A1AABB5C6A}"/>
                </a:ext>
              </a:extLst>
            </p:cNvPr>
            <p:cNvSpPr/>
            <p:nvPr/>
          </p:nvSpPr>
          <p:spPr bwMode="auto">
            <a:xfrm>
              <a:off x="971600" y="2564904"/>
              <a:ext cx="2448272" cy="1656184"/>
            </a:xfrm>
            <a:prstGeom prst="flowChartInternalStorag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dirty="0">
                  <a:solidFill>
                    <a:schemeClr val="bg1"/>
                  </a:solidFill>
                  <a:latin typeface="+mj-lt"/>
                  <a:cs typeface="Arial" charset="0"/>
                </a:rPr>
                <a:t>Active </a:t>
              </a:r>
            </a:p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dirty="0">
                  <a:solidFill>
                    <a:schemeClr val="bg1"/>
                  </a:solidFill>
                  <a:latin typeface="+mj-lt"/>
                  <a:cs typeface="Arial" charset="0"/>
                </a:rPr>
                <a:t>workspace </a:t>
              </a:r>
            </a:p>
          </p:txBody>
        </p:sp>
        <p:sp>
          <p:nvSpPr>
            <p:cNvPr id="7" name="Notched Right Arrow 5">
              <a:extLst>
                <a:ext uri="{FF2B5EF4-FFF2-40B4-BE49-F238E27FC236}">
                  <a16:creationId xmlns:a16="http://schemas.microsoft.com/office/drawing/2014/main" id="{8F159D9C-3DF0-9478-12CE-15EAC617F032}"/>
                </a:ext>
              </a:extLst>
            </p:cNvPr>
            <p:cNvSpPr/>
            <p:nvPr/>
          </p:nvSpPr>
          <p:spPr bwMode="auto">
            <a:xfrm flipH="1">
              <a:off x="3563888" y="2924944"/>
              <a:ext cx="1945208" cy="792088"/>
            </a:xfrm>
            <a:prstGeom prst="notchedRightArrow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dirty="0">
                  <a:solidFill>
                    <a:schemeClr val="bg1"/>
                  </a:solidFill>
                  <a:latin typeface="+mj-lt"/>
                  <a:cs typeface="Arial" charset="0"/>
                </a:rPr>
                <a:t>)LOAD xyz</a:t>
              </a:r>
            </a:p>
          </p:txBody>
        </p:sp>
        <p:sp>
          <p:nvSpPr>
            <p:cNvPr id="8" name="Can 6">
              <a:extLst>
                <a:ext uri="{FF2B5EF4-FFF2-40B4-BE49-F238E27FC236}">
                  <a16:creationId xmlns:a16="http://schemas.microsoft.com/office/drawing/2014/main" id="{F8D4AF9A-6828-378C-581E-34D200B053D8}"/>
                </a:ext>
              </a:extLst>
            </p:cNvPr>
            <p:cNvSpPr/>
            <p:nvPr/>
          </p:nvSpPr>
          <p:spPr bwMode="auto">
            <a:xfrm>
              <a:off x="5652120" y="2780928"/>
              <a:ext cx="2160240" cy="936104"/>
            </a:xfrm>
            <a:prstGeom prst="can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dirty="0" err="1">
                  <a:solidFill>
                    <a:schemeClr val="bg1"/>
                  </a:solidFill>
                  <a:latin typeface="+mj-lt"/>
                  <a:cs typeface="Arial" charset="0"/>
                </a:rPr>
                <a:t>xyz.</a:t>
              </a:r>
              <a:r>
                <a:rPr lang="en-GB" b="1" dirty="0" err="1">
                  <a:solidFill>
                    <a:schemeClr val="bg1"/>
                  </a:solidFill>
                  <a:latin typeface="+mj-lt"/>
                  <a:cs typeface="Arial" charset="0"/>
                </a:rPr>
                <a:t>dws</a:t>
              </a:r>
              <a:endParaRPr lang="en-GB" b="1" dirty="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671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8DD3C6-F191-06EB-D92C-B94902165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Merge a workspace file into the active workspace</a:t>
            </a:r>
          </a:p>
          <a:p>
            <a:pPr marL="0" indent="0"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)copy isolate</a:t>
            </a:r>
          </a:p>
          <a:p>
            <a:pPr marL="0" indent="0">
              <a:buNone/>
            </a:pPr>
            <a:r>
              <a:rPr lang="en-GB" sz="1800" dirty="0">
                <a:latin typeface="APL385 Unicode" panose="020B0709000202000203" pitchFamily="49" charset="0"/>
              </a:rPr>
              <a:t>C:\Program Files\Dyalog\Dyalog APL-64 20.0 Unicode\</a:t>
            </a:r>
            <a:r>
              <a:rPr lang="en-GB" sz="1800" dirty="0" err="1">
                <a:latin typeface="APL385 Unicode" panose="020B0709000202000203" pitchFamily="49" charset="0"/>
              </a:rPr>
              <a:t>ws</a:t>
            </a:r>
            <a:r>
              <a:rPr lang="en-GB" sz="1800" dirty="0">
                <a:latin typeface="APL385 Unicode" panose="020B0709000202000203" pitchFamily="49" charset="0"/>
              </a:rPr>
              <a:t>\</a:t>
            </a:r>
            <a:r>
              <a:rPr lang="en-GB" sz="1800" dirty="0" err="1">
                <a:latin typeface="APL385 Unicode" panose="020B0709000202000203" pitchFamily="49" charset="0"/>
              </a:rPr>
              <a:t>isolate.dws</a:t>
            </a:r>
            <a:r>
              <a:rPr lang="en-GB" sz="1800" dirty="0">
                <a:latin typeface="APL385 Unicode" panose="020B0709000202000203" pitchFamily="49" charset="0"/>
              </a:rPr>
              <a:t> ⍝ saved Wed Jul  2 19:23:18 2025</a:t>
            </a:r>
          </a:p>
          <a:p>
            <a:pPr marL="0" indent="0"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]names</a:t>
            </a:r>
          </a:p>
          <a:p>
            <a:pPr marL="0" indent="0">
              <a:buNone/>
            </a:pPr>
            <a:r>
              <a:rPr lang="en-GB" sz="1800" dirty="0">
                <a:latin typeface="APL385 Unicode" panose="020B0709000202000203" pitchFamily="49" charset="0"/>
              </a:rPr>
              <a:t>II IIÐ </a:t>
            </a:r>
            <a:r>
              <a:rPr lang="en-GB" sz="1800" dirty="0" err="1">
                <a:latin typeface="APL385 Unicode" panose="020B0709000202000203" pitchFamily="49" charset="0"/>
              </a:rPr>
              <a:t>IIö</a:t>
            </a:r>
            <a:r>
              <a:rPr lang="en-GB" sz="1800" dirty="0">
                <a:latin typeface="APL385 Unicode" panose="020B0709000202000203" pitchFamily="49" charset="0"/>
              </a:rPr>
              <a:t> IÏ isolate </a:t>
            </a:r>
            <a:r>
              <a:rPr lang="en-GB" sz="1800" dirty="0" err="1">
                <a:latin typeface="APL385 Unicode" panose="020B0709000202000203" pitchFamily="49" charset="0"/>
              </a:rPr>
              <a:t>ll</a:t>
            </a:r>
            <a:r>
              <a:rPr lang="en-GB" sz="1800" dirty="0">
                <a:latin typeface="APL385 Unicode" panose="020B0709000202000203" pitchFamily="49" charset="0"/>
              </a:rPr>
              <a:t> </a:t>
            </a:r>
            <a:r>
              <a:rPr lang="en-GB" sz="1800" dirty="0" err="1">
                <a:latin typeface="APL385 Unicode" panose="020B0709000202000203" pitchFamily="49" charset="0"/>
              </a:rPr>
              <a:t>o_II</a:t>
            </a:r>
            <a:r>
              <a:rPr lang="en-GB" sz="1800" dirty="0">
                <a:latin typeface="APL385 Unicode" panose="020B0709000202000203" pitchFamily="49" charset="0"/>
              </a:rPr>
              <a:t> ø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FF784B-0DC4-A697-682A-2AB5D625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)COPY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6E290D9-38ED-B3B8-06BD-C519C9A9E11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59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D766-BE65-DC3F-37C7-8F699566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8D4530-4DDD-7EBC-6155-E64D18530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Merge a workspace file into the active workspace</a:t>
            </a:r>
          </a:p>
          <a:p>
            <a:pPr marL="0" indent="0"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)copy isolate</a:t>
            </a:r>
          </a:p>
          <a:p>
            <a:pPr marL="0" indent="0">
              <a:buNone/>
            </a:pPr>
            <a:r>
              <a:rPr lang="en-GB" sz="1800" dirty="0">
                <a:latin typeface="APL385 Unicode" panose="020B0709000202000203" pitchFamily="49" charset="0"/>
              </a:rPr>
              <a:t>C:\Program Files\Dyalog\Dyalog APL-64 20.0 Unicode\</a:t>
            </a:r>
            <a:r>
              <a:rPr lang="en-GB" sz="1800" dirty="0" err="1">
                <a:latin typeface="APL385 Unicode" panose="020B0709000202000203" pitchFamily="49" charset="0"/>
              </a:rPr>
              <a:t>ws</a:t>
            </a:r>
            <a:r>
              <a:rPr lang="en-GB" sz="1800" dirty="0">
                <a:latin typeface="APL385 Unicode" panose="020B0709000202000203" pitchFamily="49" charset="0"/>
              </a:rPr>
              <a:t>\</a:t>
            </a:r>
            <a:r>
              <a:rPr lang="en-GB" sz="1800" dirty="0" err="1">
                <a:latin typeface="APL385 Unicode" panose="020B0709000202000203" pitchFamily="49" charset="0"/>
              </a:rPr>
              <a:t>isolate.dws</a:t>
            </a:r>
            <a:r>
              <a:rPr lang="en-GB" sz="1800" dirty="0">
                <a:latin typeface="APL385 Unicode" panose="020B0709000202000203" pitchFamily="49" charset="0"/>
              </a:rPr>
              <a:t> ⍝ saved Wed Jul  2 19:23:18 2025</a:t>
            </a:r>
          </a:p>
          <a:p>
            <a:pPr marL="0" indent="0"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]names</a:t>
            </a:r>
          </a:p>
          <a:p>
            <a:pPr marL="0" indent="0">
              <a:buNone/>
            </a:pPr>
            <a:r>
              <a:rPr lang="en-GB" sz="1800" dirty="0">
                <a:latin typeface="APL385 Unicode" panose="020B0709000202000203" pitchFamily="49" charset="0"/>
              </a:rPr>
              <a:t>II IIÐ </a:t>
            </a:r>
            <a:r>
              <a:rPr lang="en-GB" sz="1800" dirty="0" err="1">
                <a:latin typeface="APL385 Unicode" panose="020B0709000202000203" pitchFamily="49" charset="0"/>
              </a:rPr>
              <a:t>IIö</a:t>
            </a:r>
            <a:r>
              <a:rPr lang="en-GB" sz="1800" dirty="0">
                <a:latin typeface="APL385 Unicode" panose="020B0709000202000203" pitchFamily="49" charset="0"/>
              </a:rPr>
              <a:t> IÏ isolate </a:t>
            </a:r>
            <a:r>
              <a:rPr lang="en-GB" sz="1800" dirty="0" err="1">
                <a:latin typeface="APL385 Unicode" panose="020B0709000202000203" pitchFamily="49" charset="0"/>
              </a:rPr>
              <a:t>ll</a:t>
            </a:r>
            <a:r>
              <a:rPr lang="en-GB" sz="1800" dirty="0">
                <a:latin typeface="APL385 Unicode" panose="020B0709000202000203" pitchFamily="49" charset="0"/>
              </a:rPr>
              <a:t> </a:t>
            </a:r>
            <a:r>
              <a:rPr lang="en-GB" sz="1800" dirty="0" err="1">
                <a:latin typeface="APL385 Unicode" panose="020B0709000202000203" pitchFamily="49" charset="0"/>
              </a:rPr>
              <a:t>o_II</a:t>
            </a:r>
            <a:r>
              <a:rPr lang="en-GB" sz="1800" dirty="0">
                <a:latin typeface="APL385 Unicode" panose="020B0709000202000203" pitchFamily="49" charset="0"/>
              </a:rPr>
              <a:t> ø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BC08B3-FBA9-5419-FB4D-2D3D3E65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)COPY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AABDFAB-E95F-2D1C-953C-4862A724988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690FA2-B814-CEB7-81A1-2894AE9BD3D7}"/>
              </a:ext>
            </a:extLst>
          </p:cNvPr>
          <p:cNvSpPr/>
          <p:nvPr/>
        </p:nvSpPr>
        <p:spPr>
          <a:xfrm>
            <a:off x="3249038" y="1822315"/>
            <a:ext cx="4636851" cy="505838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path or workspace in WSPATH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3F6B4-F924-6DEA-2162-9CE1CA6CD7E1}"/>
              </a:ext>
            </a:extLst>
          </p:cNvPr>
          <p:cNvSpPr/>
          <p:nvPr/>
        </p:nvSpPr>
        <p:spPr>
          <a:xfrm>
            <a:off x="3249038" y="2987920"/>
            <a:ext cx="4636851" cy="50583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Existing names are OVERWRITTEN!</a:t>
            </a:r>
          </a:p>
        </p:txBody>
      </p:sp>
    </p:spTree>
    <p:extLst>
      <p:ext uri="{BB962C8B-B14F-4D97-AF65-F5344CB8AC3E}">
        <p14:creationId xmlns:p14="http://schemas.microsoft.com/office/powerpoint/2010/main" val="2082069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99F6-ECF0-25F8-BFD6-8DA3C983E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999412-43AA-AD83-62F2-00DC724AB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Copy names from a workspace file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)copy 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dfns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days date 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cal</a:t>
            </a:r>
            <a:endParaRPr lang="en-GB" sz="18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C:\Program Files\Dyalog\Dyalog APL-64 20.0 Unicode\</a:t>
            </a:r>
            <a:r>
              <a:rPr lang="en-GB" sz="1800" dirty="0" err="1">
                <a:latin typeface="APL385 Unicode" panose="020B0709000202000203" pitchFamily="49" charset="0"/>
              </a:rPr>
              <a:t>ws</a:t>
            </a:r>
            <a:r>
              <a:rPr lang="en-GB" sz="1800" dirty="0">
                <a:latin typeface="APL385 Unicode" panose="020B0709000202000203" pitchFamily="49" charset="0"/>
              </a:rPr>
              <a:t>\</a:t>
            </a:r>
            <a:r>
              <a:rPr lang="en-GB" sz="1800" dirty="0" err="1">
                <a:latin typeface="APL385 Unicode" panose="020B0709000202000203" pitchFamily="49" charset="0"/>
              </a:rPr>
              <a:t>dfns.dws</a:t>
            </a:r>
            <a:r>
              <a:rPr lang="en-GB" sz="1800" dirty="0">
                <a:latin typeface="APL385 Unicode" panose="020B0709000202000203" pitchFamily="49" charset="0"/>
              </a:rPr>
              <a:t> ⍝ saved Wed Jul  2 19:23:00 2025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cal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2024 02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February 2024   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Su Mo Tu We Th Fr Sa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       1  2  3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4  5  6  7  8  9 10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11 12 13 14 15 16 17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18 19 20 21 22 23 24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25 26 27 28 29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3ED411-BD3F-BBCF-91DD-F7CE2E16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)COPY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7EBDA0F-DA09-C580-699F-0FA25D8BBB2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64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ACB55-F825-D246-20F8-27FFAB0AB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protect your workspace when merging with the active workspace enter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     )PCOPY  name</a:t>
            </a:r>
          </a:p>
          <a:p>
            <a:r>
              <a:rPr lang="en-GB" dirty="0"/>
              <a:t>Where name is a name of an existing workspace.</a:t>
            </a:r>
          </a:p>
          <a:p>
            <a:r>
              <a:rPr lang="en-GB" dirty="0"/>
              <a:t>Name can include a path (full or relative)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E0322-D53F-99D7-F775-65593AD59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Protected )COPY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23FD2E3-A10A-7270-BA3D-632B93B7702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85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2FC1D8-7E5E-7F62-D773-57ABD2C4D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To erase a file on disk use )DROP: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)DROP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xyz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Wed Dec 26 12:04:14 2012</a:t>
            </a:r>
          </a:p>
          <a:p>
            <a:endParaRPr lang="en-GB" dirty="0"/>
          </a:p>
          <a:p>
            <a:r>
              <a:rPr lang="en-GB" dirty="0"/>
              <a:t>Alternatively, use Windows Explorer or any other tool to delete the file.</a:t>
            </a:r>
          </a:p>
          <a:p>
            <a:r>
              <a:rPr lang="da-DK" dirty="0"/>
              <a:t>Take a backup first!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9FA251-895E-9197-7C3B-7CC97C8B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)DROP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1CF48EB-FB01-0BFC-ACD8-FC84FD59905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385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B6C43F-2150-70CF-CE9C-53FEC75A1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start with a clean slate use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     )CLEAR</a:t>
            </a:r>
          </a:p>
          <a:p>
            <a:endParaRPr lang="en-GB" dirty="0"/>
          </a:p>
          <a:p>
            <a:r>
              <a:rPr lang="en-GB" dirty="0"/>
              <a:t>All items in the workspace will be deleted and defaults will apply.</a:t>
            </a:r>
          </a:p>
          <a:p>
            <a:r>
              <a:rPr lang="en-GB" dirty="0"/>
              <a:t>The name of the active workspace will become  CLEAR WS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575780-66F5-870A-4E13-240AB610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)CLEAR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272B663-DC3B-5118-736A-EC89B50425F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196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D0D9AD-FDA1-70A0-E7BE-5E63C84DD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To show workspaces in the workspace search path</a:t>
            </a:r>
          </a:p>
          <a:p>
            <a:pPr marL="457200" lvl="1" indent="0">
              <a:buNone/>
            </a:pPr>
            <a:r>
              <a:rPr lang="en-GB" dirty="0"/>
              <a:t>See </a:t>
            </a:r>
            <a:r>
              <a:rPr lang="en-GB" b="1" dirty="0">
                <a:latin typeface="APL385 Unicode" panose="020B0709000202000203" pitchFamily="49" charset="0"/>
              </a:rPr>
              <a:t>]</a:t>
            </a:r>
            <a:r>
              <a:rPr lang="en-GB" b="1" dirty="0" err="1">
                <a:latin typeface="APL385 Unicode" panose="020B0709000202000203" pitchFamily="49" charset="0"/>
              </a:rPr>
              <a:t>TOOLS.Config</a:t>
            </a:r>
            <a:r>
              <a:rPr lang="en-GB" b="1" dirty="0">
                <a:latin typeface="APL385 Unicode" panose="020B0709000202000203" pitchFamily="49" charset="0"/>
              </a:rPr>
              <a:t> WSPATH</a:t>
            </a:r>
          </a:p>
          <a:p>
            <a:pPr marL="457200" lvl="1" indent="0">
              <a:buNone/>
            </a:pPr>
            <a:r>
              <a:rPr lang="en-GB" dirty="0"/>
              <a:t>(</a:t>
            </a:r>
            <a:r>
              <a:rPr lang="en-GB" b="1" dirty="0"/>
              <a:t>Options</a:t>
            </a:r>
            <a:r>
              <a:rPr lang="en-GB" dirty="0"/>
              <a:t> → </a:t>
            </a:r>
            <a:r>
              <a:rPr lang="en-GB" b="1" dirty="0"/>
              <a:t>Configure</a:t>
            </a:r>
            <a:r>
              <a:rPr lang="en-GB" dirty="0"/>
              <a:t> → </a:t>
            </a:r>
            <a:r>
              <a:rPr lang="en-GB" b="1" dirty="0"/>
              <a:t>Workspace</a:t>
            </a:r>
            <a:r>
              <a:rPr lang="en-GB" dirty="0"/>
              <a:t>)</a:t>
            </a:r>
          </a:p>
          <a:p>
            <a:r>
              <a:rPr lang="en-GB" dirty="0"/>
              <a:t>Includes tools, samples and some system utilities</a:t>
            </a:r>
          </a:p>
          <a:p>
            <a:r>
              <a:rPr lang="en-GB" dirty="0"/>
              <a:t>Notable examples include:</a:t>
            </a:r>
          </a:p>
          <a:p>
            <a:pPr lvl="1"/>
            <a:r>
              <a:rPr lang="en-GB" dirty="0" err="1"/>
              <a:t>dfns</a:t>
            </a:r>
            <a:endParaRPr lang="en-GB" dirty="0"/>
          </a:p>
          <a:p>
            <a:pPr lvl="1"/>
            <a:r>
              <a:rPr lang="en-GB" dirty="0" err="1"/>
              <a:t>sharpplot</a:t>
            </a:r>
            <a:endParaRPr lang="en-GB" dirty="0"/>
          </a:p>
          <a:p>
            <a:pPr lvl="1"/>
            <a:r>
              <a:rPr lang="en-GB" dirty="0"/>
              <a:t>conga</a:t>
            </a:r>
          </a:p>
          <a:p>
            <a:pPr lvl="1"/>
            <a:r>
              <a:rPr lang="en-GB" dirty="0"/>
              <a:t>isolate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130EAD-CD56-12F2-6FE1-DAEB7E4C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)LIB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8381581-E91F-D5EE-4EDB-E753C51BBD3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169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C6B78-FCD3-FC37-5988-AD8655B1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E30423-7CD9-3217-300E-0C8D747B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Commands Overview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4CC5784-4A68-714F-D84F-EA4C07B6497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867809-C262-4B1C-ADC4-B041D69D1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117396"/>
              </p:ext>
            </p:extLst>
          </p:nvPr>
        </p:nvGraphicFramePr>
        <p:xfrm>
          <a:off x="1385646" y="1104978"/>
          <a:ext cx="3348373" cy="3394605"/>
        </p:xfrm>
        <a:graphic>
          <a:graphicData uri="http://schemas.openxmlformats.org/drawingml/2006/table">
            <a:tbl>
              <a:tblPr/>
              <a:tblGrid>
                <a:gridCol w="89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37">
                <a:tc>
                  <a:txBody>
                    <a:bodyPr/>
                    <a:lstStyle/>
                    <a:p>
                      <a:r>
                        <a:rPr lang="en-GB" sz="800" b="1" dirty="0"/>
                        <a:t>Command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1" dirty="0"/>
                        <a:t>Description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 dirty="0">
                          <a:hlinkClick r:id="rId2" action="ppaction://hlinkfile"/>
                        </a:rPr>
                        <a:t>)CLASSES</a:t>
                      </a:r>
                      <a:r>
                        <a:rPr lang="en-GB" sz="800" dirty="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List classes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3" action="ppaction://hlinkfile"/>
                        </a:rPr>
                        <a:t>)CLEAR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rgbClr val="FF6600"/>
                          </a:solidFill>
                        </a:rPr>
                        <a:t>Clear the workspace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4" action="ppaction://hlinkfile"/>
                        </a:rPr>
                        <a:t>)CMD Y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Execute a Windows Command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en-GB" sz="800">
                          <a:hlinkClick r:id="rId5" action="ppaction://hlinkfile"/>
                        </a:rPr>
                        <a:t>)CONTINUE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Save a Continue workspace and terminate APL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6" action="ppaction://hlinkfile"/>
                        </a:rPr>
                        <a:t>)COPY {Y}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Copy objects from another workspace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7" action="ppaction://hlinkfile"/>
                        </a:rPr>
                        <a:t>)CS {Y}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Change current namespace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8" action="ppaction://hlinkfile"/>
                        </a:rPr>
                        <a:t>)DROP {Y}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Drop named workspace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9" action="ppaction://hlinkfile"/>
                        </a:rPr>
                        <a:t>)ED Y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rgbClr val="FF6600"/>
                          </a:solidFill>
                        </a:rPr>
                        <a:t>Edit object(s)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10" action="ppaction://hlinkfile"/>
                        </a:rPr>
                        <a:t>)ERASE Y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rgbClr val="FF6600"/>
                          </a:solidFill>
                        </a:rPr>
                        <a:t>Erase object(s)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en-GB" sz="800">
                          <a:hlinkClick r:id="rId11" action="ppaction://hlinkfile"/>
                        </a:rPr>
                        <a:t>)EVENTS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List events of GUI namespace or object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12" action="ppaction://hlinkfile"/>
                        </a:rPr>
                        <a:t>)FNS {Y}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rgbClr val="FF6600"/>
                          </a:solidFill>
                        </a:rPr>
                        <a:t>List user defined Functions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13" action="ppaction://hlinkfile"/>
                        </a:rPr>
                        <a:t>)HOLDS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Display Held tokens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14" action="ppaction://hlinkfile"/>
                        </a:rPr>
                        <a:t>)LIB {Y}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List workspaces in a directory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15" action="ppaction://hlinkfile"/>
                        </a:rPr>
                        <a:t>)LOAD {Y}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rgbClr val="FF6600"/>
                          </a:solidFill>
                        </a:rPr>
                        <a:t>Load a workspace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en-GB" sz="800">
                          <a:hlinkClick r:id="rId16" action="ppaction://hlinkfile"/>
                        </a:rPr>
                        <a:t>)METHODS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List methods in GUI namespace or object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17" action="ppaction://hlinkfile"/>
                        </a:rPr>
                        <a:t>)NS {Y}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Create a global Namespace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637">
                <a:tc>
                  <a:txBody>
                    <a:bodyPr/>
                    <a:lstStyle/>
                    <a:p>
                      <a:r>
                        <a:rPr lang="en-GB" sz="800">
                          <a:hlinkClick r:id="rId18" action="ppaction://hlinkfile"/>
                        </a:rPr>
                        <a:t>)OBJECTS {Y}</a:t>
                      </a:r>
                      <a:r>
                        <a:rPr lang="en-GB" sz="800"/>
                        <a:t> 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List global namespaces</a:t>
                      </a:r>
                    </a:p>
                  </a:txBody>
                  <a:tcPr marL="41907" marR="41907" marT="20954" marB="209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1C74C3-CEC9-0852-9A72-6D70234D2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910471"/>
              </p:ext>
            </p:extLst>
          </p:nvPr>
        </p:nvGraphicFramePr>
        <p:xfrm>
          <a:off x="4734019" y="1311965"/>
          <a:ext cx="3132349" cy="3323316"/>
        </p:xfrm>
        <a:graphic>
          <a:graphicData uri="http://schemas.openxmlformats.org/drawingml/2006/table">
            <a:tbl>
              <a:tblPr/>
              <a:tblGrid>
                <a:gridCol w="768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148">
                <a:tc>
                  <a:txBody>
                    <a:bodyPr/>
                    <a:lstStyle/>
                    <a:p>
                      <a:r>
                        <a:rPr lang="en-GB" sz="900" dirty="0">
                          <a:hlinkClick r:id="rId19" action="ppaction://hlinkfile"/>
                        </a:rPr>
                        <a:t>)OBS {Y}</a:t>
                      </a:r>
                      <a:r>
                        <a:rPr lang="en-GB" sz="900" dirty="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rgbClr val="FF6600"/>
                          </a:solidFill>
                        </a:rPr>
                        <a:t>List global namespaces (alternative form)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20" action="ppaction://hlinkfile"/>
                        </a:rPr>
                        <a:t>)OFF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rgbClr val="FF6600"/>
                          </a:solidFill>
                        </a:rPr>
                        <a:t>Terminate the APL session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21" action="ppaction://hlinkfile"/>
                        </a:rPr>
                        <a:t>)OPS {Y}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List user defined Operators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22" action="ppaction://hlinkfile"/>
                        </a:rPr>
                        <a:t>)PCOPY {Y}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Perform Protected Copy of objects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48">
                <a:tc>
                  <a:txBody>
                    <a:bodyPr/>
                    <a:lstStyle/>
                    <a:p>
                      <a:r>
                        <a:rPr lang="en-GB" sz="900">
                          <a:hlinkClick r:id="rId23" action="ppaction://hlinkfile"/>
                        </a:rPr>
                        <a:t>)PROPS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List properties of GUI namespace or object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 dirty="0">
                          <a:hlinkClick r:id="rId24" action="ppaction://hlinkfile"/>
                        </a:rPr>
                        <a:t>)RESET</a:t>
                      </a:r>
                      <a:r>
                        <a:rPr lang="en-GB" sz="900" dirty="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rgbClr val="FF6600"/>
                          </a:solidFill>
                        </a:rPr>
                        <a:t>Reset the state indicator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25" action="ppaction://hlinkfile"/>
                        </a:rPr>
                        <a:t>)SAVE {Y}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rgbClr val="FF6600"/>
                          </a:solidFill>
                        </a:rPr>
                        <a:t>Save the workspace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26" action="ppaction://hlinkfile"/>
                        </a:rPr>
                        <a:t>)SH {Y}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Execute a (UNIX) Shell command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27" action="ppaction://hlinkfile"/>
                        </a:rPr>
                        <a:t>)SI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rgbClr val="FF6600"/>
                          </a:solidFill>
                        </a:rPr>
                        <a:t>State Indicator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28" action="ppaction://hlinkfile"/>
                        </a:rPr>
                        <a:t>)SIC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Clear State Indicator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29" action="ppaction://hlinkfile"/>
                        </a:rPr>
                        <a:t>)SINL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State Indicator with local Name Lists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>
                          <a:hlinkClick r:id="rId30" action="ppaction://hlinkfile"/>
                        </a:rPr>
                        <a:t>)TID {Y}</a:t>
                      </a:r>
                      <a:r>
                        <a:rPr lang="en-GB" sz="90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Switch current Thread Identity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 dirty="0">
                          <a:hlinkClick r:id="rId31" action="ppaction://hlinkfile"/>
                        </a:rPr>
                        <a:t>)VARS {Y}</a:t>
                      </a:r>
                      <a:r>
                        <a:rPr lang="en-GB" sz="900" dirty="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rgbClr val="FF6600"/>
                          </a:solidFill>
                        </a:rPr>
                        <a:t>List user defined global Variables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2656">
                <a:tc>
                  <a:txBody>
                    <a:bodyPr/>
                    <a:lstStyle/>
                    <a:p>
                      <a:r>
                        <a:rPr lang="en-GB" sz="900"/>
                        <a:t>)</a:t>
                      </a:r>
                      <a:r>
                        <a:rPr lang="en-GB" sz="900">
                          <a:hlinkClick r:id="rId32" action="ppaction://hlinkfile"/>
                        </a:rPr>
                        <a:t>WSID {Y}</a:t>
                      </a:r>
                      <a:endParaRPr lang="en-GB" sz="900"/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rgbClr val="FF6600"/>
                          </a:solidFill>
                        </a:rPr>
                        <a:t>Workspace Identification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7148">
                <a:tc>
                  <a:txBody>
                    <a:bodyPr/>
                    <a:lstStyle/>
                    <a:p>
                      <a:r>
                        <a:rPr lang="en-GB" sz="900" dirty="0">
                          <a:hlinkClick r:id="rId33" action="ppaction://hlinkfile"/>
                        </a:rPr>
                        <a:t>)XLOAD Y</a:t>
                      </a:r>
                      <a:r>
                        <a:rPr lang="en-GB" sz="900" dirty="0"/>
                        <a:t> 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rgbClr val="FF6600"/>
                          </a:solidFill>
                        </a:rPr>
                        <a:t>Load a workspace; do not execute </a:t>
                      </a:r>
                      <a:r>
                        <a:rPr lang="en-GB" sz="900" dirty="0">
                          <a:solidFill>
                            <a:srgbClr val="FF6600"/>
                          </a:solidFill>
                          <a:latin typeface="APL385 Unicode" panose="020B0709000202000203" pitchFamily="49" charset="0"/>
                        </a:rPr>
                        <a:t>⎕LX</a:t>
                      </a:r>
                    </a:p>
                  </a:txBody>
                  <a:tcPr marL="46499" marR="46499" marT="23250" marB="23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148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5DB28E-A946-8608-E50B-C4E6DD78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Session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3646138-DC87-116D-4CEF-AF086125C29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E3C65-4F32-2AF5-2B14-37DD0B9E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658" y="1045279"/>
            <a:ext cx="5573092" cy="3549344"/>
          </a:xfrm>
          <a:prstGeom prst="rect">
            <a:avLst/>
          </a:prstGeom>
        </p:spPr>
      </p:pic>
      <p:sp>
        <p:nvSpPr>
          <p:cNvPr id="6" name="Left-Right Arrow 1">
            <a:extLst>
              <a:ext uri="{FF2B5EF4-FFF2-40B4-BE49-F238E27FC236}">
                <a16:creationId xmlns:a16="http://schemas.microsoft.com/office/drawing/2014/main" id="{F8B34D20-9E0D-512A-D745-437C49693D68}"/>
              </a:ext>
            </a:extLst>
          </p:cNvPr>
          <p:cNvSpPr/>
          <p:nvPr/>
        </p:nvSpPr>
        <p:spPr bwMode="auto">
          <a:xfrm>
            <a:off x="3869921" y="3057804"/>
            <a:ext cx="1577567" cy="702078"/>
          </a:xfrm>
          <a:prstGeom prst="leftRightArrow">
            <a:avLst/>
          </a:prstGeom>
          <a:solidFill>
            <a:srgbClr val="FF66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Session Log</a:t>
            </a:r>
          </a:p>
        </p:txBody>
      </p:sp>
      <p:sp>
        <p:nvSpPr>
          <p:cNvPr id="7" name="Down Arrow 2">
            <a:extLst>
              <a:ext uri="{FF2B5EF4-FFF2-40B4-BE49-F238E27FC236}">
                <a16:creationId xmlns:a16="http://schemas.microsoft.com/office/drawing/2014/main" id="{8CD7E24D-8E42-79AF-DDD7-FB580AC47F63}"/>
              </a:ext>
            </a:extLst>
          </p:cNvPr>
          <p:cNvSpPr/>
          <p:nvPr/>
        </p:nvSpPr>
        <p:spPr bwMode="auto">
          <a:xfrm>
            <a:off x="4193958" y="303498"/>
            <a:ext cx="2484276" cy="1080120"/>
          </a:xfrm>
          <a:prstGeom prst="downArrow">
            <a:avLst>
              <a:gd name="adj1" fmla="val 50000"/>
              <a:gd name="adj2" fmla="val 48880"/>
            </a:avLst>
          </a:prstGeom>
          <a:solidFill>
            <a:srgbClr val="FF66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Menus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350" dirty="0">
                <a:solidFill>
                  <a:schemeClr val="bg1"/>
                </a:solidFill>
                <a:latin typeface="+mj-lt"/>
              </a:rPr>
              <a:t>And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Toolbars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chemeClr val="bg1"/>
              </a:solidFill>
              <a:latin typeface="+mj-lt"/>
              <a:cs typeface="Arial" charset="0"/>
            </a:endParaRPr>
          </a:p>
        </p:txBody>
      </p:sp>
      <p:sp>
        <p:nvSpPr>
          <p:cNvPr id="8" name="Striped Right Arrow 3">
            <a:extLst>
              <a:ext uri="{FF2B5EF4-FFF2-40B4-BE49-F238E27FC236}">
                <a16:creationId xmlns:a16="http://schemas.microsoft.com/office/drawing/2014/main" id="{D94FDCDC-F446-B7D1-1D59-4CCB9CB6ACAC}"/>
              </a:ext>
            </a:extLst>
          </p:cNvPr>
          <p:cNvSpPr/>
          <p:nvPr/>
        </p:nvSpPr>
        <p:spPr bwMode="auto">
          <a:xfrm flipH="1">
            <a:off x="3113838" y="2248806"/>
            <a:ext cx="1866724" cy="594066"/>
          </a:xfrm>
          <a:prstGeom prst="stripedRightArrow">
            <a:avLst>
              <a:gd name="adj1" fmla="val 58733"/>
              <a:gd name="adj2" fmla="val 50000"/>
            </a:avLst>
          </a:prstGeom>
          <a:solidFill>
            <a:srgbClr val="FF66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Input indented</a:t>
            </a:r>
          </a:p>
        </p:txBody>
      </p:sp>
    </p:spTree>
    <p:extLst>
      <p:ext uri="{BB962C8B-B14F-4D97-AF65-F5344CB8AC3E}">
        <p14:creationId xmlns:p14="http://schemas.microsoft.com/office/powerpoint/2010/main" val="2134077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34286E-FBB4-9265-B0B0-3A21076D4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B2AE2B-2A21-B342-A185-CEB71B906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9AA3EC1-754D-095E-ADD4-AAF1944BC8C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DCC6D-24C0-F1F3-2174-E656B70A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72" y="535781"/>
            <a:ext cx="6393656" cy="407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86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94DD2-EB02-B73B-9519-51492C63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32133D-CD83-B806-32EE-14C10AE91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141E72-8341-F41A-4D8A-DCFC2266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A711DED-5E29-BC89-4768-E24D6F232D3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9E562-EC1A-C7AC-5C1A-C4822FE7F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5" y="535781"/>
            <a:ext cx="6388310" cy="407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24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3AD78-2D13-6CDF-AAEB-8BF3AE9B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61E3C-8695-CE46-4BF6-70DA1F081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D187B3-4A87-FB16-EB03-1816504A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6F12ED2-43C5-6A54-8DE5-94DB4B631AE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1DF8D-2D87-7806-9572-609980E51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5" y="537722"/>
            <a:ext cx="6388310" cy="406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26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DEB3-002F-DAC1-88F5-53F12193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68E296-D342-4904-2953-C50E456C8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D89B80-F762-3F4E-3077-C2FCFD31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94B014E-34E4-FEBA-25AF-E3FAF293E47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DFC9A-B61E-71E8-8AED-E4B56CE7D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5" y="1226428"/>
            <a:ext cx="6388310" cy="269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28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AFE5-BDD5-E137-641B-B37586EE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FCD6F7-19AD-153B-629D-C5E5C8E60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89DDF8-2845-89D0-944A-744E0ABF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5BA7803-8E26-B9C8-419F-DD161B385C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40B4B-2C9A-06D8-766B-37E9098B2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5" y="537722"/>
            <a:ext cx="6388309" cy="406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03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66A98-E90B-3E02-071A-F8CFB3C7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FDFF9C-B5E0-EB15-24B3-94007853A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C040C7-B0CB-3F54-F8B3-C7C6C93C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D45598E-F280-6477-DC61-FF2AA0284F4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DAF40-94DB-6326-32D7-1FF12ECE4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5" y="1226843"/>
            <a:ext cx="6388309" cy="268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1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CEDA-A074-90B0-42F5-387CC7AA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7DD676-BF3D-4597-69DD-285F59BA0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15E3EA-73B7-8C33-71AC-9DCEA4CD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5217FD4-D1B3-82B2-B1B9-41794F646B2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985E2-EB58-D917-91C0-047CC7107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5" y="537722"/>
            <a:ext cx="6388309" cy="406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13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6D2D-0B5F-4DEC-3C15-7E154B7B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55EFAC-FD4C-B732-DAC8-84C98DF71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591026-98EC-5582-BC43-07D11AAA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42A1D1-D195-814F-CCF5-6E4B2888EDC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AF0AC-AD7E-BF46-8647-2B8197967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6" y="537722"/>
            <a:ext cx="6388307" cy="406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64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3364-8A83-9182-E447-E9004D6F3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B8497-3277-EE5C-B2E4-7836E2B9E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716034-D0E8-97D4-9686-2D6E2D53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77E1AD0-4E29-3030-0707-8B715DD9EB1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FA8E4-4A0B-F697-5EED-F15932390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6" y="537722"/>
            <a:ext cx="6388307" cy="406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55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1A08-FCFF-E743-93D4-AC406D6E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CFF11E-E73C-BD9E-A7D6-0073E2CC6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F196D1-24AC-D397-1D13-B8006B3A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13F6A95-A158-4616-B6EF-B6CF30E3898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CB985-0D92-311E-57CE-D2496E945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6" y="537723"/>
            <a:ext cx="6388307" cy="4068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7371F3-FCB2-5729-141B-1B31A242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682" y="1167595"/>
            <a:ext cx="6150769" cy="433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37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F4A01-E045-9199-C30E-B8E8AB22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0ADA75-3D74-F046-A12E-D1ECC2C25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A7DE7F-2B74-6816-5565-B05AAAD9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ABA5323-E6B4-CB14-6B3B-265DE704423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87BA3-54BC-7FAC-0D07-CB70C8C59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6" y="537722"/>
            <a:ext cx="6388307" cy="4068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11ACA2-DEC1-D9CC-1DB7-D67D52F0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727" y="1113588"/>
            <a:ext cx="651327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92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9119D-2670-D75D-A0EF-2B1CD7B8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52DA79-5E5B-2323-750F-75FFC761B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162A66-818A-249D-F552-AD1EBD6D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046B2B0-0909-EF08-A07B-8D099E13149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BB77A-4396-5608-2278-DB89F7851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6" y="537722"/>
            <a:ext cx="6388306" cy="406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34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47CC-EA58-EDE2-6169-9456CA85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8B4FA2-ACC2-D5AC-C33A-7E6FAD6FF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DA922D-750B-2794-AF5F-479645A8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6AD1BB8-7952-F786-812B-8E0603111D5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70971-1AEC-71AE-00A2-4325F072C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846" y="537722"/>
            <a:ext cx="6388306" cy="406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0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CB796B-1ABF-E907-183F-4FF6669BF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Unicode Input</a:t>
            </a:r>
          </a:p>
          <a:p>
            <a:r>
              <a:rPr lang="en-GB" dirty="0"/>
              <a:t>Keyboard Shortcuts</a:t>
            </a:r>
          </a:p>
          <a:p>
            <a:r>
              <a:rPr lang="en-GB" dirty="0"/>
              <a:t>Auto Complete</a:t>
            </a:r>
          </a:p>
          <a:p>
            <a:r>
              <a:rPr lang="en-GB" dirty="0"/>
              <a:t>User Commands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1D62D1-4A14-D54D-0E90-F9BE056B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Options → Configure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57584EF-3D64-11EC-0AB6-477E9557A1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857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B05A5D-422D-7C6E-320B-64D706833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Edit object: </a:t>
            </a:r>
            <a:r>
              <a:rPr lang="en-GB" dirty="0" err="1">
                <a:solidFill>
                  <a:srgbClr val="FF6600"/>
                </a:solidFill>
              </a:rPr>
              <a:t>Shift+Enter</a:t>
            </a:r>
            <a:endParaRPr lang="en-GB" dirty="0">
              <a:solidFill>
                <a:srgbClr val="FF6600"/>
              </a:solidFill>
            </a:endParaRPr>
          </a:p>
          <a:p>
            <a:r>
              <a:rPr lang="en-GB" dirty="0"/>
              <a:t>Exit edit/debugger: </a:t>
            </a:r>
            <a:r>
              <a:rPr lang="en-GB" dirty="0">
                <a:solidFill>
                  <a:srgbClr val="FF6600"/>
                </a:solidFill>
              </a:rPr>
              <a:t>Esc</a:t>
            </a:r>
          </a:p>
          <a:p>
            <a:r>
              <a:rPr lang="en-GB" dirty="0"/>
              <a:t>Abandon edit: </a:t>
            </a:r>
            <a:r>
              <a:rPr lang="en-GB" dirty="0" err="1">
                <a:solidFill>
                  <a:srgbClr val="FF6600"/>
                </a:solidFill>
              </a:rPr>
              <a:t>Shift+Esc</a:t>
            </a:r>
            <a:endParaRPr lang="en-GB" dirty="0">
              <a:solidFill>
                <a:srgbClr val="FF6600"/>
              </a:solidFill>
            </a:endParaRPr>
          </a:p>
          <a:p>
            <a:r>
              <a:rPr lang="en-GB" dirty="0"/>
              <a:t>Localize name: </a:t>
            </a:r>
            <a:r>
              <a:rPr lang="en-GB" dirty="0" err="1">
                <a:solidFill>
                  <a:srgbClr val="FF6600"/>
                </a:solidFill>
              </a:rPr>
              <a:t>Ctrl+UpArrow</a:t>
            </a:r>
            <a:endParaRPr lang="en-GB" dirty="0">
              <a:solidFill>
                <a:srgbClr val="FF6600"/>
              </a:solidFill>
            </a:endParaRPr>
          </a:p>
          <a:p>
            <a:r>
              <a:rPr lang="en-GB" dirty="0"/>
              <a:t>Toggle line numbers: </a:t>
            </a:r>
            <a:r>
              <a:rPr lang="en-GB" dirty="0" err="1">
                <a:solidFill>
                  <a:srgbClr val="FF6600"/>
                </a:solidFill>
              </a:rPr>
              <a:t>NumPad</a:t>
            </a:r>
            <a:r>
              <a:rPr lang="en-GB" dirty="0">
                <a:solidFill>
                  <a:srgbClr val="FF6600"/>
                </a:solidFill>
              </a:rPr>
              <a:t>-</a:t>
            </a:r>
          </a:p>
          <a:p>
            <a:r>
              <a:rPr lang="en-GB" dirty="0"/>
              <a:t>Reformat program: </a:t>
            </a:r>
            <a:r>
              <a:rPr lang="en-GB" dirty="0" err="1">
                <a:solidFill>
                  <a:srgbClr val="FF6600"/>
                </a:solidFill>
              </a:rPr>
              <a:t>NumPad</a:t>
            </a:r>
            <a:r>
              <a:rPr lang="en-GB" dirty="0">
                <a:solidFill>
                  <a:srgbClr val="FF6600"/>
                </a:solidFill>
              </a:rPr>
              <a:t>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838D2D-8A13-ED6C-A37A-76964073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Shortcuts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13D517F-57E0-64ED-0DA7-E05FD0E10A2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682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FFD9-5F25-EE44-8981-7696515C8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6B6367-6A7C-689C-4F37-AFB3600D5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Recall last statement: </a:t>
            </a:r>
            <a:r>
              <a:rPr lang="en-GB" dirty="0" err="1">
                <a:solidFill>
                  <a:srgbClr val="FF6600"/>
                </a:solidFill>
              </a:rPr>
              <a:t>Ctrl+Shift+BS</a:t>
            </a:r>
            <a:endParaRPr lang="en-GB" dirty="0">
              <a:solidFill>
                <a:srgbClr val="FF6600"/>
              </a:solidFill>
            </a:endParaRPr>
          </a:p>
          <a:p>
            <a:r>
              <a:rPr lang="en-GB" dirty="0"/>
              <a:t>Recall next statement: </a:t>
            </a:r>
            <a:r>
              <a:rPr lang="en-GB" dirty="0" err="1">
                <a:solidFill>
                  <a:srgbClr val="FF6600"/>
                </a:solidFill>
              </a:rPr>
              <a:t>Ctrl+Shift+Enter</a:t>
            </a:r>
            <a:endParaRPr lang="en-GB" dirty="0">
              <a:solidFill>
                <a:srgbClr val="FF6600"/>
              </a:solidFill>
            </a:endParaRPr>
          </a:p>
          <a:p>
            <a:r>
              <a:rPr lang="en-GB" dirty="0"/>
              <a:t>Switch between windows: </a:t>
            </a:r>
            <a:r>
              <a:rPr lang="en-GB" dirty="0">
                <a:solidFill>
                  <a:srgbClr val="FF6600"/>
                </a:solidFill>
              </a:rPr>
              <a:t>Ctrl(+Shift)+Tab</a:t>
            </a:r>
          </a:p>
          <a:p>
            <a:r>
              <a:rPr lang="en-GB" dirty="0"/>
              <a:t>Start Tracer: </a:t>
            </a:r>
            <a:r>
              <a:rPr lang="en-GB" dirty="0" err="1">
                <a:solidFill>
                  <a:srgbClr val="FF6600"/>
                </a:solidFill>
              </a:rPr>
              <a:t>Ctrl+Enter</a:t>
            </a:r>
            <a:endParaRPr lang="en-GB" dirty="0">
              <a:solidFill>
                <a:srgbClr val="FF6600"/>
              </a:solidFill>
            </a:endParaRPr>
          </a:p>
          <a:p>
            <a:pPr marL="0" indent="0">
              <a:buNone/>
            </a:pPr>
            <a:r>
              <a:rPr lang="da-DK" dirty="0"/>
              <a:t>Within the Tracer:</a:t>
            </a:r>
            <a:endParaRPr lang="en-GB" dirty="0"/>
          </a:p>
          <a:p>
            <a:r>
              <a:rPr lang="en-GB" dirty="0"/>
              <a:t>Execute line: </a:t>
            </a:r>
            <a:r>
              <a:rPr lang="en-GB" dirty="0">
                <a:solidFill>
                  <a:srgbClr val="FF6600"/>
                </a:solidFill>
              </a:rPr>
              <a:t>Enter</a:t>
            </a:r>
          </a:p>
          <a:p>
            <a:r>
              <a:rPr lang="en-GB" dirty="0"/>
              <a:t>Go back one line in code: </a:t>
            </a:r>
            <a:r>
              <a:rPr lang="en-GB" dirty="0" err="1">
                <a:solidFill>
                  <a:srgbClr val="FF6600"/>
                </a:solidFill>
              </a:rPr>
              <a:t>Ctrl+Shift+BS</a:t>
            </a:r>
            <a:endParaRPr lang="en-GB" dirty="0">
              <a:solidFill>
                <a:srgbClr val="FF6600"/>
              </a:solidFill>
            </a:endParaRPr>
          </a:p>
          <a:p>
            <a:r>
              <a:rPr lang="en-GB" dirty="0"/>
              <a:t>Go forward: </a:t>
            </a:r>
            <a:r>
              <a:rPr lang="en-GB" dirty="0" err="1">
                <a:solidFill>
                  <a:srgbClr val="FF6600"/>
                </a:solidFill>
              </a:rPr>
              <a:t>Ctrl+Shift+Enter</a:t>
            </a:r>
            <a:endParaRPr lang="en-GB" dirty="0">
              <a:solidFill>
                <a:srgbClr val="FF66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ED6912-16BE-FFA2-9DF5-658EA57A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Shortcuts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5B27E75-469F-1658-46BF-485180268C6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361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D75F97-FB1E-80A0-33AB-3495C421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Keyboard Shortcuts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1CA0CE9-FF43-DB2A-6529-521DD1793FF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A71C621-C424-6C7B-97D1-B118C19AB0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836" y="1377950"/>
            <a:ext cx="4221402" cy="312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98964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76A02-452D-8F71-ABB4-763C17287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Using an alternative input method allows regaining standard Ctrl-based shortcuts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AE95D1-F387-9DCE-DF95-57AF7297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Keyboard </a:t>
            </a:r>
            <a:r>
              <a:rPr lang="en-GB" dirty="0" err="1"/>
              <a:t>Shorcuts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6758018-329B-1969-A714-A01273CCFB1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C8B1C-B493-C2DE-4349-3B7C78A3D396}"/>
              </a:ext>
            </a:extLst>
          </p:cNvPr>
          <p:cNvSpPr txBox="1"/>
          <p:nvPr/>
        </p:nvSpPr>
        <p:spPr>
          <a:xfrm>
            <a:off x="3577513" y="2571750"/>
            <a:ext cx="175560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FX	</a:t>
            </a:r>
            <a:r>
              <a:rPr lang="en-GB" dirty="0" err="1"/>
              <a:t>Ctrl+S</a:t>
            </a:r>
            <a:endParaRPr lang="en-GB" dirty="0"/>
          </a:p>
          <a:p>
            <a:r>
              <a:rPr lang="en-GB" dirty="0"/>
              <a:t>CP	</a:t>
            </a:r>
            <a:r>
              <a:rPr lang="en-GB" dirty="0" err="1"/>
              <a:t>Ctrl+C</a:t>
            </a:r>
            <a:endParaRPr lang="en-GB" dirty="0"/>
          </a:p>
          <a:p>
            <a:r>
              <a:rPr lang="en-GB" dirty="0"/>
              <a:t>CT	</a:t>
            </a:r>
            <a:r>
              <a:rPr lang="en-GB" dirty="0" err="1"/>
              <a:t>Ctrl+X</a:t>
            </a:r>
            <a:endParaRPr lang="en-GB" dirty="0"/>
          </a:p>
          <a:p>
            <a:r>
              <a:rPr lang="en-GB" dirty="0"/>
              <a:t>PT	</a:t>
            </a:r>
            <a:r>
              <a:rPr lang="en-GB" dirty="0" err="1"/>
              <a:t>Ctrl+V</a:t>
            </a:r>
            <a:endParaRPr lang="en-GB" dirty="0"/>
          </a:p>
          <a:p>
            <a:r>
              <a:rPr lang="en-GB" dirty="0"/>
              <a:t>SA	</a:t>
            </a:r>
            <a:r>
              <a:rPr lang="en-GB" dirty="0" err="1"/>
              <a:t>Ctrl+A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1158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313F85-DFBB-A799-EC28-900B9FA5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For Classic users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Location of .din file is in </a:t>
            </a:r>
            <a:r>
              <a:rPr lang="en-GB" b="1" dirty="0">
                <a:solidFill>
                  <a:srgbClr val="FF6600"/>
                </a:solidFill>
              </a:rPr>
              <a:t>input</a:t>
            </a:r>
            <a:r>
              <a:rPr lang="en-GB" dirty="0">
                <a:solidFill>
                  <a:schemeClr val="tx1"/>
                </a:solidFill>
              </a:rPr>
              <a:t> tab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The </a:t>
            </a:r>
            <a:r>
              <a:rPr lang="en-GB" dirty="0">
                <a:solidFill>
                  <a:srgbClr val="FF6600"/>
                </a:solidFill>
              </a:rPr>
              <a:t>.din </a:t>
            </a:r>
            <a:r>
              <a:rPr lang="en-GB" dirty="0">
                <a:solidFill>
                  <a:schemeClr val="tx1"/>
                </a:solidFill>
              </a:rPr>
              <a:t>file can be modified to, for example,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add a shortcut to save editor changes (FX)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FX=</a:t>
            </a:r>
            <a:r>
              <a:rPr lang="en-GB" sz="20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Ctrl+Shift+S</a:t>
            </a:r>
            <a:r>
              <a:rPr lang="en-GB" sz="20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3 83 * + Fix Definition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45AD8B-EF0A-8581-9035-7F73CC9A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Keyboard Shortcuts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FF89FAC-E3E6-D4DF-9D58-AF8C725BE04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9FAFE16-90B4-1383-237B-536019AFC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15908" y="1551271"/>
            <a:ext cx="2617575" cy="187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12458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7E5307-283E-4514-9465-27EC22A30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The WS toolbar</a:t>
            </a:r>
          </a:p>
          <a:p>
            <a:pPr marL="0" indent="0">
              <a:buNone/>
            </a:pPr>
            <a:r>
              <a:rPr lang="en-GB" dirty="0"/>
              <a:t>This toolbar has icons for 6 of the File menu items: </a:t>
            </a:r>
          </a:p>
          <a:p>
            <a:r>
              <a:rPr lang="en-GB" dirty="0"/>
              <a:t>)CLEAR</a:t>
            </a:r>
          </a:p>
          <a:p>
            <a:r>
              <a:rPr lang="en-GB" dirty="0"/>
              <a:t>)Load</a:t>
            </a:r>
          </a:p>
          <a:p>
            <a:r>
              <a:rPr lang="en-GB" dirty="0"/>
              <a:t>)Copy</a:t>
            </a:r>
          </a:p>
          <a:p>
            <a:r>
              <a:rPr lang="en-GB" dirty="0"/>
              <a:t>)Save</a:t>
            </a:r>
          </a:p>
          <a:p>
            <a:r>
              <a:rPr lang="en-GB" dirty="0"/>
              <a:t>Export (application as .exe, .</a:t>
            </a:r>
            <a:r>
              <a:rPr lang="en-GB" dirty="0" err="1"/>
              <a:t>dll</a:t>
            </a:r>
            <a:r>
              <a:rPr lang="en-GB" dirty="0"/>
              <a:t> etc.)</a:t>
            </a:r>
          </a:p>
          <a:p>
            <a:r>
              <a:rPr lang="da-DK" dirty="0"/>
              <a:t>P</a:t>
            </a:r>
            <a:r>
              <a:rPr lang="en-GB" dirty="0" err="1"/>
              <a:t>rint</a:t>
            </a:r>
            <a:r>
              <a:rPr lang="en-GB" dirty="0"/>
              <a:t> Functions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B05F57-1D9B-2B0F-2995-E8606BF4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Toolbar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589F833-6895-77E6-F941-BED8F0085CA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A4583-8166-EE2D-E728-3E530D8D7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2433" y="2493745"/>
            <a:ext cx="2028603" cy="345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2593A2-5F7B-BEEE-2446-085DC3C5898B}"/>
              </a:ext>
            </a:extLst>
          </p:cNvPr>
          <p:cNvSpPr txBox="1"/>
          <p:nvPr/>
        </p:nvSpPr>
        <p:spPr>
          <a:xfrm>
            <a:off x="7229793" y="2488084"/>
            <a:ext cx="5950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350" dirty="0"/>
              <a:t>v17.1</a:t>
            </a:r>
            <a:endParaRPr lang="en-GB" sz="1350" dirty="0"/>
          </a:p>
        </p:txBody>
      </p:sp>
    </p:spTree>
    <p:extLst>
      <p:ext uri="{BB962C8B-B14F-4D97-AF65-F5344CB8AC3E}">
        <p14:creationId xmlns:p14="http://schemas.microsoft.com/office/powerpoint/2010/main" val="3820412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AFF1-79F7-3145-7A99-5764C9A5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944FE8-FE69-891B-C325-5B416BC2A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b="1" dirty="0"/>
              <a:t>The Object toolbar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This toolbar needs the cursor to be positioned over a name: </a:t>
            </a:r>
          </a:p>
          <a:p>
            <a:pPr>
              <a:spcAft>
                <a:spcPts val="600"/>
              </a:spcAft>
            </a:pPr>
            <a:r>
              <a:rPr lang="en-GB" dirty="0"/>
              <a:t>Copy object to clipboard</a:t>
            </a:r>
          </a:p>
          <a:p>
            <a:pPr>
              <a:spcAft>
                <a:spcPts val="600"/>
              </a:spcAft>
            </a:pPr>
            <a:r>
              <a:rPr lang="en-GB" dirty="0"/>
              <a:t>Paste to object FROM clipboard</a:t>
            </a:r>
          </a:p>
          <a:p>
            <a:pPr>
              <a:spcAft>
                <a:spcPts val="600"/>
              </a:spcAft>
            </a:pPr>
            <a:r>
              <a:rPr lang="en-GB" dirty="0"/>
              <a:t>Print object (source code)</a:t>
            </a:r>
          </a:p>
          <a:p>
            <a:pPr>
              <a:spcAft>
                <a:spcPts val="600"/>
              </a:spcAft>
            </a:pPr>
            <a:r>
              <a:rPr lang="en-GB" dirty="0"/>
              <a:t>Edit object (general)</a:t>
            </a:r>
          </a:p>
          <a:p>
            <a:pPr>
              <a:spcAft>
                <a:spcPts val="600"/>
              </a:spcAft>
            </a:pPr>
            <a:r>
              <a:rPr lang="en-GB" dirty="0"/>
              <a:t>Edit numeric object</a:t>
            </a:r>
          </a:p>
          <a:p>
            <a:pPr>
              <a:spcAft>
                <a:spcPts val="600"/>
              </a:spcAft>
            </a:pPr>
            <a:r>
              <a:rPr lang="en-GB" dirty="0"/>
              <a:t>Chart wizard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endParaRPr lang="da-DK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FF6600"/>
                </a:solidFill>
              </a:rPr>
              <a:t>Excel / HTML demo copy / paste object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CFB0A4-5C58-C8C9-A11F-6C0BDDB8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Toolbar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EDAF1D0-B887-EAF9-86A2-465E94DF3CE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0726D-9397-9EF7-7AE5-69E819353CB6}"/>
              </a:ext>
            </a:extLst>
          </p:cNvPr>
          <p:cNvSpPr txBox="1"/>
          <p:nvPr/>
        </p:nvSpPr>
        <p:spPr>
          <a:xfrm>
            <a:off x="7229793" y="2488084"/>
            <a:ext cx="5950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350" dirty="0"/>
              <a:t>v17.1</a:t>
            </a:r>
            <a:endParaRPr lang="en-GB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A09B8B-95A1-B518-0DD0-9E3F6A889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2977" y="2420891"/>
            <a:ext cx="2836816" cy="43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9CB0-5539-1F31-DA7F-FE5C6E7AD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98EB53-5DC9-1B2A-A4C7-EE0C8966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b="1" dirty="0"/>
              <a:t>The Object toolbar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This toolbar needs the cursor to be positioned over a name: </a:t>
            </a:r>
          </a:p>
          <a:p>
            <a:pPr>
              <a:spcAft>
                <a:spcPts val="600"/>
              </a:spcAft>
            </a:pPr>
            <a:r>
              <a:rPr lang="en-GB" dirty="0"/>
              <a:t>Copy object to clipboard</a:t>
            </a:r>
          </a:p>
          <a:p>
            <a:pPr>
              <a:spcAft>
                <a:spcPts val="600"/>
              </a:spcAft>
            </a:pPr>
            <a:r>
              <a:rPr lang="en-GB" dirty="0"/>
              <a:t>Paste to object FROM clipboard</a:t>
            </a:r>
          </a:p>
          <a:p>
            <a:pPr>
              <a:spcAft>
                <a:spcPts val="600"/>
              </a:spcAft>
            </a:pPr>
            <a:r>
              <a:rPr lang="en-GB" dirty="0"/>
              <a:t>Print object (source code)</a:t>
            </a:r>
          </a:p>
          <a:p>
            <a:pPr>
              <a:spcAft>
                <a:spcPts val="600"/>
              </a:spcAft>
            </a:pPr>
            <a:r>
              <a:rPr lang="en-GB" dirty="0"/>
              <a:t>Edit object (general)</a:t>
            </a:r>
          </a:p>
          <a:p>
            <a:pPr>
              <a:spcAft>
                <a:spcPts val="600"/>
              </a:spcAft>
            </a:pPr>
            <a:r>
              <a:rPr lang="en-GB" dirty="0"/>
              <a:t>Edit with </a:t>
            </a:r>
            <a:r>
              <a:rPr lang="en-GB" b="1" i="1" dirty="0">
                <a:solidFill>
                  <a:srgbClr val="FF6600"/>
                </a:solidFill>
              </a:rPr>
              <a:t>array notation</a:t>
            </a:r>
          </a:p>
          <a:p>
            <a:pPr>
              <a:spcAft>
                <a:spcPts val="600"/>
              </a:spcAft>
            </a:pPr>
            <a:r>
              <a:rPr lang="en-GB" dirty="0"/>
              <a:t>Chart wizard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endParaRPr lang="da-DK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FF6600"/>
                </a:solidFill>
              </a:rPr>
              <a:t>Excel / HTML demo copy / paste object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A5814A-956A-F1A0-953B-8BD6DB7F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Toolbar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7F9105F-E079-BFB2-E6ED-55DC9E2B365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2BEBA-2571-98A2-C99E-D7A92C9FD1D7}"/>
              </a:ext>
            </a:extLst>
          </p:cNvPr>
          <p:cNvSpPr txBox="1"/>
          <p:nvPr/>
        </p:nvSpPr>
        <p:spPr>
          <a:xfrm>
            <a:off x="7229793" y="2488084"/>
            <a:ext cx="5950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350" dirty="0"/>
              <a:t>v20.0</a:t>
            </a:r>
            <a:endParaRPr lang="en-GB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21EED4-5EF9-23ED-E312-EBCE3763F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2977" y="2444305"/>
            <a:ext cx="2836816" cy="38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14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F7D1-1A77-6C33-5F60-04D6D54F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5C73AC-1CF3-3676-ADDF-87BF54405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Tool toolbar</a:t>
            </a:r>
          </a:p>
          <a:p>
            <a:pPr marL="0" indent="0">
              <a:buNone/>
            </a:pPr>
            <a:r>
              <a:rPr lang="en-GB" dirty="0"/>
              <a:t>This toolbar is for the developer: </a:t>
            </a:r>
          </a:p>
          <a:p>
            <a:r>
              <a:rPr lang="en-GB" dirty="0"/>
              <a:t>Search the workspace for strings</a:t>
            </a:r>
          </a:p>
          <a:p>
            <a:r>
              <a:rPr lang="en-GB" dirty="0"/>
              <a:t>Open workspace Explorer</a:t>
            </a:r>
          </a:p>
          <a:p>
            <a:r>
              <a:rPr lang="en-GB" dirty="0"/>
              <a:t>Toggle line numbers in functions</a:t>
            </a:r>
          </a:p>
          <a:p>
            <a:r>
              <a:rPr lang="en-GB" dirty="0"/>
              <a:t>Remove all stops/trace/monitor points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91CA46-807D-BDFA-2AC2-BAF94B28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Toolbar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8F59975-921A-B4D7-8B3E-8A2ABB8BF1D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37D37-36C3-A5E2-7006-7D53B5838656}"/>
              </a:ext>
            </a:extLst>
          </p:cNvPr>
          <p:cNvSpPr txBox="1"/>
          <p:nvPr/>
        </p:nvSpPr>
        <p:spPr>
          <a:xfrm>
            <a:off x="7502199" y="3009563"/>
            <a:ext cx="5950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350" dirty="0"/>
              <a:t>v17.1</a:t>
            </a:r>
            <a:endParaRPr lang="en-GB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4A0D18-B518-94C6-4D2C-234A24718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8513" y="2942370"/>
            <a:ext cx="2503790" cy="43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67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14509-79DD-90F4-088D-02239FA2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6C999A-BF38-A933-8C00-3B960BA74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Edit toolbar</a:t>
            </a:r>
          </a:p>
          <a:p>
            <a:pPr marL="0" indent="0">
              <a:buNone/>
            </a:pPr>
            <a:r>
              <a:rPr lang="en-GB" dirty="0"/>
              <a:t>This toolbar mimics the shortcuts for: </a:t>
            </a:r>
          </a:p>
          <a:p>
            <a:r>
              <a:rPr lang="en-GB" dirty="0"/>
              <a:t>Copy (</a:t>
            </a:r>
            <a:r>
              <a:rPr lang="en-GB" dirty="0" err="1"/>
              <a:t>Ctrl+C</a:t>
            </a:r>
            <a:r>
              <a:rPr lang="en-GB" dirty="0"/>
              <a:t>)</a:t>
            </a:r>
          </a:p>
          <a:p>
            <a:r>
              <a:rPr lang="en-GB" dirty="0"/>
              <a:t>Paste (</a:t>
            </a:r>
            <a:r>
              <a:rPr lang="en-GB" dirty="0" err="1"/>
              <a:t>Ctrl+V</a:t>
            </a:r>
            <a:r>
              <a:rPr lang="en-GB" dirty="0"/>
              <a:t>)</a:t>
            </a:r>
          </a:p>
          <a:p>
            <a:r>
              <a:rPr lang="en-GB" dirty="0"/>
              <a:t>Undo (</a:t>
            </a:r>
            <a:r>
              <a:rPr lang="en-GB" dirty="0" err="1"/>
              <a:t>Ctrl+Shift+Backspace</a:t>
            </a:r>
            <a:r>
              <a:rPr lang="en-GB" dirty="0"/>
              <a:t>)</a:t>
            </a:r>
          </a:p>
          <a:p>
            <a:r>
              <a:rPr lang="en-GB" dirty="0"/>
              <a:t>Redo (</a:t>
            </a:r>
            <a:r>
              <a:rPr lang="en-GB" dirty="0" err="1"/>
              <a:t>Ctrl+Shift+Enter</a:t>
            </a:r>
            <a:r>
              <a:rPr lang="en-GB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0D3F21-C2CA-388B-336E-44745E58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Toolbar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9F9DE4F-4B03-B856-BD3C-FF8EFFA70F9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99460-6F03-16E5-F93C-7F3749FDEF87}"/>
              </a:ext>
            </a:extLst>
          </p:cNvPr>
          <p:cNvSpPr txBox="1"/>
          <p:nvPr/>
        </p:nvSpPr>
        <p:spPr>
          <a:xfrm>
            <a:off x="7502199" y="3009563"/>
            <a:ext cx="5950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350" dirty="0"/>
              <a:t>v17.1</a:t>
            </a:r>
            <a:endParaRPr lang="en-GB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B8EC31-C6E0-2F29-F8D5-34FD5BE02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2736" y="2942370"/>
            <a:ext cx="2127615" cy="43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78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46F89-C58A-AB6B-45C7-AE7D480F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411139-ED5A-8914-96AE-F5627EE94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Session toolbar</a:t>
            </a:r>
          </a:p>
          <a:p>
            <a:pPr marL="0" indent="0">
              <a:buNone/>
            </a:pPr>
            <a:r>
              <a:rPr lang="en-GB" dirty="0"/>
              <a:t>This toolbar deals with the session: </a:t>
            </a:r>
          </a:p>
          <a:p>
            <a:r>
              <a:rPr lang="en-GB" dirty="0"/>
              <a:t>You can load a new session file</a:t>
            </a:r>
          </a:p>
          <a:p>
            <a:r>
              <a:rPr lang="en-GB" dirty="0"/>
              <a:t>Select a new font</a:t>
            </a:r>
          </a:p>
          <a:p>
            <a:r>
              <a:rPr lang="en-GB" dirty="0"/>
              <a:t>Change the font size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E11462-9BBA-73E2-CE01-BBFBD78A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Toolbar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28F47ED-7318-6203-229E-A6505AB96B7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DFE86-FEA3-20E7-68DA-45BD129A5A7E}"/>
              </a:ext>
            </a:extLst>
          </p:cNvPr>
          <p:cNvSpPr txBox="1"/>
          <p:nvPr/>
        </p:nvSpPr>
        <p:spPr>
          <a:xfrm>
            <a:off x="7502199" y="3009563"/>
            <a:ext cx="5950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350" dirty="0"/>
              <a:t>v17.1</a:t>
            </a:r>
            <a:endParaRPr lang="en-GB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E1665-8B5B-96B4-E9C3-8201F1D12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2736" y="3032331"/>
            <a:ext cx="2127615" cy="25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789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4B9A63-CC01-79B9-0E4D-4A6FAE55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FAD2CAE-79ED-2696-CEBE-6E1A8C6A685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7A73E8B-EFF1-99F8-948C-45105FB80C93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9892725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3781584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4C5F4F-5FE1-8960-D964-C684F3E47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85763" indent="-385763">
              <a:buFont typeface="+mj-lt"/>
              <a:buAutoNum type="arabicPeriod"/>
            </a:pPr>
            <a:r>
              <a:rPr lang="en-GB" dirty="0"/>
              <a:t>Save your workspace, exit and re-enter APL, verify you can load it</a:t>
            </a:r>
          </a:p>
          <a:p>
            <a:pPr marL="385763" indent="-385763">
              <a:buFont typeface="+mj-lt"/>
              <a:buAutoNum type="arabicPeriod"/>
            </a:pPr>
            <a:r>
              <a:rPr lang="en-GB" dirty="0"/>
              <a:t>Save your log file under a different name</a:t>
            </a:r>
          </a:p>
          <a:p>
            <a:pPr marL="385763" indent="-385763">
              <a:buFont typeface="+mj-lt"/>
              <a:buAutoNum type="arabicPeriod"/>
            </a:pPr>
            <a:r>
              <a:rPr lang="en-GB" dirty="0"/>
              <a:t>Modify your log</a:t>
            </a:r>
          </a:p>
          <a:p>
            <a:pPr marL="385763" indent="-385763">
              <a:buFont typeface="+mj-lt"/>
              <a:buAutoNum type="arabicPeriod"/>
            </a:pPr>
            <a:r>
              <a:rPr lang="en-GB" dirty="0"/>
              <a:t>Retrieve your log file</a:t>
            </a:r>
          </a:p>
          <a:p>
            <a:pPr marL="385763" indent="-385763">
              <a:buFont typeface="+mj-lt"/>
              <a:buAutoNum type="arabicPeriod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)LOAD</a:t>
            </a:r>
            <a:r>
              <a:rPr lang="en-GB" dirty="0"/>
              <a:t> a workspace, for example "</a:t>
            </a:r>
            <a:r>
              <a:rPr lang="en-GB" dirty="0" err="1"/>
              <a:t>dfns</a:t>
            </a:r>
            <a:r>
              <a:rPr lang="en-GB" dirty="0"/>
              <a:t>".</a:t>
            </a:r>
            <a:endParaRPr lang="en-GB" sz="1425" dirty="0">
              <a:latin typeface="APL385 Unicode" panose="020B0709000202000203" pitchFamily="49" charset="0"/>
            </a:endParaRPr>
          </a:p>
          <a:p>
            <a:pPr marL="385763" indent="-385763">
              <a:buFont typeface="+mj-lt"/>
              <a:buAutoNum type="arabicPeriod"/>
            </a:pPr>
            <a:r>
              <a:rPr lang="en-GB" dirty="0"/>
              <a:t>Open explorer to look at the functions and variables in the newly loaded workspace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19C224-A350-A59C-2408-3837AC103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166F3F7-842B-96EC-8CF5-D9F844E9139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7641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17DA61-50DF-8FEF-3A4C-4E094A804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Modern development encourages source code in text files</a:t>
            </a:r>
          </a:p>
          <a:p>
            <a:r>
              <a:rPr lang="en-GB" dirty="0"/>
              <a:t>Enables use of Source Code Management (SCM) tools like Git or SVN</a:t>
            </a:r>
          </a:p>
          <a:p>
            <a:r>
              <a:rPr lang="en-GB" dirty="0"/>
              <a:t>Many Dyalog tools open source on GitHub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C7A76E-8039-2B30-5652-42CEDACD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Links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8003473-475C-1CC9-DE70-55A91633C32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3604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C4EE-DCF1-6ADD-662F-6FA3ABA55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864783-5C8C-CAD6-5B4D-3E7FA6F70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]create # 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tmp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myproj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Linked: # ←→ "C:\tmp\myproj" [directory was created]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A0C432-014C-CFE9-7220-806AC063E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Links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6206B94-EF54-DC30-EDAE-26D6318551A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183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6DED2-C518-D09B-2097-FB19C651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737F6D-F312-08B1-4060-FEC6E648C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]create # 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tmp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myproj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Linked: # ←→ "C:\tmp\myproj" [directory was created]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BA912E-979D-BA45-21D4-7CF54190B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Links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FCA52CE-2E72-7E8B-5114-58F8F666E25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08482D-9334-49EC-0759-6C757B62A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62" y="2380852"/>
            <a:ext cx="3224742" cy="242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001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3E99-C055-F2AA-9666-A5B25A5C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DA47D6-32BF-2081-5052-6772EF7CF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]create # 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tmp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myproj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Linked: # ←→ "C:\tmp\myproj" [directory was created]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FD6F33-EB0F-B318-8EB7-73ACEF0F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Links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476BA90-B9B8-4EDA-7FDE-4B63F851961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448E83-F1D0-B8BE-EC27-C7BA483C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62" y="2380852"/>
            <a:ext cx="3224742" cy="2425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4725AE-CF36-E85F-9863-E0F58231D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804" y="2619149"/>
            <a:ext cx="2966621" cy="18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27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F773-1F9B-53DF-0E3D-C360B82A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A4F14F-7518-BA3D-DC56-24DD1CEC7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]create # 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tmp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myproj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Linked: # ←→ "C:\tmp\myproj" [directory was created]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2DD916-7AB7-A830-7849-9755FDA3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Links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45C470-D22C-31F4-4C96-1A6269E34E8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FA2BD-19D9-845D-A795-0F9E70ED3C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1062" y="2380852"/>
            <a:ext cx="3224742" cy="2425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36EC9-09AC-F0F0-ABDC-C56309B88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804" y="2619149"/>
            <a:ext cx="2966621" cy="18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416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1BD84-3DE3-2525-02DD-7404CC711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C5EB17-795C-13E0-D9ED-8E1B427C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]create # 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tmp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/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myproj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Linked: # ←→ "C:\tmp\myproj" [directory was created]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1FC959-9B00-112B-B448-3A5C8AB8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Links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F478636-BEC3-4B86-F7EA-9C01856A007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7BD22-A8BE-184A-1206-47F977DF7E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1062" y="2380852"/>
            <a:ext cx="3224742" cy="242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832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FE9643-4EAF-E5E6-5F8E-5499E6F78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Array values are not saved to files by default.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 be explicitly added for configuration.</a:t>
            </a:r>
          </a:p>
          <a:p>
            <a:pPr marL="0" indent="0">
              <a:buNone/>
            </a:pPr>
            <a:r>
              <a:rPr lang="en-GB" dirty="0"/>
              <a:t>Typically, data is read from files.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019409-20AA-C254-5B22-D47C6467E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Links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E5E4827-52C3-FF04-225E-2928FBE3A05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4801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A1CFD4-E821-E009-769F-B767F8A4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D596571-0B96-E93C-C99D-4B176351B57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65DEB9E-CF10-A5DD-B042-BB1F75A57F80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7893655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3301631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921FE8-DBDE-F92F-0C1E-EA4ED7646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/>
              <a:t>Create a link between your active workspace and a folder on the file system</a:t>
            </a:r>
          </a:p>
          <a:p>
            <a:pPr>
              <a:buFont typeface="+mj-lt"/>
              <a:buAutoNum type="arabicPeriod"/>
            </a:pPr>
            <a:r>
              <a:rPr lang="en-GB" dirty="0"/>
              <a:t>Create a function in the Dyalog editor and find the newly created file in the folder</a:t>
            </a:r>
          </a:p>
          <a:p>
            <a:pPr>
              <a:buFont typeface="+mj-lt"/>
              <a:buAutoNum type="arabicPeriod"/>
            </a:pPr>
            <a:r>
              <a:rPr lang="en-GB" dirty="0"/>
              <a:t>Open the function file in a text editor, modify the source and check that it has been updated in your workspace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BDCBDA-2FEC-43C7-7059-0E8420E9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525A08D-AD7F-EF5A-D12F-4A6E9F5D97D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09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2034</TotalTime>
  <Words>1716</Words>
  <Application>Microsoft Office PowerPoint</Application>
  <PresentationFormat>On-screen Show (16:9)</PresentationFormat>
  <Paragraphs>310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Calibri</vt:lpstr>
      <vt:lpstr>Wingdings 2</vt:lpstr>
      <vt:lpstr>Arial</vt:lpstr>
      <vt:lpstr>APL385 Unicode</vt:lpstr>
      <vt:lpstr>Sarabun</vt:lpstr>
      <vt:lpstr>Consolas</vt:lpstr>
      <vt:lpstr>Office Theme</vt:lpstr>
      <vt:lpstr>APL Bootcamp – Part 3</vt:lpstr>
      <vt:lpstr>The Workspace</vt:lpstr>
      <vt:lpstr>Workspace ID</vt:lpstr>
      <vt:lpstr>)SAVE</vt:lpstr>
      <vt:lpstr>)SAVE</vt:lpstr>
      <vt:lpstr>)LOAD</vt:lpstr>
      <vt:lpstr>)LOAD</vt:lpstr>
      <vt:lpstr>)COPY</vt:lpstr>
      <vt:lpstr>)COPY</vt:lpstr>
      <vt:lpstr>)COPY</vt:lpstr>
      <vt:lpstr>Protected )COPY</vt:lpstr>
      <vt:lpstr>)DROP</vt:lpstr>
      <vt:lpstr>)CLEAR</vt:lpstr>
      <vt:lpstr>)LIB</vt:lpstr>
      <vt:lpstr>System Commands Overview</vt:lpstr>
      <vt:lpstr>The Session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Options → Configure</vt:lpstr>
      <vt:lpstr>Important Shortcuts</vt:lpstr>
      <vt:lpstr>Important Shortcuts</vt:lpstr>
      <vt:lpstr>Keyboard Shortcuts</vt:lpstr>
      <vt:lpstr>Keyboard Shorcuts</vt:lpstr>
      <vt:lpstr>Keyboard Shortcuts</vt:lpstr>
      <vt:lpstr>Toolbar</vt:lpstr>
      <vt:lpstr>Toolbar</vt:lpstr>
      <vt:lpstr>Toolbar</vt:lpstr>
      <vt:lpstr>Toolbar</vt:lpstr>
      <vt:lpstr>Toolbar</vt:lpstr>
      <vt:lpstr>Toolbar</vt:lpstr>
      <vt:lpstr>Questions?</vt:lpstr>
      <vt:lpstr>Exercises</vt:lpstr>
      <vt:lpstr>Workspace Links</vt:lpstr>
      <vt:lpstr>Workspace Links</vt:lpstr>
      <vt:lpstr>Workspace Links</vt:lpstr>
      <vt:lpstr>Workspace Links</vt:lpstr>
      <vt:lpstr>Workspace Links</vt:lpstr>
      <vt:lpstr>Workspace Links</vt:lpstr>
      <vt:lpstr>Workspace Links</vt:lpstr>
      <vt:lpstr>Questions?</vt:lpstr>
      <vt:lpstr>Exercises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280</cp:revision>
  <dcterms:created xsi:type="dcterms:W3CDTF">2019-07-25T11:46:05Z</dcterms:created>
  <dcterms:modified xsi:type="dcterms:W3CDTF">2025-08-10T15:35:29Z</dcterms:modified>
</cp:coreProperties>
</file>