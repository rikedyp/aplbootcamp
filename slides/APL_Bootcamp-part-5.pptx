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120"/>
  </p:notesMasterIdLst>
  <p:handoutMasterIdLst>
    <p:handoutMasterId r:id="rId121"/>
  </p:handoutMasterIdLst>
  <p:sldIdLst>
    <p:sldId id="257" r:id="rId2"/>
    <p:sldId id="765" r:id="rId3"/>
    <p:sldId id="794" r:id="rId4"/>
    <p:sldId id="796" r:id="rId5"/>
    <p:sldId id="799" r:id="rId6"/>
    <p:sldId id="801" r:id="rId7"/>
    <p:sldId id="802" r:id="rId8"/>
    <p:sldId id="848" r:id="rId9"/>
    <p:sldId id="803" r:id="rId10"/>
    <p:sldId id="849" r:id="rId11"/>
    <p:sldId id="800" r:id="rId12"/>
    <p:sldId id="804" r:id="rId13"/>
    <p:sldId id="851" r:id="rId14"/>
    <p:sldId id="852" r:id="rId15"/>
    <p:sldId id="807" r:id="rId16"/>
    <p:sldId id="808" r:id="rId17"/>
    <p:sldId id="809" r:id="rId18"/>
    <p:sldId id="810" r:id="rId19"/>
    <p:sldId id="811" r:id="rId20"/>
    <p:sldId id="829" r:id="rId21"/>
    <p:sldId id="813" r:id="rId22"/>
    <p:sldId id="814" r:id="rId23"/>
    <p:sldId id="815" r:id="rId24"/>
    <p:sldId id="817" r:id="rId25"/>
    <p:sldId id="818" r:id="rId26"/>
    <p:sldId id="819" r:id="rId27"/>
    <p:sldId id="821" r:id="rId28"/>
    <p:sldId id="822" r:id="rId29"/>
    <p:sldId id="823" r:id="rId30"/>
    <p:sldId id="824" r:id="rId31"/>
    <p:sldId id="825" r:id="rId32"/>
    <p:sldId id="820" r:id="rId33"/>
    <p:sldId id="826" r:id="rId34"/>
    <p:sldId id="827" r:id="rId35"/>
    <p:sldId id="832" r:id="rId36"/>
    <p:sldId id="833" r:id="rId37"/>
    <p:sldId id="834" r:id="rId38"/>
    <p:sldId id="835" r:id="rId39"/>
    <p:sldId id="836" r:id="rId40"/>
    <p:sldId id="837" r:id="rId41"/>
    <p:sldId id="840" r:id="rId42"/>
    <p:sldId id="838" r:id="rId43"/>
    <p:sldId id="395" r:id="rId44"/>
    <p:sldId id="396" r:id="rId45"/>
    <p:sldId id="397" r:id="rId46"/>
    <p:sldId id="1035" r:id="rId47"/>
    <p:sldId id="831" r:id="rId48"/>
    <p:sldId id="855" r:id="rId49"/>
    <p:sldId id="858" r:id="rId50"/>
    <p:sldId id="859" r:id="rId51"/>
    <p:sldId id="860" r:id="rId52"/>
    <p:sldId id="862" r:id="rId53"/>
    <p:sldId id="863" r:id="rId54"/>
    <p:sldId id="864" r:id="rId55"/>
    <p:sldId id="865" r:id="rId56"/>
    <p:sldId id="866" r:id="rId57"/>
    <p:sldId id="867" r:id="rId58"/>
    <p:sldId id="861" r:id="rId59"/>
    <p:sldId id="869" r:id="rId60"/>
    <p:sldId id="871" r:id="rId61"/>
    <p:sldId id="872" r:id="rId62"/>
    <p:sldId id="873" r:id="rId63"/>
    <p:sldId id="874" r:id="rId64"/>
    <p:sldId id="875" r:id="rId65"/>
    <p:sldId id="876" r:id="rId66"/>
    <p:sldId id="877" r:id="rId67"/>
    <p:sldId id="878" r:id="rId68"/>
    <p:sldId id="879" r:id="rId69"/>
    <p:sldId id="880" r:id="rId70"/>
    <p:sldId id="881" r:id="rId71"/>
    <p:sldId id="883" r:id="rId72"/>
    <p:sldId id="884" r:id="rId73"/>
    <p:sldId id="885" r:id="rId74"/>
    <p:sldId id="886" r:id="rId75"/>
    <p:sldId id="887" r:id="rId76"/>
    <p:sldId id="882" r:id="rId77"/>
    <p:sldId id="1036" r:id="rId78"/>
    <p:sldId id="408" r:id="rId79"/>
    <p:sldId id="409" r:id="rId80"/>
    <p:sldId id="1037" r:id="rId81"/>
    <p:sldId id="1039" r:id="rId82"/>
    <p:sldId id="1040" r:id="rId83"/>
    <p:sldId id="1038" r:id="rId84"/>
    <p:sldId id="1041" r:id="rId85"/>
    <p:sldId id="1042" r:id="rId86"/>
    <p:sldId id="1043" r:id="rId87"/>
    <p:sldId id="856" r:id="rId88"/>
    <p:sldId id="857" r:id="rId89"/>
    <p:sldId id="1045" r:id="rId90"/>
    <p:sldId id="766" r:id="rId91"/>
    <p:sldId id="788" r:id="rId92"/>
    <p:sldId id="1046" r:id="rId93"/>
    <p:sldId id="789" r:id="rId94"/>
    <p:sldId id="790" r:id="rId95"/>
    <p:sldId id="897" r:id="rId96"/>
    <p:sldId id="898" r:id="rId97"/>
    <p:sldId id="846" r:id="rId98"/>
    <p:sldId id="847" r:id="rId99"/>
    <p:sldId id="1044" r:id="rId100"/>
    <p:sldId id="1047" r:id="rId101"/>
    <p:sldId id="842" r:id="rId102"/>
    <p:sldId id="901" r:id="rId103"/>
    <p:sldId id="902" r:id="rId104"/>
    <p:sldId id="903" r:id="rId105"/>
    <p:sldId id="900" r:id="rId106"/>
    <p:sldId id="843" r:id="rId107"/>
    <p:sldId id="844" r:id="rId108"/>
    <p:sldId id="845" r:id="rId109"/>
    <p:sldId id="853" r:id="rId110"/>
    <p:sldId id="889" r:id="rId111"/>
    <p:sldId id="890" r:id="rId112"/>
    <p:sldId id="891" r:id="rId113"/>
    <p:sldId id="892" r:id="rId114"/>
    <p:sldId id="893" r:id="rId115"/>
    <p:sldId id="894" r:id="rId116"/>
    <p:sldId id="895" r:id="rId117"/>
    <p:sldId id="793" r:id="rId118"/>
    <p:sldId id="896" r:id="rId119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122"/>
    </p:embeddedFont>
    <p:embeddedFont>
      <p:font typeface="Sarabun" panose="00000500000000000000" pitchFamily="2" charset="-34"/>
      <p:regular r:id="rId123"/>
      <p:bold r:id="rId124"/>
      <p:italic r:id="rId125"/>
      <p:boldItalic r:id="rId126"/>
    </p:embeddedFont>
    <p:embeddedFont>
      <p:font typeface="Wingdings 2" panose="05020102010507070707" pitchFamily="18" charset="2"/>
      <p:regular r:id="rId1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B475E"/>
    <a:srgbClr val="373535"/>
    <a:srgbClr val="ED7F00"/>
    <a:srgbClr val="5A6D8F"/>
    <a:srgbClr val="FDFDF5"/>
    <a:srgbClr val="F6F6D9"/>
    <a:srgbClr val="BBB5D6"/>
    <a:srgbClr val="928AB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20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2.fntdata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3.fntdata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NUL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20/08/2025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20/08/2025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66635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Content Placeholder 6"/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929200" y="2917869"/>
            <a:ext cx="3214800" cy="2225631"/>
          </a:xfrm>
          <a:noFill/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pPr lvl="0"/>
            <a:r>
              <a:rPr lang="en-GB" dirty="0" err="1"/>
              <a:t>PICinPIC</a:t>
            </a:r>
            <a:r>
              <a:rPr lang="en-GB" dirty="0"/>
              <a:t> WILL SHOW HERE, SO ANY CONTENT THAT OVERLAPS THIS BOX COULD BE OBSCURED.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BOX WILL NOT BE VISIBLE DURING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91221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5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dyalog.tv/Webinar/?v=zBqdeDJPPRc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060" y="3741620"/>
            <a:ext cx="5488811" cy="1024109"/>
          </a:xfrm>
        </p:spPr>
        <p:txBody>
          <a:bodyPr/>
          <a:lstStyle/>
          <a:p>
            <a:r>
              <a:rPr lang="en-GB" dirty="0"/>
              <a:t>Nested arrays; array transformations; 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A5B6B-952D-6FC8-0B3A-44B567B77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Arrays are made of arrays.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76BFC5-1845-D620-DC0A-B9DF5B92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Array Model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A66D093-4EB0-85B2-D1DA-6889C2F88B2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65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08C22F-BE23-E85F-53E6-44850D846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A </a:t>
            </a:r>
            <a:r>
              <a:rPr lang="en-GB" sz="2300" b="1" i="1" dirty="0">
                <a:solidFill>
                  <a:srgbClr val="FF6600"/>
                </a:solidFill>
              </a:rPr>
              <a:t>simple scalar</a:t>
            </a:r>
            <a:r>
              <a:rPr lang="en-GB" sz="2300" dirty="0">
                <a:solidFill>
                  <a:schemeClr val="tx1"/>
                </a:solidFill>
              </a:rPr>
              <a:t> is a single number or character, like </a:t>
            </a:r>
            <a:r>
              <a:rPr lang="en-GB" sz="2300" dirty="0">
                <a:solidFill>
                  <a:srgbClr val="00B050"/>
                </a:solidFill>
                <a:latin typeface="APL385 Unicode" panose="020B0709000202000203" pitchFamily="49" charset="0"/>
              </a:rPr>
              <a:t>32</a:t>
            </a:r>
            <a:r>
              <a:rPr lang="en-GB" sz="2300" dirty="0">
                <a:solidFill>
                  <a:schemeClr val="tx1"/>
                </a:solidFill>
              </a:rPr>
              <a:t> and </a:t>
            </a:r>
            <a:r>
              <a:rPr lang="en-GB" sz="23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3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A </a:t>
            </a:r>
            <a:r>
              <a:rPr lang="en-GB" sz="2300" b="1" i="1" dirty="0">
                <a:solidFill>
                  <a:srgbClr val="FF6600"/>
                </a:solidFill>
              </a:rPr>
              <a:t>simple array</a:t>
            </a:r>
            <a:r>
              <a:rPr lang="en-GB" sz="2300" dirty="0">
                <a:solidFill>
                  <a:schemeClr val="tx1"/>
                </a:solidFill>
              </a:rPr>
              <a:t> is an array made of simple scalars.</a:t>
            </a:r>
          </a:p>
          <a:p>
            <a:pPr marL="0" indent="0">
              <a:buNone/>
              <a:defRPr/>
            </a:pPr>
            <a:r>
              <a:rPr lang="en-GB" dirty="0"/>
              <a:t>Note that simple arrays can contain a mixture of numbers and characters:</a:t>
            </a:r>
          </a:p>
          <a:p>
            <a:pPr marL="0" indent="0"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⍴A←12 'X' 25 'b'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ADB57-EA1D-34DB-89BD-E49D1D8A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631CFD3-3832-D706-E563-5BD1E92DD84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23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2055-20D8-4C70-414F-BCE60B7AE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67294F-AB2F-211B-5745-2017E4EA9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Individual elements of an array are scalar</a:t>
            </a:r>
          </a:p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To fit any array as an element of another array, it must be packaged up (enclosed) as a scalar.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843807-3E96-F2F0-9DC8-00A9BA28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4B4E852-D9B8-7187-50F8-A055369DD9D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54141-AEC7-92C6-FCBE-246B94E4B926}"/>
              </a:ext>
            </a:extLst>
          </p:cNvPr>
          <p:cNvSpPr txBox="1"/>
          <p:nvPr/>
        </p:nvSpPr>
        <p:spPr>
          <a:xfrm>
            <a:off x="345989" y="2736325"/>
            <a:ext cx="56989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3⍴(1 2)(3 4 5)('AB')(2 2⍴'CDEF')</a:t>
            </a:r>
          </a:p>
          <a:p>
            <a:r>
              <a:rPr lang="en-GB" dirty="0">
                <a:latin typeface="APL385 Unicode" panose="020B0709000202000203" pitchFamily="49" charset="0"/>
              </a:rPr>
              <a:t>┌───┬─────┬─────┐</a:t>
            </a:r>
          </a:p>
          <a:p>
            <a:r>
              <a:rPr lang="en-GB" dirty="0">
                <a:latin typeface="APL385 Unicode" panose="020B0709000202000203" pitchFamily="49" charset="0"/>
              </a:rPr>
              <a:t>│1 2│3 4 5│AB   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├───┼─────┼─────┤</a:t>
            </a:r>
          </a:p>
          <a:p>
            <a:r>
              <a:rPr lang="en-GB" dirty="0">
                <a:latin typeface="APL385 Unicode" panose="020B0709000202000203" pitchFamily="49" charset="0"/>
              </a:rPr>
              <a:t>│CD │1 2  │3 4 5│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│EF │     │     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└───┴─────┴─────┘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72155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E0391-125A-2F86-8D78-89DBE02F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00F6A5-7013-48B9-EEDF-D51FB7A55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300" b="1" i="1" dirty="0">
                <a:solidFill>
                  <a:srgbClr val="FF6600"/>
                </a:solidFill>
              </a:rPr>
              <a:t>Stranding</a:t>
            </a:r>
            <a:r>
              <a:rPr lang="en-GB" sz="2300" b="1" i="1" dirty="0">
                <a:solidFill>
                  <a:schemeClr val="tx1"/>
                </a:solidFill>
              </a:rPr>
              <a:t> </a:t>
            </a:r>
            <a:r>
              <a:rPr lang="en-GB" sz="2300" dirty="0">
                <a:solidFill>
                  <a:schemeClr val="tx1"/>
                </a:solidFill>
              </a:rPr>
              <a:t>is putting arrays next to each other forms a list</a:t>
            </a:r>
          </a:p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Non-simple arrays are implicitly </a:t>
            </a:r>
            <a:r>
              <a:rPr lang="en-GB" sz="2300" b="1" i="1" dirty="0">
                <a:solidFill>
                  <a:srgbClr val="FF6600"/>
                </a:solidFill>
              </a:rPr>
              <a:t>enclosed</a:t>
            </a:r>
            <a:r>
              <a:rPr lang="en-GB" sz="23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BA50B8-C4C0-B30A-7997-1827C71E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47C5EC9-8849-CB7D-6288-161569E3433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83C5B-05A5-47F0-899A-9466C7212029}"/>
              </a:ext>
            </a:extLst>
          </p:cNvPr>
          <p:cNvSpPr txBox="1"/>
          <p:nvPr/>
        </p:nvSpPr>
        <p:spPr>
          <a:xfrm>
            <a:off x="345989" y="2530074"/>
            <a:ext cx="40446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⍴A←12 'X' 25 'b'</a:t>
            </a:r>
          </a:p>
          <a:p>
            <a:r>
              <a:rPr lang="en-GB" dirty="0">
                <a:latin typeface="APL385 Unicode" panose="020B0709000202000203" pitchFamily="49" charset="0"/>
              </a:rPr>
              <a:t>4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⍴B←A 'a string' (⍳4)</a:t>
            </a:r>
          </a:p>
          <a:p>
            <a:r>
              <a:rPr lang="en-GB" dirty="0">
                <a:latin typeface="APL385 Unicode" panose="020B0709000202000203" pitchFamily="49" charset="0"/>
              </a:rPr>
              <a:t>3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B</a:t>
            </a:r>
          </a:p>
          <a:p>
            <a:r>
              <a:rPr lang="en-GB" dirty="0">
                <a:latin typeface="APL385 Unicode" panose="020B0709000202000203" pitchFamily="49" charset="0"/>
              </a:rPr>
              <a:t>┌→────────┬────────┬───────┐</a:t>
            </a:r>
          </a:p>
          <a:p>
            <a:r>
              <a:rPr lang="en-GB" dirty="0">
                <a:latin typeface="APL385 Unicode" panose="020B0709000202000203" pitchFamily="49" charset="0"/>
              </a:rPr>
              <a:t>│12 X 25 </a:t>
            </a:r>
            <a:r>
              <a:rPr lang="en-GB" dirty="0" err="1">
                <a:latin typeface="APL385 Unicode" panose="020B0709000202000203" pitchFamily="49" charset="0"/>
              </a:rPr>
              <a:t>b│a</a:t>
            </a:r>
            <a:r>
              <a:rPr lang="en-GB" dirty="0">
                <a:latin typeface="APL385 Unicode" panose="020B0709000202000203" pitchFamily="49" charset="0"/>
              </a:rPr>
              <a:t> string│1 2 3 4│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└+───────→┴───────→┴~─────→┘</a:t>
            </a:r>
          </a:p>
        </p:txBody>
      </p:sp>
    </p:spTree>
    <p:extLst>
      <p:ext uri="{BB962C8B-B14F-4D97-AF65-F5344CB8AC3E}">
        <p14:creationId xmlns:p14="http://schemas.microsoft.com/office/powerpoint/2010/main" val="347274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7D2E-3D2F-D60C-FCE3-E00B3894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701193-6135-6BA1-C2DE-AD9EE7A2C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	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⍴S← 'another string'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14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tx1"/>
                </a:solidFill>
              </a:rPr>
              <a:t>A single array can be explicitly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2000" b="1" i="1" dirty="0">
                <a:solidFill>
                  <a:srgbClr val="FF6600"/>
                </a:solidFill>
              </a:rPr>
              <a:t>enclosed</a:t>
            </a: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	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⊂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S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another string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	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⍴⊂S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50E542-A59D-B384-A0C2-8C189281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C608BF4-2F42-0586-5661-5FF67BF56A2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ight Arrow 2">
            <a:extLst>
              <a:ext uri="{FF2B5EF4-FFF2-40B4-BE49-F238E27FC236}">
                <a16:creationId xmlns:a16="http://schemas.microsoft.com/office/drawing/2014/main" id="{A62F322A-A415-FBDC-C17F-6F348CF3C5EC}"/>
              </a:ext>
            </a:extLst>
          </p:cNvPr>
          <p:cNvSpPr/>
          <p:nvPr/>
        </p:nvSpPr>
        <p:spPr bwMode="auto">
          <a:xfrm flipH="1">
            <a:off x="2739715" y="3935032"/>
            <a:ext cx="5263003" cy="702078"/>
          </a:xfrm>
          <a:prstGeom prst="rightArrow">
            <a:avLst/>
          </a:prstGeom>
          <a:solidFill>
            <a:srgbClr val="3B475E"/>
          </a:solidFill>
          <a:ln w="9525" cap="flat" cmpd="sng" algn="ctr">
            <a:solidFill>
              <a:srgbClr val="37353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The shape of a scalar is the empty numeric vector</a:t>
            </a:r>
          </a:p>
        </p:txBody>
      </p:sp>
    </p:spTree>
    <p:extLst>
      <p:ext uri="{BB962C8B-B14F-4D97-AF65-F5344CB8AC3E}">
        <p14:creationId xmlns:p14="http://schemas.microsoft.com/office/powerpoint/2010/main" val="1503902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E2DF-4304-AB0B-B2AE-49C55A8E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A3B3B7-6A2D-C422-9645-9D853EF6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]Disp 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reveals nesting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⊂1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┌─────┐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│1 2 3│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└~───→┘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52ABDA-04FC-7BE0-7AE5-18EF70BD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E453908-783F-4C72-A15D-5533AF903C6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29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F854-F736-0DAE-8C6B-4F6835BD4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CA9B2-9B16-45C7-0D58-EE5AA7D84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]Display 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for more detail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]display 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┌→────┐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│1 2 3│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└~────┘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]display ⊂1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┌─────────┐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 ┌→────┐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 │1 2 3│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 └~────┘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└∊────────┘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26CF56-1250-B43B-8BDF-9C4A0E29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CEC2F11-5244-40B0-E2C3-6EB3F4C996D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0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1544-C57F-3675-79C3-9F8B42C7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3C28F2-3215-DD04-636A-89CC684F7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Turn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]Boxing 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on to always show nesting with lines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]box on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Was OFF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⊂1 2 3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┌─────┐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│1 2 3│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└─────┘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3DA70-F1DE-9542-8D14-319C616A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57A394C-84B9-A8B3-C411-5127BFC4EBA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47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96AD-2D46-076C-B639-6AF8AC52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748FA3-7A25-CEB4-E49F-D96CD3A03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gives an APL expression the produces the array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A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12 'X' 25 'b'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]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B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(12 'X' 25 'b') 'a string' (1 2 3 4)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018E4-9B87-D5C2-F5E8-D476E614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3C25BD1-B36B-6169-5AD3-DCD756915C0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70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8F22-1F33-F89D-4AA1-04BB2645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D04299-1B36-8853-1747-87CC6854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300" dirty="0">
                <a:solidFill>
                  <a:schemeClr val="tx1"/>
                </a:solidFill>
              </a:rPr>
              <a:t>Indexing selects elements. Elements are scalar. Elements can be </a:t>
            </a:r>
            <a:r>
              <a:rPr lang="en-GB" sz="2300" b="1" i="1" dirty="0">
                <a:solidFill>
                  <a:srgbClr val="FF6600"/>
                </a:solidFill>
              </a:rPr>
              <a:t>disclosed</a:t>
            </a:r>
            <a:r>
              <a:rPr lang="en-GB" sz="23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73D137-A9E2-F284-3612-963ECCFB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47CABC4-363E-E48B-47D0-39182E313B1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0562E-E728-9A32-5BFE-55D624F833C5}"/>
              </a:ext>
            </a:extLst>
          </p:cNvPr>
          <p:cNvSpPr txBox="1"/>
          <p:nvPr/>
        </p:nvSpPr>
        <p:spPr>
          <a:xfrm>
            <a:off x="345989" y="2530074"/>
            <a:ext cx="17011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B[2]</a:t>
            </a:r>
          </a:p>
          <a:p>
            <a:r>
              <a:rPr lang="en-GB" dirty="0">
                <a:latin typeface="APL385 Unicode" panose="020B0709000202000203" pitchFamily="49" charset="0"/>
              </a:rPr>
              <a:t>┌────────┐</a:t>
            </a:r>
          </a:p>
          <a:p>
            <a:r>
              <a:rPr lang="en-GB" dirty="0">
                <a:latin typeface="APL385 Unicode" panose="020B0709000202000203" pitchFamily="49" charset="0"/>
              </a:rPr>
              <a:t>│a string│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└────────┘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⊃B[2]</a:t>
            </a:r>
          </a:p>
          <a:p>
            <a:r>
              <a:rPr lang="en-GB" dirty="0">
                <a:latin typeface="APL385 Unicode" panose="020B0709000202000203" pitchFamily="49" charset="0"/>
              </a:rPr>
              <a:t>a string</a:t>
            </a:r>
          </a:p>
        </p:txBody>
      </p:sp>
    </p:spTree>
    <p:extLst>
      <p:ext uri="{BB962C8B-B14F-4D97-AF65-F5344CB8AC3E}">
        <p14:creationId xmlns:p14="http://schemas.microsoft.com/office/powerpoint/2010/main" val="284750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FD11-7C19-1067-6725-1DED06F4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07F859-4D69-3F8C-E083-49DB1172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</a:t>
            </a:r>
            <a:r>
              <a:rPr lang="en-GB" sz="2000" i="1" dirty="0">
                <a:solidFill>
                  <a:srgbClr val="FF6600"/>
                </a:solidFill>
              </a:rPr>
              <a:t>disclose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of </a:t>
            </a:r>
            <a:r>
              <a:rPr lang="en-GB" sz="2000" i="1" dirty="0">
                <a:solidFill>
                  <a:srgbClr val="FF6600"/>
                </a:solidFill>
              </a:rPr>
              <a:t>enclose</a:t>
            </a:r>
            <a:r>
              <a:rPr lang="en-GB" sz="2000" i="1" dirty="0">
                <a:solidFill>
                  <a:schemeClr val="accent3">
                    <a:lumMod val="50000"/>
                  </a:schemeClr>
                </a:solidFill>
              </a:rPr>
              <a:t> returns the original array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S ≡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⊂S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	is </a:t>
            </a:r>
            <a:r>
              <a:rPr lang="en-GB" sz="2000" u="sng" dirty="0">
                <a:solidFill>
                  <a:schemeClr val="accent3">
                    <a:lumMod val="50000"/>
                  </a:schemeClr>
                </a:solidFill>
              </a:rPr>
              <a:t>always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true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758F10-5BDF-F2E3-C12B-7A5F1A6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C9711EC-8333-AC96-2D97-5F72180CBCA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116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2A5A-5E3D-5E54-6A98-6E6B0529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FE2F9-602C-7B0A-1470-A5CBD9849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Arrays in APL are always made of scalars (rank-0 arrays) as their elements.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2 2⍴⎕A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AB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CD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⍴(2 2⍴⎕A)[1;2]</a:t>
            </a:r>
          </a:p>
          <a:p>
            <a:pPr marL="0" indent="0">
              <a:spcAft>
                <a:spcPts val="0"/>
              </a:spcAft>
              <a:buNone/>
              <a:defRPr/>
            </a:pPr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≢⍴(2 2⍴⎕A)[1;2]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327A92-B3A5-CF3E-8671-11DE545F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7887DC9-0491-F366-808D-5479B0DE579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387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20A4-6240-F663-1632-6CB19444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E60218-1606-34BA-7E99-AE3AB11A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Nested arrays contain complex arrays as enclosed scalars.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2 2⍴B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┌─────────┬─────────┐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│12 X 25 </a:t>
            </a:r>
            <a:r>
              <a:rPr lang="en-GB" sz="20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b│a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string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├─────────┼─────────┤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│1 2 3 4  │12 X 25 b│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└─────────┴─────────┘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⍴(2 2⍴B)[1;2]</a:t>
            </a:r>
          </a:p>
          <a:p>
            <a:pPr marL="0" indent="0">
              <a:spcAft>
                <a:spcPts val="0"/>
              </a:spcAft>
              <a:buNone/>
              <a:defRPr/>
            </a:pPr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≢⍴(2 2⍴B)[1;2]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4722F8-B205-4F75-2FE5-894BFBCC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24B22A-2F13-C0E5-6C57-39F9876A7A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91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71AC-9865-BD2A-9A76-BD7A15D1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42296-8863-3FB1-DFF2-B73D8E84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 </a:t>
            </a:r>
            <a:r>
              <a:rPr lang="en-GB" sz="2000" b="1" i="1" dirty="0">
                <a:solidFill>
                  <a:srgbClr val="FF6600"/>
                </a:solidFill>
              </a:rPr>
              <a:t>simple scalar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is a single number or character, like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and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enclose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'A'≡⊂'A'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0073E0-A857-0334-644A-CB1BA515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51BCAD-F00E-6B84-7A59-8302C9A931D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93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367F-CF17-FACD-3987-0FF8B157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EE6EAD-0329-59A5-F817-87E5A4A99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 </a:t>
            </a:r>
            <a:r>
              <a:rPr lang="en-GB" sz="2000" b="1" i="1" dirty="0">
                <a:solidFill>
                  <a:srgbClr val="FF6600"/>
                </a:solidFill>
              </a:rPr>
              <a:t>simple scalar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is a single number or character, like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and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enclose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'A'≡⊂⊂'A'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F6766A-1C2B-F3DE-9337-0A41A947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F9E59C-83DC-1087-5F23-973A5E0E26C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466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4426-F254-44C4-768F-76B3D930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5E4B4C-7B57-AC2B-ED41-C34E7DFD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 </a:t>
            </a:r>
            <a:r>
              <a:rPr lang="en-GB" sz="2000" b="1" i="1" dirty="0">
                <a:solidFill>
                  <a:srgbClr val="FF6600"/>
                </a:solidFill>
              </a:rPr>
              <a:t>simple scalar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is a single number or character, like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and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enclose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'A'≡⊂⊂⊂'A'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E1F5A5-AA98-520B-70D6-B7ACD5B9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FCDA1C5-9393-A77E-07CE-19A14006063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405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E0444-DC85-EE1E-49A9-584674E0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3550C-5918-5E2E-7856-A5A05E837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 </a:t>
            </a:r>
            <a:r>
              <a:rPr lang="en-GB" sz="2000" b="1" i="1" dirty="0">
                <a:solidFill>
                  <a:srgbClr val="FF6600"/>
                </a:solidFill>
              </a:rPr>
              <a:t>simple scalar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is a single number or character, like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and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enclose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'A'≡⊂⊂⊂⊂⊂⊂⊂⊂⊂⊂⊂'A'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1359D-E395-DFEC-E17D-400B54A5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904BA20-1F34-8706-4CD9-6C70F9B1841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89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C527-475B-273C-5D96-A98268ED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BD338-9576-B39C-9DF4-0103A55F7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A </a:t>
            </a:r>
            <a:r>
              <a:rPr lang="en-GB" sz="2000" b="1" i="1" dirty="0">
                <a:solidFill>
                  <a:srgbClr val="FF6600"/>
                </a:solidFill>
              </a:rPr>
              <a:t>simple scalar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is a single number or character, like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 and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enclose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'A'≡⊂'A'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The disclose of a simple scalar is itself</a:t>
            </a:r>
          </a:p>
          <a:p>
            <a:pPr marL="0" indent="0">
              <a:buNone/>
              <a:defRPr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'A'≡⊃'A'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D0375-057B-E460-0850-D19D9655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E9C832C-C175-93D2-65DC-1AEC61B67FF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7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9EF7-BD8D-A795-22A5-5627A439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11FF9-4A1C-A097-C48C-52ACC9D7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Enclosing allows including a whole array as an element of another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x←2 3⍴⎕A   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⍝ x is a simple matrix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3⍴x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ABC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3⍴⊂x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┌───┬───┬───┐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│ABC│ABC│ABC│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│DEF│DEF│DEF│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└───┴───┴───┘</a:t>
            </a: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E869B6-FFFC-9615-642B-B84A71FC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AC27B2C-44EA-0C08-917F-169D4A3FE2A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77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07DB-C0E0-0043-F9F0-E8793E0C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A6AD81-C97A-5C23-F7C6-1B5E11036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GB" sz="2000" i="1" dirty="0"/>
              <a:t>Reduction</a:t>
            </a:r>
            <a:r>
              <a:rPr lang="en-GB" sz="2000" dirty="0"/>
              <a:t> always returns an array of reduced rank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+/3 1 4 1 5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14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	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sz="2000" dirty="0"/>
              <a:t>Reducing over a nested vector returns an </a:t>
            </a:r>
            <a:r>
              <a:rPr lang="en-GB" sz="2000" i="1" dirty="0"/>
              <a:t>enclosed</a:t>
            </a:r>
            <a:r>
              <a:rPr lang="en-GB" sz="2000" dirty="0"/>
              <a:t> scalar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+/(3 5 5)(8 1 2)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┌──────┐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│11 6 7│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└──────┘</a:t>
            </a:r>
          </a:p>
          <a:p>
            <a:pPr marL="0" indent="0">
              <a:spcAft>
                <a:spcPts val="0"/>
              </a:spcAft>
              <a:buNone/>
              <a:defRPr/>
            </a:pPr>
            <a:endParaRPr lang="en-GB" sz="2000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/>
              <a:t>You will often see the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⊃F/</a:t>
            </a:r>
            <a:r>
              <a:rPr lang="en-GB" sz="2000" dirty="0"/>
              <a:t> pattern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⊃(⊣,',',⊢)/'join' 'with' 'commas'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sz="2000" dirty="0" err="1">
                <a:latin typeface="APL385 Unicode" panose="020B0709000202000203" pitchFamily="49" charset="0"/>
              </a:rPr>
              <a:t>join,with,commas</a:t>
            </a:r>
            <a:endParaRPr lang="en-GB" sz="2000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FF1023-0F84-FD0B-0687-57EF6C46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GOTCHA! Reduction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54A8C2-E4D6-B1A0-4917-F8BDFFCEB70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333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A5C91-4FFE-F841-662C-B34E6F73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are "pervasive":</a:t>
            </a:r>
          </a:p>
          <a:p>
            <a:pPr marL="0" indent="0">
              <a:buNone/>
            </a:pPr>
            <a:br>
              <a:rPr lang="en-GB" sz="1100" dirty="0"/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(1 2 3) 10 × (4 5 6) (7 (8 9))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┌───────┬──────────┐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│4 10 18│┌──┬─────┐│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││70│80 90││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│└──┴─────┘│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└───────┴──────────┘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DA7909-6F73-DBC9-E6AF-F0BBFE5B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82EB68E-5F7F-3FE0-7D2B-6810FE0F578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241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5F5D-25F6-9A3D-97E7-7CC9A1E4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8ADD04-4E05-1FA5-1F5A-6D83A8AB1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are "pervasive":</a:t>
            </a:r>
          </a:p>
          <a:p>
            <a:pPr marL="0" indent="0">
              <a:buNone/>
            </a:pPr>
            <a:br>
              <a:rPr lang="en-GB" sz="1100" dirty="0"/>
            </a:br>
            <a:r>
              <a:rPr lang="en-GB" dirty="0">
                <a:latin typeface="APL385 Unicode" panose="020B0709000202000203" pitchFamily="49" charset="0"/>
              </a:rPr>
              <a:t>      (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1 2 3</a:t>
            </a:r>
            <a:r>
              <a:rPr lang="en-GB" dirty="0">
                <a:latin typeface="APL385 Unicode" panose="020B0709000202000203" pitchFamily="49" charset="0"/>
              </a:rPr>
              <a:t>) 10 × (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4 5 6</a:t>
            </a:r>
            <a:r>
              <a:rPr lang="en-GB" dirty="0">
                <a:latin typeface="APL385 Unicode" panose="020B0709000202000203" pitchFamily="49" charset="0"/>
              </a:rPr>
              <a:t>) (7 (8 9))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┌───────┬──────────┐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4 10 18</a:t>
            </a:r>
            <a:r>
              <a:rPr lang="en-GB" dirty="0">
                <a:latin typeface="APL385 Unicode" panose="020B0709000202000203" pitchFamily="49" charset="0"/>
              </a:rPr>
              <a:t>│┌──┬─────┐│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││70│80 90││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│└──┴─────┘│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└───────┴──────────┘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1761D6-6F2B-81FE-7853-7FF3E03B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08D8AD6-D380-3217-A40F-7D0FDA11F96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751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A67C-35C8-3DCD-F633-09BA82CA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4324D4-B234-73A9-5CD3-A79A8BDA9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are "pervasive":</a:t>
            </a:r>
          </a:p>
          <a:p>
            <a:pPr marL="0" indent="0">
              <a:buNone/>
            </a:pPr>
            <a:br>
              <a:rPr lang="en-GB" sz="1100" dirty="0"/>
            </a:br>
            <a:r>
              <a:rPr lang="en-GB" dirty="0">
                <a:latin typeface="APL385 Unicode" panose="020B0709000202000203" pitchFamily="49" charset="0"/>
              </a:rPr>
              <a:t>      (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1 2 3</a:t>
            </a:r>
            <a:r>
              <a:rPr lang="en-GB" dirty="0">
                <a:latin typeface="APL385 Unicode" panose="020B0709000202000203" pitchFamily="49" charset="0"/>
              </a:rPr>
              <a:t>)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10</a:t>
            </a:r>
            <a:r>
              <a:rPr lang="en-GB" dirty="0">
                <a:latin typeface="APL385 Unicode" panose="020B0709000202000203" pitchFamily="49" charset="0"/>
              </a:rPr>
              <a:t> × (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4 5 6</a:t>
            </a:r>
            <a:r>
              <a:rPr lang="en-GB" dirty="0">
                <a:latin typeface="APL385 Unicode" panose="020B0709000202000203" pitchFamily="49" charset="0"/>
              </a:rPr>
              <a:t>) (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7 (8 9</a:t>
            </a:r>
            <a:r>
              <a:rPr lang="en-GB" dirty="0">
                <a:latin typeface="APL385 Unicode" panose="020B0709000202000203" pitchFamily="49" charset="0"/>
              </a:rPr>
              <a:t>))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┌───────┬──────────┐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4 10 18</a:t>
            </a:r>
            <a:r>
              <a:rPr lang="en-GB" dirty="0">
                <a:latin typeface="APL385 Unicode" panose="020B0709000202000203" pitchFamily="49" charset="0"/>
              </a:rPr>
              <a:t>│┌──┬─────┐│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││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70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80 90</a:t>
            </a:r>
            <a:r>
              <a:rPr lang="en-GB" dirty="0">
                <a:latin typeface="APL385 Unicode" panose="020B0709000202000203" pitchFamily="49" charset="0"/>
              </a:rPr>
              <a:t>││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       │└──┴─────┘│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└───────┴──────────┘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90AD2-CCBC-2386-DCEB-C798E7B8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99D8673-2841-F084-FF5B-BF3FC7D9E8C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26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DA7E-B198-95E5-BE48-6CB70610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FCC1CD-8801-762A-2FB4-C2836DA0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56C8BB-2BAA-BE35-E780-D2EC2BB5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2D66A1C-C017-7039-247C-C589CD699E7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EA0AE-29E8-3427-A611-7E693119283C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B12BC-645A-12F6-81AE-89DA087CAEC4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23588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0D69-B445-D5E5-4E62-4F433FA0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3DED2-36DB-0138-9944-DE4A3210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930E28-6755-7AE8-ECAD-94FCD804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84D42B7-66E4-D3E7-0D46-C9C44D1E47B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A9D71-5BD6-F535-BFB9-3637705FCF02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ED0E8-F041-B7A7-2A7F-D879999D6630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3128AD-87C7-FA4B-0B84-B0DE86C478E9}"/>
              </a:ext>
            </a:extLst>
          </p:cNvPr>
          <p:cNvSpPr/>
          <p:nvPr/>
        </p:nvSpPr>
        <p:spPr>
          <a:xfrm>
            <a:off x="265098" y="2280341"/>
            <a:ext cx="963637" cy="717453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AC600D-6EFC-0B88-6B7A-5FA2C85E6911}"/>
              </a:ext>
            </a:extLst>
          </p:cNvPr>
          <p:cNvSpPr/>
          <p:nvPr/>
        </p:nvSpPr>
        <p:spPr>
          <a:xfrm>
            <a:off x="3896757" y="2280340"/>
            <a:ext cx="963637" cy="717453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376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8C70-AEC0-A685-F7B3-5D0BA306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A4E1F9-FF9E-A2F0-082A-AAD68C54F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59B44-173F-3DB6-6B49-1BDD2B0D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212BB3F-A348-8A90-BE7D-8424B28AF68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9416C-5736-F995-9ADA-02E44ED0C86A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D0036-C32C-1F21-7F07-43F9E1CC6527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7AF77D-EC1B-7A87-82BA-CC91ADBCC159}"/>
              </a:ext>
            </a:extLst>
          </p:cNvPr>
          <p:cNvSpPr/>
          <p:nvPr/>
        </p:nvSpPr>
        <p:spPr>
          <a:xfrm>
            <a:off x="4795451" y="2406317"/>
            <a:ext cx="407165" cy="426474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0122E9-4C07-CB98-ABAE-DC0D58B9851F}"/>
              </a:ext>
            </a:extLst>
          </p:cNvPr>
          <p:cNvSpPr/>
          <p:nvPr/>
        </p:nvSpPr>
        <p:spPr>
          <a:xfrm>
            <a:off x="2061512" y="2406317"/>
            <a:ext cx="407165" cy="426474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581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70BA-53E4-4222-4CB7-52B97E50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CBF9A0-C236-C34E-1770-9F4397AFC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93D29-FE88-53FF-F66B-36B90552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FBDB69A-57A6-EBEC-7775-03BB907AB53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56C83-8FE9-8A6C-9357-7E6316AA6386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FB361-A0B5-07E7-094C-D3BD01FF0CB2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199BD-F8EA-36B3-8AE3-400705213231}"/>
              </a:ext>
            </a:extLst>
          </p:cNvPr>
          <p:cNvSpPr/>
          <p:nvPr/>
        </p:nvSpPr>
        <p:spPr>
          <a:xfrm>
            <a:off x="2771786" y="2280340"/>
            <a:ext cx="796438" cy="909747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514141-2E16-024E-FA3E-D2D891D4357F}"/>
              </a:ext>
            </a:extLst>
          </p:cNvPr>
          <p:cNvSpPr/>
          <p:nvPr/>
        </p:nvSpPr>
        <p:spPr>
          <a:xfrm>
            <a:off x="5698488" y="2213023"/>
            <a:ext cx="2448610" cy="1822712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690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F5586-282C-EE25-3905-DD54823C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93E493-81DC-5113-C7A4-C442F204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E8B1FC-1A32-3865-3E34-C3053496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DF471F-AB48-FDCF-1733-B3F4E740EC2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78E05-2F57-AE41-9C12-D973A4060FFB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C3385-0915-719A-5BF5-443A98B2A09B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FC23EA-6ADD-D306-A723-F2B749843426}"/>
              </a:ext>
            </a:extLst>
          </p:cNvPr>
          <p:cNvSpPr/>
          <p:nvPr/>
        </p:nvSpPr>
        <p:spPr>
          <a:xfrm>
            <a:off x="323526" y="3124379"/>
            <a:ext cx="1682293" cy="1165738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67615C-EF87-5F24-78A6-5DB4D00B64BF}"/>
              </a:ext>
            </a:extLst>
          </p:cNvPr>
          <p:cNvSpPr/>
          <p:nvPr/>
        </p:nvSpPr>
        <p:spPr>
          <a:xfrm>
            <a:off x="3875929" y="3860297"/>
            <a:ext cx="1019204" cy="685535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11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44182-E441-A854-1101-AF0A3E74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041FA5-9324-B147-1471-CF052BE2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53622-010B-E426-A66F-FACED3DD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B84C842-B054-65B0-276D-3676E21FF10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0872F-EE92-42B2-161D-158BE06660D1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1A4F7-E567-70BB-4B94-15631B36EAA0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473CF9-E9D3-84CB-F064-0A42C3724D96}"/>
              </a:ext>
            </a:extLst>
          </p:cNvPr>
          <p:cNvSpPr/>
          <p:nvPr/>
        </p:nvSpPr>
        <p:spPr>
          <a:xfrm>
            <a:off x="2083755" y="3107070"/>
            <a:ext cx="845076" cy="639905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8C52BF-9D32-3488-B4CB-07DE15EBFE97}"/>
              </a:ext>
            </a:extLst>
          </p:cNvPr>
          <p:cNvSpPr/>
          <p:nvPr/>
        </p:nvSpPr>
        <p:spPr>
          <a:xfrm>
            <a:off x="4783458" y="3860297"/>
            <a:ext cx="1019204" cy="685535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3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2C85-D8DC-BD50-30BD-AE9CA1DB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9E00BE-0AF8-31C4-3884-34A0491E6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953192"/>
            <a:ext cx="6633864" cy="355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Scalar functions expect conformable shapes at every level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B3C825-9823-DEC2-CADA-88C1EDEC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BDCC62B-48BF-0295-990D-19B27B09C9A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9A00A-4D5A-75A7-3953-F268A133A7C1}"/>
              </a:ext>
            </a:extLst>
          </p:cNvPr>
          <p:cNvSpPr txBox="1"/>
          <p:nvPr/>
        </p:nvSpPr>
        <p:spPr>
          <a:xfrm>
            <a:off x="103763" y="1881143"/>
            <a:ext cx="38651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a1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┌→────┐                   ┌→──┐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│1 2 3│           10      ↓1 2│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└~────┘                   │3 4│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        └~──┘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┌→──────────────┐ ┌→────┐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 ┌→──┐   ┌→──┐ │ │1 2 3│ 10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│1 2│ 6 ↓5 6│ │ └~────┘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└~──┘   │7 8│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         └~──┘ │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└∊──────────────┘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0ACDB-A209-F10E-12D3-4AB4AE8CEEC1}"/>
              </a:ext>
            </a:extLst>
          </p:cNvPr>
          <p:cNvSpPr txBox="1"/>
          <p:nvPr/>
        </p:nvSpPr>
        <p:spPr>
          <a:xfrm>
            <a:off x="3735422" y="1881143"/>
            <a:ext cx="48897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PL385 Unicode" panose="020B0709000202000203" pitchFamily="49" charset="0"/>
              </a:rPr>
              <a:t>      ]display a2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┌→──────────────────────────────────────────┐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↓ ┌→─────┐          ┌→────────────────────┐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│0 1 ¯1│ 10       ↓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         │ │1 1 1 1│ │1 1 1 2│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┌→──────┐ ┌→──────┐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│1 1 1 3│ │1 1 1 4│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│ └~──────┘ └~──────┘ │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                  └∊────────────────────┘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┌→─────┐ ┌→─────┐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↓0 1 ¯1│ │0 1 ¯1│ 10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│ └~─────┘ └~─────┘                         │</a:t>
            </a:r>
          </a:p>
          <a:p>
            <a:r>
              <a:rPr lang="en-GB" sz="1300" dirty="0">
                <a:latin typeface="APL385 Unicode" panose="020B0709000202000203" pitchFamily="49" charset="0"/>
              </a:rPr>
              <a:t>└∊──────────────────────────────────────────┘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1999C6-A5F7-A846-26FB-BA9E13B93630}"/>
              </a:ext>
            </a:extLst>
          </p:cNvPr>
          <p:cNvSpPr/>
          <p:nvPr/>
        </p:nvSpPr>
        <p:spPr>
          <a:xfrm>
            <a:off x="5699532" y="4039056"/>
            <a:ext cx="371260" cy="355524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B27D29-AEB8-DD97-E324-B3EB2B67FA5F}"/>
              </a:ext>
            </a:extLst>
          </p:cNvPr>
          <p:cNvSpPr/>
          <p:nvPr/>
        </p:nvSpPr>
        <p:spPr>
          <a:xfrm>
            <a:off x="2861225" y="3248290"/>
            <a:ext cx="371260" cy="355524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9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C828-17A0-9F1C-FA39-3491CF12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A00A50-5BCB-7559-813D-FC208451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9B90726-B3AE-ECC5-446A-B105DE357AA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403BC-E051-BD43-42D6-735BE07DFD6E}"/>
              </a:ext>
            </a:extLst>
          </p:cNvPr>
          <p:cNvSpPr txBox="1"/>
          <p:nvPr/>
        </p:nvSpPr>
        <p:spPr>
          <a:xfrm>
            <a:off x="463330" y="859227"/>
            <a:ext cx="386512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PL385 Unicode" panose="020B0709000202000203" pitchFamily="49" charset="0"/>
              </a:rPr>
              <a:t>      a1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┌───────────┬─────┬───┐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│1 2 3      │10   │1 2│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     │     │3 4│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├───────────┼─────┼───┤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│┌───┬─┬───┐│1 2 3│10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││1 2│6│5 6││     │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││   │ │7 8││     │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│└───┴─┴───┘│     │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└───────────┴─────┴───┘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7E8077-7C39-73CF-D70D-5916703DD3F6}"/>
              </a:ext>
            </a:extLst>
          </p:cNvPr>
          <p:cNvSpPr txBox="1"/>
          <p:nvPr/>
        </p:nvSpPr>
        <p:spPr>
          <a:xfrm>
            <a:off x="3869906" y="859228"/>
            <a:ext cx="373452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PL385 Unicode" panose="020B0709000202000203" pitchFamily="49" charset="0"/>
              </a:rPr>
              <a:t>      a2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┌──────┬──────┬─────────────────┐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│0 1 ¯1│10    │┌───────┬───────┐│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│      ││1 1 1 1│1 1 1 2││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│      │├───────┼───────┤│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│      ││1 1 1 3│1 1 1 4││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│      │└───────┴───────┘│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├──────┼──────┼─────────────────┤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│0 1 ¯1│0 1 ¯1│10            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└──────┴──────┴─────────────────┘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682DA-4F02-8625-3B0E-8053E31037EB}"/>
              </a:ext>
            </a:extLst>
          </p:cNvPr>
          <p:cNvSpPr txBox="1"/>
          <p:nvPr/>
        </p:nvSpPr>
        <p:spPr>
          <a:xfrm>
            <a:off x="1625656" y="2508008"/>
            <a:ext cx="436098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PL385 Unicode" panose="020B0709000202000203" pitchFamily="49" charset="0"/>
              </a:rPr>
              <a:t>      a1 × a2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┌─────────────┬──────┬──────────────────┐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│0 2 ¯3       │100   │┌───────┬────────┐│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       │      ││1 1 1 1│2 2 2 4 ││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       │      │├───────┼────────┤│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       │      ││3 3 3 9│4 4 4 16││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             │      │└───────┴────────┘│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├─────────────┼──────┼──────────────────┤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│┌───┬─┬─────┐│0 2 ¯3│100            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││0 0│6│¯5 ¯6││      │               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││   │ │¯7 ¯8││      │               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│└───┴─┴─────┘│      │                  │</a:t>
            </a:r>
          </a:p>
          <a:p>
            <a:r>
              <a:rPr lang="en-GB" sz="1100" dirty="0">
                <a:latin typeface="APL385 Unicode" panose="020B0709000202000203" pitchFamily="49" charset="0"/>
              </a:rPr>
              <a:t>└─────────────┴──────┴──────────────────┘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798621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DF82A3-03EF-38AA-77E7-8CF4E0F5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/>
              <a:t>The depth function returns the depth of an array. The absolute value of depth  </a:t>
            </a:r>
            <a:r>
              <a:rPr lang="en-GB" dirty="0">
                <a:latin typeface="APL385 Unicode" panose="020B0709000202000203" pitchFamily="49" charset="0"/>
              </a:rPr>
              <a:t>|≡⍵</a:t>
            </a:r>
            <a:r>
              <a:rPr lang="en-GB" dirty="0"/>
              <a:t>  is the level of nesting, starting at 0 for simple scalars.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/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≡'a'  ⍝ Simple scalar has depth 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≡x    ⍝ Simple matrix has depth 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≢⍴x   ⍝ Simple matrix has rank 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≡⊂x   ⍝ Enclosing increases the depth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≡⊂⊂x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3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≡⊂⊂⊂x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D7B5C1-B534-6D37-71A7-65221AF4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≡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497446F-D8DA-A71F-89F7-9E60CF60AA8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FEDA64-2478-D789-8282-C983C72984A7}"/>
              </a:ext>
            </a:extLst>
          </p:cNvPr>
          <p:cNvSpPr/>
          <p:nvPr/>
        </p:nvSpPr>
        <p:spPr>
          <a:xfrm>
            <a:off x="5165313" y="2031224"/>
            <a:ext cx="3259731" cy="1793900"/>
          </a:xfrm>
          <a:prstGeom prst="roundRect">
            <a:avLst/>
          </a:prstGeom>
          <a:solidFill>
            <a:srgbClr val="3B475E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Pop Quiz!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What is</a:t>
            </a:r>
          </a:p>
          <a:p>
            <a:pPr algn="ctr"/>
            <a:r>
              <a:rPr lang="en-GB" dirty="0">
                <a:latin typeface="APL385 Unicode" panose="020B0709000202000203" pitchFamily="49" charset="0"/>
              </a:rPr>
              <a:t>≡⊂⊂⊂42</a:t>
            </a:r>
          </a:p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879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4CC7B-B231-7847-E96C-699CF717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800AF4-E296-02F1-F78E-893D4C5E8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/>
              <a:t>Negative depth indicates uneven nesting.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/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≡(1 2)(3 4)         ⍝ Evenly nested arrays have positive depth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≡(1 2)(3 4 (4 5))   ⍝ Unevenly nested arrays have negative depth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¯3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A3F9C1-4941-6D34-C908-F659ABAA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≡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D20A9AD-789C-94A8-6C9A-2E838E06EE9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471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BC74-8433-4749-D95F-172A2162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767622-1338-D380-36D0-53F428FAA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/>
              <a:t>The absolute value of depth  </a:t>
            </a:r>
            <a:r>
              <a:rPr lang="en-GB" dirty="0">
                <a:latin typeface="APL385 Unicode" panose="020B0709000202000203" pitchFamily="49" charset="0"/>
              </a:rPr>
              <a:t>|≡A </a:t>
            </a:r>
            <a:r>
              <a:rPr lang="en-GB" dirty="0"/>
              <a:t> is the level of nesting, starting at 0 for simple scalars.</a:t>
            </a:r>
          </a:p>
          <a:p>
            <a:pPr marL="0" indent="0">
              <a:spcAft>
                <a:spcPts val="400"/>
              </a:spcAft>
              <a:buNone/>
              <a:defRPr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≡ S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stranding encloses implicitly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≡ (⊂S),⊂S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≡ 32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the depth of a scalar is 0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]display 32 S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┌→──────────────────┐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┌→───────────┐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32 │simple array│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└────────────┘ │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└∊──────────────────┘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≡ 32 S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uneven depth: deepest level, negated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¯2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7BC95A-8954-FCF5-A43E-A2463AE7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≡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C6B117A-F445-4BB3-BC07-2243FD4D40D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811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7367-9637-2C24-18B2-1267C313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4FF105-F0B5-97AA-2BED-7C37DB4CA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Depth is 1 for ALL arrays of simple scalars (simple arrays):</a:t>
            </a:r>
          </a:p>
          <a:p>
            <a:pPr marL="0" indent="0">
              <a:buNone/>
              <a:defRPr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≡ 'A' 'B' ⍝ vector of 2 chars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≡ 'AB'    ⍝ same thing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≡ 32 'A'  ⍝ mixed vector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≡ 2 2⍴32 ¯1.6 0 1E99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4E0512-0A1B-4F6A-D25A-22C2B81E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≡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F4139F4-BDE0-63C9-AD76-F369CAEF59E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753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837C-CF43-A09E-815D-63653B05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D5FE1B-E657-A8C8-E096-3EF11EDA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Pick both selects AND discloses:</a:t>
            </a:r>
          </a:p>
          <a:p>
            <a:pPr marL="0" indent="0">
              <a:buNone/>
              <a:defRPr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Instead of: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⊃V[scalar]</a:t>
            </a:r>
          </a:p>
          <a:p>
            <a:pPr marL="0" indent="0">
              <a:buNone/>
              <a:defRPr/>
            </a:pPr>
            <a:r>
              <a:rPr lang="da-DK" dirty="0">
                <a:solidFill>
                  <a:schemeClr val="tx1"/>
                </a:solidFill>
              </a:rPr>
              <a:t>W</a:t>
            </a:r>
            <a:r>
              <a:rPr lang="en-GB" dirty="0">
                <a:solidFill>
                  <a:schemeClr val="tx1"/>
                </a:solidFill>
              </a:rPr>
              <a:t>e can use pick: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scalar⊃V</a:t>
            </a:r>
            <a:endParaRPr lang="en-GB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963FAD-92A5-2B5C-E8EB-D2DEE223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Pick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CAADD70-068B-AE33-BCE2-D82FA01231C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263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D9C2D-3AD9-84C4-2B56-8C4BAE03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F3F3FA-8A47-340E-E19D-4F293ED54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Pick can be used to reach into nested arrays: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'Hello' 'Clinton'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Clinton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'Hello' 'Clinton'</a:t>
            </a:r>
          </a:p>
          <a:p>
            <a:pPr marL="0" indent="0">
              <a:buNone/>
              <a:defRPr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i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  <a:defRPr/>
            </a:pPr>
            <a:r>
              <a:rPr lang="en-GB" dirty="0"/>
              <a:t>Each element of a vector left argument picks one level deeper into the right argument.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1A76F5-999F-42D6-91ED-124A61C2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Pick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D0E639D-A47E-53E6-2FCF-0C86C4794BC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931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82E44-2134-67D9-0730-1EA86065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25B05E-0F12-F184-CE3A-668846A46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086280"/>
            <a:ext cx="8474484" cy="3420685"/>
          </a:xfrm>
        </p:spPr>
        <p:txBody>
          <a:bodyPr>
            <a:normAutofit fontScale="55000" lnSpcReduction="20000"/>
          </a:bodyPr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Pick also applies to higher rank arrays:</a:t>
            </a:r>
          </a:p>
          <a:p>
            <a:pPr marL="0" indent="0">
              <a:spcAft>
                <a:spcPts val="400"/>
              </a:spcAft>
              <a:buNone/>
              <a:defRPr/>
            </a:pPr>
            <a:endParaRPr lang="en-GB" dirty="0">
              <a:solidFill>
                <a:srgbClr val="E19205"/>
              </a:solidFill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	A←A ∘., A←'ABC'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┌→─┬──┬──┐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↓AA│AB│AC│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├─→┼─→┼─→┤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│BA│BB│BC│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├─→┼─→┼─→┤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│CA│CB│CC│</a:t>
            </a:r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└─→┴─→┴─→┘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(3 2) 1 ⊃ A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  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(⊂2 3) ⊃ A   ⍝ Why not just    2 3 ⊃ A    ?</a:t>
            </a: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BC</a:t>
            </a:r>
          </a:p>
          <a:p>
            <a:pPr marL="0" indent="0">
              <a:spcAft>
                <a:spcPts val="400"/>
              </a:spcAft>
              <a:buNone/>
              <a:defRPr/>
            </a:pPr>
            <a:endParaRPr lang="en-GB" dirty="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GB" dirty="0"/>
              <a:t>At each level of picking, we must match the dimensionality of the item being picked.   </a:t>
            </a:r>
            <a:r>
              <a:rPr lang="en-GB" dirty="0">
                <a:latin typeface="APL385 Unicode" panose="020B0709000202000203" pitchFamily="49" charset="0"/>
              </a:rPr>
              <a:t>≢indices ←→ ≢⍴subarray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1D56C-3933-E221-3EC8-9F1D5BE9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Pick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8FF39F-5D4A-8801-4EA3-F5E31179E4F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61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ECA48E-7DA8-9BF3-5317-CA78051AE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⍵</a:t>
            </a:r>
            <a:r>
              <a:rPr lang="en-GB" dirty="0">
                <a:solidFill>
                  <a:schemeClr val="tx1"/>
                </a:solidFill>
              </a:rPr>
              <a:t> discloses a single element.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Applied to an array, it is called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b="1" i="1" dirty="0">
                <a:solidFill>
                  <a:srgbClr val="FF6600"/>
                </a:solidFill>
              </a:rPr>
              <a:t>first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and discloses the first element of any array: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⊃(1 2 3) 'APL'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</a:t>
            </a:r>
          </a:p>
          <a:p>
            <a:pPr marL="0" indent="0">
              <a:buNone/>
              <a:defRPr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Mix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↑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⍵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en-GB" dirty="0">
                <a:solidFill>
                  <a:schemeClr val="tx1"/>
                </a:solidFill>
              </a:rPr>
              <a:t>discloses </a:t>
            </a:r>
            <a:r>
              <a:rPr lang="en-GB" b="1" dirty="0">
                <a:solidFill>
                  <a:schemeClr val="tx1"/>
                </a:solidFill>
              </a:rPr>
              <a:t>all</a:t>
            </a:r>
            <a:r>
              <a:rPr lang="en-GB" dirty="0">
                <a:solidFill>
                  <a:schemeClr val="tx1"/>
                </a:solidFill>
              </a:rPr>
              <a:t> the elements and laminates the results:</a:t>
            </a:r>
          </a:p>
          <a:p>
            <a:pPr marL="0" indent="0">
              <a:buNone/>
              <a:defRPr/>
            </a:pPr>
            <a:r>
              <a:rPr lang="pt-BR" dirty="0">
                <a:solidFill>
                  <a:srgbClr val="00B050"/>
                </a:solidFill>
                <a:latin typeface="APL385 Unicode" panose="020B0709000202000203" pitchFamily="49" charset="0"/>
              </a:rPr>
              <a:t>      ↑(1 2 3) 'APL'</a:t>
            </a:r>
          </a:p>
          <a:p>
            <a:pPr marL="0" indent="0">
              <a:buNone/>
              <a:defRPr/>
            </a:pP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</a:t>
            </a:r>
          </a:p>
          <a:p>
            <a:pPr marL="0" indent="0">
              <a:buNone/>
              <a:defRPr/>
            </a:pP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 P L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A0E48-E607-A4A6-3F41-2BBC23E2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Disclosing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07F433-9463-8CDA-6A79-1265145E690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156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2B9E6-2CB8-539C-8AAD-355748C0D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]</a:t>
            </a:r>
            <a:r>
              <a:rPr lang="en-GB" dirty="0" err="1">
                <a:latin typeface="APL385 Unicode" panose="020B0709000202000203" pitchFamily="49" charset="0"/>
              </a:rPr>
              <a:t>disp</a:t>
            </a:r>
            <a:r>
              <a:rPr lang="en-GB" dirty="0">
                <a:latin typeface="APL385 Unicode" panose="020B0709000202000203" pitchFamily="49" charset="0"/>
              </a:rPr>
              <a:t>  3↑(1 2 3) 'APL'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┌→────┬───┬─────┐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1 2 3</a:t>
            </a:r>
            <a:r>
              <a:rPr lang="en-GB" dirty="0">
                <a:latin typeface="APL385 Unicode" panose="020B0709000202000203" pitchFamily="49" charset="0"/>
              </a:rPr>
              <a:t>│APL│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0 0 0</a:t>
            </a:r>
            <a:r>
              <a:rPr lang="en-GB" dirty="0">
                <a:latin typeface="APL385 Unicode" pitchFamily="49" charset="0"/>
              </a:rPr>
              <a:t>│</a:t>
            </a:r>
            <a:br>
              <a:rPr lang="en-GB" dirty="0">
                <a:latin typeface="APL385 Unicode" pitchFamily="49" charset="0"/>
              </a:rPr>
            </a:br>
            <a:r>
              <a:rPr lang="en-GB" dirty="0">
                <a:latin typeface="APL385 Unicode" pitchFamily="49" charset="0"/>
              </a:rPr>
              <a:t>└~───→┴──→┴~───→┘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	]</a:t>
            </a:r>
            <a:r>
              <a:rPr lang="en-GB" dirty="0" err="1">
                <a:latin typeface="APL385 Unicode" pitchFamily="49" charset="0"/>
              </a:rPr>
              <a:t>disp</a:t>
            </a:r>
            <a:r>
              <a:rPr lang="en-GB" dirty="0">
                <a:latin typeface="APL385 Unicode" pitchFamily="49" charset="0"/>
              </a:rPr>
              <a:t>  1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latin typeface="APL385 Unicode" panose="020B0709000202000203" pitchFamily="49" charset="0"/>
              </a:rPr>
              <a:t> 1\'</a:t>
            </a:r>
            <a:r>
              <a:rPr lang="en-GB" dirty="0" err="1">
                <a:latin typeface="APL385 Unicode" panose="020B0709000202000203" pitchFamily="49" charset="0"/>
              </a:rPr>
              <a:t>apl</a:t>
            </a:r>
            <a:r>
              <a:rPr lang="en-GB" dirty="0">
                <a:latin typeface="APL385 Unicode" panose="020B0709000202000203" pitchFamily="49" charset="0"/>
              </a:rPr>
              <a:t>' (1 2 3) 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┌→──┬───┬─────┐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apl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  </a:t>
            </a:r>
            <a:r>
              <a:rPr lang="en-GB" dirty="0">
                <a:latin typeface="APL385 Unicode" pitchFamily="49" charset="0"/>
              </a:rPr>
              <a:t>│1 2 3│</a:t>
            </a:r>
            <a:br>
              <a:rPr lang="en-GB" dirty="0">
                <a:latin typeface="APL385 Unicode" pitchFamily="49" charset="0"/>
              </a:rPr>
            </a:br>
            <a:r>
              <a:rPr lang="en-GB" dirty="0">
                <a:latin typeface="APL385 Unicode" pitchFamily="49" charset="0"/>
              </a:rPr>
              <a:t>└──→┴──→┴~───→┘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261DFC-1EC3-E97A-E4AC-4E7A91FA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Prototypes of Nested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09F8B5F-705A-D685-161C-B7C14E539B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3BF6263-18D2-2F39-87C7-8CBB2EA5CC6A}"/>
              </a:ext>
            </a:extLst>
          </p:cNvPr>
          <p:cNvSpPr/>
          <p:nvPr/>
        </p:nvSpPr>
        <p:spPr bwMode="auto">
          <a:xfrm flipH="1">
            <a:off x="3437904" y="1927758"/>
            <a:ext cx="5182584" cy="810090"/>
          </a:xfrm>
          <a:prstGeom prst="rightArrow">
            <a:avLst/>
          </a:prstGeom>
          <a:solidFill>
            <a:srgbClr val="3B47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1</a:t>
            </a:r>
            <a:r>
              <a:rPr lang="en-GB" baseline="30000" dirty="0">
                <a:solidFill>
                  <a:schemeClr val="bg1"/>
                </a:solidFill>
                <a:latin typeface="+mj-lt"/>
                <a:cs typeface="Arial" charset="0"/>
              </a:rPr>
              <a:t>st</a:t>
            </a: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 element is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1 2 3</a:t>
            </a: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 ∴ prototype is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0 0 0</a:t>
            </a:r>
          </a:p>
        </p:txBody>
      </p:sp>
      <p:sp>
        <p:nvSpPr>
          <p:cNvPr id="6" name="Right Arrow 4">
            <a:extLst>
              <a:ext uri="{FF2B5EF4-FFF2-40B4-BE49-F238E27FC236}">
                <a16:creationId xmlns:a16="http://schemas.microsoft.com/office/drawing/2014/main" id="{0EBE00C3-5CF1-9889-E950-880DD7DF4DC8}"/>
              </a:ext>
            </a:extLst>
          </p:cNvPr>
          <p:cNvSpPr/>
          <p:nvPr/>
        </p:nvSpPr>
        <p:spPr bwMode="auto">
          <a:xfrm flipH="1">
            <a:off x="3038475" y="3426358"/>
            <a:ext cx="5807161" cy="810090"/>
          </a:xfrm>
          <a:prstGeom prst="rightArrow">
            <a:avLst/>
          </a:prstGeom>
          <a:solidFill>
            <a:srgbClr val="3B47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1</a:t>
            </a:r>
            <a:r>
              <a:rPr lang="en-GB" baseline="30000" dirty="0">
                <a:solidFill>
                  <a:schemeClr val="bg1"/>
                </a:solidFill>
                <a:latin typeface="+mj-lt"/>
                <a:cs typeface="Arial" charset="0"/>
              </a:rPr>
              <a:t>st</a:t>
            </a: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 element is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'</a:t>
            </a:r>
            <a:r>
              <a:rPr lang="en-GB" dirty="0" err="1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apl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'</a:t>
            </a: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 ∴ prototype is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  <a:cs typeface="Arial" charset="0"/>
              </a:rPr>
              <a:t>'   '</a:t>
            </a: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 (3 spaces)</a:t>
            </a:r>
          </a:p>
        </p:txBody>
      </p:sp>
    </p:spTree>
    <p:extLst>
      <p:ext uri="{BB962C8B-B14F-4D97-AF65-F5344CB8AC3E}">
        <p14:creationId xmlns:p14="http://schemas.microsoft.com/office/powerpoint/2010/main" val="217784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1DA5-AEB6-4606-F5DF-06AC0D65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8FF74-9DAB-0357-E1F0-9B4AA56E5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GB" b="1" dirty="0">
                <a:solidFill>
                  <a:srgbClr val="FF6600"/>
                </a:solidFill>
              </a:rPr>
              <a:t>Mix</a:t>
            </a:r>
            <a:r>
              <a:rPr lang="en-GB" dirty="0">
                <a:solidFill>
                  <a:schemeClr val="tx1"/>
                </a:solidFill>
              </a:rPr>
              <a:t>ing an array removes one level of nesting but increases the rank: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names←'Peter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'Mary' ⋄ ≡names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⍴⎕←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↑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names    ⋄   ≡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↑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names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Peter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Mary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2 5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E37423-95BC-9FFE-5548-8835327E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Disclosing Arrays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C3A6169-B1A9-D56E-83D0-BB3552BF2ED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349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B8B5C6A-9E6E-466F-BD83-76E8E53F9E7D}"/>
              </a:ext>
            </a:extLst>
          </p:cNvPr>
          <p:cNvGrpSpPr/>
          <p:nvPr/>
        </p:nvGrpSpPr>
        <p:grpSpPr>
          <a:xfrm>
            <a:off x="909270" y="2100088"/>
            <a:ext cx="1845204" cy="1462662"/>
            <a:chOff x="909270" y="2100088"/>
            <a:chExt cx="1845204" cy="1462662"/>
          </a:xfrm>
        </p:grpSpPr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45853F9F-5CB9-47EA-9ACC-7896D99A380B}"/>
                </a:ext>
              </a:extLst>
            </p:cNvPr>
            <p:cNvSpPr/>
            <p:nvPr/>
          </p:nvSpPr>
          <p:spPr>
            <a:xfrm>
              <a:off x="909270" y="293268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E52DA9A4-BB6F-466D-B65B-1E9517234633}"/>
                </a:ext>
              </a:extLst>
            </p:cNvPr>
            <p:cNvSpPr/>
            <p:nvPr/>
          </p:nvSpPr>
          <p:spPr>
            <a:xfrm>
              <a:off x="1314315" y="293268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03E3F399-F0D7-4719-B883-DBEDE915FA17}"/>
                </a:ext>
              </a:extLst>
            </p:cNvPr>
            <p:cNvSpPr/>
            <p:nvPr/>
          </p:nvSpPr>
          <p:spPr>
            <a:xfrm>
              <a:off x="1719360" y="293268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9215E9D-FD8A-4B8C-A6BB-E6813C789880}"/>
                </a:ext>
              </a:extLst>
            </p:cNvPr>
            <p:cNvSpPr/>
            <p:nvPr/>
          </p:nvSpPr>
          <p:spPr>
            <a:xfrm>
              <a:off x="909270" y="252763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D2E7E673-82F9-4269-9F0E-C9377CDF8DAC}"/>
                </a:ext>
              </a:extLst>
            </p:cNvPr>
            <p:cNvSpPr/>
            <p:nvPr/>
          </p:nvSpPr>
          <p:spPr>
            <a:xfrm>
              <a:off x="1314315" y="252763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BF9D9BF6-8450-4C10-B953-7C906F94E2E1}"/>
                </a:ext>
              </a:extLst>
            </p:cNvPr>
            <p:cNvSpPr/>
            <p:nvPr/>
          </p:nvSpPr>
          <p:spPr>
            <a:xfrm>
              <a:off x="1725683" y="252763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38DD12DA-6866-42DA-B0D8-371A962953B2}"/>
                </a:ext>
              </a:extLst>
            </p:cNvPr>
            <p:cNvSpPr/>
            <p:nvPr/>
          </p:nvSpPr>
          <p:spPr>
            <a:xfrm>
              <a:off x="909270" y="2100088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3313B8C-F937-4E39-BC96-A61365D54B78}"/>
                </a:ext>
              </a:extLst>
            </p:cNvPr>
            <p:cNvSpPr/>
            <p:nvPr/>
          </p:nvSpPr>
          <p:spPr>
            <a:xfrm>
              <a:off x="1314315" y="2100088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3BF5A01C-7979-4409-86E2-BA4A43A7FA6F}"/>
                </a:ext>
              </a:extLst>
            </p:cNvPr>
            <p:cNvSpPr/>
            <p:nvPr/>
          </p:nvSpPr>
          <p:spPr>
            <a:xfrm>
              <a:off x="1725683" y="2100088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8C72575-4B70-4EE3-A6FB-1F2FB0DE02A3}"/>
                </a:ext>
              </a:extLst>
            </p:cNvPr>
            <p:cNvSpPr/>
            <p:nvPr/>
          </p:nvSpPr>
          <p:spPr>
            <a:xfrm>
              <a:off x="2124405" y="293268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AF8BF993-3686-4F82-93D2-F54B0BF593F4}"/>
                </a:ext>
              </a:extLst>
            </p:cNvPr>
            <p:cNvSpPr/>
            <p:nvPr/>
          </p:nvSpPr>
          <p:spPr>
            <a:xfrm>
              <a:off x="2124405" y="252763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204DED1C-CAB4-48EA-A1E5-49CAAB02D697}"/>
                </a:ext>
              </a:extLst>
            </p:cNvPr>
            <p:cNvSpPr/>
            <p:nvPr/>
          </p:nvSpPr>
          <p:spPr>
            <a:xfrm>
              <a:off x="2124405" y="2100088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E502DB-71A4-4F12-93EA-F101A0AF64BB}"/>
              </a:ext>
            </a:extLst>
          </p:cNvPr>
          <p:cNvCxnSpPr>
            <a:cxnSpLocks/>
          </p:cNvCxnSpPr>
          <p:nvPr/>
        </p:nvCxnSpPr>
        <p:spPr>
          <a:xfrm flipV="1">
            <a:off x="218861" y="2929241"/>
            <a:ext cx="3163184" cy="16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79C0D-4FC5-4CA6-9396-8DA0D50DAEA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674A92-CF00-4BAB-B411-4CEF3F9B4618}"/>
              </a:ext>
            </a:extLst>
          </p:cNvPr>
          <p:cNvSpPr txBox="1"/>
          <p:nvPr/>
        </p:nvSpPr>
        <p:spPr>
          <a:xfrm>
            <a:off x="341530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2</a:t>
            </a:r>
            <a:r>
              <a:rPr lang="en-GB" dirty="0">
                <a:latin typeface="APL385 Unicode" panose="020B0709000202000203" pitchFamily="49" charset="0"/>
              </a:rPr>
              <a:t> 3 4⍴⎕A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24F15-14F8-4381-847F-FD172132D1C3}"/>
              </a:ext>
            </a:extLst>
          </p:cNvPr>
          <p:cNvSpPr txBox="1"/>
          <p:nvPr/>
        </p:nvSpPr>
        <p:spPr>
          <a:xfrm>
            <a:off x="5862500" y="735954"/>
            <a:ext cx="253492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/>
              <a:t>3D Array</a:t>
            </a:r>
          </a:p>
          <a:p>
            <a:r>
              <a:rPr lang="en-GB" sz="2500" b="1" dirty="0"/>
              <a:t>Major cell</a:t>
            </a:r>
            <a:r>
              <a:rPr lang="en-GB" sz="2500" dirty="0"/>
              <a:t>: Matrix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484E85-3F7F-4696-AD26-0AC658D91862}"/>
              </a:ext>
            </a:extLst>
          </p:cNvPr>
          <p:cNvCxnSpPr>
            <a:cxnSpLocks/>
          </p:cNvCxnSpPr>
          <p:nvPr/>
        </p:nvCxnSpPr>
        <p:spPr>
          <a:xfrm>
            <a:off x="1719360" y="1410303"/>
            <a:ext cx="0" cy="301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1B4D80A-EE97-42C6-9D82-D78EE53C7271}"/>
              </a:ext>
            </a:extLst>
          </p:cNvPr>
          <p:cNvGrpSpPr/>
          <p:nvPr/>
        </p:nvGrpSpPr>
        <p:grpSpPr>
          <a:xfrm>
            <a:off x="701570" y="2300830"/>
            <a:ext cx="1845204" cy="1462662"/>
            <a:chOff x="701570" y="2300830"/>
            <a:chExt cx="1845204" cy="1462662"/>
          </a:xfrm>
        </p:grpSpPr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270F234F-7691-4CFD-8375-8E0DAB38C9C2}"/>
                </a:ext>
              </a:extLst>
            </p:cNvPr>
            <p:cNvSpPr/>
            <p:nvPr/>
          </p:nvSpPr>
          <p:spPr>
            <a:xfrm>
              <a:off x="701570" y="3133422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607C6F69-8AE4-4A03-A6E2-DCE0D87C6E0E}"/>
                </a:ext>
              </a:extLst>
            </p:cNvPr>
            <p:cNvSpPr/>
            <p:nvPr/>
          </p:nvSpPr>
          <p:spPr>
            <a:xfrm>
              <a:off x="1106615" y="3133422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04DEFF9-DB17-4907-BC76-064872388F54}"/>
                </a:ext>
              </a:extLst>
            </p:cNvPr>
            <p:cNvSpPr/>
            <p:nvPr/>
          </p:nvSpPr>
          <p:spPr>
            <a:xfrm>
              <a:off x="701570" y="2728377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76EF6AD5-8F86-40BD-8475-72BA907073CC}"/>
                </a:ext>
              </a:extLst>
            </p:cNvPr>
            <p:cNvSpPr/>
            <p:nvPr/>
          </p:nvSpPr>
          <p:spPr>
            <a:xfrm>
              <a:off x="1511660" y="3133422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845AC9E-3CCA-4228-9288-D328622548C3}"/>
                </a:ext>
              </a:extLst>
            </p:cNvPr>
            <p:cNvSpPr/>
            <p:nvPr/>
          </p:nvSpPr>
          <p:spPr>
            <a:xfrm>
              <a:off x="1106615" y="2728377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1B65C523-F9C1-4BEF-A97B-69FC468FACFF}"/>
                </a:ext>
              </a:extLst>
            </p:cNvPr>
            <p:cNvSpPr/>
            <p:nvPr/>
          </p:nvSpPr>
          <p:spPr>
            <a:xfrm>
              <a:off x="1511660" y="2728377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98B482C0-594C-4358-9865-9D125E0A4398}"/>
                </a:ext>
              </a:extLst>
            </p:cNvPr>
            <p:cNvSpPr/>
            <p:nvPr/>
          </p:nvSpPr>
          <p:spPr>
            <a:xfrm>
              <a:off x="701570" y="230083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47BEFB1B-A064-4B46-900A-A086351EB483}"/>
                </a:ext>
              </a:extLst>
            </p:cNvPr>
            <p:cNvSpPr/>
            <p:nvPr/>
          </p:nvSpPr>
          <p:spPr>
            <a:xfrm>
              <a:off x="1106615" y="230083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386BA2D7-3BEA-4F59-AC9D-0C299E5EB142}"/>
                </a:ext>
              </a:extLst>
            </p:cNvPr>
            <p:cNvSpPr/>
            <p:nvPr/>
          </p:nvSpPr>
          <p:spPr>
            <a:xfrm>
              <a:off x="1511660" y="230083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037648B0-CBF3-49FA-A801-DE886F0EFC4F}"/>
                </a:ext>
              </a:extLst>
            </p:cNvPr>
            <p:cNvSpPr/>
            <p:nvPr/>
          </p:nvSpPr>
          <p:spPr>
            <a:xfrm>
              <a:off x="1916705" y="3133422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9E3F331-2725-4FFE-97FB-D8EE971701A9}"/>
                </a:ext>
              </a:extLst>
            </p:cNvPr>
            <p:cNvSpPr/>
            <p:nvPr/>
          </p:nvSpPr>
          <p:spPr>
            <a:xfrm>
              <a:off x="1916705" y="2728377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3BBFF944-8D76-41F8-9E47-2F67D1462934}"/>
                </a:ext>
              </a:extLst>
            </p:cNvPr>
            <p:cNvSpPr/>
            <p:nvPr/>
          </p:nvSpPr>
          <p:spPr>
            <a:xfrm>
              <a:off x="1916705" y="230083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0FE518D4-641A-422A-86B9-CD0A1A14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94" y="324800"/>
            <a:ext cx="8363272" cy="594066"/>
          </a:xfrm>
        </p:spPr>
        <p:txBody>
          <a:bodyPr>
            <a:noAutofit/>
          </a:bodyPr>
          <a:lstStyle/>
          <a:p>
            <a:r>
              <a:rPr lang="en-GB" sz="3000" dirty="0"/>
              <a:t>Cells, subarrays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3FBDD-7DAC-4E9F-9208-7499F2722A4E}"/>
              </a:ext>
            </a:extLst>
          </p:cNvPr>
          <p:cNvSpPr txBox="1"/>
          <p:nvPr/>
        </p:nvSpPr>
        <p:spPr>
          <a:xfrm>
            <a:off x="5844418" y="1119969"/>
            <a:ext cx="25710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/>
              <a:t>Dimensions / Axes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A15FC9-7D0E-403D-A43F-E51AFE185DFE}"/>
              </a:ext>
            </a:extLst>
          </p:cNvPr>
          <p:cNvSpPr txBox="1"/>
          <p:nvPr/>
        </p:nvSpPr>
        <p:spPr>
          <a:xfrm>
            <a:off x="341530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2 3 4⍴⎕A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EE5408-8FA1-4319-AE4F-80ED0557C02D}"/>
              </a:ext>
            </a:extLst>
          </p:cNvPr>
          <p:cNvSpPr txBox="1"/>
          <p:nvPr/>
        </p:nvSpPr>
        <p:spPr>
          <a:xfrm>
            <a:off x="341530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2</a:t>
            </a:r>
            <a:r>
              <a:rPr lang="en-GB" dirty="0">
                <a:latin typeface="APL385 Unicode" panose="020B0709000202000203" pitchFamily="49" charset="0"/>
              </a:rPr>
              <a:t> 3 4⍴⎕A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1301AF-B5E7-4B4F-913A-384859BDADAD}"/>
              </a:ext>
            </a:extLst>
          </p:cNvPr>
          <p:cNvSpPr txBox="1"/>
          <p:nvPr/>
        </p:nvSpPr>
        <p:spPr>
          <a:xfrm>
            <a:off x="337791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2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4⍴⎕A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9A75DC-74C8-444D-A55F-D232E1BE7B28}"/>
              </a:ext>
            </a:extLst>
          </p:cNvPr>
          <p:cNvSpPr txBox="1"/>
          <p:nvPr/>
        </p:nvSpPr>
        <p:spPr>
          <a:xfrm>
            <a:off x="341530" y="81477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2 3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4</a:t>
            </a:r>
            <a:r>
              <a:rPr lang="en-GB" dirty="0">
                <a:latin typeface="APL385 Unicode" panose="020B0709000202000203" pitchFamily="49" charset="0"/>
              </a:rPr>
              <a:t>⍴⎕A</a:t>
            </a:r>
          </a:p>
        </p:txBody>
      </p:sp>
      <p:sp>
        <p:nvSpPr>
          <p:cNvPr id="51" name="Cube 50">
            <a:extLst>
              <a:ext uri="{FF2B5EF4-FFF2-40B4-BE49-F238E27FC236}">
                <a16:creationId xmlns:a16="http://schemas.microsoft.com/office/drawing/2014/main" id="{45C3A75C-43A4-4A0B-A382-DC99CB8CEF64}"/>
              </a:ext>
            </a:extLst>
          </p:cNvPr>
          <p:cNvSpPr/>
          <p:nvPr/>
        </p:nvSpPr>
        <p:spPr>
          <a:xfrm>
            <a:off x="701570" y="3134312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2" name="Cube 51">
            <a:extLst>
              <a:ext uri="{FF2B5EF4-FFF2-40B4-BE49-F238E27FC236}">
                <a16:creationId xmlns:a16="http://schemas.microsoft.com/office/drawing/2014/main" id="{5D12FF0F-DA30-4960-8BAF-180D3AE35887}"/>
              </a:ext>
            </a:extLst>
          </p:cNvPr>
          <p:cNvSpPr/>
          <p:nvPr/>
        </p:nvSpPr>
        <p:spPr>
          <a:xfrm>
            <a:off x="1106615" y="3134312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65" name="Cube 64">
            <a:extLst>
              <a:ext uri="{FF2B5EF4-FFF2-40B4-BE49-F238E27FC236}">
                <a16:creationId xmlns:a16="http://schemas.microsoft.com/office/drawing/2014/main" id="{79715BEF-385A-43B7-82FF-99575C223832}"/>
              </a:ext>
            </a:extLst>
          </p:cNvPr>
          <p:cNvSpPr/>
          <p:nvPr/>
        </p:nvSpPr>
        <p:spPr>
          <a:xfrm>
            <a:off x="701570" y="2729267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Cube 65">
            <a:extLst>
              <a:ext uri="{FF2B5EF4-FFF2-40B4-BE49-F238E27FC236}">
                <a16:creationId xmlns:a16="http://schemas.microsoft.com/office/drawing/2014/main" id="{0F356C89-6424-4D7E-9625-217D9297E809}"/>
              </a:ext>
            </a:extLst>
          </p:cNvPr>
          <p:cNvSpPr/>
          <p:nvPr/>
        </p:nvSpPr>
        <p:spPr>
          <a:xfrm>
            <a:off x="1511660" y="3134312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67" name="Cube 66">
            <a:extLst>
              <a:ext uri="{FF2B5EF4-FFF2-40B4-BE49-F238E27FC236}">
                <a16:creationId xmlns:a16="http://schemas.microsoft.com/office/drawing/2014/main" id="{106FC986-30CD-4AF1-B11D-A7C198BBB0FA}"/>
              </a:ext>
            </a:extLst>
          </p:cNvPr>
          <p:cNvSpPr/>
          <p:nvPr/>
        </p:nvSpPr>
        <p:spPr>
          <a:xfrm>
            <a:off x="1106615" y="2729267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Cube 67">
            <a:extLst>
              <a:ext uri="{FF2B5EF4-FFF2-40B4-BE49-F238E27FC236}">
                <a16:creationId xmlns:a16="http://schemas.microsoft.com/office/drawing/2014/main" id="{B3353F81-402A-415E-AB5C-5843AFF12F7F}"/>
              </a:ext>
            </a:extLst>
          </p:cNvPr>
          <p:cNvSpPr/>
          <p:nvPr/>
        </p:nvSpPr>
        <p:spPr>
          <a:xfrm>
            <a:off x="1511660" y="2729267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9" name="Cube 68">
            <a:extLst>
              <a:ext uri="{FF2B5EF4-FFF2-40B4-BE49-F238E27FC236}">
                <a16:creationId xmlns:a16="http://schemas.microsoft.com/office/drawing/2014/main" id="{6F7E4380-F13E-4705-9D06-A42CB3599038}"/>
              </a:ext>
            </a:extLst>
          </p:cNvPr>
          <p:cNvSpPr/>
          <p:nvPr/>
        </p:nvSpPr>
        <p:spPr>
          <a:xfrm>
            <a:off x="701570" y="230172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19CDBD-7B32-4349-B69B-ABA95E6218B5}"/>
              </a:ext>
            </a:extLst>
          </p:cNvPr>
          <p:cNvCxnSpPr>
            <a:cxnSpLocks/>
          </p:cNvCxnSpPr>
          <p:nvPr/>
        </p:nvCxnSpPr>
        <p:spPr>
          <a:xfrm flipV="1">
            <a:off x="559506" y="1109009"/>
            <a:ext cx="2655295" cy="28803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be 69">
            <a:extLst>
              <a:ext uri="{FF2B5EF4-FFF2-40B4-BE49-F238E27FC236}">
                <a16:creationId xmlns:a16="http://schemas.microsoft.com/office/drawing/2014/main" id="{7B32D3FD-5164-4565-BA2C-89261E797600}"/>
              </a:ext>
            </a:extLst>
          </p:cNvPr>
          <p:cNvSpPr/>
          <p:nvPr/>
        </p:nvSpPr>
        <p:spPr>
          <a:xfrm>
            <a:off x="1106615" y="230172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1" name="Cube 70">
            <a:extLst>
              <a:ext uri="{FF2B5EF4-FFF2-40B4-BE49-F238E27FC236}">
                <a16:creationId xmlns:a16="http://schemas.microsoft.com/office/drawing/2014/main" id="{DB87B70E-31D2-42AC-AA80-20B506032F1E}"/>
              </a:ext>
            </a:extLst>
          </p:cNvPr>
          <p:cNvSpPr/>
          <p:nvPr/>
        </p:nvSpPr>
        <p:spPr>
          <a:xfrm>
            <a:off x="1511660" y="230172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Cube 71">
            <a:extLst>
              <a:ext uri="{FF2B5EF4-FFF2-40B4-BE49-F238E27FC236}">
                <a16:creationId xmlns:a16="http://schemas.microsoft.com/office/drawing/2014/main" id="{DA5819A5-836A-48DC-99E0-441FA65D5671}"/>
              </a:ext>
            </a:extLst>
          </p:cNvPr>
          <p:cNvSpPr/>
          <p:nvPr/>
        </p:nvSpPr>
        <p:spPr>
          <a:xfrm>
            <a:off x="1916705" y="3134312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73" name="Cube 72">
            <a:extLst>
              <a:ext uri="{FF2B5EF4-FFF2-40B4-BE49-F238E27FC236}">
                <a16:creationId xmlns:a16="http://schemas.microsoft.com/office/drawing/2014/main" id="{911C7E5C-B025-4B19-9918-89A3EA483AEE}"/>
              </a:ext>
            </a:extLst>
          </p:cNvPr>
          <p:cNvSpPr/>
          <p:nvPr/>
        </p:nvSpPr>
        <p:spPr>
          <a:xfrm>
            <a:off x="1916705" y="2729267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4" name="Cube 73">
            <a:extLst>
              <a:ext uri="{FF2B5EF4-FFF2-40B4-BE49-F238E27FC236}">
                <a16:creationId xmlns:a16="http://schemas.microsoft.com/office/drawing/2014/main" id="{BF209BB3-7524-4086-B44B-8E793D6B9963}"/>
              </a:ext>
            </a:extLst>
          </p:cNvPr>
          <p:cNvSpPr/>
          <p:nvPr/>
        </p:nvSpPr>
        <p:spPr>
          <a:xfrm>
            <a:off x="1916705" y="230172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6013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35802E-6 L 0.27014 -0.07191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07" y="-3611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82716E-6 L -4.16667E-6 -0.10402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6" grpId="0"/>
      <p:bldP spid="34" grpId="0"/>
      <p:bldP spid="34" grpId="1"/>
      <p:bldP spid="35" grpId="0"/>
      <p:bldP spid="35" grpId="1"/>
      <p:bldP spid="36" grpId="0"/>
      <p:bldP spid="36" grpId="1"/>
      <p:bldP spid="38" grpId="0"/>
      <p:bldP spid="38" grpId="1"/>
      <p:bldP spid="51" grpId="0" animBg="1"/>
      <p:bldP spid="52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92F587C-1647-450B-8860-559D10905D5D}"/>
              </a:ext>
            </a:extLst>
          </p:cNvPr>
          <p:cNvGrpSpPr/>
          <p:nvPr/>
        </p:nvGrpSpPr>
        <p:grpSpPr>
          <a:xfrm>
            <a:off x="3401870" y="2571750"/>
            <a:ext cx="1845204" cy="630070"/>
            <a:chOff x="3401870" y="2571750"/>
            <a:chExt cx="1845204" cy="630070"/>
          </a:xfrm>
        </p:grpSpPr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45853F9F-5CB9-47EA-9ACC-7896D99A380B}"/>
                </a:ext>
              </a:extLst>
            </p:cNvPr>
            <p:cNvSpPr/>
            <p:nvPr/>
          </p:nvSpPr>
          <p:spPr>
            <a:xfrm>
              <a:off x="3401870" y="257175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E52DA9A4-BB6F-466D-B65B-1E9517234633}"/>
                </a:ext>
              </a:extLst>
            </p:cNvPr>
            <p:cNvSpPr/>
            <p:nvPr/>
          </p:nvSpPr>
          <p:spPr>
            <a:xfrm>
              <a:off x="3806915" y="257175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03E3F399-F0D7-4719-B883-DBEDE915FA17}"/>
                </a:ext>
              </a:extLst>
            </p:cNvPr>
            <p:cNvSpPr/>
            <p:nvPr/>
          </p:nvSpPr>
          <p:spPr>
            <a:xfrm>
              <a:off x="4211960" y="257175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8C72575-4B70-4EE3-A6FB-1F2FB0DE02A3}"/>
                </a:ext>
              </a:extLst>
            </p:cNvPr>
            <p:cNvSpPr/>
            <p:nvPr/>
          </p:nvSpPr>
          <p:spPr>
            <a:xfrm>
              <a:off x="4617005" y="257175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B626E6-D37E-4F33-8531-81F484D60DAD}"/>
              </a:ext>
            </a:extLst>
          </p:cNvPr>
          <p:cNvGrpSpPr/>
          <p:nvPr/>
        </p:nvGrpSpPr>
        <p:grpSpPr>
          <a:xfrm>
            <a:off x="3401870" y="2166705"/>
            <a:ext cx="1845204" cy="630070"/>
            <a:chOff x="3401870" y="2166705"/>
            <a:chExt cx="1845204" cy="630070"/>
          </a:xfrm>
        </p:grpSpPr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9215E9D-FD8A-4B8C-A6BB-E6813C789880}"/>
                </a:ext>
              </a:extLst>
            </p:cNvPr>
            <p:cNvSpPr/>
            <p:nvPr/>
          </p:nvSpPr>
          <p:spPr>
            <a:xfrm>
              <a:off x="3401870" y="216670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D2E7E673-82F9-4269-9F0E-C9377CDF8DAC}"/>
                </a:ext>
              </a:extLst>
            </p:cNvPr>
            <p:cNvSpPr/>
            <p:nvPr/>
          </p:nvSpPr>
          <p:spPr>
            <a:xfrm>
              <a:off x="3806915" y="216670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BF9D9BF6-8450-4C10-B953-7C906F94E2E1}"/>
                </a:ext>
              </a:extLst>
            </p:cNvPr>
            <p:cNvSpPr/>
            <p:nvPr/>
          </p:nvSpPr>
          <p:spPr>
            <a:xfrm>
              <a:off x="4218283" y="216670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AF8BF993-3686-4F82-93D2-F54B0BF593F4}"/>
                </a:ext>
              </a:extLst>
            </p:cNvPr>
            <p:cNvSpPr/>
            <p:nvPr/>
          </p:nvSpPr>
          <p:spPr>
            <a:xfrm>
              <a:off x="4617005" y="216670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59" name="Cube 58">
            <a:extLst>
              <a:ext uri="{FF2B5EF4-FFF2-40B4-BE49-F238E27FC236}">
                <a16:creationId xmlns:a16="http://schemas.microsoft.com/office/drawing/2014/main" id="{38DD12DA-6866-42DA-B0D8-371A962953B2}"/>
              </a:ext>
            </a:extLst>
          </p:cNvPr>
          <p:cNvSpPr/>
          <p:nvPr/>
        </p:nvSpPr>
        <p:spPr>
          <a:xfrm>
            <a:off x="3401870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83313B8C-F937-4E39-BC96-A61365D54B78}"/>
              </a:ext>
            </a:extLst>
          </p:cNvPr>
          <p:cNvSpPr/>
          <p:nvPr/>
        </p:nvSpPr>
        <p:spPr>
          <a:xfrm>
            <a:off x="3806915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3BF5A01C-7979-4409-86E2-BA4A43A7FA6F}"/>
              </a:ext>
            </a:extLst>
          </p:cNvPr>
          <p:cNvSpPr/>
          <p:nvPr/>
        </p:nvSpPr>
        <p:spPr>
          <a:xfrm>
            <a:off x="4218283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64" name="Cube 63">
            <a:extLst>
              <a:ext uri="{FF2B5EF4-FFF2-40B4-BE49-F238E27FC236}">
                <a16:creationId xmlns:a16="http://schemas.microsoft.com/office/drawing/2014/main" id="{204DED1C-CAB4-48EA-A1E5-49CAAB02D697}"/>
              </a:ext>
            </a:extLst>
          </p:cNvPr>
          <p:cNvSpPr/>
          <p:nvPr/>
        </p:nvSpPr>
        <p:spPr>
          <a:xfrm>
            <a:off x="4617005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79C0D-4FC5-4CA6-9396-8DA0D50DAEA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674A92-CF00-4BAB-B411-4CEF3F9B4618}"/>
              </a:ext>
            </a:extLst>
          </p:cNvPr>
          <p:cNvSpPr txBox="1"/>
          <p:nvPr/>
        </p:nvSpPr>
        <p:spPr>
          <a:xfrm>
            <a:off x="341530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2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4⍴⎕A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24F15-14F8-4381-847F-FD172132D1C3}"/>
              </a:ext>
            </a:extLst>
          </p:cNvPr>
          <p:cNvSpPr txBox="1"/>
          <p:nvPr/>
        </p:nvSpPr>
        <p:spPr>
          <a:xfrm>
            <a:off x="5862500" y="735954"/>
            <a:ext cx="2534925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/>
              <a:t>3D Array</a:t>
            </a:r>
          </a:p>
          <a:p>
            <a:r>
              <a:rPr lang="en-GB" sz="2500" b="1" dirty="0"/>
              <a:t>Major cell</a:t>
            </a:r>
            <a:r>
              <a:rPr lang="en-GB" sz="2500" dirty="0"/>
              <a:t>: Matrix</a:t>
            </a:r>
          </a:p>
          <a:p>
            <a:r>
              <a:rPr lang="en-GB" sz="2500" b="1" dirty="0"/>
              <a:t>         1-cell</a:t>
            </a:r>
            <a:r>
              <a:rPr lang="en-GB" sz="2500" dirty="0"/>
              <a:t>:</a:t>
            </a:r>
            <a:r>
              <a:rPr lang="en-GB" sz="2500" b="1" dirty="0"/>
              <a:t> </a:t>
            </a:r>
            <a:r>
              <a:rPr lang="en-GB" sz="2500" dirty="0"/>
              <a:t>Vector</a:t>
            </a:r>
            <a:endParaRPr lang="en-GB" sz="25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EB6547-AB29-4595-8383-4232DCB05233}"/>
              </a:ext>
            </a:extLst>
          </p:cNvPr>
          <p:cNvGrpSpPr/>
          <p:nvPr/>
        </p:nvGrpSpPr>
        <p:grpSpPr>
          <a:xfrm>
            <a:off x="701570" y="2616755"/>
            <a:ext cx="1845204" cy="630070"/>
            <a:chOff x="701570" y="2616755"/>
            <a:chExt cx="1845204" cy="630070"/>
          </a:xfrm>
        </p:grpSpPr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270F234F-7691-4CFD-8375-8E0DAB38C9C2}"/>
                </a:ext>
              </a:extLst>
            </p:cNvPr>
            <p:cNvSpPr/>
            <p:nvPr/>
          </p:nvSpPr>
          <p:spPr>
            <a:xfrm>
              <a:off x="701570" y="261675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607C6F69-8AE4-4A03-A6E2-DCE0D87C6E0E}"/>
                </a:ext>
              </a:extLst>
            </p:cNvPr>
            <p:cNvSpPr/>
            <p:nvPr/>
          </p:nvSpPr>
          <p:spPr>
            <a:xfrm>
              <a:off x="1106615" y="261675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76EF6AD5-8F86-40BD-8475-72BA907073CC}"/>
                </a:ext>
              </a:extLst>
            </p:cNvPr>
            <p:cNvSpPr/>
            <p:nvPr/>
          </p:nvSpPr>
          <p:spPr>
            <a:xfrm>
              <a:off x="1511660" y="261675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037648B0-CBF3-49FA-A801-DE886F0EFC4F}"/>
                </a:ext>
              </a:extLst>
            </p:cNvPr>
            <p:cNvSpPr/>
            <p:nvPr/>
          </p:nvSpPr>
          <p:spPr>
            <a:xfrm>
              <a:off x="1916705" y="2616755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35095D-5EF3-471E-902C-EA5C44AF6BF4}"/>
              </a:ext>
            </a:extLst>
          </p:cNvPr>
          <p:cNvGrpSpPr/>
          <p:nvPr/>
        </p:nvGrpSpPr>
        <p:grpSpPr>
          <a:xfrm>
            <a:off x="701570" y="2211710"/>
            <a:ext cx="1845204" cy="630070"/>
            <a:chOff x="701570" y="2211710"/>
            <a:chExt cx="1845204" cy="630070"/>
          </a:xfrm>
        </p:grpSpPr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04DEFF9-DB17-4907-BC76-064872388F54}"/>
                </a:ext>
              </a:extLst>
            </p:cNvPr>
            <p:cNvSpPr/>
            <p:nvPr/>
          </p:nvSpPr>
          <p:spPr>
            <a:xfrm>
              <a:off x="701570" y="221171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845AC9E-3CCA-4228-9288-D328622548C3}"/>
                </a:ext>
              </a:extLst>
            </p:cNvPr>
            <p:cNvSpPr/>
            <p:nvPr/>
          </p:nvSpPr>
          <p:spPr>
            <a:xfrm>
              <a:off x="1106615" y="221171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1B65C523-F9C1-4BEF-A97B-69FC468FACFF}"/>
                </a:ext>
              </a:extLst>
            </p:cNvPr>
            <p:cNvSpPr/>
            <p:nvPr/>
          </p:nvSpPr>
          <p:spPr>
            <a:xfrm>
              <a:off x="1511660" y="221171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9E3F331-2725-4FFE-97FB-D8EE971701A9}"/>
                </a:ext>
              </a:extLst>
            </p:cNvPr>
            <p:cNvSpPr/>
            <p:nvPr/>
          </p:nvSpPr>
          <p:spPr>
            <a:xfrm>
              <a:off x="1916705" y="2211710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5A9347-62CA-43D6-B40F-96FCC33B8A2A}"/>
              </a:ext>
            </a:extLst>
          </p:cNvPr>
          <p:cNvGrpSpPr/>
          <p:nvPr/>
        </p:nvGrpSpPr>
        <p:grpSpPr>
          <a:xfrm>
            <a:off x="701570" y="1784163"/>
            <a:ext cx="1845204" cy="630070"/>
            <a:chOff x="701570" y="1784163"/>
            <a:chExt cx="1845204" cy="630070"/>
          </a:xfrm>
        </p:grpSpPr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98B482C0-594C-4358-9865-9D125E0A4398}"/>
                </a:ext>
              </a:extLst>
            </p:cNvPr>
            <p:cNvSpPr/>
            <p:nvPr/>
          </p:nvSpPr>
          <p:spPr>
            <a:xfrm>
              <a:off x="701570" y="1784163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47BEFB1B-A064-4B46-900A-A086351EB483}"/>
                </a:ext>
              </a:extLst>
            </p:cNvPr>
            <p:cNvSpPr/>
            <p:nvPr/>
          </p:nvSpPr>
          <p:spPr>
            <a:xfrm>
              <a:off x="1106615" y="1784163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386BA2D7-3BEA-4F59-AC9D-0C299E5EB142}"/>
                </a:ext>
              </a:extLst>
            </p:cNvPr>
            <p:cNvSpPr/>
            <p:nvPr/>
          </p:nvSpPr>
          <p:spPr>
            <a:xfrm>
              <a:off x="1511660" y="1784163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3BBFF944-8D76-41F8-9E47-2F67D1462934}"/>
                </a:ext>
              </a:extLst>
            </p:cNvPr>
            <p:cNvSpPr/>
            <p:nvPr/>
          </p:nvSpPr>
          <p:spPr>
            <a:xfrm>
              <a:off x="1916705" y="1784163"/>
              <a:ext cx="630069" cy="630070"/>
            </a:xfrm>
            <a:prstGeom prst="cube">
              <a:avLst>
                <a:gd name="adj" fmla="val 31838"/>
              </a:avLst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D13C6667-30A2-4B6A-9FF3-71DC66B7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94" y="324800"/>
            <a:ext cx="8363272" cy="594066"/>
          </a:xfrm>
        </p:spPr>
        <p:txBody>
          <a:bodyPr>
            <a:noAutofit/>
          </a:bodyPr>
          <a:lstStyle/>
          <a:p>
            <a:r>
              <a:rPr lang="en-GB" sz="3000" dirty="0"/>
              <a:t>Cells, subarrays and elements</a:t>
            </a:r>
          </a:p>
        </p:txBody>
      </p:sp>
    </p:spTree>
    <p:extLst>
      <p:ext uri="{BB962C8B-B14F-4D97-AF65-F5344CB8AC3E}">
        <p14:creationId xmlns:p14="http://schemas.microsoft.com/office/powerpoint/2010/main" val="37874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08642E-6 L -0.00243 0.166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830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6.17284E-7 L -4.72222E-6 0.078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70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0.00243 0.0848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422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0243 0.1663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830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be 58">
            <a:extLst>
              <a:ext uri="{FF2B5EF4-FFF2-40B4-BE49-F238E27FC236}">
                <a16:creationId xmlns:a16="http://schemas.microsoft.com/office/drawing/2014/main" id="{38DD12DA-6866-42DA-B0D8-371A962953B2}"/>
              </a:ext>
            </a:extLst>
          </p:cNvPr>
          <p:cNvSpPr/>
          <p:nvPr/>
        </p:nvSpPr>
        <p:spPr>
          <a:xfrm>
            <a:off x="3401870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83313B8C-F937-4E39-BC96-A61365D54B78}"/>
              </a:ext>
            </a:extLst>
          </p:cNvPr>
          <p:cNvSpPr/>
          <p:nvPr/>
        </p:nvSpPr>
        <p:spPr>
          <a:xfrm>
            <a:off x="3806915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3BF5A01C-7979-4409-86E2-BA4A43A7FA6F}"/>
              </a:ext>
            </a:extLst>
          </p:cNvPr>
          <p:cNvSpPr/>
          <p:nvPr/>
        </p:nvSpPr>
        <p:spPr>
          <a:xfrm>
            <a:off x="4218283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45853F9F-5CB9-47EA-9ACC-7896D99A380B}"/>
              </a:ext>
            </a:extLst>
          </p:cNvPr>
          <p:cNvSpPr/>
          <p:nvPr/>
        </p:nvSpPr>
        <p:spPr>
          <a:xfrm>
            <a:off x="3356865" y="342684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E52DA9A4-BB6F-466D-B65B-1E9517234633}"/>
              </a:ext>
            </a:extLst>
          </p:cNvPr>
          <p:cNvSpPr/>
          <p:nvPr/>
        </p:nvSpPr>
        <p:spPr>
          <a:xfrm>
            <a:off x="3761910" y="342684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03E3F399-F0D7-4719-B883-DBEDE915FA17}"/>
              </a:ext>
            </a:extLst>
          </p:cNvPr>
          <p:cNvSpPr/>
          <p:nvPr/>
        </p:nvSpPr>
        <p:spPr>
          <a:xfrm>
            <a:off x="4166955" y="342684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62" name="Cube 61">
            <a:extLst>
              <a:ext uri="{FF2B5EF4-FFF2-40B4-BE49-F238E27FC236}">
                <a16:creationId xmlns:a16="http://schemas.microsoft.com/office/drawing/2014/main" id="{78C72575-4B70-4EE3-A6FB-1F2FB0DE02A3}"/>
              </a:ext>
            </a:extLst>
          </p:cNvPr>
          <p:cNvSpPr/>
          <p:nvPr/>
        </p:nvSpPr>
        <p:spPr>
          <a:xfrm>
            <a:off x="4572000" y="342684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9215E9D-FD8A-4B8C-A6BB-E6813C789880}"/>
              </a:ext>
            </a:extLst>
          </p:cNvPr>
          <p:cNvSpPr/>
          <p:nvPr/>
        </p:nvSpPr>
        <p:spPr>
          <a:xfrm>
            <a:off x="3401870" y="2602834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D2E7E673-82F9-4269-9F0E-C9377CDF8DAC}"/>
              </a:ext>
            </a:extLst>
          </p:cNvPr>
          <p:cNvSpPr/>
          <p:nvPr/>
        </p:nvSpPr>
        <p:spPr>
          <a:xfrm>
            <a:off x="3806915" y="2602834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BF9D9BF6-8450-4C10-B953-7C906F94E2E1}"/>
              </a:ext>
            </a:extLst>
          </p:cNvPr>
          <p:cNvSpPr/>
          <p:nvPr/>
        </p:nvSpPr>
        <p:spPr>
          <a:xfrm>
            <a:off x="4218283" y="2602834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63" name="Cube 62">
            <a:extLst>
              <a:ext uri="{FF2B5EF4-FFF2-40B4-BE49-F238E27FC236}">
                <a16:creationId xmlns:a16="http://schemas.microsoft.com/office/drawing/2014/main" id="{AF8BF993-3686-4F82-93D2-F54B0BF593F4}"/>
              </a:ext>
            </a:extLst>
          </p:cNvPr>
          <p:cNvSpPr/>
          <p:nvPr/>
        </p:nvSpPr>
        <p:spPr>
          <a:xfrm>
            <a:off x="4617005" y="2602834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64" name="Cube 63">
            <a:extLst>
              <a:ext uri="{FF2B5EF4-FFF2-40B4-BE49-F238E27FC236}">
                <a16:creationId xmlns:a16="http://schemas.microsoft.com/office/drawing/2014/main" id="{204DED1C-CAB4-48EA-A1E5-49CAAB02D697}"/>
              </a:ext>
            </a:extLst>
          </p:cNvPr>
          <p:cNvSpPr/>
          <p:nvPr/>
        </p:nvSpPr>
        <p:spPr>
          <a:xfrm>
            <a:off x="4617005" y="1739158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79C0D-4FC5-4CA6-9396-8DA0D50DAEA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674A92-CF00-4BAB-B411-4CEF3F9B4618}"/>
              </a:ext>
            </a:extLst>
          </p:cNvPr>
          <p:cNvSpPr txBox="1"/>
          <p:nvPr/>
        </p:nvSpPr>
        <p:spPr>
          <a:xfrm>
            <a:off x="341530" y="816555"/>
            <a:ext cx="292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A ← 2 3 </a:t>
            </a:r>
            <a:r>
              <a:rPr lang="en-GB" dirty="0">
                <a:highlight>
                  <a:srgbClr val="FF9421"/>
                </a:highlight>
                <a:latin typeface="APL385 Unicode" panose="020B0709000202000203" pitchFamily="49" charset="0"/>
              </a:rPr>
              <a:t>4</a:t>
            </a:r>
            <a:r>
              <a:rPr lang="en-GB" dirty="0">
                <a:latin typeface="APL385 Unicode" panose="020B0709000202000203" pitchFamily="49" charset="0"/>
              </a:rPr>
              <a:t>⍴⎕A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24F15-14F8-4381-847F-FD172132D1C3}"/>
              </a:ext>
            </a:extLst>
          </p:cNvPr>
          <p:cNvSpPr txBox="1"/>
          <p:nvPr/>
        </p:nvSpPr>
        <p:spPr>
          <a:xfrm>
            <a:off x="5862500" y="735954"/>
            <a:ext cx="255243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/>
              <a:t>3D Array</a:t>
            </a:r>
          </a:p>
          <a:p>
            <a:r>
              <a:rPr lang="en-GB" sz="2500" b="1" dirty="0"/>
              <a:t>Major cell</a:t>
            </a:r>
            <a:r>
              <a:rPr lang="en-GB" sz="2500" dirty="0"/>
              <a:t>: Matrix</a:t>
            </a:r>
          </a:p>
          <a:p>
            <a:r>
              <a:rPr lang="en-GB" sz="2500" b="1" dirty="0"/>
              <a:t>         1-cell</a:t>
            </a:r>
            <a:r>
              <a:rPr lang="en-GB" sz="2500" dirty="0"/>
              <a:t>:</a:t>
            </a:r>
            <a:r>
              <a:rPr lang="en-GB" sz="2500" b="1" dirty="0"/>
              <a:t> </a:t>
            </a:r>
            <a:r>
              <a:rPr lang="en-GB" sz="2500" dirty="0"/>
              <a:t>Vector</a:t>
            </a:r>
          </a:p>
          <a:p>
            <a:r>
              <a:rPr lang="en-GB" sz="2500" b="1" dirty="0"/>
              <a:t>         0-cell: </a:t>
            </a:r>
            <a:r>
              <a:rPr lang="en-GB" sz="2500" dirty="0"/>
              <a:t>Scalar</a:t>
            </a:r>
            <a:endParaRPr lang="en-GB" sz="2500" b="1" dirty="0"/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270F234F-7691-4CFD-8375-8E0DAB38C9C2}"/>
              </a:ext>
            </a:extLst>
          </p:cNvPr>
          <p:cNvSpPr/>
          <p:nvPr/>
        </p:nvSpPr>
        <p:spPr>
          <a:xfrm>
            <a:off x="701571" y="347185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607C6F69-8AE4-4A03-A6E2-DCE0D87C6E0E}"/>
              </a:ext>
            </a:extLst>
          </p:cNvPr>
          <p:cNvSpPr/>
          <p:nvPr/>
        </p:nvSpPr>
        <p:spPr>
          <a:xfrm>
            <a:off x="1106616" y="347185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76EF6AD5-8F86-40BD-8475-72BA907073CC}"/>
              </a:ext>
            </a:extLst>
          </p:cNvPr>
          <p:cNvSpPr/>
          <p:nvPr/>
        </p:nvSpPr>
        <p:spPr>
          <a:xfrm>
            <a:off x="1511661" y="347185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7" name="Cube 46">
            <a:extLst>
              <a:ext uri="{FF2B5EF4-FFF2-40B4-BE49-F238E27FC236}">
                <a16:creationId xmlns:a16="http://schemas.microsoft.com/office/drawing/2014/main" id="{037648B0-CBF3-49FA-A801-DE886F0EFC4F}"/>
              </a:ext>
            </a:extLst>
          </p:cNvPr>
          <p:cNvSpPr/>
          <p:nvPr/>
        </p:nvSpPr>
        <p:spPr>
          <a:xfrm>
            <a:off x="1916706" y="3471850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404DEFF9-DB17-4907-BC76-064872388F54}"/>
              </a:ext>
            </a:extLst>
          </p:cNvPr>
          <p:cNvSpPr/>
          <p:nvPr/>
        </p:nvSpPr>
        <p:spPr>
          <a:xfrm>
            <a:off x="701570" y="261675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2845AC9E-3CCA-4228-9288-D328622548C3}"/>
              </a:ext>
            </a:extLst>
          </p:cNvPr>
          <p:cNvSpPr/>
          <p:nvPr/>
        </p:nvSpPr>
        <p:spPr>
          <a:xfrm>
            <a:off x="1106615" y="261675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1B65C523-F9C1-4BEF-A97B-69FC468FACFF}"/>
              </a:ext>
            </a:extLst>
          </p:cNvPr>
          <p:cNvSpPr/>
          <p:nvPr/>
        </p:nvSpPr>
        <p:spPr>
          <a:xfrm>
            <a:off x="1511660" y="261675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8" name="Cube 47">
            <a:extLst>
              <a:ext uri="{FF2B5EF4-FFF2-40B4-BE49-F238E27FC236}">
                <a16:creationId xmlns:a16="http://schemas.microsoft.com/office/drawing/2014/main" id="{D9E3F331-2725-4FFE-97FB-D8EE971701A9}"/>
              </a:ext>
            </a:extLst>
          </p:cNvPr>
          <p:cNvSpPr/>
          <p:nvPr/>
        </p:nvSpPr>
        <p:spPr>
          <a:xfrm>
            <a:off x="1916705" y="2616755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98B482C0-594C-4358-9865-9D125E0A4398}"/>
              </a:ext>
            </a:extLst>
          </p:cNvPr>
          <p:cNvSpPr/>
          <p:nvPr/>
        </p:nvSpPr>
        <p:spPr>
          <a:xfrm>
            <a:off x="701570" y="1784163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5" name="Cube 44">
            <a:extLst>
              <a:ext uri="{FF2B5EF4-FFF2-40B4-BE49-F238E27FC236}">
                <a16:creationId xmlns:a16="http://schemas.microsoft.com/office/drawing/2014/main" id="{47BEFB1B-A064-4B46-900A-A086351EB483}"/>
              </a:ext>
            </a:extLst>
          </p:cNvPr>
          <p:cNvSpPr/>
          <p:nvPr/>
        </p:nvSpPr>
        <p:spPr>
          <a:xfrm>
            <a:off x="1106615" y="1784163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6" name="Cube 45">
            <a:extLst>
              <a:ext uri="{FF2B5EF4-FFF2-40B4-BE49-F238E27FC236}">
                <a16:creationId xmlns:a16="http://schemas.microsoft.com/office/drawing/2014/main" id="{386BA2D7-3BEA-4F59-AC9D-0C299E5EB142}"/>
              </a:ext>
            </a:extLst>
          </p:cNvPr>
          <p:cNvSpPr/>
          <p:nvPr/>
        </p:nvSpPr>
        <p:spPr>
          <a:xfrm>
            <a:off x="1511660" y="1784163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9" name="Cube 48">
            <a:extLst>
              <a:ext uri="{FF2B5EF4-FFF2-40B4-BE49-F238E27FC236}">
                <a16:creationId xmlns:a16="http://schemas.microsoft.com/office/drawing/2014/main" id="{3BBFF944-8D76-41F8-9E47-2F67D1462934}"/>
              </a:ext>
            </a:extLst>
          </p:cNvPr>
          <p:cNvSpPr/>
          <p:nvPr/>
        </p:nvSpPr>
        <p:spPr>
          <a:xfrm>
            <a:off x="1916705" y="1784163"/>
            <a:ext cx="630069" cy="630070"/>
          </a:xfrm>
          <a:prstGeom prst="cube">
            <a:avLst>
              <a:gd name="adj" fmla="val 31838"/>
            </a:avLst>
          </a:prstGeom>
          <a:solidFill>
            <a:srgbClr val="FFFF00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389CA04-6E88-4459-A929-12B357B8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94" y="324800"/>
            <a:ext cx="8363272" cy="594066"/>
          </a:xfrm>
        </p:spPr>
        <p:txBody>
          <a:bodyPr>
            <a:noAutofit/>
          </a:bodyPr>
          <a:lstStyle/>
          <a:p>
            <a:r>
              <a:rPr lang="en-GB" sz="3000" dirty="0"/>
              <a:t>Cells, subarrays and elements</a:t>
            </a:r>
          </a:p>
        </p:txBody>
      </p:sp>
    </p:spTree>
    <p:extLst>
      <p:ext uri="{BB962C8B-B14F-4D97-AF65-F5344CB8AC3E}">
        <p14:creationId xmlns:p14="http://schemas.microsoft.com/office/powerpoint/2010/main" val="36469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69136E-6 L -0.06892 -0.004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5" y="-2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08642E-6 L -0.06476 -0.0024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7" y="-1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11111E-6 L -0.06389 -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94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1111E-6 L -0.04427 -1.11111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08642E-6 L -0.04427 -3.08642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69136E-6 L -0.04427 -4.69136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11111E-6 L 0.02552 -1.1111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08642E-6 L 0.02552 -0.0024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-1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69136E-6 L 0.03455 0.004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21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71605E-6 L -0.03923 -0.0043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2" y="-21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8.64198E-7 L -0.03437 0.0086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432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95062E-6 L -0.03437 -3.95062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8.64198E-7 L 0.04931 8.64198E-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95062E-6 L 0.05434 -3.95062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71605E-6 L 0.05434 -0.0043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-21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71605E-6 L 0.02396 -0.0043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-21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8.64198E-7 L 0.02952 8.64198E-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6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95062E-6 L 0.02899 -3.95062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 animBg="1"/>
      <p:bldP spid="53" grpId="0" animBg="1"/>
      <p:bldP spid="55" grpId="0" animBg="1"/>
      <p:bldP spid="62" grpId="0" animBg="1"/>
      <p:bldP spid="56" grpId="0" animBg="1"/>
      <p:bldP spid="58" grpId="0" animBg="1"/>
      <p:bldP spid="63" grpId="0" animBg="1"/>
      <p:bldP spid="64" grpId="0" animBg="1"/>
      <p:bldP spid="29" grpId="0" animBg="1"/>
      <p:bldP spid="30" grpId="0" animBg="1"/>
      <p:bldP spid="47" grpId="0" animBg="1"/>
      <p:bldP spid="41" grpId="0" animBg="1"/>
      <p:bldP spid="42" grpId="0" animBg="1"/>
      <p:bldP spid="48" grpId="0" animBg="1"/>
      <p:bldP spid="44" grpId="0" animBg="1"/>
      <p:bldP spid="45" grpId="0" animBg="1"/>
      <p:bldP spid="4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280-ECE8-B8FB-C4BC-810EE2F8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782DF-607F-2CCA-F9ED-DF677426D47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7669695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3C7017-B48B-8905-AD69-2612689F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FD21AF-1211-EB93-7D9C-5F213F3622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663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333B-9559-FF83-96A2-5B57F022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2C213E-5B96-CC81-B778-CE8866A68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GB" dirty="0"/>
              <a:t>What is the difference between</a:t>
            </a:r>
            <a:br>
              <a:rPr lang="en-GB" dirty="0"/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'a' 'b' 3 	</a:t>
            </a:r>
            <a:r>
              <a:rPr lang="en-GB" dirty="0"/>
              <a:t>and	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'ab' 3  </a:t>
            </a:r>
            <a:r>
              <a:rPr lang="en-GB" dirty="0"/>
              <a:t>?</a:t>
            </a:r>
          </a:p>
          <a:p>
            <a:pPr>
              <a:buFont typeface="+mj-lt"/>
              <a:buAutoNum type="arabicPeriod"/>
            </a:pPr>
            <a:r>
              <a:rPr lang="en-GB" dirty="0"/>
              <a:t>What is the depth of each of the above?</a:t>
            </a:r>
          </a:p>
          <a:p>
            <a:pPr>
              <a:buFont typeface="+mj-lt"/>
              <a:buAutoNum type="arabicPeriod"/>
            </a:pPr>
            <a:r>
              <a:rPr lang="en-GB" dirty="0"/>
              <a:t>What is shape of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(1 2),X (6 7) </a:t>
            </a:r>
            <a:r>
              <a:rPr lang="en-GB" dirty="0"/>
              <a:t>?</a:t>
            </a:r>
          </a:p>
          <a:p>
            <a:pPr>
              <a:buFont typeface="+mj-lt"/>
              <a:buAutoNum type="arabicPeriod"/>
            </a:pPr>
            <a:r>
              <a:rPr lang="en-GB" dirty="0"/>
              <a:t>Describe the result of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,/1 2 (2 2⍴⍳5) 3 4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Describe the result of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+/1 2 (2 2⍴⍳5) 3 4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DF0658-FFF4-9835-395F-5EBE59FF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85D8112-0270-3B6A-03C1-C399CEB6A0C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7620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652F16-97FA-A02B-08A2-7201F15C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APL has many functions for manipulating the structure of 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0C69A1-A8FC-BC35-9671-4A79C1E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Transformations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DC140AD-4733-8B5A-7B22-BECE8A3C1F2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221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B7FBC9-13D1-AA67-6456-44B1F214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racecar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 err="1">
                <a:latin typeface="APL385 Unicode" panose="020B0709000202000203" pitchFamily="49" charset="0"/>
              </a:rPr>
              <a:t>racecar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2 4⍴'KEEPBATSPAWSREED'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KEEP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BATS</a:t>
            </a:r>
          </a:p>
          <a:p>
            <a:pPr marL="0" indent="0">
              <a:spcAft>
                <a:spcPts val="60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PAWS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REED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C165BF-8A2F-8889-8345-FF602148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551078C-A3CD-59BC-6070-727808E6B5C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97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FAB0E-AD64-8F9C-69B8-5EC9AC5A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631E18-D1C4-1719-90DB-AD126FEEB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racecar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 err="1">
                <a:latin typeface="APL385 Unicode" panose="020B0709000202000203" pitchFamily="49" charset="0"/>
              </a:rPr>
              <a:t>racecar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2 4⍴'KEEPBATSPAWSREED'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PEEK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STAB</a:t>
            </a:r>
          </a:p>
          <a:p>
            <a:pPr marL="0" indent="0">
              <a:spcAft>
                <a:spcPts val="60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SWAP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DEER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A67E1E-104B-ABB6-AE5E-98C72A6F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896F7D0-74FA-7943-1348-3D829A2DB9E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578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B4292A-D9C5-2DEC-783E-83986377F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DYALOG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C8CFF3-E1C5-09C7-6D25-DC59436E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D98C05F-9695-842B-266B-15C2E555A31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8326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9DA2-1AFC-3DB7-D9A7-31027FAC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4ED6C8-1C21-1A7B-FA8A-72C90A1DE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YALOGD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4BF057-D563-8C6D-B32A-89C53238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5126728-960B-AF44-7AFB-22EE515A8CC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6434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01C6-3C71-AB6A-7565-AEAE060A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7DAF15-FC3D-F020-2092-808A2801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ALOGDY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D89D3D-ACA4-B4FC-D208-C41F7CD2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6C667C7-FE09-598A-B958-67B5F91E06F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592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0F65-24F5-CCA1-3F79-46A5124C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20D344-D17E-BDC1-145D-FEBB6C33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LOGDYA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AF17E-0366-7C38-3858-A5BC055E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D8749CB-AC23-7937-7BF7-C72BC946A1C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2449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C0F1-401D-3543-EB3A-CE699D37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9D10F7-08B8-8505-DBCB-63608687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OGDYAL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4A85C7-0C5A-1B26-7A86-A3F9997A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1F7CD98-B938-D221-2E90-81EDED371B2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650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90EE-7CFD-F4F2-50B3-B34E785E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F335C9-614D-25EA-6F71-6D218F79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GDYALO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195133-C06C-9DC6-7F70-25CCE397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CF87929-BBB0-3408-A7F8-8B145B74CFF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908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49CD-ABAD-6157-1CED-1B720158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D8DB20-6020-8586-0612-897A4812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6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DYALOG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3AD39F-41E0-ADB8-ACA6-E2C8175C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E796339-B6C9-2F99-BD3F-7C000CFBDE0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3717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12C4-A228-A847-E228-E6F58530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C0ABCF-AFB1-F8E6-624E-5076C6C6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+</a:t>
            </a:r>
            <a:r>
              <a:rPr lang="en-GB" dirty="0" err="1"/>
              <a:t>ve</a:t>
            </a:r>
            <a:r>
              <a:rPr lang="en-GB" dirty="0"/>
              <a:t> goes left ←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3 5⍴5↑⎕D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CD564C-2B30-E30D-7B4C-B3FC349B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B307616-5436-DC16-B9E7-039557FDAA5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8895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0AE7-AA22-D178-FD95-FC95D3CC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BB7720-1938-0202-8848-49C55088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+</a:t>
            </a:r>
            <a:r>
              <a:rPr lang="en-GB" dirty="0" err="1"/>
              <a:t>ve</a:t>
            </a:r>
            <a:r>
              <a:rPr lang="en-GB" dirty="0"/>
              <a:t> goes left ←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 3 ¯1⌽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5⍴5↑⎕D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255487-8431-EEED-A9B3-5B27465D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F1C8DE6-64C9-A6E4-C2D8-B1B25A54AB6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6181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B293-0A10-BF5A-9E4D-5D52DD40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9D928B-A1FB-EF0B-98B6-03FCF2DA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+</a:t>
            </a:r>
            <a:r>
              <a:rPr lang="en-GB" dirty="0" err="1"/>
              <a:t>ve</a:t>
            </a:r>
            <a:r>
              <a:rPr lang="en-GB" dirty="0"/>
              <a:t> goes left ←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3 ¯1⌽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5⍴5↑⎕D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AF91CF-C3E2-5C80-77F0-AFDE4DA8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8AF7349-C032-B148-7D14-850C8040377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235F31-2245-68EE-5B66-1D3908DEADE5}"/>
              </a:ext>
            </a:extLst>
          </p:cNvPr>
          <p:cNvSpPr/>
          <p:nvPr/>
        </p:nvSpPr>
        <p:spPr>
          <a:xfrm>
            <a:off x="2446020" y="2484120"/>
            <a:ext cx="133350" cy="133350"/>
          </a:xfrm>
          <a:prstGeom prst="ellipse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328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BA09-2598-EE29-E8E2-3C8937DB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4E97A5-C815-C1B6-586C-94DAF4B5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+</a:t>
            </a:r>
            <a:r>
              <a:rPr lang="en-GB" dirty="0" err="1"/>
              <a:t>ve</a:t>
            </a:r>
            <a:r>
              <a:rPr lang="en-GB" dirty="0"/>
              <a:t> goes left ←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¯1⌽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5⍴5↑⎕D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34012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FC8D59-C0BF-5795-687C-8FEE15A2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1A63889-7B9F-48AF-0CE7-30DCBDF5ABB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1992ED-58E7-4447-E513-E01D9CEEC10B}"/>
              </a:ext>
            </a:extLst>
          </p:cNvPr>
          <p:cNvSpPr/>
          <p:nvPr/>
        </p:nvSpPr>
        <p:spPr>
          <a:xfrm>
            <a:off x="2446020" y="2484120"/>
            <a:ext cx="133350" cy="133350"/>
          </a:xfrm>
          <a:prstGeom prst="ellipse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6189CA3-EDCE-2EF9-B0FE-7110C93D91AA}"/>
              </a:ext>
            </a:extLst>
          </p:cNvPr>
          <p:cNvSpPr/>
          <p:nvPr/>
        </p:nvSpPr>
        <p:spPr>
          <a:xfrm flipH="1">
            <a:off x="2097405" y="2942371"/>
            <a:ext cx="830580" cy="174209"/>
          </a:xfrm>
          <a:prstGeom prst="rightArrow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6037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84F68-E04A-B233-3A27-B7CA21F6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7A86D3-9B56-5B7A-C090-2C6A0A8E8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+</a:t>
            </a:r>
            <a:r>
              <a:rPr lang="en-GB" dirty="0" err="1"/>
              <a:t>ve</a:t>
            </a:r>
            <a:r>
              <a:rPr lang="en-GB" dirty="0"/>
              <a:t> goes left ←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¯1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⌽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5⍴5↑⎕D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01234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34012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40123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574AC8-BCA0-2CC1-3D6C-592439B2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⍺⌽⍵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C50856A-FF62-7DC7-B5EA-5ECFF6B8E05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838743-7F17-D55B-F16D-88415E4A61FB}"/>
              </a:ext>
            </a:extLst>
          </p:cNvPr>
          <p:cNvSpPr/>
          <p:nvPr/>
        </p:nvSpPr>
        <p:spPr>
          <a:xfrm>
            <a:off x="2446020" y="2484120"/>
            <a:ext cx="133350" cy="133350"/>
          </a:xfrm>
          <a:prstGeom prst="ellipse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BF3ED6E-3BF7-ED52-2BA3-86EA1C9ACCDD}"/>
              </a:ext>
            </a:extLst>
          </p:cNvPr>
          <p:cNvSpPr/>
          <p:nvPr/>
        </p:nvSpPr>
        <p:spPr>
          <a:xfrm flipH="1">
            <a:off x="2097405" y="2942371"/>
            <a:ext cx="830580" cy="174209"/>
          </a:xfrm>
          <a:prstGeom prst="rightArrow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1894F26-1CB1-1A7D-C48B-2FF982E6B6FB}"/>
              </a:ext>
            </a:extLst>
          </p:cNvPr>
          <p:cNvSpPr/>
          <p:nvPr/>
        </p:nvSpPr>
        <p:spPr>
          <a:xfrm>
            <a:off x="2446020" y="3366957"/>
            <a:ext cx="222885" cy="174209"/>
          </a:xfrm>
          <a:prstGeom prst="rightArrow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50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DA692-0651-76F6-0B1A-04C8EAD8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map←'⎕⍟'[1+⍉2⊥⍣¯1⊢¯1+⍳2*3]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27E17C-98CA-D7C7-5BFF-9E2EA20F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CC4A245-C5E5-4495-9E9F-05E3310568A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3892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6DB6-0B6A-1B9D-C200-2DA61A8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5CA099-3C31-556C-2A16-598963C2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759D53-719F-0105-1BB3-743E84A6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5F97AEA-B2DC-8580-B162-F6EBECE1FB9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9384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6682-7AC4-454F-989C-C924FE20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D1B89F-9076-0DB1-722D-AD42583CF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2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D8A3F0-0E61-DC34-8C49-C1E3F65F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C53527B-8C15-3609-34EB-364A8284CF4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1045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DE95-5EF7-940A-9B7B-64EDD6BD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B768C0-6328-FA2F-AC24-0E0DC3B48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3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EE2A33-EABB-EB75-1887-D6B7F5FA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B569964-CA2C-1ED4-3B9A-99D2414C01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15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B176-0C2F-CFD0-2E9C-B2D9A742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3DFA99-7A17-6AA8-C3D5-19025B9EE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4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FC689B-D9FF-F825-420E-CE793E4A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94A7671-95CF-1B8B-63CE-63EC94E2047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7289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C5409-32B6-B175-9CFB-17C3F9D4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CB379C-197A-D6B7-6412-19593B7A1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5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15EBEA-449E-AEBF-34F6-ADFC7BAC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92A38FB-3D20-27DC-B3F7-E3D8D8BB2CD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6609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A054A-7293-31DD-5D07-942AB966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BDEA2-A519-C27C-D18A-2660EF422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6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E5AF0E-6684-3786-9882-13AA611B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5264353-BC6B-54F7-7ED3-095E407744F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622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F291-60F0-CCBC-F927-D288A495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AB0FF3-6465-B6F9-65C9-4ACA12FC2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7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map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⎕⍟⍟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⍟⎕⎕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⍟⎕⍟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⍟⍟⎕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BC0268-89BD-7A49-E5C9-2D21A2BB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C69917A-4E14-B007-EF3C-D78CEC216B0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4846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6FBC-F6DF-6FC9-8039-06162EE5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8786D7-1CD6-4E56-AF20-9A2A86DC9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3 2 4⍴8/'ABC'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AAAA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AAAA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BBBB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BBBB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CCCC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CCCC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2CA142-BA34-1E50-839F-4E54F5AE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839D8CB-199F-6C5B-8008-EE0F97CF054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5343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3D3D-166A-18DA-7F89-4E1FCF49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7CD1B3-F1C9-8A6E-D82C-4BD3ACF76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2 4⍴8/'ABC'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CCCC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CCCC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BBBB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BBBB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AAAA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AAAA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BF8153-2A93-187E-5655-58F5175A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Rotate/Reverse First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⊖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004847-A605-E414-87CD-04C6971D684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705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3B1532-5BC4-C59F-B518-E302B425F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Reorder the axes of an array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⍉ 4 3 ⍴ ⍳12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1 4 7 10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2 5 8 11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3 6 9 12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18F5C1-A809-85A5-672E-ADB0A964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Transpose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D8FDE5D-E3AD-9BE1-B83E-6D06FFBC96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22264-3C0C-E4CE-4882-A1EA369F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332" y="1719116"/>
            <a:ext cx="2128953" cy="213647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12DB3E-5EF7-962F-42AA-7572E827405D}"/>
              </a:ext>
            </a:extLst>
          </p:cNvPr>
          <p:cNvCxnSpPr>
            <a:cxnSpLocks/>
          </p:cNvCxnSpPr>
          <p:nvPr/>
        </p:nvCxnSpPr>
        <p:spPr>
          <a:xfrm>
            <a:off x="5162843" y="1719116"/>
            <a:ext cx="1638886" cy="19666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311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49B7-2E9B-4AB4-15EC-88D86B65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8528C0-553B-1705-9F12-C9BAF939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Reorder the axes of an array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⍉ 4 3 ⍴ ⍳12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1 4 7 10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2 5 8 11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3 6 9 12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E2D79E-1834-D0D1-628F-858298E5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Transpose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293A740-B640-7363-EF82-F1E39DF527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B3563F-163D-3DDC-DFD3-684C1AFCD07B}"/>
              </a:ext>
            </a:extLst>
          </p:cNvPr>
          <p:cNvCxnSpPr>
            <a:cxnSpLocks/>
          </p:cNvCxnSpPr>
          <p:nvPr/>
        </p:nvCxnSpPr>
        <p:spPr>
          <a:xfrm>
            <a:off x="5162843" y="1719116"/>
            <a:ext cx="1638886" cy="19666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56760CD-577E-019F-1DB0-8C55FA421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 flipH="1">
            <a:off x="4632577" y="1808690"/>
            <a:ext cx="2841504" cy="213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02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DA8EE-5A92-C48B-CD0A-E4941CB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Works on any rank array.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 3 2 ⍴ ⍳99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1  7 13 19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3  9 15 21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5 11 17 23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  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2  8 14 20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4 10 16 22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6 12 18 24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E94D5-1F9F-7917-AD9D-BC8E3572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Transpose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88A0A73-5B44-6A0D-86AF-DB3719A4ECF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3443C-A42C-585B-7C5A-9CCFD442017B}"/>
              </a:ext>
            </a:extLst>
          </p:cNvPr>
          <p:cNvSpPr txBox="1"/>
          <p:nvPr/>
        </p:nvSpPr>
        <p:spPr>
          <a:xfrm>
            <a:off x="6050867" y="953192"/>
            <a:ext cx="761747" cy="355481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1  2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3  4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5  6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    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7  8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9 10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11 12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    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13 14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15 16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17 18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     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19 20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21 22</a:t>
            </a:r>
          </a:p>
          <a:p>
            <a:r>
              <a:rPr lang="en-GB" sz="1500" dirty="0">
                <a:solidFill>
                  <a:schemeClr val="bg1"/>
                </a:solidFill>
                <a:latin typeface="APL385 Unicode" panose="020B0709000202000203" pitchFamily="49" charset="0"/>
              </a:rPr>
              <a:t>23 24</a:t>
            </a:r>
          </a:p>
        </p:txBody>
      </p:sp>
    </p:spTree>
    <p:extLst>
      <p:ext uri="{BB962C8B-B14F-4D97-AF65-F5344CB8AC3E}">
        <p14:creationId xmlns:p14="http://schemas.microsoft.com/office/powerpoint/2010/main" val="27809937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CC8A3D-C76A-73E2-013F-620E29CFE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i="1" dirty="0">
                <a:solidFill>
                  <a:srgbClr val="FF6600"/>
                </a:solidFill>
              </a:rPr>
              <a:t>Dyadic Transpose</a:t>
            </a:r>
            <a:r>
              <a:rPr lang="en-GB" dirty="0"/>
              <a:t> (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/>
              <a:t>) allows you to specify the new dimension order – or even extract diagonals by repeating axes: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1 1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b="1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 4 3 ⍴ ⍳12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4 7 10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8 11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3 6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9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12</a:t>
            </a: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  <a:latin typeface="APL385 Unicode" panose="020B0709000202000203" pitchFamily="49" charset="0"/>
              </a:rPr>
              <a:t>1 5 9</a:t>
            </a:r>
            <a:endParaRPr lang="en-GB" dirty="0">
              <a:solidFill>
                <a:srgbClr val="0070C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number of elements on the left must be the same as the rank on the right.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6F475-C57D-ECE7-749B-8B26FA19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Transpose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⍉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6B513B5-3796-9E08-153D-A67C0A04062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199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5CE389-8740-1177-7824-BD059DA3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Inverse of Mix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4⍴⎕A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ABCD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EFGH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IJKL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↓3 4⍴⎕A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┌────┬────┬────┐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│ABCD│EFGH│IJKL│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└────┴────┴────┘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↓1 2 3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 2 3│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13DC84-781A-A2D1-56F7-48FE227A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↓⍵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509032A-2FA5-65F0-00CC-A005C5DA665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8270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AB07-253B-0133-3AC9-301C8AA5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169BCA-5FA9-22C2-0B2D-28857D30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↓⍵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ABC38D3-C624-B317-8EE2-818A7D196E5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A304B8-A0BF-8E64-6DE2-3154556F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↓[1]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3 2 2⍴⍳12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┌──────┬──────┐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 5 9 │2 6 10│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├──────┼──────┤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│3 7 11│4 8 12│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└──────┴──────┘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7A713-E014-78C5-D94C-E71378724D85}"/>
              </a:ext>
            </a:extLst>
          </p:cNvPr>
          <p:cNvSpPr txBox="1"/>
          <p:nvPr/>
        </p:nvSpPr>
        <p:spPr>
          <a:xfrm>
            <a:off x="5806850" y="1867711"/>
            <a:ext cx="1024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2</a:t>
            </a: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4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5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6</a:t>
            </a: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7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8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9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10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876760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B5BB-731A-D5AB-762B-D55C18C0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D0CFEF-DA2C-BB97-0A0E-229F7B5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Enclose with Axis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⊂[k]⍵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F61DCFD-6D19-DD65-410D-958613D5053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E23FC3B-842A-9282-AD9C-3AB92C421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⊂[1 3]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3 2 2⍴⍳12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  2│ 3  4│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│5  6│ 7  8│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│9 10│11 12│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└────┴─────┘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6BA14-391B-A094-47DA-B4F395748787}"/>
              </a:ext>
            </a:extLst>
          </p:cNvPr>
          <p:cNvSpPr txBox="1"/>
          <p:nvPr/>
        </p:nvSpPr>
        <p:spPr>
          <a:xfrm>
            <a:off x="5806850" y="1867711"/>
            <a:ext cx="1024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1  2</a:t>
            </a: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3  4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5  6</a:t>
            </a: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7  8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9 10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11 12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A561A-E353-2EE5-64D8-61376F30F83F}"/>
              </a:ext>
            </a:extLst>
          </p:cNvPr>
          <p:cNvSpPr txBox="1"/>
          <p:nvPr/>
        </p:nvSpPr>
        <p:spPr>
          <a:xfrm>
            <a:off x="729453" y="3735733"/>
            <a:ext cx="4671472" cy="646331"/>
          </a:xfrm>
          <a:prstGeom prst="rect">
            <a:avLst/>
          </a:prstGeom>
          <a:solidFill>
            <a:schemeClr val="tx1"/>
          </a:solidFill>
          <a:ln w="28575"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 Rank Operator and Dyadic Transpose</a:t>
            </a:r>
          </a:p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https://dyalog.tv/Webinar/?v=zBqdeDJPPRc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708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3216BB-3D7F-E8B6-0DEB-D22219DB2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New segments on groups of 1s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0 0 1 0⊂'ABCDE'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┌───┬──┐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│ABC│DE│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└───┴──┘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(' '=s)⊂s←' split words'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┌──────┬──────┐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 split│ words│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└──────┴──────┘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7FDD23-E1C8-1BA3-0773-AA179B4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⍺⊂⍵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DB7760F-8398-6F9B-9214-CD5A9DE47C5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62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5173-7CB8-B1C7-7DD6-B1276086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D9FD6B-5341-01D5-4D9B-429DA361F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Integers say: "how many partitions to this one?"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2 0 3 0⊂'ABCDE'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┌─┬┬──┬┬┬──┐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│A││BC│││DE│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└─┴┴──┴┴┴──┘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E7D296-7954-CFE6-A7A2-2BB7E280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⍺⊂⍵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570C901-7CCA-60BC-01BF-05C934CCF0A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801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EC644-9F54-73C2-A696-ED30D1BE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F7D1F1-852E-E90D-6285-56280EFEA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Short left argument allowed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1⊂'headtail'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h│eadtail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1 1 0 0 0 0 0 0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⊂'headtail'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h│eadtail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EDAD5-160B-4414-DECA-3EF7A607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⍺⊂⍵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5001470-92D9-D990-A713-5D5EBD370FC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3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5CF0-75C9-38C3-57E7-1C87AE37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028499-2A41-38FF-B1AB-CF459D6E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New segments on increases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 3 2 2 4⊆'ABCDE'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│A│BCD│E│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C4E3A8-4E42-3CF4-F602-2FBF8F9D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Partitioned Enclose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⍺⊆⍵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41B4DED-8A41-7B1B-4F96-ECC92BB80D7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7832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85AB-64CE-8E97-76D7-3063F534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D834FB-719C-923C-72CC-0E1036B6A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New segments on increases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1 3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2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2 4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⊆'ABCDE'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│A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│</a:t>
            </a:r>
            <a:r>
              <a:rPr lang="en-GB" dirty="0">
                <a:latin typeface="APL385 Unicode" panose="020B0709000202000203" pitchFamily="49" charset="0"/>
              </a:rPr>
              <a:t>BCD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│</a:t>
            </a:r>
            <a:r>
              <a:rPr lang="en-GB" dirty="0">
                <a:latin typeface="APL385 Unicode" panose="020B0709000202000203" pitchFamily="49" charset="0"/>
              </a:rPr>
              <a:t>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684754-3D20-E518-6863-DA3150E4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Partitioned Enclose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⍺⊆⍵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BC01D78-1FF0-70CF-75D0-99595F2BB33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978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714B-079F-CD2E-84CD-83DD20FB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B19902-789E-D227-0DAA-DB79CEF2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Remove elements where </a:t>
            </a:r>
            <a:r>
              <a:rPr lang="en-GB" dirty="0">
                <a:latin typeface="APL385 Unicode" panose="020B0709000202000203" pitchFamily="49" charset="0"/>
              </a:rPr>
              <a:t>0</a:t>
            </a:r>
            <a:r>
              <a:rPr lang="en-GB" dirty="0"/>
              <a:t>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 1 0 1 1⊆'ABCDE'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┌──┬──┐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│AB│DE│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└──┴──┘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s⊆⍨' '≠s←' split words'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split│words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└─────┴─────┘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303373-D958-6982-01F0-34EE74B5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Partitioned Enclose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⍺⊆⍵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DB00EA6-3012-C079-893B-8C97E1BF624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9908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E316-D11C-C1A3-E907-CDFBF274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0DA5EC-59F3-4726-FF15-1EF6D27C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Remove elements where </a:t>
            </a:r>
            <a:r>
              <a:rPr lang="en-GB" dirty="0">
                <a:latin typeface="APL385 Unicode" panose="020B0709000202000203" pitchFamily="49" charset="0"/>
              </a:rPr>
              <a:t>0</a:t>
            </a:r>
            <a:r>
              <a:rPr lang="en-GB" dirty="0"/>
              <a:t>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 1 0 1 1⊆'ABCDE'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┌──┬──┐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│AB│DE│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└──┴──┘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'(≠⊆⊢)' split words'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split│words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└─────┴─────┘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62ADE5-8FCF-A1FA-AE57-2AC3EA1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Partitioned Enclose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⍺⊆⍵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297BDD5-D11F-2E21-32F1-BDF6D2EB2D6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1015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0D6BE-8B3F-1F18-88CA-3CC310B2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8763A9F-8E15-7FCD-6B92-DCB6A07C4D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3D9C51B-D5D4-2B73-79E5-89A59A6E27D3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3023372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5368945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FEBC88-C7AE-3811-2BBF-6B06B8867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https://rikedyp.uk/APLBootcamp</a:t>
            </a:r>
          </a:p>
          <a:p>
            <a:pPr marL="0" indent="0">
              <a:buNone/>
            </a:pPr>
            <a:r>
              <a:rPr lang="en-GB" dirty="0"/>
              <a:t>Part 4</a:t>
            </a:r>
          </a:p>
          <a:p>
            <a:pPr marL="0" indent="0">
              <a:buNone/>
            </a:pPr>
            <a:r>
              <a:rPr lang="en-GB" dirty="0"/>
              <a:t>Nested Arrays and Array Transformations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4DCB1C-A2A7-13AC-D029-A84E2419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3FF6864-D018-8F1D-BED2-106E06BA449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4747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9CADF9-D5C5-D03F-25B6-0BA6AD933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 well as manipulating the structure of arrays, looking up and substituting parts of arrays are common tasks.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8762C-DD8A-5AEA-33E7-6A66C9EA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789D6F9-961E-6FF0-A09A-D71F61F75EF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1191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56FFE1-4A9A-0D59-C1B8-B7F44EBE9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It is common to make multiple equality comparisons. Doing this one at a time becomes tedious.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97790-EC9B-D23A-71F4-7B95B8980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5AEF532-5178-76D6-73E2-C13A9C9FF3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E3267-7242-2542-FE8D-897E48A3F88E}"/>
              </a:ext>
            </a:extLst>
          </p:cNvPr>
          <p:cNvSpPr txBox="1"/>
          <p:nvPr/>
        </p:nvSpPr>
        <p:spPr>
          <a:xfrm>
            <a:off x="343920" y="2775626"/>
            <a:ext cx="8456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text ← 'This is my sentence'</a:t>
            </a:r>
          </a:p>
          <a:p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(text='a')∨(text='e')∨(text='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')∨(text='o')∨(text='u')</a:t>
            </a:r>
          </a:p>
          <a:p>
            <a:r>
              <a:rPr lang="en-GB" dirty="0">
                <a:latin typeface="APL385 Unicode" panose="020B0709000202000203" pitchFamily="49" charset="0"/>
              </a:rPr>
              <a:t>0 0 1 0 0 1 0 0 0 0 0 0 1 0 0 1 0 0 1</a:t>
            </a:r>
          </a:p>
        </p:txBody>
      </p:sp>
    </p:spTree>
    <p:extLst>
      <p:ext uri="{BB962C8B-B14F-4D97-AF65-F5344CB8AC3E}">
        <p14:creationId xmlns:p14="http://schemas.microsoft.com/office/powerpoint/2010/main" val="39506201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7D4C-765B-D4D8-0501-52F43930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FECE6C-3E80-16C5-DE6E-C7448CB8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i="1" dirty="0">
                <a:solidFill>
                  <a:srgbClr val="FF6600"/>
                </a:solidFill>
              </a:rPr>
              <a:t>membership</a:t>
            </a:r>
            <a:r>
              <a:rPr lang="en-GB" dirty="0"/>
              <a:t> function returns a Boolean array (</a:t>
            </a:r>
            <a:r>
              <a:rPr lang="en-GB" dirty="0">
                <a:latin typeface="APL385 Unicode" panose="020B0709000202000203" pitchFamily="49" charset="0"/>
              </a:rPr>
              <a:t>1</a:t>
            </a:r>
            <a:r>
              <a:rPr lang="en-GB" dirty="0"/>
              <a:t>s and </a:t>
            </a:r>
            <a:r>
              <a:rPr lang="en-GB" dirty="0">
                <a:latin typeface="APL385 Unicode" panose="020B0709000202000203" pitchFamily="49" charset="0"/>
              </a:rPr>
              <a:t>0</a:t>
            </a:r>
            <a:r>
              <a:rPr lang="en-GB" dirty="0"/>
              <a:t>s) of the same shape as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 where </a:t>
            </a:r>
            <a:r>
              <a:rPr lang="en-GB" dirty="0">
                <a:latin typeface="APL385 Unicode" panose="020B0709000202000203" pitchFamily="49" charset="0"/>
              </a:rPr>
              <a:t>1</a:t>
            </a:r>
            <a:r>
              <a:rPr lang="en-GB" dirty="0"/>
              <a:t> indicates the location of any of the elements in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AB29-5159-CCB0-27B8-73153F67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87DCA01-B98B-0382-D5A7-6C723B200E7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2BFF8-309C-31B4-36A4-4A98C5F1604F}"/>
              </a:ext>
            </a:extLst>
          </p:cNvPr>
          <p:cNvSpPr txBox="1"/>
          <p:nvPr/>
        </p:nvSpPr>
        <p:spPr>
          <a:xfrm>
            <a:off x="1929290" y="2756171"/>
            <a:ext cx="52854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text∊'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aeiou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r>
              <a:rPr lang="en-GB" dirty="0">
                <a:latin typeface="APL385 Unicode" panose="020B0709000202000203" pitchFamily="49" charset="0"/>
              </a:rPr>
              <a:t>0 0 1 0 0 1 0 0 0 0 0 0 1 0 0 1 0 0 1</a:t>
            </a:r>
          </a:p>
          <a:p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text ← 2 6⍴'I LIKE APL  '</a:t>
            </a:r>
          </a:p>
          <a:p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text∊'AEIOU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r>
              <a:rPr lang="en-GB" dirty="0">
                <a:latin typeface="APL385 Unicode" panose="020B0709000202000203" pitchFamily="49" charset="0"/>
              </a:rPr>
              <a:t>1 0 0 1 0 1</a:t>
            </a:r>
          </a:p>
          <a:p>
            <a:r>
              <a:rPr lang="en-GB" dirty="0">
                <a:latin typeface="APL385 Unicode" panose="020B0709000202000203" pitchFamily="49" charset="0"/>
              </a:rPr>
              <a:t>0 1 0 0 0 0</a:t>
            </a:r>
          </a:p>
        </p:txBody>
      </p:sp>
    </p:spTree>
    <p:extLst>
      <p:ext uri="{BB962C8B-B14F-4D97-AF65-F5344CB8AC3E}">
        <p14:creationId xmlns:p14="http://schemas.microsoft.com/office/powerpoint/2010/main" val="34251331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88F6-B0BF-4FE4-3933-997CF99E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7FC168-64C1-3CF1-BDAF-BD5230C4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Membership looks up </a:t>
            </a:r>
            <a:r>
              <a:rPr lang="en-GB" b="1" i="1" dirty="0">
                <a:solidFill>
                  <a:srgbClr val="FF6600"/>
                </a:solidFill>
              </a:rPr>
              <a:t>elements</a:t>
            </a:r>
            <a:r>
              <a:rPr lang="en-GB" dirty="0"/>
              <a:t> of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 as </a:t>
            </a:r>
            <a:r>
              <a:rPr lang="en-GB" b="1" i="1" dirty="0">
                <a:solidFill>
                  <a:srgbClr val="FF6600"/>
                </a:solidFill>
              </a:rPr>
              <a:t>elements</a:t>
            </a:r>
            <a:r>
              <a:rPr lang="en-GB" dirty="0"/>
              <a:t>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Elements are scalars!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0D835D-BEB1-89F6-09FC-7D22E2FB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4B8CDE-E66C-15B4-F417-AA009D710B1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B104E-561D-6724-2FC1-A9202D66CB2E}"/>
              </a:ext>
            </a:extLst>
          </p:cNvPr>
          <p:cNvSpPr txBox="1"/>
          <p:nvPr/>
        </p:nvSpPr>
        <p:spPr>
          <a:xfrm>
            <a:off x="1929290" y="2756171"/>
            <a:ext cx="51475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'which' 'word'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found'∊'word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r>
              <a:rPr lang="en-GB" dirty="0">
                <a:latin typeface="APL385 Unicode" panose="020B0709000202000203" pitchFamily="49" charset="0"/>
              </a:rPr>
              <a:t>0 0 0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'which' 'word' 'found'∊⊂'word'</a:t>
            </a:r>
          </a:p>
          <a:p>
            <a:r>
              <a:rPr lang="en-GB" dirty="0">
                <a:latin typeface="APL385 Unicode" panose="020B0709000202000203" pitchFamily="49" charset="0"/>
              </a:rPr>
              <a:t>0 1 0</a:t>
            </a:r>
          </a:p>
        </p:txBody>
      </p:sp>
    </p:spTree>
    <p:extLst>
      <p:ext uri="{BB962C8B-B14F-4D97-AF65-F5344CB8AC3E}">
        <p14:creationId xmlns:p14="http://schemas.microsoft.com/office/powerpoint/2010/main" val="5249792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FAE0-08AB-44F4-1705-9AF66E8E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73787C-5986-8429-BA21-6FECBBB4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1" dirty="0">
                <a:solidFill>
                  <a:srgbClr val="FF6600"/>
                </a:solidFill>
              </a:rPr>
              <a:t>Find</a:t>
            </a:r>
            <a:r>
              <a:rPr lang="en-GB" dirty="0"/>
              <a:t> </a:t>
            </a:r>
            <a:r>
              <a:rPr lang="en-GB" dirty="0">
                <a:latin typeface="APL385 Unicode" panose="020B0709000202000203" pitchFamily="49" charset="0"/>
              </a:rPr>
              <a:t>⍺⍷⍵</a:t>
            </a:r>
            <a:r>
              <a:rPr lang="en-GB" dirty="0"/>
              <a:t> will give a </a:t>
            </a:r>
            <a:r>
              <a:rPr lang="en-GB" dirty="0">
                <a:latin typeface="APL385 Unicode" panose="020B0709000202000203" pitchFamily="49" charset="0"/>
              </a:rPr>
              <a:t>1</a:t>
            </a:r>
            <a:r>
              <a:rPr lang="en-GB" dirty="0"/>
              <a:t> indicating the location of the first element of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 when the entire array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 is found as a subarray in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E182C9-A23F-720A-FE34-277721CB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8F2F6C5-C5C4-E190-CF92-EEE416119E8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8114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E9FC-D2DC-90B7-B6F0-DA356406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F4381-0FF5-2BF4-7586-AF9F649A9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y ← 2 10⍴'APPLESLESSMOTIONSLOW'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y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APPLESLESS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MOTIONSLOW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LESS'⍷y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0 0 0 0 0 0 1 0 0 0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0 0 0 0 0 0 0 0 0 0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LESION'⍷y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0 0 0 0 0 0 0 0 0 0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0 0 0 0 0 0 0 0 0 0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(2 3⍴'LESION')⍷y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0 0 0 1 0 0 0 0 0 0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0 0 0 0 0 0 0 0 0 0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C501BB-E714-3AF5-477A-C594DAB0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and Replacing Values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D6CFE77-8129-2160-DB67-543EA33BB9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C7291-358F-4BB7-D220-8F5CBF73C432}"/>
              </a:ext>
            </a:extLst>
          </p:cNvPr>
          <p:cNvSpPr/>
          <p:nvPr/>
        </p:nvSpPr>
        <p:spPr>
          <a:xfrm>
            <a:off x="752272" y="1913106"/>
            <a:ext cx="350196" cy="395592"/>
          </a:xfrm>
          <a:prstGeom prst="rect">
            <a:avLst/>
          </a:prstGeom>
          <a:solidFill>
            <a:srgbClr val="ED7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14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25E75F-C4F7-A101-F1D2-C48A2FDC3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'DOG'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1 5 6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5DE80-21CA-542D-66B5-018E975F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95DB28D-F1A9-F54A-6BF9-E6041F230EF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0692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4BC37-1F09-16E0-B753-F305B6E2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DBEF96-5199-CAF2-F445-A6BABCBE4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D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YAL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O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'⍳'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D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O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65C90C-A6DB-84D3-51DD-FBF0C621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BAB0F2F-FFF8-5091-4CA2-9E17843E990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7341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DC0B7-C91C-D6E2-FC8B-7946A3DC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B7D47C-4B34-3EB1-6E3F-7ABAEC347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+mj-lt"/>
              </a:rPr>
              <a:t>If an item in 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⍵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is not found in 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, return 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1+≢⍺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'</a:t>
            </a:r>
            <a:r>
              <a:rPr lang="en-GB" dirty="0" err="1">
                <a:solidFill>
                  <a:schemeClr val="tx1"/>
                </a:solidFill>
                <a:latin typeface="APL385 Unicode" panose="020B0709000202000203" pitchFamily="49" charset="0"/>
              </a:rPr>
              <a:t>bugs'⍳'hogs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264BC5-0C13-AB45-0DAE-42961716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FB8FB6D-8D87-354F-76B6-4C979A14796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0608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97E8-ED57-F42C-2B31-F66E7013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FE8E63-845B-D81E-4940-69A1D53F0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+mj-lt"/>
              </a:rPr>
              <a:t>If an item in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>
                <a:latin typeface="+mj-lt"/>
              </a:rPr>
              <a:t> is not found in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latin typeface="+mj-lt"/>
              </a:rPr>
              <a:t>, return </a:t>
            </a:r>
            <a:r>
              <a:rPr lang="en-GB" dirty="0">
                <a:latin typeface="APL385 Unicode" panose="020B0709000202000203" pitchFamily="49" charset="0"/>
              </a:rPr>
              <a:t>1+≢⍺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'</a:t>
            </a:r>
            <a:r>
              <a:rPr lang="en-GB" dirty="0" err="1">
                <a:latin typeface="APL385 Unicode" panose="020B0709000202000203" pitchFamily="49" charset="0"/>
              </a:rPr>
              <a:t>bu</a:t>
            </a:r>
            <a:r>
              <a:rPr lang="en-GB" dirty="0" err="1">
                <a:solidFill>
                  <a:srgbClr val="00B0F0"/>
                </a:solidFill>
                <a:latin typeface="APL385 Unicode" panose="020B0709000202000203" pitchFamily="49" charset="0"/>
              </a:rPr>
              <a:t>g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</a:t>
            </a:r>
            <a:r>
              <a:rPr lang="en-GB" dirty="0" err="1">
                <a:latin typeface="APL385 Unicode" panose="020B0709000202000203" pitchFamily="49" charset="0"/>
              </a:rPr>
              <a:t>'⍳'ho</a:t>
            </a:r>
            <a:r>
              <a:rPr lang="en-GB" dirty="0" err="1">
                <a:solidFill>
                  <a:srgbClr val="00B0F0"/>
                </a:solidFill>
                <a:latin typeface="APL385 Unicode" panose="020B0709000202000203" pitchFamily="49" charset="0"/>
              </a:rPr>
              <a:t>g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5 5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3B4B95-7AAE-7987-5CBB-9A2AFA61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1FD39D7-C117-DA33-7290-24E19F81475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578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09E071-2C2F-8C5F-921A-AAE7D2D2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s←'switch it'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'IT*'['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it'⍳s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**IT***IT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('!',s)[('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',s)⍳s]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tx1"/>
                </a:solidFill>
                <a:latin typeface="APL385 Unicode" panose="020B0709000202000203" pitchFamily="49" charset="0"/>
              </a:rPr>
              <a:t>sw!tch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!t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s←'cap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vowels'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('AEIOU',s)[('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aeiou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',s)⍳s]</a:t>
            </a:r>
          </a:p>
          <a:p>
            <a:pPr marL="0" indent="0">
              <a:buNone/>
            </a:pPr>
            <a:r>
              <a:rPr lang="en-GB" dirty="0" err="1">
                <a:latin typeface="APL385 Unicode" panose="020B0709000202000203" pitchFamily="49" charset="0"/>
              </a:rPr>
              <a:t>cAp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vOwEls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2B3100-DFC6-7830-0BD7-914B6DA5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031ED97-510C-EFCB-8F75-EA104E2514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78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8E7D-8072-F194-FFD6-3DCCEF91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2C207-BE01-0E56-473C-C5740242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s←'switch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('!',s)[('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',s)⍳s]</a:t>
            </a:r>
          </a:p>
          <a:p>
            <a:pPr marL="0" indent="0">
              <a:buNone/>
            </a:pPr>
            <a:r>
              <a:rPr lang="en-GB" dirty="0" err="1">
                <a:latin typeface="APL385 Unicode" panose="020B0709000202000203" pitchFamily="49" charset="0"/>
              </a:rPr>
              <a:t>sw!tch</a:t>
            </a:r>
            <a:r>
              <a:rPr lang="en-GB" dirty="0">
                <a:latin typeface="APL385 Unicode" panose="020B0709000202000203" pitchFamily="49" charset="0"/>
              </a:rPr>
              <a:t> !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s←'cap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vowels'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('AEIOU',s)[('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aeiou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',s)⍳s]</a:t>
            </a:r>
          </a:p>
          <a:p>
            <a:pPr marL="0" indent="0">
              <a:buNone/>
            </a:pPr>
            <a:r>
              <a:rPr lang="en-GB" dirty="0" err="1">
                <a:latin typeface="APL385 Unicode" panose="020B0709000202000203" pitchFamily="49" charset="0"/>
              </a:rPr>
              <a:t>cAp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vOwEls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C7EAF-1D2F-B6E6-9E87-E39A9413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BA2B5FC-5F21-5A88-7558-E202E0505A0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22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CBBD32-CCD6-3507-CB33-3CCF12ABD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text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['SOME'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    'LESS']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DF867F-F202-E2ED-53FA-E078F5F0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8BFDF44-021C-6F29-82C9-9224FE4BC56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A3A11-D7BA-5D2A-C70D-E3435C437297}"/>
              </a:ext>
            </a:extLst>
          </p:cNvPr>
          <p:cNvSpPr txBox="1"/>
          <p:nvPr/>
        </p:nvSpPr>
        <p:spPr>
          <a:xfrm>
            <a:off x="4809148" y="1377778"/>
            <a:ext cx="37689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6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latin typeface="APL385 Unicode" panose="020B0709000202000203" pitchFamily="49" charset="0"/>
              </a:rPr>
              <a:t>LESS</a:t>
            </a: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420557922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69EF6-5AE3-F47F-BCCE-E2FDF932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17278B-D2B0-A5E8-D1C3-E60E369E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text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['</a:t>
            </a:r>
            <a:r>
              <a:rPr lang="en-GB" dirty="0">
                <a:solidFill>
                  <a:schemeClr val="tx1"/>
                </a:solidFill>
                <a:highlight>
                  <a:srgbClr val="FFFF00"/>
                </a:highlight>
                <a:latin typeface="APL385 Unicode" panose="020B0709000202000203" pitchFamily="49" charset="0"/>
              </a:rPr>
              <a:t>SOME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    '</a:t>
            </a:r>
            <a:r>
              <a:rPr lang="en-GB" dirty="0">
                <a:solidFill>
                  <a:schemeClr val="tx1"/>
                </a:solidFill>
                <a:highlight>
                  <a:srgbClr val="00FFFF"/>
                </a:highlight>
                <a:latin typeface="APL385 Unicode" panose="020B0709000202000203" pitchFamily="49" charset="0"/>
              </a:rPr>
              <a:t>LESS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']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5EC3C7-D0AA-3FB6-1575-25A85FAB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CE42190-A141-3E28-3572-1073C75BD3C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A5674-6126-4396-2A1B-C00DE90065D2}"/>
              </a:ext>
            </a:extLst>
          </p:cNvPr>
          <p:cNvSpPr txBox="1"/>
          <p:nvPr/>
        </p:nvSpPr>
        <p:spPr>
          <a:xfrm>
            <a:off x="4809148" y="1377778"/>
            <a:ext cx="37689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6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LESS</a:t>
            </a: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7869723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C21C2-012E-EDFA-DDAA-86612DF2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5B3D5A-74C5-4508-FA87-99BAFE0B8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['SOME'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'LESS']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text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3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2</a:t>
            </a:r>
            <a:r>
              <a:rPr lang="en-GB" dirty="0">
                <a:latin typeface="APL385 Unicode" panose="020B0709000202000203" pitchFamily="49" charset="0"/>
              </a:rPr>
              <a:t> 3 3 3</a:t>
            </a:r>
            <a:endParaRPr lang="en-GB" dirty="0">
              <a:highlight>
                <a:srgbClr val="00FFFF"/>
              </a:highlight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1C3F27-B3D9-1A51-27CA-0EC6F5F3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DAA7646-3652-2548-3DAB-F339973B3C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B2479-8E20-A4D9-A921-5C0DF823823B}"/>
              </a:ext>
            </a:extLst>
          </p:cNvPr>
          <p:cNvSpPr txBox="1"/>
          <p:nvPr/>
        </p:nvSpPr>
        <p:spPr>
          <a:xfrm>
            <a:off x="4809148" y="1377778"/>
            <a:ext cx="37689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6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LESS</a:t>
            </a: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21639811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0FAA-CC4A-EE25-B3EF-DF4644D5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61F8EC-0401-4A8D-5A4E-17FBCF9C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['SOME'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'LESS']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text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3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2</a:t>
            </a:r>
            <a:r>
              <a:rPr lang="en-GB" dirty="0">
                <a:latin typeface="APL385 Unicode" panose="020B0709000202000203" pitchFamily="49" charset="0"/>
              </a:rPr>
              <a:t> 3 3 3</a:t>
            </a:r>
            <a:endParaRPr lang="en-GB" dirty="0">
              <a:highlight>
                <a:srgbClr val="00FFFF"/>
              </a:highlight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050AD1-23C9-CD01-2643-896C03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60E4353-9FE5-B8E1-EEE8-F0D444D4DD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CE3D5-97EE-AC93-AF78-3126EC7C4496}"/>
              </a:ext>
            </a:extLst>
          </p:cNvPr>
          <p:cNvSpPr txBox="1"/>
          <p:nvPr/>
        </p:nvSpPr>
        <p:spPr>
          <a:xfrm>
            <a:off x="4809148" y="1377778"/>
            <a:ext cx="37689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6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LESS</a:t>
            </a: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11660983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3F06-C732-92A7-A517-DEDFF9A2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B3111B-105E-49D9-939A-F66AB4D90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text∊'LESS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1 0 0 1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1 1 1 1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0 0 1 0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1 1 1 0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258E3D-06D2-4817-2FE0-375AB4E8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88411E2-4025-8B2F-6921-B06B4E53E17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80D7D-AE02-7044-7ECA-3A4C3C66A68A}"/>
              </a:ext>
            </a:extLst>
          </p:cNvPr>
          <p:cNvSpPr txBox="1"/>
          <p:nvPr/>
        </p:nvSpPr>
        <p:spPr>
          <a:xfrm>
            <a:off x="4809148" y="1377778"/>
            <a:ext cx="40446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2 3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latin typeface="APL385 Unicode" panose="020B0709000202000203" pitchFamily="49" charset="0"/>
              </a:rPr>
              <a:t>LESS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41297010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712D-A36E-EE30-5F82-0E6DDBC8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AAF33E-779F-0132-B097-48CC56F9F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LESS'⍷text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1 0 0 0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0 0 0 0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CB3D5-2079-0DE9-3612-EBAFA7E0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D07BD8A-3E7C-8F32-7A37-E0FF948E926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CEA18-0A73-BEEF-B249-0B52803ED888}"/>
              </a:ext>
            </a:extLst>
          </p:cNvPr>
          <p:cNvSpPr txBox="1"/>
          <p:nvPr/>
        </p:nvSpPr>
        <p:spPr>
          <a:xfrm>
            <a:off x="4809148" y="1377778"/>
            <a:ext cx="40446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2 3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latin typeface="APL385 Unicode" panose="020B0709000202000203" pitchFamily="49" charset="0"/>
              </a:rPr>
              <a:t>LESS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9921990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07A6-EB6C-91F9-7ACF-FC6036A2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61FC5-D08F-4988-0D90-1E0A7919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text⍳'LESS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RANK ERROR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text⍳'LESS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    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505C48-A902-D175-B815-756B8B4E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7AD16D1-07B0-D328-966D-33558A02CAD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F3778-8892-7CAD-D625-FB1783E43DC8}"/>
              </a:ext>
            </a:extLst>
          </p:cNvPr>
          <p:cNvSpPr txBox="1"/>
          <p:nvPr/>
        </p:nvSpPr>
        <p:spPr>
          <a:xfrm>
            <a:off x="4809148" y="1377778"/>
            <a:ext cx="40446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2 3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latin typeface="APL385 Unicode" panose="020B0709000202000203" pitchFamily="49" charset="0"/>
              </a:rPr>
              <a:t>LESS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167046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12C9-9F08-0681-1EA7-847A146E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FD2368-7728-6529-1560-98E609EC7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text[1;;]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⍳'LESS'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20656A-DDC7-2A51-A62B-46BA2A3F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37B7A2B-9ECB-B1D2-4B5A-51C86D1F9B5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FD7DC-6115-02D9-2291-C25B2690317D}"/>
              </a:ext>
            </a:extLst>
          </p:cNvPr>
          <p:cNvSpPr txBox="1"/>
          <p:nvPr/>
        </p:nvSpPr>
        <p:spPr>
          <a:xfrm>
            <a:off x="4809148" y="1377778"/>
            <a:ext cx="40446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⎕←text ← 2 3 4⍴'SOME APPLES'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SOME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APP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LESS</a:t>
            </a:r>
          </a:p>
          <a:p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latin typeface="APL385 Unicode" panose="020B0709000202000203" pitchFamily="49" charset="0"/>
              </a:rPr>
              <a:t>OME </a:t>
            </a:r>
          </a:p>
          <a:p>
            <a:r>
              <a:rPr lang="en-GB" dirty="0">
                <a:latin typeface="APL385 Unicode" panose="020B0709000202000203" pitchFamily="49" charset="0"/>
              </a:rPr>
              <a:t>APPL</a:t>
            </a:r>
          </a:p>
          <a:p>
            <a:r>
              <a:rPr lang="en-GB" dirty="0">
                <a:latin typeface="APL385 Unicode" panose="020B0709000202000203" pitchFamily="49" charset="0"/>
              </a:rPr>
              <a:t>ESSO</a:t>
            </a:r>
          </a:p>
        </p:txBody>
      </p:sp>
    </p:spTree>
    <p:extLst>
      <p:ext uri="{BB962C8B-B14F-4D97-AF65-F5344CB8AC3E}">
        <p14:creationId xmlns:p14="http://schemas.microsoft.com/office/powerpoint/2010/main" val="133722326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65873-B95A-9DFC-4393-9A087BE9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To sort, index by the grade.</a:t>
            </a:r>
          </a:p>
          <a:p>
            <a:pPr marL="0" indent="0">
              <a:buNone/>
            </a:pPr>
            <a:r>
              <a:rPr lang="en-GB" dirty="0"/>
              <a:t>This allows sorting one array by ordering of another.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names  ← 3 7⍴'Anna   Ben    Charlie'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scores ← 5 2 8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names[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⍒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scores;]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Charlie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Anna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Ben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979C53-D5D2-1CB0-69C5-264978C9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⍋⍵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C611322-A54C-17CC-9BDC-7BC668B63F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5853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F89011-3F84-8393-01A2-6506AFCE9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Expressions involving selection may appear to the left of an assignment.</a:t>
            </a:r>
          </a:p>
          <a:p>
            <a:pPr marL="0" indent="0">
              <a:buNone/>
            </a:pPr>
            <a:r>
              <a:rPr lang="en-GB" dirty="0"/>
              <a:t>For example, instead of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V[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b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/⍳⍴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b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] ←</a:t>
            </a:r>
            <a:r>
              <a:rPr lang="en-GB" dirty="0">
                <a:latin typeface="APL385 Unicode" panose="020B0709000202000203" pitchFamily="49" charset="0"/>
              </a:rPr>
              <a:t> ⍳+/b</a:t>
            </a:r>
          </a:p>
          <a:p>
            <a:pPr marL="0" indent="0">
              <a:buNone/>
            </a:pPr>
            <a:r>
              <a:rPr lang="en-GB" dirty="0"/>
              <a:t>write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(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b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/V) ← </a:t>
            </a:r>
            <a:r>
              <a:rPr lang="en-GB" dirty="0">
                <a:latin typeface="APL385 Unicode" panose="020B0709000202000203" pitchFamily="49" charset="0"/>
              </a:rPr>
              <a:t>⍳+/b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B4644-607D-6D53-5D24-B63164BF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Selective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6B22576-B14D-9B8B-5E55-ED81B817797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1709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5DC6CD-7617-275C-9387-43E0E9FC6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377778"/>
            <a:ext cx="8690933" cy="3129187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GB" dirty="0"/>
              <a:t>Create some variables:</a:t>
            </a:r>
          </a:p>
          <a:p>
            <a:r>
              <a:rPr lang="en-GB" dirty="0"/>
              <a:t>A simple vector</a:t>
            </a:r>
          </a:p>
          <a:p>
            <a:r>
              <a:rPr lang="en-GB" dirty="0"/>
              <a:t>A simple multidimensional array</a:t>
            </a:r>
          </a:p>
          <a:p>
            <a:r>
              <a:rPr lang="en-GB" dirty="0"/>
              <a:t>A nested array</a:t>
            </a:r>
          </a:p>
          <a:p>
            <a:r>
              <a:rPr lang="en-GB" dirty="0"/>
              <a:t>A nested multidimensional array</a:t>
            </a:r>
          </a:p>
          <a:p>
            <a:pPr marL="0" indent="0">
              <a:buNone/>
            </a:pPr>
            <a:r>
              <a:rPr lang="en-GB" dirty="0"/>
              <a:t>Find at least 3 different ways to change parts of an array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5ECB87-BD59-6D49-9043-FFA7967D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Selective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C679E49-8690-44D2-B561-B6C2FEE270D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887819-4814-4CE4-71B7-7CA005857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580" y="1975246"/>
            <a:ext cx="3489960" cy="132343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a ← 'char list'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      (?a) ← ?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L385 Unicode" panose="020B0709000202000203" pitchFamily="49" charset="0"/>
              </a:rPr>
              <a:t>      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scar list </a:t>
            </a:r>
          </a:p>
        </p:txBody>
      </p:sp>
    </p:spTree>
    <p:extLst>
      <p:ext uri="{BB962C8B-B14F-4D97-AF65-F5344CB8AC3E}">
        <p14:creationId xmlns:p14="http://schemas.microsoft.com/office/powerpoint/2010/main" val="72909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40213B-B61B-FD7A-5358-5A1C2C6C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Assign to multiple names at once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(a b c)←42 (2 3⍴⍳4) 'a string'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42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1 2 3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4 1 2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c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 string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E32ADB-4F74-0B04-4B4C-9651683F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Strand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00F3CA6-487D-10AB-BCF5-C2162DE7FF0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95299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8772A-4771-511D-329A-7022C9D5D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 cute way to modify a variable without naming it twice.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i←10  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+←1     </a:t>
            </a:r>
            <a:r>
              <a:rPr lang="en-GB" dirty="0">
                <a:latin typeface="APL385 Unicode" panose="020B0709000202000203" pitchFamily="49" charset="0"/>
              </a:rPr>
              <a:t>⍝ add 1 to variable </a:t>
            </a:r>
            <a:r>
              <a:rPr lang="en-GB" dirty="0" err="1">
                <a:latin typeface="APL385 Unicode" panose="020B0709000202000203" pitchFamily="49" charset="0"/>
              </a:rPr>
              <a:t>i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+←2</a:t>
            </a:r>
            <a:r>
              <a:rPr lang="en-GB" dirty="0">
                <a:latin typeface="APL385 Unicode" panose="020B0709000202000203" pitchFamily="49" charset="0"/>
              </a:rPr>
              <a:t>   ⍝ NB the result is NOT </a:t>
            </a:r>
            <a:r>
              <a:rPr lang="en-GB" dirty="0" err="1">
                <a:latin typeface="APL385 Unicode" panose="020B0709000202000203" pitchFamily="49" charset="0"/>
              </a:rPr>
              <a:t>i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7E7867-1D9E-463C-3137-9F638F2A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Modified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9DCE6B-4A65-E496-527A-BADF05C44B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24623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ACC1-6859-EC2D-DC1B-31E7B3A6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0DFC87-C46A-5C2D-AB24-63CD6206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works with any variable.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←⍳5  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+←10   </a:t>
            </a:r>
            <a:r>
              <a:rPr lang="en-GB" dirty="0">
                <a:latin typeface="APL385 Unicode" panose="020B0709000202000203" pitchFamily="49" charset="0"/>
              </a:rPr>
              <a:t>⍝ add 1 to VECTOR </a:t>
            </a:r>
            <a:r>
              <a:rPr lang="en-GB" dirty="0" err="1">
                <a:latin typeface="APL385 Unicode" panose="020B0709000202000203" pitchFamily="49" charset="0"/>
              </a:rPr>
              <a:t>i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11 12 13 14 15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DA598-B5E4-CAD1-B051-4F533F59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Modified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1346448-6BB3-F217-F619-B8010DA6FF6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28151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8E43-EA4E-C57D-9895-E584639D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AE761A-98C5-86F3-EDED-1C45EC772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Beware if combined with indexed assignment and indices are repeated: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count←5⍴0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count[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 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1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 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5]+←1</a:t>
            </a:r>
            <a:endParaRPr lang="en-GB" dirty="0">
              <a:solidFill>
                <a:srgbClr val="DD6DCD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count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3 2 1 0 1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The effect is </a:t>
            </a:r>
            <a:r>
              <a:rPr lang="en-GB" b="1" dirty="0">
                <a:solidFill>
                  <a:schemeClr val="tx1"/>
                </a:solidFill>
              </a:rPr>
              <a:t>different</a:t>
            </a:r>
            <a:r>
              <a:rPr lang="en-GB" dirty="0">
                <a:solidFill>
                  <a:schemeClr val="tx1"/>
                </a:solidFill>
              </a:rPr>
              <a:t> from:</a:t>
            </a:r>
          </a:p>
          <a:p>
            <a:pPr marL="0" indent="0">
              <a:buNone/>
              <a:defRPr/>
            </a:pPr>
            <a:r>
              <a:rPr lang="en-GB" sz="2250" dirty="0">
                <a:solidFill>
                  <a:srgbClr val="00B050"/>
                </a:solidFill>
                <a:latin typeface="APL385 Unicode" panose="020B0709000202000203" pitchFamily="49" charset="0"/>
              </a:rPr>
              <a:t>	</a:t>
            </a:r>
            <a:r>
              <a:rPr lang="en-GB" sz="2250" dirty="0">
                <a:solidFill>
                  <a:srgbClr val="E19205"/>
                </a:solidFill>
                <a:latin typeface="APL385 Unicode" panose="020B0709000202000203" pitchFamily="49" charset="0"/>
              </a:rPr>
              <a:t>count[n]←count[n←1 2 1 3 1 2 5]+1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A6BD17-BFF2-EDF1-920D-7585A408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Modified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F09D6DC-D5F1-3AF5-9786-9771925F176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5A962-576F-F7DB-C227-17B68EA93E56}"/>
              </a:ext>
            </a:extLst>
          </p:cNvPr>
          <p:cNvSpPr txBox="1"/>
          <p:nvPr/>
        </p:nvSpPr>
        <p:spPr>
          <a:xfrm>
            <a:off x="4909253" y="2759206"/>
            <a:ext cx="3768980" cy="646331"/>
          </a:xfrm>
          <a:prstGeom prst="rect">
            <a:avLst/>
          </a:prstGeom>
          <a:solidFill>
            <a:schemeClr val="tx1"/>
          </a:solidFill>
          <a:ln w="28575"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Using Key</a:t>
            </a:r>
          </a:p>
          <a:p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</a:rPr>
              <a:t>¯1+{≢⍵}⌸(⍳5),1 2 1 3 1 2 5</a:t>
            </a:r>
          </a:p>
        </p:txBody>
      </p:sp>
    </p:spTree>
    <p:extLst>
      <p:ext uri="{BB962C8B-B14F-4D97-AF65-F5344CB8AC3E}">
        <p14:creationId xmlns:p14="http://schemas.microsoft.com/office/powerpoint/2010/main" val="3654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2547-0506-4DB2-8637-5F877850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76BDA7-A973-A488-53A3-189CA4D05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GB" dirty="0">
                <a:solidFill>
                  <a:schemeClr val="tx1"/>
                </a:solidFill>
              </a:rPr>
              <a:t>This works with any dyadic result returning function.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count←7 2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9 5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F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←{⍺+10×⍵}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⍝ next is count[3]← count[3] F 7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count[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F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←7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+10×7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count</a:t>
            </a:r>
          </a:p>
          <a:p>
            <a:pPr marL="0" indent="0"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7  2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71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9  5</a:t>
            </a:r>
          </a:p>
          <a:p>
            <a:pPr marL="0" indent="0">
              <a:buNone/>
              <a:defRPr/>
            </a:pPr>
            <a:r>
              <a:rPr lang="da-DK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[Morten thinks modified assignment is a bit too cute.]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191421-B89D-9237-D5AD-C478EDBE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Modified Assignment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1C7D1BB-AED0-1C69-11A5-2FBEC40AA5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08632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686E79-A2BB-0363-C270-28B665E1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2D7E75F-6E02-A87E-1096-157060B6B0E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75E5FD5-A919-E52D-E291-5D9CF8389026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448189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25429511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2DA1A9-FE44-496A-7867-B08F8BD12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https://rikedyp.uk/APLBootcamp</a:t>
            </a:r>
          </a:p>
          <a:p>
            <a:pPr marL="0" indent="0">
              <a:buNone/>
            </a:pPr>
            <a:r>
              <a:rPr lang="en-GB" dirty="0"/>
              <a:t>Part 4</a:t>
            </a:r>
          </a:p>
          <a:p>
            <a:pPr marL="0" indent="0">
              <a:buNone/>
            </a:pPr>
            <a:r>
              <a:rPr lang="en-GB" dirty="0"/>
              <a:t>Finding and Replacing Values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4376D-02DC-756B-091F-D3E9BB5B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CA02055-9074-1154-1D91-C8D794C2E9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86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12951</TotalTime>
  <Words>5992</Words>
  <Application>Microsoft Office PowerPoint</Application>
  <PresentationFormat>On-screen Show (16:9)</PresentationFormat>
  <Paragraphs>1203</Paragraphs>
  <Slides>118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4" baseType="lpstr">
      <vt:lpstr>Calibri</vt:lpstr>
      <vt:lpstr>Wingdings 2</vt:lpstr>
      <vt:lpstr>Arial</vt:lpstr>
      <vt:lpstr>APL385 Unicode</vt:lpstr>
      <vt:lpstr>Sarabun</vt:lpstr>
      <vt:lpstr>Office Theme</vt:lpstr>
      <vt:lpstr>APL Bootcamp – Part 5</vt:lpstr>
      <vt:lpstr>The Array Model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Nested Arrays</vt:lpstr>
      <vt:lpstr>GOTCHA! Reduction</vt:lpstr>
      <vt:lpstr>Pervasion</vt:lpstr>
      <vt:lpstr>Pervasion</vt:lpstr>
      <vt:lpstr>Pervasion</vt:lpstr>
      <vt:lpstr>Pervasion</vt:lpstr>
      <vt:lpstr>Pervasion</vt:lpstr>
      <vt:lpstr>Pervasion</vt:lpstr>
      <vt:lpstr>Pervasion</vt:lpstr>
      <vt:lpstr>Pervasion</vt:lpstr>
      <vt:lpstr>Pervasion</vt:lpstr>
      <vt:lpstr>Pervasion</vt:lpstr>
      <vt:lpstr>Pervasion</vt:lpstr>
      <vt:lpstr>Depth (≡⍵)</vt:lpstr>
      <vt:lpstr>Depth (≡⍵)</vt:lpstr>
      <vt:lpstr>Depth (≡⍵)</vt:lpstr>
      <vt:lpstr>Depth (≡⍵)</vt:lpstr>
      <vt:lpstr>Pick (⍺⊃⍵)</vt:lpstr>
      <vt:lpstr>Pick (⍺⊃⍵)</vt:lpstr>
      <vt:lpstr>Pick (⍺⊃⍵)</vt:lpstr>
      <vt:lpstr>Disclosing Arrays</vt:lpstr>
      <vt:lpstr>Prototypes of Nested Arrays</vt:lpstr>
      <vt:lpstr>Disclosing Arrays</vt:lpstr>
      <vt:lpstr>Cells, subarrays and elements</vt:lpstr>
      <vt:lpstr>Cells, subarrays and elements</vt:lpstr>
      <vt:lpstr>Cells, subarrays and elements</vt:lpstr>
      <vt:lpstr>Questions?</vt:lpstr>
      <vt:lpstr>Exercises</vt:lpstr>
      <vt:lpstr>Array Transformations</vt:lpstr>
      <vt:lpstr>Reverse (⌽⍵)</vt:lpstr>
      <vt:lpstr>Reverse (⌽⍵)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 (⍺⌽⍵)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Rotate/Reverse First (⊖)</vt:lpstr>
      <vt:lpstr>Transpose (⍉)</vt:lpstr>
      <vt:lpstr>Transpose (⍉)</vt:lpstr>
      <vt:lpstr>Transpose (⍉)</vt:lpstr>
      <vt:lpstr>Transpose (⍉)</vt:lpstr>
      <vt:lpstr>Split (↓⍵)</vt:lpstr>
      <vt:lpstr>Split (↓⍵)</vt:lpstr>
      <vt:lpstr>Enclose with Axis (⊂[k]⍵)</vt:lpstr>
      <vt:lpstr>Partition (⍺⊂⍵)</vt:lpstr>
      <vt:lpstr>Partition (⍺⊂⍵)</vt:lpstr>
      <vt:lpstr>Partition (⍺⊂⍵)</vt:lpstr>
      <vt:lpstr>Partitioned Enclose (⍺⊆⍵)</vt:lpstr>
      <vt:lpstr>Partitioned Enclose (⍺⊆⍵)</vt:lpstr>
      <vt:lpstr>Partitioned Enclose (⍺⊆⍵)</vt:lpstr>
      <vt:lpstr>Partitioned Enclose (⍺⊆⍵)</vt:lpstr>
      <vt:lpstr>Questions?</vt:lpstr>
      <vt:lpstr>Exercises</vt:lpstr>
      <vt:lpstr>Finding and Replacing Values</vt:lpstr>
      <vt:lpstr>Finding and Replacing Values</vt:lpstr>
      <vt:lpstr>Finding and Replacing Values</vt:lpstr>
      <vt:lpstr>Finding and Replacing Values</vt:lpstr>
      <vt:lpstr>Finding and Replacing Values</vt:lpstr>
      <vt:lpstr>Finding and Replacing Values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Index Of (⍺⍳⍵)</vt:lpstr>
      <vt:lpstr>Grade (⍋⍵)</vt:lpstr>
      <vt:lpstr>Selective Assignment</vt:lpstr>
      <vt:lpstr>Selective Assignment</vt:lpstr>
      <vt:lpstr>Strand Assignment</vt:lpstr>
      <vt:lpstr>Modified Assignment</vt:lpstr>
      <vt:lpstr>Modified Assignment</vt:lpstr>
      <vt:lpstr>Modified Assignment</vt:lpstr>
      <vt:lpstr>Modified Assignment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385</cp:revision>
  <dcterms:created xsi:type="dcterms:W3CDTF">2019-07-25T11:46:05Z</dcterms:created>
  <dcterms:modified xsi:type="dcterms:W3CDTF">2025-08-20T15:56:55Z</dcterms:modified>
</cp:coreProperties>
</file>