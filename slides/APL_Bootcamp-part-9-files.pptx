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8" r:id="rId20"/>
    <p:sldId id="280" r:id="rId21"/>
    <p:sldId id="281" r:id="rId22"/>
    <p:sldId id="282" r:id="rId23"/>
    <p:sldId id="283" r:id="rId24"/>
    <p:sldId id="277" r:id="rId25"/>
    <p:sldId id="286" r:id="rId26"/>
    <p:sldId id="276" r:id="rId27"/>
    <p:sldId id="284" r:id="rId28"/>
    <p:sldId id="285" r:id="rId29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32"/>
    </p:embeddedFont>
    <p:embeddedFont>
      <p:font typeface="Sarabun" panose="00000500000000000000" pitchFamily="2" charset="-34"/>
      <p:regular r:id="rId33"/>
      <p:bold r:id="rId34"/>
      <p:italic r:id="rId35"/>
      <p:boldItalic r:id="rId36"/>
    </p:embeddedFont>
    <p:embeddedFont>
      <p:font typeface="Wingdings 2" panose="05020102010507070707" pitchFamily="18" charset="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771" autoAdjust="0"/>
    <p:restoredTop sz="95508" autoAdjust="0"/>
  </p:normalViewPr>
  <p:slideViewPr>
    <p:cSldViewPr snapToGrid="0">
      <p:cViewPr varScale="1">
        <p:scale>
          <a:sx n="147" d="100"/>
          <a:sy n="147" d="100"/>
        </p:scale>
        <p:origin x="498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NUL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9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08122-255E-9ABB-CCBF-0ED224EC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Dyalog APL contains system functions to deal with two types of files: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Operating System files (aka "Native" files)</a:t>
            </a:r>
          </a:p>
          <a:p>
            <a:r>
              <a:rPr lang="en-GB" dirty="0"/>
              <a:t>APL Component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4AACB-0EC5-9D94-E74D-CEA3BEE7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E388EC8-CE7E-69BA-AD61-903F64A1C95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40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FBEA4-E6F6-D500-68EC-E181468F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Native (OS) files are files made available directly by the Operating System (OS).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Dyalog APL allows you to create, fill, read, lock, destroy files, within OS limitations.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4580D7-20FD-AF01-758B-72D1C217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Native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F384405-2691-15E2-1241-03B3EFE37BB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7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8009-F32E-0FFE-C8B2-BD52786C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041C36-340F-2276-A598-F4B49E6A7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All the files on an external or internal storage medium to which the OS can reach are available to you as long as you have access to them.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System functions to access native files have names beginning with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</a:t>
            </a:r>
            <a:r>
              <a:rPr lang="en-GB" dirty="0"/>
              <a:t> as in </a:t>
            </a:r>
            <a:r>
              <a:rPr lang="en-GB" dirty="0">
                <a:latin typeface="APL385 Unicode" panose="020B0709000202000203" pitchFamily="49" charset="0"/>
              </a:rPr>
              <a:t>⎕NREAD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1DAC7C-28D4-720B-4D69-42967F89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Native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CA82E5-1FBF-7C9B-2F25-D5F3BBC614D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560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9BBF5F-1921-410B-7B5E-7EFA212E3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Read a file with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⎕NGET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br>
              <a:rPr lang="da-DK" dirty="0"/>
            </a:br>
            <a:r>
              <a:rPr lang="da-DK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(data encoding eol)←⎕NGET 'filename'</a:t>
            </a:r>
            <a:endParaRPr lang="da-DK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r>
              <a:rPr lang="da-DK" dirty="0">
                <a:solidFill>
                  <a:srgbClr val="00B050"/>
                </a:solidFill>
              </a:rPr>
              <a:t>data</a:t>
            </a:r>
            <a:r>
              <a:rPr lang="da-DK" dirty="0"/>
              <a:t> is the contents of the file, with all line endings replaced by Line Feeds (</a:t>
            </a:r>
            <a:r>
              <a:rPr lang="da-DK" dirty="0">
                <a:latin typeface="APL385 Unicode" panose="020B0709000202000203" pitchFamily="49" charset="0"/>
              </a:rPr>
              <a:t>⎕UCS 10</a:t>
            </a:r>
            <a:r>
              <a:rPr lang="da-DK" dirty="0"/>
              <a:t>)</a:t>
            </a:r>
          </a:p>
          <a:p>
            <a:r>
              <a:rPr lang="da-DK" dirty="0">
                <a:solidFill>
                  <a:srgbClr val="00B050"/>
                </a:solidFill>
              </a:rPr>
              <a:t>encoding</a:t>
            </a:r>
            <a:r>
              <a:rPr lang="da-DK" dirty="0"/>
              <a:t> is the name of an encoduing, typically UTF-8</a:t>
            </a:r>
          </a:p>
          <a:p>
            <a:r>
              <a:rPr lang="da-DK" dirty="0">
                <a:solidFill>
                  <a:srgbClr val="00B050"/>
                </a:solidFill>
              </a:rPr>
              <a:t>eol</a:t>
            </a:r>
            <a:r>
              <a:rPr lang="da-DK" dirty="0"/>
              <a:t> is a numeric vector of the end-of-line sequence actually found.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3250D6-4B8C-1E56-F932-529CF7B4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B1AFBD5-0CB7-B33E-38B2-C5B6C51287C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15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150D-6093-C0DD-A5B3-CF89A53A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4B837-57E5-1641-592B-573A2013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Write a file with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⎕NPUT</a:t>
            </a:r>
            <a:r>
              <a:rPr lang="da-DK" dirty="0"/>
              <a:t>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	(data [encoding eol])⎕NPUT 'filename'</a:t>
            </a:r>
            <a:endParaRPr lang="da-DK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lvl="1"/>
            <a:r>
              <a:rPr lang="da-DK" dirty="0">
                <a:solidFill>
                  <a:srgbClr val="00B050"/>
                </a:solidFill>
              </a:rPr>
              <a:t>data</a:t>
            </a:r>
            <a:r>
              <a:rPr lang="da-DK" dirty="0"/>
              <a:t> </a:t>
            </a:r>
            <a:r>
              <a:rPr lang="da-DK" dirty="0">
                <a:solidFill>
                  <a:srgbClr val="00B050"/>
                </a:solidFill>
              </a:rPr>
              <a:t>encoding</a:t>
            </a:r>
            <a:r>
              <a:rPr lang="da-DK" dirty="0"/>
              <a:t> and </a:t>
            </a:r>
            <a:r>
              <a:rPr lang="da-DK" dirty="0">
                <a:solidFill>
                  <a:srgbClr val="00B050"/>
                </a:solidFill>
              </a:rPr>
              <a:t>eol</a:t>
            </a:r>
            <a:r>
              <a:rPr lang="da-DK" dirty="0"/>
              <a:t> are the same as in the result of </a:t>
            </a:r>
            <a:r>
              <a:rPr lang="da-DK" dirty="0">
                <a:latin typeface="APL385 Unicode" panose="020B0709000202000203" pitchFamily="49" charset="0"/>
              </a:rPr>
              <a:t>⎕NGET</a:t>
            </a:r>
            <a:r>
              <a:rPr lang="da-DK" dirty="0"/>
              <a:t>.</a:t>
            </a:r>
          </a:p>
          <a:p>
            <a:pPr lvl="1"/>
            <a:r>
              <a:rPr lang="da-DK" dirty="0">
                <a:solidFill>
                  <a:srgbClr val="00B050"/>
                </a:solidFill>
              </a:rPr>
              <a:t>encoding </a:t>
            </a:r>
            <a:r>
              <a:rPr lang="da-DK" dirty="0"/>
              <a:t>and</a:t>
            </a:r>
            <a:r>
              <a:rPr lang="da-DK" dirty="0">
                <a:solidFill>
                  <a:srgbClr val="00B050"/>
                </a:solidFill>
              </a:rPr>
              <a:t> eol</a:t>
            </a:r>
            <a:r>
              <a:rPr lang="da-DK" dirty="0"/>
              <a:t> are optional.</a:t>
            </a:r>
          </a:p>
          <a:p>
            <a:r>
              <a:rPr lang="da-DK" dirty="0"/>
              <a:t>Options on </a:t>
            </a:r>
            <a:r>
              <a:rPr lang="da-DK" dirty="0">
                <a:latin typeface="APL385 Unicode" panose="020B0709000202000203" pitchFamily="49" charset="0"/>
              </a:rPr>
              <a:t>⎕NGET</a:t>
            </a:r>
            <a:r>
              <a:rPr lang="da-DK" dirty="0"/>
              <a:t> and </a:t>
            </a:r>
            <a:r>
              <a:rPr lang="da-DK" dirty="0">
                <a:latin typeface="APL385 Unicode" panose="020B0709000202000203" pitchFamily="49" charset="0"/>
              </a:rPr>
              <a:t>⎕NPUT</a:t>
            </a:r>
            <a:r>
              <a:rPr lang="da-DK" dirty="0"/>
              <a:t> allow</a:t>
            </a:r>
          </a:p>
          <a:p>
            <a:pPr lvl="1"/>
            <a:r>
              <a:rPr lang="da-DK" dirty="0"/>
              <a:t>Representing data as a vector of vectors</a:t>
            </a:r>
          </a:p>
          <a:p>
            <a:pPr lvl="1"/>
            <a:r>
              <a:rPr lang="da-DK" dirty="0"/>
              <a:t>Overwriting an existing file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A54283-5BF4-A375-97F0-D26C6098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8CEADA6-379B-4E8B-1CA0-726F0BEEE9D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4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EED929-1F8F-EE2F-1DC5-A8031F5B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set of system functions allow access to a file via a </a:t>
            </a:r>
            <a:r>
              <a:rPr lang="en-GB" b="1" i="1" dirty="0">
                <a:solidFill>
                  <a:srgbClr val="FF6600"/>
                </a:solidFill>
              </a:rPr>
              <a:t>tie number</a:t>
            </a:r>
            <a:r>
              <a:rPr lang="en-GB" i="1" dirty="0"/>
              <a:t> or handle</a:t>
            </a:r>
            <a:r>
              <a:rPr lang="en-GB" i="1" dirty="0">
                <a:solidFill>
                  <a:srgbClr val="FF0000"/>
                </a:solidFill>
              </a:rPr>
              <a:t>: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</a:t>
            </a:r>
            <a:r>
              <a:rPr lang="en-GB" i="1" dirty="0"/>
              <a:t>tie</a:t>
            </a:r>
            <a:r>
              <a:rPr lang="en-GB" dirty="0"/>
              <a:t> a file with a negative integer, e.g.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'</a:t>
            </a:r>
            <a:r>
              <a:rPr lang="en-GB" dirty="0" err="1">
                <a:latin typeface="APL385 Unicode" panose="020B0709000202000203" pitchFamily="49" charset="0"/>
              </a:rPr>
              <a:t>myfile</a:t>
            </a:r>
            <a:r>
              <a:rPr lang="en-GB" dirty="0">
                <a:latin typeface="APL385 Unicode" panose="020B0709000202000203" pitchFamily="49" charset="0"/>
              </a:rPr>
              <a:t>' ⎕NTIE  ¯33</a:t>
            </a:r>
          </a:p>
          <a:p>
            <a:pPr marL="0" indent="0">
              <a:buNone/>
            </a:pPr>
            <a:r>
              <a:rPr lang="da-DK" dirty="0"/>
              <a:t>Use a right argument of 0 to use the first free tie number (returned as the result).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C2F409-3E50-E764-8B51-D895BBE1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Native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F99AAA-D1DE-5999-7370-EF1A675567B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27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0E9E-2C1F-AF6A-8E75-4BF3D3DD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7D19DF-1A25-4639-37D3-B1F99B6C7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Once a file is </a:t>
            </a:r>
            <a:r>
              <a:rPr lang="en-GB" i="1" dirty="0"/>
              <a:t>tied</a:t>
            </a:r>
            <a:r>
              <a:rPr lang="en-GB" dirty="0"/>
              <a:t> you can manipulate it always using the </a:t>
            </a:r>
            <a:r>
              <a:rPr lang="en-GB" i="1" dirty="0">
                <a:solidFill>
                  <a:srgbClr val="FF6600"/>
                </a:solidFill>
              </a:rPr>
              <a:t>tie number</a:t>
            </a:r>
            <a:r>
              <a:rPr lang="en-GB" i="1" dirty="0">
                <a:solidFill>
                  <a:srgbClr val="FF0000"/>
                </a:solidFill>
              </a:rPr>
              <a:t> </a:t>
            </a:r>
            <a:r>
              <a:rPr lang="en-GB" dirty="0"/>
              <a:t>chosen, e.g.</a:t>
            </a:r>
          </a:p>
          <a:p>
            <a:pPr marL="0" indent="0">
              <a:buNone/>
            </a:pPr>
            <a:endParaRPr lang="en-GB" sz="1050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⎕NSIZE 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⍝ size in bytes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⎕NREAD 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tieno</a:t>
            </a:r>
            <a:r>
              <a:rPr lang="en-GB" i="1" dirty="0" err="1">
                <a:latin typeface="APL385 Unicode" panose="020B0709000202000203" pitchFamily="49" charset="0"/>
              </a:rPr>
              <a:t>,datatype,length</a:t>
            </a:r>
            <a:r>
              <a:rPr lang="en-GB" i="1" dirty="0">
                <a:latin typeface="APL385 Unicode" panose="020B0709000202000203" pitchFamily="49" charset="0"/>
              </a:rPr>
              <a:t>[,</a:t>
            </a:r>
            <a:r>
              <a:rPr lang="en-GB" i="1" dirty="0" err="1">
                <a:latin typeface="APL385 Unicode" panose="020B0709000202000203" pitchFamily="49" charset="0"/>
              </a:rPr>
              <a:t>startpos</a:t>
            </a:r>
            <a:r>
              <a:rPr lang="en-GB" i="1" dirty="0">
                <a:latin typeface="APL385 Unicode" panose="020B0709000202000203" pitchFamily="49" charset="0"/>
              </a:rPr>
              <a:t>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data ⎕NAPPEND 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tieno</a:t>
            </a:r>
            <a:r>
              <a:rPr lang="en-GB" i="1" dirty="0">
                <a:latin typeface="APL385 Unicode" panose="020B0709000202000203" pitchFamily="49" charset="0"/>
              </a:rPr>
              <a:t> datatype</a:t>
            </a:r>
            <a:br>
              <a:rPr lang="en-GB" i="1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data ⎕NREPLACE 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tieno</a:t>
            </a:r>
            <a:r>
              <a:rPr lang="en-GB" i="1" dirty="0">
                <a:latin typeface="APL385 Unicode" panose="020B0709000202000203" pitchFamily="49" charset="0"/>
              </a:rPr>
              <a:t> </a:t>
            </a:r>
            <a:r>
              <a:rPr lang="en-GB" i="1" dirty="0" err="1">
                <a:latin typeface="APL385 Unicode" panose="020B0709000202000203" pitchFamily="49" charset="0"/>
              </a:rPr>
              <a:t>startbyte</a:t>
            </a:r>
            <a:r>
              <a:rPr lang="en-GB" i="1" dirty="0">
                <a:latin typeface="APL385 Unicode" panose="020B0709000202000203" pitchFamily="49" charset="0"/>
              </a:rPr>
              <a:t> datatype</a:t>
            </a:r>
            <a:br>
              <a:rPr lang="en-GB" i="1" dirty="0">
                <a:latin typeface="APL385 Unicode" panose="020B0709000202000203" pitchFamily="49" charset="0"/>
              </a:rPr>
            </a:br>
            <a:endParaRPr lang="en-GB" sz="1600" i="1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da-DK" i="1" dirty="0">
                <a:latin typeface="APL385 Unicode" panose="020B0709000202000203" pitchFamily="49" charset="0"/>
              </a:rPr>
              <a:t>datatype</a:t>
            </a:r>
            <a:r>
              <a:rPr lang="da-DK" dirty="0"/>
              <a:t> is an internal type number, for example 82 for 8 bit Classic character data, 160 for 16-bit Unicode text, or 323 for 32-bit integers</a:t>
            </a:r>
          </a:p>
          <a:p>
            <a:pPr marL="0" indent="0">
              <a:buNone/>
            </a:pPr>
            <a:r>
              <a:rPr lang="da-DK" dirty="0"/>
              <a:t>See the documentation for other </a:t>
            </a:r>
            <a:r>
              <a:rPr lang="da-DK" dirty="0">
                <a:latin typeface="APL385 Unicode" panose="020B0709000202000203" pitchFamily="49" charset="0"/>
              </a:rPr>
              <a:t>⎕N*</a:t>
            </a:r>
            <a:r>
              <a:rPr lang="da-DK" dirty="0"/>
              <a:t> functions (start by typing </a:t>
            </a:r>
            <a:r>
              <a:rPr lang="da-DK" dirty="0">
                <a:latin typeface="APL385 Unicode" panose="020B0709000202000203" pitchFamily="49" charset="0"/>
              </a:rPr>
              <a:t>⎕N</a:t>
            </a:r>
            <a:r>
              <a:rPr lang="da-DK" dirty="0"/>
              <a:t> and examining the autocomplete list)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D76C4-3623-9EE5-980D-8369D239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Native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76B84F1-AF88-0CCD-42CB-8E270950A74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346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4A47D-B69B-440B-E8F7-BAB41E0D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APL component files are an "object store" for APL arrays. Any APL array can be stored in a component file.</a:t>
            </a:r>
          </a:p>
          <a:p>
            <a:r>
              <a:rPr lang="en-GB" dirty="0"/>
              <a:t>Components are numbered, starting with 1.</a:t>
            </a:r>
          </a:p>
          <a:p>
            <a:r>
              <a:rPr lang="en-GB" dirty="0"/>
              <a:t>Component files can be shared and have a "hold" mechanism for implementing transactions.</a:t>
            </a:r>
          </a:p>
          <a:p>
            <a:r>
              <a:rPr lang="en-GB" dirty="0"/>
              <a:t>The default extension is .</a:t>
            </a:r>
            <a:r>
              <a:rPr lang="en-GB" dirty="0" err="1"/>
              <a:t>dcf</a:t>
            </a:r>
            <a:r>
              <a:rPr lang="en-GB" dirty="0"/>
              <a:t> (recently changed from .DCF).</a:t>
            </a:r>
          </a:p>
          <a:p>
            <a:r>
              <a:rPr lang="da-DK" dirty="0"/>
              <a:t>Data in component files can be shared across different platforms without conversion (Windows Linux etc).</a:t>
            </a:r>
          </a:p>
          <a:p>
            <a:r>
              <a:rPr lang="da-DK" dirty="0"/>
              <a:t>Simple and nested arrays can be shared between different versions of Dyalog APL (but not namespaces or object representations returned by </a:t>
            </a:r>
            <a:r>
              <a:rPr lang="da-DK" dirty="0">
                <a:latin typeface="APL385 Unicode" panose="020B0709000202000203" pitchFamily="49" charset="0"/>
              </a:rPr>
              <a:t>⎕OR</a:t>
            </a:r>
            <a:r>
              <a:rPr lang="da-DK" dirty="0"/>
              <a:t>).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ECD074-A1B7-ADE6-311B-5B224C5E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BCC4F49-3E95-2519-0743-08D600CE78A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51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DE28-4EDE-0351-0C3E-66655FF0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09ECC-B734-2DEC-7FC9-9D085A99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Just like Native files, APL files need to be tied - but to a </a:t>
            </a:r>
            <a:r>
              <a:rPr lang="en-GB" dirty="0">
                <a:solidFill>
                  <a:srgbClr val="FF6600"/>
                </a:solidFill>
              </a:rPr>
              <a:t>positive</a:t>
            </a:r>
            <a:r>
              <a:rPr lang="en-GB" dirty="0"/>
              <a:t> tie number. First you may need to create a file: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myAPLfile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⎕FCREATE 21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If the file already existed, you could just "tie" it: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myAPLfile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⎕FTIE  21</a:t>
            </a:r>
          </a:p>
          <a:p>
            <a:pPr marL="0" indent="0">
              <a:buNone/>
            </a:pPr>
            <a:r>
              <a:rPr lang="en-GB" dirty="0"/>
              <a:t>You can also let APL pick a tie number for you.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myAPLfile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⎕FTIE  0</a:t>
            </a:r>
          </a:p>
          <a:p>
            <a:pPr marL="0" indent="0">
              <a:buNone/>
            </a:pPr>
            <a:r>
              <a:rPr lang="en-GB" dirty="0"/>
              <a:t>APL will pick the lowest unused tie number. </a:t>
            </a:r>
          </a:p>
          <a:p>
            <a:pPr marL="0" indent="0">
              <a:buNone/>
            </a:pPr>
            <a:r>
              <a:rPr lang="en-GB" dirty="0"/>
              <a:t>If the extension is </a:t>
            </a:r>
            <a:r>
              <a:rPr lang="en-GB" b="1" dirty="0"/>
              <a:t>.</a:t>
            </a:r>
            <a:r>
              <a:rPr lang="en-GB" b="1" dirty="0" err="1"/>
              <a:t>dcf</a:t>
            </a:r>
            <a:r>
              <a:rPr lang="en-GB" dirty="0"/>
              <a:t> it does not need to be provided.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230C94-6E8C-4143-A9F3-0E47018A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6F09479-7751-567A-FFB7-40B95270D8E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67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94EC-3BE4-AC5E-4123-BC4260A1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98C946-161A-BE50-A4FD-741F26D48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tied file can be appended to: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cn←myData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⎕FAPPEND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/>
              <a:t>Data is appended into a “component” of the file.</a:t>
            </a:r>
          </a:p>
          <a:p>
            <a:pPr marL="0" indent="0">
              <a:buNone/>
            </a:pPr>
            <a:r>
              <a:rPr lang="en-GB" dirty="0"/>
              <a:t>The result is the number of the new component. A new file has zero components; the first appended component will be number 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0A86F8-A995-390F-4511-D224C21D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999FDC-44E4-91A6-12B3-A0DDA2DD5C5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31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F324-B4C9-C83C-C878-BB324164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B78824-485B-6293-2339-F8E0D0D72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 find out the range of components use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⎕FSIZE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1 3 271 4294967295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6AA1B7-5B6D-7D32-498A-C35B4D72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9084124-721B-430E-3D61-E1E3A03B677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D0207E-0B2E-809C-6EF9-CAEFFA535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08286"/>
              </p:ext>
            </p:extLst>
          </p:nvPr>
        </p:nvGraphicFramePr>
        <p:xfrm>
          <a:off x="1439652" y="2934736"/>
          <a:ext cx="6172200" cy="1623060"/>
        </p:xfrm>
        <a:graphic>
          <a:graphicData uri="http://schemas.openxmlformats.org/drawingml/2006/table">
            <a:tbl>
              <a:tblPr/>
              <a:tblGrid>
                <a:gridCol w="113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400" dirty="0"/>
                        <a:t>Element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Description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1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 number of the first component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 + the number of the last component, (i.e. the result of the next </a:t>
                      </a:r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⎕FAPPEND</a:t>
                      </a:r>
                      <a:r>
                        <a:rPr lang="en-GB" sz="1400" dirty="0"/>
                        <a:t>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 current size of the file in bytes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4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 file size limit in bytes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95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8185-CE8C-8595-2E81-A3C0F5F1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D738CB-091A-0C4A-C47A-486E996C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Existing components can be replaced, even by bigger components: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⎕←(10×⍳5)⎕FAPPEND ¨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3 4 5 6 7</a:t>
            </a:r>
          </a:p>
          <a:p>
            <a:pPr marL="0" indent="0">
              <a:buNone/>
            </a:pPr>
            <a:r>
              <a:rPr lang="da-DK" dirty="0">
                <a:solidFill>
                  <a:schemeClr val="tx1"/>
                </a:solidFill>
                <a:latin typeface="+mj-lt"/>
              </a:rPr>
              <a:t>Make component 5 much bigger:</a:t>
            </a:r>
            <a:endParaRPr lang="en-GB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(9 9⍴⍳99)⎕FREPLACE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5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⎕FSIZE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1 8 21271 4294967295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6A1BDD-61EC-DACC-D14F-A90D2EF3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07C9C94-E32B-6836-C6E9-0EA7F57ACE3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52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5821-4130-7383-EAFA-0E7DB792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DE12F-DA6F-9763-E13F-ADA57268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Components can be dropped from the file:</a:t>
            </a:r>
          </a:p>
          <a:p>
            <a:pPr marL="0" indent="0">
              <a:buNone/>
            </a:pPr>
            <a:endParaRPr lang="en-GB" sz="1350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⎕FSIZE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1 8 21271 4294967295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1 ⎕FDROP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⍝ Drop 1</a:t>
            </a:r>
            <a:r>
              <a:rPr lang="en-GB" baseline="30000" dirty="0">
                <a:solidFill>
                  <a:srgbClr val="00B050"/>
                </a:solidFill>
                <a:latin typeface="APL385 Unicode" panose="020B0709000202000203" pitchFamily="49" charset="0"/>
              </a:rPr>
              <a:t>st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component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¯2 ⎕FDROP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⍝ Drop last two (#6 &amp; #7)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⎕FSIZE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2 6 21271 4294967295</a:t>
            </a:r>
          </a:p>
          <a:p>
            <a:pPr marL="0" indent="0">
              <a:buNone/>
            </a:pPr>
            <a:r>
              <a:rPr lang="en-GB" dirty="0"/>
              <a:t>After the two drops, the first component is #2 and next is #6.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5E3F0-EB9F-2460-F391-EF6080F2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0F5A98D-679B-E6E4-A0BC-6EC1AAE3252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8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CF72-8AD4-B130-760B-0D642E71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E2DAFF-AD21-7027-B7EF-864BC89E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Component files can be shared:</a:t>
            </a:r>
          </a:p>
          <a:p>
            <a:pPr marL="0" indent="0">
              <a:spcAft>
                <a:spcPts val="600"/>
              </a:spcAft>
              <a:buNone/>
            </a:pPr>
            <a:endParaRPr lang="en-GB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⎕FUNTIE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⍝ Close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myAPLFile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ourAPLFile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⎕FSTIE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1 8 21271 4294967295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1 ⎕FDROP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⍝ Drop 1</a:t>
            </a:r>
            <a:r>
              <a:rPr lang="en-GB" baseline="30000" dirty="0">
                <a:solidFill>
                  <a:srgbClr val="00B050"/>
                </a:solidFill>
                <a:latin typeface="APL385 Unicode" panose="020B0709000202000203" pitchFamily="49" charset="0"/>
              </a:rPr>
              <a:t>st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component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¯2 ⎕FDROP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⍝ Drop last two (#6 &amp; #7)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⎕FSIZE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tieno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2 6 21271 4294967295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After the two drops, the first component is #2 and next is #6.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3A1F7-7D2D-988C-A7BE-D706A7AD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8DA8E8D-AF32-2476-F6DF-0E42C9061FB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33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3A5F-CF48-5E8C-15EE-05FC8CD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FE5A17-4D1A-CD80-75F2-C0A043531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file can be erased. This requires you to provide the name for confirmation:</a:t>
            </a:r>
          </a:p>
          <a:p>
            <a:pPr marL="0" indent="0">
              <a:buNone/>
            </a:pPr>
            <a:endParaRPr lang="en-GB" sz="1350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myAPLfile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⎕FERASE  21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C8D4E8-AF54-2EAE-F59E-E0C61BE6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Component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6956C72-1CC8-0AF9-063D-D87059F5A7F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26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E0BF-EDC2-A53B-B8D1-38169788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3CA70D1-6459-EE8F-8280-1B1FF248F0B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3EADA-A5DA-E5EB-BD6E-C6BDA0BDB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2592" y="511944"/>
            <a:ext cx="6418815" cy="41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5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FE95EC-4CA0-57C3-4FDC-85A397A8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Import and Export Comma Separated Value files. The file Demos\Demo.csv contains:</a:t>
            </a:r>
            <a:br>
              <a:rPr lang="da-DK" dirty="0"/>
            </a:br>
            <a:endParaRPr lang="da-DK" sz="1800" dirty="0"/>
          </a:p>
          <a:p>
            <a:pPr marL="0" indent="0">
              <a:buNone/>
            </a:pPr>
            <a: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Place,Name,Score</a:t>
            </a:r>
            <a:b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London, Joe Bloggs ,89</a:t>
            </a:r>
            <a:b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"Bramley, Hampshire", Björn Bloggs ,67.5</a:t>
            </a:r>
          </a:p>
          <a:p>
            <a:pPr marL="0" indent="0">
              <a:buNone/>
            </a:pPr>
            <a:endParaRPr lang="da-DK" sz="1400" dirty="0"/>
          </a:p>
          <a:p>
            <a:pPr marL="0" indent="0">
              <a:buNone/>
            </a:pPr>
            <a:r>
              <a:rPr lang="da-DK" dirty="0"/>
              <a:t>We can import it using </a:t>
            </a:r>
            <a:r>
              <a:rPr lang="da-DK" dirty="0">
                <a:latin typeface="APL385 Unicode" panose="020B0709000202000203" pitchFamily="49" charset="0"/>
              </a:rPr>
              <a:t>⎕CSV</a:t>
            </a:r>
            <a:r>
              <a:rPr lang="da-DK" dirty="0"/>
              <a:t>: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 ⎕CSV 'Demos\Demo.csv'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Place               Name          Score </a:t>
            </a:r>
            <a:b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London              Joe Bloggs    89    </a:t>
            </a:r>
            <a:b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Bramley, Hampshire  Björn Bloggs  67.5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55247-6F6F-B53F-587B-B73D1141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09B292E-AE18-BAD3-6F07-F160D7821C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9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6A7F-DF62-E48C-D2FF-C2A9FF3C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CB089E-671D-B231-E346-363CE60E0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Read data from and write data to files directly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data ← ⎕CSV '/path/to/file.csv'   ⍝ Read from file.csv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data ⎕CSV '/path/to/file.csv'     ⍝ Write to file.csv</a:t>
            </a:r>
            <a:endParaRPr lang="da-DK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CEE870-2F5E-0258-9248-47811C57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2309372-2276-6D34-DDDD-B0AA8AE9EA8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755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B504-9B71-94F1-99BB-9AC4FC50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26F21B-2AA0-49CA-4FC5-34B5C25B0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Separate the header (first row) from the rest of the data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(data header) ← ⎕CSV '/path/to/file.csv' ⍬ ⍬ 1</a:t>
            </a:r>
            <a:endParaRPr lang="da-DK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1FD8F-DD97-5950-04A8-7E5F3F8C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727ECD1-8B89-BE40-9224-3D11A002C05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703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60A2-FFC5-C409-E821-D43E620B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E045C2-C9FC-47FD-EE6A-0A0CBA418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Import specific columns as numbers or characters, depending on the options provided.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numeric_if_possible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← ⎕CSV '/path/to/file.csv' ⍬ 4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The </a:t>
            </a: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4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in this example indicates to convert numeric values if possible, else keep the value as text.</a:t>
            </a:r>
            <a:endParaRPr lang="da-DK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A2187F-66C3-1979-A230-B3A61E26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7861717-7ABD-5BF4-52A1-E0CA746B5E9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67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A07F-9800-2E7E-4209-B5F9B3E5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CE828C-6049-A8C8-03AC-4654A3DF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Use a separator other than commas, using the "Separator" variant option, for example using tabs (</a:t>
            </a: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⎕UCS 9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) for Tab Separated Values (.</a:t>
            </a:r>
            <a:r>
              <a:rPr lang="en-GB" sz="2000" dirty="0" err="1">
                <a:solidFill>
                  <a:schemeClr val="tx1"/>
                </a:solidFill>
                <a:latin typeface="+mj-lt"/>
              </a:rPr>
              <a:t>tsv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).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tsv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← ⎕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CSV⍠'Separator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 (⎕UCS 9)⊢'/path/to/file.csv'</a:t>
            </a:r>
            <a:endParaRPr lang="da-DK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D37F77-DBDD-7603-2B68-58FDDECB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2456FB3-A91A-D793-C294-523EDF3352F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16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C369-4BF4-0BF5-1C52-9BEF1AE1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2CE961-951B-2366-92F2-0C518CD15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Read data chunks at a time to not fill the workspace, using the "Records" variant option.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path ← '/path/to/file.csv'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A function to read CSV 10 records at a time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ReadCSV10←⎕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CSV⍠'Records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 10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Tie the file - this locks it from use by other applications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tn←path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⎕NTIE 0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first10 ← ReadCSV10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tn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⍝ Read the first 10 records (rows)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second10 ← ReadCSV10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tn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 ⍝ Read the next 10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⎕NUNTIE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tn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            ⍝ Don't forget to untie the file after use!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46D809-36FB-0489-CE0B-30FC5304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CSV Files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0C260F8-D1CD-6DB3-C164-B9C3A93EB0A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098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DFB92-1877-E427-7E27-E9B71D77D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 common data interchange format</a:t>
            </a:r>
          </a:p>
          <a:p>
            <a:pPr marL="0" indent="0">
              <a:buNone/>
            </a:pPr>
            <a:r>
              <a:rPr lang="en-GB" dirty="0"/>
              <a:t>We must read text before converting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⎕←namespace←0⎕JSON⊃⎕NGET'/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demo.json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#.[JSON object]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1(⎕JSON⍠('Dialect' 'JSON5'))namespace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{list:[3,1,4,1,5],name:"Dave",number:42}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4A039-4D30-403D-162E-9C3122BC1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8B3BF24-B23B-0CF4-991B-160D9F0DD09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073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FA3167-3FB4-1C14-3A14-B1BCD60EE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Getting values with defaults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      opts←0⎕JSON⊃⎕NGET'/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opts.json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(id name opt)←opts </a:t>
            </a:r>
            <a:r>
              <a:rPr lang="en-GB" sz="1800" dirty="0">
                <a:solidFill>
                  <a:srgbClr val="FF6600"/>
                </a:solidFill>
                <a:latin typeface="APL385 Unicode" panose="020B0709000202000203" pitchFamily="49" charset="0"/>
              </a:rPr>
              <a:t>⎕VGET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(name 'John Doe')(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opt:'Default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')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04E09E-6084-802D-710D-179F363C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59711A7-D327-6AC8-3293-7AAE284F47F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F91DDF77-9457-E207-C73E-6901793FA222}"/>
              </a:ext>
            </a:extLst>
          </p:cNvPr>
          <p:cNvSpPr/>
          <p:nvPr/>
        </p:nvSpPr>
        <p:spPr>
          <a:xfrm>
            <a:off x="4254230" y="3048000"/>
            <a:ext cx="3437106" cy="1524776"/>
          </a:xfrm>
          <a:prstGeom prst="irregularSeal2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Dyalog v20.0</a:t>
            </a:r>
          </a:p>
        </p:txBody>
      </p:sp>
    </p:spTree>
    <p:extLst>
      <p:ext uri="{BB962C8B-B14F-4D97-AF65-F5344CB8AC3E}">
        <p14:creationId xmlns:p14="http://schemas.microsoft.com/office/powerpoint/2010/main" val="378927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6F68AE-2F17-7327-6D21-84305036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Dyalog APL contains system functions to deal with two types of files: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Operating System files (aka "Native" files)</a:t>
            </a:r>
          </a:p>
          <a:p>
            <a:r>
              <a:rPr lang="en-GB" dirty="0"/>
              <a:t>APL Component files, containing APL arrays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F5F4A3-3CB4-0E3D-1F91-391FB406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D001031-211B-23A6-6405-7AF64CA8028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593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BDB5EF-2C4E-C564-7256-F0FB4835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1E488F4-12E7-CDAD-BD59-E5B764A1AA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FDACB9E-19A1-DA2D-7AEE-0DB842CCEA54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6396917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1274695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2883-ED41-B254-84CD-9E5195CC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3483BF-176E-7445-97E3-A7583662D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Bootcamp Part 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8959A5-20AB-1599-C25F-5EA81074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67611D3-5854-9C00-D12D-E375107C133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02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1836</TotalTime>
  <Words>1462</Words>
  <Application>Microsoft Office PowerPoint</Application>
  <PresentationFormat>On-screen Show (16:9)</PresentationFormat>
  <Paragraphs>165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Courier New</vt:lpstr>
      <vt:lpstr>Calibri</vt:lpstr>
      <vt:lpstr>Wingdings 2</vt:lpstr>
      <vt:lpstr>Arial</vt:lpstr>
      <vt:lpstr>APL385 Unicode</vt:lpstr>
      <vt:lpstr>Sarabun</vt:lpstr>
      <vt:lpstr>Office Theme</vt:lpstr>
      <vt:lpstr>APL Bootcamp – Files</vt:lpstr>
      <vt:lpstr>Files</vt:lpstr>
      <vt:lpstr>Native Files</vt:lpstr>
      <vt:lpstr>Native Files</vt:lpstr>
      <vt:lpstr>Text Files</vt:lpstr>
      <vt:lpstr>Text Files</vt:lpstr>
      <vt:lpstr>Native Files</vt:lpstr>
      <vt:lpstr>Native Files</vt:lpstr>
      <vt:lpstr>APL Component Files</vt:lpstr>
      <vt:lpstr>APL Component Files</vt:lpstr>
      <vt:lpstr>APL Component Files</vt:lpstr>
      <vt:lpstr>APL Component Files</vt:lpstr>
      <vt:lpstr>APL Component Files</vt:lpstr>
      <vt:lpstr>APL Component Files</vt:lpstr>
      <vt:lpstr>APL Component Files</vt:lpstr>
      <vt:lpstr>APL Component Files</vt:lpstr>
      <vt:lpstr>PowerPoint Presentation</vt:lpstr>
      <vt:lpstr>CSV Files</vt:lpstr>
      <vt:lpstr>CSV Files</vt:lpstr>
      <vt:lpstr>CSV Files</vt:lpstr>
      <vt:lpstr>CSV Files</vt:lpstr>
      <vt:lpstr>CSV Files</vt:lpstr>
      <vt:lpstr>CSV Files</vt:lpstr>
      <vt:lpstr>JSON</vt:lpstr>
      <vt:lpstr>JSON</vt:lpstr>
      <vt:lpstr>Review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256</cp:revision>
  <dcterms:created xsi:type="dcterms:W3CDTF">2019-07-25T11:46:05Z</dcterms:created>
  <dcterms:modified xsi:type="dcterms:W3CDTF">2025-08-10T17:56:13Z</dcterms:modified>
</cp:coreProperties>
</file>