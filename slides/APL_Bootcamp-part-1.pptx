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>
  <p:sldMasterIdLst>
    <p:sldMasterId id="2147483648" r:id="rId1"/>
  </p:sldMasterIdLst>
  <p:notesMasterIdLst>
    <p:notesMasterId r:id="rId109"/>
  </p:notesMasterIdLst>
  <p:handoutMasterIdLst>
    <p:handoutMasterId r:id="rId110"/>
  </p:handoutMasterIdLst>
  <p:sldIdLst>
    <p:sldId id="257" r:id="rId2"/>
    <p:sldId id="259" r:id="rId3"/>
    <p:sldId id="261" r:id="rId4"/>
    <p:sldId id="262" r:id="rId5"/>
    <p:sldId id="1044" r:id="rId6"/>
    <p:sldId id="264" r:id="rId7"/>
    <p:sldId id="266" r:id="rId8"/>
    <p:sldId id="265" r:id="rId9"/>
    <p:sldId id="324" r:id="rId10"/>
    <p:sldId id="1031" r:id="rId11"/>
    <p:sldId id="267" r:id="rId12"/>
    <p:sldId id="326" r:id="rId13"/>
    <p:sldId id="327" r:id="rId14"/>
    <p:sldId id="268" r:id="rId15"/>
    <p:sldId id="328" r:id="rId16"/>
    <p:sldId id="329" r:id="rId17"/>
    <p:sldId id="330" r:id="rId18"/>
    <p:sldId id="331" r:id="rId19"/>
    <p:sldId id="335" r:id="rId20"/>
    <p:sldId id="977" r:id="rId21"/>
    <p:sldId id="336" r:id="rId22"/>
    <p:sldId id="978" r:id="rId23"/>
    <p:sldId id="979" r:id="rId24"/>
    <p:sldId id="980" r:id="rId25"/>
    <p:sldId id="981" r:id="rId26"/>
    <p:sldId id="435" r:id="rId27"/>
    <p:sldId id="332" r:id="rId28"/>
    <p:sldId id="334" r:id="rId29"/>
    <p:sldId id="1034" r:id="rId30"/>
    <p:sldId id="1035" r:id="rId31"/>
    <p:sldId id="1036" r:id="rId32"/>
    <p:sldId id="1037" r:id="rId33"/>
    <p:sldId id="1038" r:id="rId34"/>
    <p:sldId id="1039" r:id="rId35"/>
    <p:sldId id="1040" r:id="rId36"/>
    <p:sldId id="1041" r:id="rId37"/>
    <p:sldId id="1027" r:id="rId38"/>
    <p:sldId id="342" r:id="rId39"/>
    <p:sldId id="343" r:id="rId40"/>
    <p:sldId id="1026" r:id="rId41"/>
    <p:sldId id="985" r:id="rId42"/>
    <p:sldId id="986" r:id="rId43"/>
    <p:sldId id="990" r:id="rId44"/>
    <p:sldId id="987" r:id="rId45"/>
    <p:sldId id="988" r:id="rId46"/>
    <p:sldId id="975" r:id="rId47"/>
    <p:sldId id="976" r:id="rId48"/>
    <p:sldId id="989" r:id="rId49"/>
    <p:sldId id="1025" r:id="rId50"/>
    <p:sldId id="340" r:id="rId51"/>
    <p:sldId id="346" r:id="rId52"/>
    <p:sldId id="681" r:id="rId53"/>
    <p:sldId id="746" r:id="rId54"/>
    <p:sldId id="750" r:id="rId55"/>
    <p:sldId id="747" r:id="rId56"/>
    <p:sldId id="748" r:id="rId57"/>
    <p:sldId id="749" r:id="rId58"/>
    <p:sldId id="662" r:id="rId59"/>
    <p:sldId id="780" r:id="rId60"/>
    <p:sldId id="914" r:id="rId61"/>
    <p:sldId id="915" r:id="rId62"/>
    <p:sldId id="964" r:id="rId63"/>
    <p:sldId id="916" r:id="rId64"/>
    <p:sldId id="921" r:id="rId65"/>
    <p:sldId id="922" r:id="rId66"/>
    <p:sldId id="751" r:id="rId67"/>
    <p:sldId id="971" r:id="rId68"/>
    <p:sldId id="951" r:id="rId69"/>
    <p:sldId id="952" r:id="rId70"/>
    <p:sldId id="953" r:id="rId71"/>
    <p:sldId id="954" r:id="rId72"/>
    <p:sldId id="955" r:id="rId73"/>
    <p:sldId id="956" r:id="rId74"/>
    <p:sldId id="957" r:id="rId75"/>
    <p:sldId id="960" r:id="rId76"/>
    <p:sldId id="959" r:id="rId77"/>
    <p:sldId id="962" r:id="rId78"/>
    <p:sldId id="961" r:id="rId79"/>
    <p:sldId id="1016" r:id="rId80"/>
    <p:sldId id="1017" r:id="rId81"/>
    <p:sldId id="1018" r:id="rId82"/>
    <p:sldId id="1019" r:id="rId83"/>
    <p:sldId id="1020" r:id="rId84"/>
    <p:sldId id="1021" r:id="rId85"/>
    <p:sldId id="1022" r:id="rId86"/>
    <p:sldId id="973" r:id="rId87"/>
    <p:sldId id="991" r:id="rId88"/>
    <p:sldId id="992" r:id="rId89"/>
    <p:sldId id="993" r:id="rId90"/>
    <p:sldId id="994" r:id="rId91"/>
    <p:sldId id="995" r:id="rId92"/>
    <p:sldId id="996" r:id="rId93"/>
    <p:sldId id="345" r:id="rId94"/>
    <p:sldId id="997" r:id="rId95"/>
    <p:sldId id="998" r:id="rId96"/>
    <p:sldId id="1003" r:id="rId97"/>
    <p:sldId id="1023" r:id="rId98"/>
    <p:sldId id="1045" r:id="rId99"/>
    <p:sldId id="1004" r:id="rId100"/>
    <p:sldId id="1007" r:id="rId101"/>
    <p:sldId id="762" r:id="rId102"/>
    <p:sldId id="765" r:id="rId103"/>
    <p:sldId id="766" r:id="rId104"/>
    <p:sldId id="767" r:id="rId105"/>
    <p:sldId id="1032" r:id="rId106"/>
    <p:sldId id="1028" r:id="rId107"/>
    <p:sldId id="1008" r:id="rId108"/>
  </p:sldIdLst>
  <p:sldSz cx="9144000" cy="5143500" type="screen16x9"/>
  <p:notesSz cx="6858000" cy="9144000"/>
  <p:embeddedFontLst>
    <p:embeddedFont>
      <p:font typeface="APL385 Unicode" panose="020B0709000202000203" pitchFamily="49" charset="0"/>
      <p:regular r:id="rId111"/>
    </p:embeddedFont>
    <p:embeddedFont>
      <p:font typeface="Consolas" panose="020B0609020204030204" pitchFamily="49" charset="0"/>
      <p:regular r:id="rId112"/>
      <p:bold r:id="rId113"/>
      <p:italic r:id="rId114"/>
      <p:boldItalic r:id="rId115"/>
    </p:embeddedFont>
    <p:embeddedFont>
      <p:font typeface="Dyalog Std TT" panose="02090309000202000203" pitchFamily="49" charset="2"/>
      <p:regular r:id="rId116"/>
    </p:embeddedFont>
    <p:embeddedFont>
      <p:font typeface="Sarabun" panose="00000500000000000000" pitchFamily="2" charset="-34"/>
      <p:regular r:id="rId117"/>
      <p:bold r:id="rId118"/>
      <p:italic r:id="rId119"/>
      <p:boldItalic r:id="rId120"/>
    </p:embeddedFont>
    <p:embeddedFont>
      <p:font typeface="Times" panose="02020603050405020304" pitchFamily="18" charset="0"/>
      <p:regular r:id="rId121"/>
      <p:bold r:id="rId122"/>
      <p:italic r:id="rId123"/>
      <p:boldItalic r:id="rId124"/>
    </p:embeddedFont>
    <p:embeddedFont>
      <p:font typeface="Wingdings 2" panose="05020102010507070707" pitchFamily="18" charset="2"/>
      <p:regular r:id="rId1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3B5C"/>
    <a:srgbClr val="2A3244"/>
    <a:srgbClr val="FFA300"/>
    <a:srgbClr val="CA2E51"/>
    <a:srgbClr val="F2F1F0"/>
    <a:srgbClr val="FF6A13"/>
    <a:srgbClr val="8986CA"/>
    <a:srgbClr val="5A6D8F"/>
    <a:srgbClr val="3B47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1" autoAdjust="0"/>
    <p:restoredTop sz="95508" autoAdjust="0"/>
  </p:normalViewPr>
  <p:slideViewPr>
    <p:cSldViewPr snapToGrid="0">
      <p:cViewPr varScale="1">
        <p:scale>
          <a:sx n="139" d="100"/>
          <a:sy n="139" d="100"/>
        </p:scale>
        <p:origin x="738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693" y="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font" Target="fonts/font7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font" Target="fonts/font2.fntdata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font" Target="fonts/font13.fntdata"/><Relationship Id="rId128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font" Target="fonts/font3.fntdata"/><Relationship Id="rId118" Type="http://schemas.openxmlformats.org/officeDocument/2006/relationships/font" Target="fonts/font8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font" Target="fonts/font14.fntdata"/><Relationship Id="rId129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font" Target="fonts/font4.fntdata"/><Relationship Id="rId119" Type="http://schemas.openxmlformats.org/officeDocument/2006/relationships/font" Target="fonts/font9.fntdata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font" Target="fonts/font10.fntdata"/><Relationship Id="rId125" Type="http://schemas.openxmlformats.org/officeDocument/2006/relationships/font" Target="NUL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handoutMaster" Target="handoutMasters/handoutMaster1.xml"/><Relationship Id="rId115" Type="http://schemas.openxmlformats.org/officeDocument/2006/relationships/font" Target="fonts/font5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font" Target="fonts/font11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font" Target="fonts/font1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A6A3BD-28BD-4949-B52F-24E999822598}" type="datetimeFigureOut">
              <a:rPr lang="en-GB" smtClean="0">
                <a:latin typeface="Sarabun" panose="00000500000000000000" pitchFamily="2" charset="-34"/>
              </a:rPr>
              <a:t>20/08/2025</a:t>
            </a:fld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370AB-76A5-41F1-9753-9FE7E667F0C0}" type="slidenum">
              <a:rPr lang="en-GB" smtClean="0">
                <a:latin typeface="Sarabun" panose="00000500000000000000" pitchFamily="2" charset="-34"/>
              </a:rPr>
              <a:t>‹#›</a:t>
            </a:fld>
            <a:endParaRPr lang="en-GB" dirty="0">
              <a:latin typeface="Sarabun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647182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arabun" panose="00000500000000000000" pitchFamily="2" charset="-34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arabun" panose="00000500000000000000" pitchFamily="2" charset="-34"/>
              </a:defRPr>
            </a:lvl1pPr>
          </a:lstStyle>
          <a:p>
            <a:fld id="{CDEAEF8A-5BB8-41C8-B8C2-160617C17EF4}" type="datetimeFigureOut">
              <a:rPr lang="en-GB" smtClean="0"/>
              <a:pPr/>
              <a:t>20/08/2025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Sarabun" panose="00000500000000000000" pitchFamily="2" charset="-34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arabun" panose="00000500000000000000" pitchFamily="2" charset="-34"/>
              </a:defRPr>
            </a:lvl1pPr>
          </a:lstStyle>
          <a:p>
            <a:fld id="{4320660A-27FD-4528-AE7F-EC6080404EE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2133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0660A-27FD-4528-AE7F-EC6080404EEB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04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5060" y="1688053"/>
            <a:ext cx="5073517" cy="176739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3600" b="0">
                <a:solidFill>
                  <a:srgbClr val="3B475E"/>
                </a:solidFill>
                <a:latin typeface="Sarabun" panose="00000500000000000000" pitchFamily="2" charset="-34"/>
              </a:defRPr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45061" y="3741620"/>
            <a:ext cx="5073516" cy="1024109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 i="1" baseline="0">
                <a:solidFill>
                  <a:srgbClr val="3B475E"/>
                </a:solidFill>
                <a:latin typeface="Sarabun" panose="00000500000000000000" pitchFamily="2" charset="-34"/>
              </a:defRPr>
            </a:lvl1pPr>
          </a:lstStyle>
          <a:p>
            <a:pPr lvl="0"/>
            <a:r>
              <a:rPr lang="en-US" dirty="0"/>
              <a:t>Presenter</a:t>
            </a:r>
          </a:p>
        </p:txBody>
      </p:sp>
      <p:sp useBgFill="1">
        <p:nvSpPr>
          <p:cNvPr id="3" name="Rounded Rectangle 2"/>
          <p:cNvSpPr/>
          <p:nvPr userDrawn="1"/>
        </p:nvSpPr>
        <p:spPr>
          <a:xfrm>
            <a:off x="8616917" y="51470"/>
            <a:ext cx="405045" cy="27003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arabun" panose="00000500000000000000" pitchFamily="2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A7F93E-0AC9-4994-C087-EC47479093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51227" y="679296"/>
            <a:ext cx="2306274" cy="381037"/>
          </a:xfrm>
          <a:prstGeom prst="rect">
            <a:avLst/>
          </a:prstGeom>
        </p:spPr>
      </p:pic>
      <p:sp>
        <p:nvSpPr>
          <p:cNvPr id="10" name="Media Placeholder 3">
            <a:extLst>
              <a:ext uri="{FF2B5EF4-FFF2-40B4-BE49-F238E27FC236}">
                <a16:creationId xmlns:a16="http://schemas.microsoft.com/office/drawing/2014/main" id="{A8C42A55-8D9A-E8BD-8457-92C7015F8BD3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FE235E-8BE2-78BC-2D0F-81A926E2507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5094961"/>
            <a:ext cx="9144000" cy="4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373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6DBA27B-8304-4CFA-81F2-07D6954C9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365421"/>
            <a:ext cx="8443592" cy="3141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/>
            </a:lvl1pPr>
            <a:lvl2pPr>
              <a:spcBef>
                <a:spcPts val="0"/>
              </a:spcBef>
              <a:buClr>
                <a:srgbClr val="FF6600"/>
              </a:buClr>
              <a:defRPr/>
            </a:lvl2pPr>
            <a:lvl3pPr>
              <a:spcBef>
                <a:spcPts val="0"/>
              </a:spcBef>
              <a:buClr>
                <a:srgbClr val="FF6600"/>
              </a:buClr>
              <a:defRPr/>
            </a:lvl3pPr>
            <a:lvl4pPr>
              <a:spcBef>
                <a:spcPts val="0"/>
              </a:spcBef>
              <a:buClr>
                <a:srgbClr val="FFA336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228F4D49-482B-40A2-86AF-43C7452AA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07968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" name="Media Placeholder 3">
            <a:extLst>
              <a:ext uri="{FF2B5EF4-FFF2-40B4-BE49-F238E27FC236}">
                <a16:creationId xmlns:a16="http://schemas.microsoft.com/office/drawing/2014/main" id="{41860E7C-CA2A-CCFE-19A9-6DCDEE29B22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231835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E1C07FA-679D-46C0-86F7-8D17779A0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4104000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1pPr>
            <a:lvl2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2pPr>
            <a:lvl3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3pPr>
            <a:lvl4pPr>
              <a:spcBef>
                <a:spcPts val="0"/>
              </a:spcBef>
              <a:defRPr>
                <a:latin typeface="Sarabun" panose="00000500000000000000" pitchFamily="2" charset="-34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4BF5B9E-EBC4-409F-984B-6D47D81EDF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747260" y="1264925"/>
            <a:ext cx="4104641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1pPr>
            <a:lvl2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2pPr>
            <a:lvl3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3pPr>
            <a:lvl4pPr>
              <a:spcBef>
                <a:spcPts val="0"/>
              </a:spcBef>
              <a:defRPr>
                <a:latin typeface="Sarabun" panose="00000500000000000000" pitchFamily="2" charset="-34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1378A4D6-E4A6-4021-9A3E-CD1962CFE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54350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CFE9A372-03E3-E60F-6496-867B43D28DDD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1414322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C4900D4-E042-4F52-A837-0B504DD6A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27846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6AE5AD0B-78DA-96AF-6F08-3574B654A51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4226472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2ADF6038-2E5A-469C-35D8-0A0580CF19AD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1447694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8077201" y="51066"/>
            <a:ext cx="958965" cy="273844"/>
          </a:xfrm>
          <a:prstGeom prst="rect">
            <a:avLst/>
          </a:prstGeom>
        </p:spPr>
        <p:txBody>
          <a:bodyPr/>
          <a:lstStyle>
            <a:lvl1pPr>
              <a:defRPr sz="1350">
                <a:solidFill>
                  <a:schemeClr val="bg1"/>
                </a:solidFill>
                <a:latin typeface="+mn-lt"/>
              </a:defRPr>
            </a:lvl1pPr>
          </a:lstStyle>
          <a:p>
            <a:pPr algn="r"/>
            <a:fld id="{4D6A1F21-6DDA-4D75-917B-3675E7404BBE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55576" y="519522"/>
            <a:ext cx="7632849" cy="640257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755576" y="1275160"/>
            <a:ext cx="7632849" cy="324080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2411760" y="4767263"/>
            <a:ext cx="432048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GB"/>
              <a:t>Dyalog Intro Part 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7753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6723925" y="1264925"/>
            <a:ext cx="2127975" cy="324203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717550" indent="-355600">
              <a:buSzPct val="60000"/>
              <a:buFont typeface="Courier New" panose="02070309020205020404" pitchFamily="49" charset="0"/>
              <a:buChar char="o"/>
              <a:defRPr/>
            </a:lvl2pPr>
            <a:lvl3pPr marL="1079500" indent="-361950">
              <a:buFont typeface="Wingdings" panose="05000000000000000000" pitchFamily="2" charset="2"/>
              <a:buChar char="§"/>
              <a:defRPr/>
            </a:lvl3pPr>
            <a:lvl4pPr marL="1433513" indent="-354013">
              <a:buFont typeface="Calibri" panose="020F0502020204030204" pitchFamily="34" charset="0"/>
              <a:buChar char="–"/>
              <a:defRPr/>
            </a:lvl4pPr>
          </a:lstStyle>
          <a:p>
            <a:r>
              <a:rPr lang="da-DK" dirty="0"/>
              <a:t>Space here </a:t>
            </a:r>
            <a:br>
              <a:rPr lang="da-DK" dirty="0"/>
            </a:br>
            <a:r>
              <a:rPr lang="da-DK" dirty="0"/>
              <a:t>for code </a:t>
            </a:r>
            <a:r>
              <a:rPr lang="da-DK" dirty="0">
                <a:latin typeface="APL385 Unicode" panose="020B0709000202000203" pitchFamily="49" charset="0"/>
              </a:rPr>
              <a:t>{⍺×⍵}</a:t>
            </a:r>
            <a:br>
              <a:rPr lang="da-DK" dirty="0"/>
            </a:br>
            <a:r>
              <a:rPr lang="da-DK" dirty="0"/>
              <a:t>pictures</a:t>
            </a:r>
            <a:br>
              <a:rPr lang="da-DK" dirty="0"/>
            </a:br>
            <a:r>
              <a:rPr lang="da-DK" dirty="0"/>
              <a:t>etc.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6DBA27B-8304-4CFA-81F2-07D6954C9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6092513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A336"/>
              </a:buClr>
              <a:defRPr/>
            </a:lvl1pPr>
            <a:lvl2pPr>
              <a:spcBef>
                <a:spcPts val="0"/>
              </a:spcBef>
              <a:buClr>
                <a:srgbClr val="FFA336"/>
              </a:buClr>
              <a:defRPr/>
            </a:lvl2pPr>
            <a:lvl3pPr>
              <a:spcBef>
                <a:spcPts val="0"/>
              </a:spcBef>
              <a:buClr>
                <a:srgbClr val="FFA336"/>
              </a:buClr>
              <a:defRPr/>
            </a:lvl3pPr>
            <a:lvl4pPr>
              <a:spcBef>
                <a:spcPts val="0"/>
              </a:spcBef>
              <a:buClr>
                <a:srgbClr val="FFA336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63CC7BCE-4ADF-4981-A51C-337EB4EACDFD}"/>
              </a:ext>
            </a:extLst>
          </p:cNvPr>
          <p:cNvSpPr>
            <a:spLocks noGrp="1" noChangeAspect="1"/>
          </p:cNvSpPr>
          <p:nvPr>
            <p:ph sz="quarter" idx="12" hasCustomPrompt="1"/>
          </p:nvPr>
        </p:nvSpPr>
        <p:spPr>
          <a:xfrm>
            <a:off x="7533024" y="0"/>
            <a:ext cx="1610976" cy="1036319"/>
          </a:xfrm>
          <a:noFill/>
        </p:spPr>
        <p:txBody>
          <a:bodyPr anchor="ctr"/>
          <a:lstStyle>
            <a:lvl1pPr marL="0" indent="0" algn="ctr">
              <a:buNone/>
              <a:defRPr sz="1200" baseline="0"/>
            </a:lvl1pPr>
          </a:lstStyle>
          <a:p>
            <a:pPr lvl="0"/>
            <a:r>
              <a:rPr lang="en-GB" dirty="0" err="1"/>
              <a:t>PICinPIC</a:t>
            </a:r>
            <a:r>
              <a:rPr lang="en-GB" dirty="0"/>
              <a:t> WILL SHOW HERE, CONTENT COULD BE OBSCURED.</a:t>
            </a:r>
            <a:br>
              <a:rPr lang="en-GB" dirty="0"/>
            </a:br>
            <a:r>
              <a:rPr lang="en-GB" dirty="0"/>
              <a:t>(invisible box)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228F4D49-482B-40A2-86AF-43C7452AA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267657"/>
            <a:ext cx="7005527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0380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/>
            </a:lvl1pPr>
            <a:lvl2pPr marL="557213" indent="-214313">
              <a:buSzPct val="100000"/>
              <a:buFont typeface="Calibri" panose="020F0502020204030204" pitchFamily="34" charset="0"/>
              <a:buChar char="–"/>
              <a:defRPr/>
            </a:lvl2pPr>
            <a:lvl3pPr marL="857250" indent="-171450">
              <a:buFont typeface="Wingdings" panose="05000000000000000000" pitchFamily="2" charset="2"/>
              <a:buChar char="§"/>
              <a:defRPr/>
            </a:lvl3pPr>
            <a:lvl4pPr marL="1371600" indent="-342900">
              <a:buFont typeface="Courier New" panose="02070309020205020404" pitchFamily="49" charset="0"/>
              <a:buChar char="o"/>
              <a:defRPr/>
            </a:lvl4pPr>
            <a:lvl5pPr marL="1615679" indent="-244079">
              <a:buFont typeface="Calibri" panose="020F0502020204030204" pitchFamily="34" charset="0"/>
              <a:buChar char="‐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Dyalog Intro Part 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9353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6DBA27B-8304-4CFA-81F2-07D6954C9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377778"/>
            <a:ext cx="8474484" cy="3129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/>
            </a:lvl1pPr>
            <a:lvl2pPr>
              <a:spcBef>
                <a:spcPts val="0"/>
              </a:spcBef>
              <a:buClr>
                <a:srgbClr val="FF6600"/>
              </a:buClr>
              <a:defRPr/>
            </a:lvl2pPr>
            <a:lvl3pPr>
              <a:spcBef>
                <a:spcPts val="0"/>
              </a:spcBef>
              <a:buClr>
                <a:srgbClr val="FF6600"/>
              </a:buClr>
              <a:defRPr/>
            </a:lvl3pPr>
            <a:lvl4pPr>
              <a:spcBef>
                <a:spcPts val="0"/>
              </a:spcBef>
              <a:buClr>
                <a:srgbClr val="FFA336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228F4D49-482B-40A2-86AF-43C7452AA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07968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" name="Media Placeholder 3">
            <a:extLst>
              <a:ext uri="{FF2B5EF4-FFF2-40B4-BE49-F238E27FC236}">
                <a16:creationId xmlns:a16="http://schemas.microsoft.com/office/drawing/2014/main" id="{41860E7C-CA2A-CCFE-19A9-6DCDEE29B22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3964099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3528" y="267657"/>
            <a:ext cx="7005527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3527" y="1264925"/>
            <a:ext cx="8528373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9B4391E-A2CA-4E7C-B5A9-A31CF000D3E5}"/>
              </a:ext>
            </a:extLst>
          </p:cNvPr>
          <p:cNvSpPr txBox="1">
            <a:spLocks/>
          </p:cNvSpPr>
          <p:nvPr userDrawn="1"/>
        </p:nvSpPr>
        <p:spPr>
          <a:xfrm>
            <a:off x="710852" y="4745354"/>
            <a:ext cx="7066640" cy="39814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7550" indent="-35560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SzPct val="60000"/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79500" indent="-36195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33513" indent="-354013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Font typeface="Calibri" panose="020F0502020204030204" pitchFamily="34" charset="0"/>
              <a:buChar char="–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spcBef>
                <a:spcPts val="0"/>
              </a:spcBef>
            </a:pPr>
            <a:r>
              <a:rPr lang="en-US" sz="1600" dirty="0">
                <a:solidFill>
                  <a:srgbClr val="282828"/>
                </a:solidFill>
                <a:latin typeface="Sarabun" panose="00000500000000000000" pitchFamily="2" charset="-34"/>
              </a:rPr>
              <a:t>APL Bootcamp – Part 1</a:t>
            </a:r>
          </a:p>
        </p:txBody>
      </p:sp>
      <p:sp>
        <p:nvSpPr>
          <p:cNvPr id="49" name="Date Placeholder 3"/>
          <p:cNvSpPr txBox="1">
            <a:spLocks/>
          </p:cNvSpPr>
          <p:nvPr userDrawn="1"/>
        </p:nvSpPr>
        <p:spPr>
          <a:xfrm>
            <a:off x="45720" y="4743900"/>
            <a:ext cx="665132" cy="39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000" b="0" kern="1200">
                <a:solidFill>
                  <a:schemeClr val="bg1"/>
                </a:solidFill>
                <a:latin typeface="Klavika Medium" panose="02000603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02EDF88B-1B61-4481-9BD6-D2E23BF0DCD8}" type="slidenum">
              <a:rPr lang="en-GB" sz="1600" baseline="0" smtClean="0">
                <a:solidFill>
                  <a:srgbClr val="FF6A13"/>
                </a:solidFill>
                <a:latin typeface="Sarabun" panose="00000500000000000000" pitchFamily="2" charset="-34"/>
              </a:rPr>
              <a:pPr algn="l"/>
              <a:t>‹#›</a:t>
            </a:fld>
            <a:endParaRPr lang="en-GB" sz="1600" baseline="0" dirty="0">
              <a:solidFill>
                <a:srgbClr val="FF6A13"/>
              </a:solidFill>
              <a:latin typeface="Sarabun" panose="00000500000000000000" pitchFamily="2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920957-0551-8F72-773E-84D867F26A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400"/>
          <a:stretch/>
        </p:blipFill>
        <p:spPr>
          <a:xfrm>
            <a:off x="0" y="5097467"/>
            <a:ext cx="9144000" cy="457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EC5741-2586-9026-BBB0-7FC530AB64E7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8067022" y="4818698"/>
            <a:ext cx="938248" cy="15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40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0" r:id="rId2"/>
    <p:sldLayoutId id="2147483652" r:id="rId3"/>
    <p:sldLayoutId id="2147483654" r:id="rId4"/>
    <p:sldLayoutId id="2147483655" r:id="rId5"/>
    <p:sldLayoutId id="2147483658" r:id="rId6"/>
    <p:sldLayoutId id="2147483659" r:id="rId7"/>
    <p:sldLayoutId id="2147483660" r:id="rId8"/>
    <p:sldLayoutId id="2147483661" r:id="rId9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rgbClr val="3B475E"/>
          </a:solidFill>
          <a:latin typeface="Sarabun" panose="00000500000000000000" pitchFamily="2" charset="-34"/>
          <a:ea typeface="+mj-ea"/>
          <a:cs typeface="Calibri" panose="020F0502020204030204" pitchFamily="34" charset="0"/>
        </a:defRPr>
      </a:lvl1pPr>
    </p:titleStyle>
    <p:bodyStyle>
      <a:lvl1pPr marL="458788" indent="-45878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24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1pPr>
      <a:lvl2pPr marL="858838" indent="-40163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lang="en-US" sz="2000" kern="1200" dirty="0" smtClean="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18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3pPr>
      <a:lvl4pPr marL="1655763" indent="-28416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14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Clr>
          <a:srgbClr val="FF9421"/>
        </a:buClr>
        <a:buFont typeface="Calibri" panose="020F050202020403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www.youtube.com/watch?v=_DTpQ4Kk2wA&amp;t=120s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hyperlink" Target="http://help.dyalog.com/latest/#Language/System%20Functions/nc.htm" TargetMode="Externa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A6417-55D0-46BB-0DFF-8D4AA0A71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APL Bootcamp – Part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8C988-130F-A25A-2390-AB59A78D53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History; basic syntax; </a:t>
            </a:r>
            <a:r>
              <a:rPr lang="en-GB" dirty="0" err="1"/>
              <a:t>dfns</a:t>
            </a:r>
            <a:endParaRPr lang="en-GB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4559DFF-3665-0E31-55C7-92F3BEB5DA9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887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F2792B-84DF-C818-DD62-BCDCDBDE9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1813" y="1365421"/>
            <a:ext cx="5855306" cy="3141543"/>
          </a:xfrm>
        </p:spPr>
        <p:txBody>
          <a:bodyPr>
            <a:normAutofit fontScale="92500"/>
          </a:bodyPr>
          <a:lstStyle/>
          <a:p>
            <a:r>
              <a:rPr lang="en-US" sz="1500" dirty="0"/>
              <a:t>Canadian of Norwegian Descent</a:t>
            </a:r>
          </a:p>
          <a:p>
            <a:r>
              <a:rPr lang="en-GB" sz="1500" dirty="0"/>
              <a:t>Born on a small farm in Alberta (Canada)</a:t>
            </a:r>
          </a:p>
          <a:p>
            <a:r>
              <a:rPr lang="en-GB" sz="1500" dirty="0"/>
              <a:t>Finished one-room school after 9</a:t>
            </a:r>
            <a:r>
              <a:rPr lang="en-GB" sz="1500" baseline="30000" dirty="0"/>
              <a:t>th</a:t>
            </a:r>
            <a:r>
              <a:rPr lang="en-GB" sz="1500" dirty="0"/>
              <a:t> grade and worked on the farm</a:t>
            </a:r>
          </a:p>
          <a:p>
            <a:r>
              <a:rPr lang="en-GB" sz="1500" dirty="0"/>
              <a:t>Army 1942, Flight Engineer in Air Force from 1943</a:t>
            </a:r>
          </a:p>
          <a:p>
            <a:pPr lvl="1"/>
            <a:r>
              <a:rPr lang="en-GB" sz="1200" dirty="0"/>
              <a:t>Almost finished High School in the service</a:t>
            </a:r>
          </a:p>
          <a:p>
            <a:pPr lvl="1"/>
            <a:r>
              <a:rPr lang="en-GB" sz="1200" dirty="0"/>
              <a:t>Promised his officers and mates that he would pursue an academic career after the war</a:t>
            </a:r>
          </a:p>
          <a:p>
            <a:r>
              <a:rPr lang="en-GB" sz="1500" dirty="0"/>
              <a:t>B.A. from Queens University, Kingston Ontario</a:t>
            </a:r>
          </a:p>
          <a:p>
            <a:pPr lvl="1"/>
            <a:r>
              <a:rPr lang="en-GB" sz="1200" dirty="0"/>
              <a:t>Ken didn’t know there was such a thing as University before he joined the army!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D64729-5632-F0C3-2E71-C3016D715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History of APL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62454E3-60FB-688D-4FF2-611D6283655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5" descr="ken laughing">
            <a:extLst>
              <a:ext uri="{FF2B5EF4-FFF2-40B4-BE49-F238E27FC236}">
                <a16:creationId xmlns:a16="http://schemas.microsoft.com/office/drawing/2014/main" id="{465CAF2B-1275-B1F4-CA89-D9AB5B676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216" y="1644253"/>
            <a:ext cx="1503759" cy="1854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8">
            <a:extLst>
              <a:ext uri="{FF2B5EF4-FFF2-40B4-BE49-F238E27FC236}">
                <a16:creationId xmlns:a16="http://schemas.microsoft.com/office/drawing/2014/main" id="{E1FCC169-0C5B-6D66-5EFF-089CFD6420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75" y="3584971"/>
            <a:ext cx="1279517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da-DK" altLang="en-US" sz="1050" dirty="0"/>
              <a:t>Kenneth E. Iverson</a:t>
            </a:r>
            <a:br>
              <a:rPr lang="da-DK" altLang="en-US" sz="1050" dirty="0"/>
            </a:br>
            <a:r>
              <a:rPr lang="da-DK" altLang="en-US" sz="1050" dirty="0"/>
              <a:t>1920-2004</a:t>
            </a:r>
            <a:endParaRPr lang="en-US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785938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B548E-2532-1391-E3AB-B3A7CC91B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C439FC-BD5A-3E0A-37A0-337816592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1813" y="1365421"/>
            <a:ext cx="5855306" cy="3141543"/>
          </a:xfrm>
        </p:spPr>
        <p:txBody>
          <a:bodyPr>
            <a:normAutofit fontScale="85000" lnSpcReduction="20000"/>
          </a:bodyPr>
          <a:lstStyle/>
          <a:p>
            <a:r>
              <a:rPr lang="da-DK" sz="1500" dirty="0"/>
              <a:t>Doctoral work at Harvard with Aiken and Leontief on evaluating input-output matrices</a:t>
            </a:r>
          </a:p>
          <a:p>
            <a:r>
              <a:rPr lang="da-DK" sz="1500" dirty="0"/>
              <a:t>Taught at Harvard for 6 years, </a:t>
            </a:r>
          </a:p>
          <a:p>
            <a:pPr lvl="1"/>
            <a:r>
              <a:rPr lang="da-DK" sz="1200" dirty="0"/>
              <a:t>Frustrated with inadequacies of mathematical notation</a:t>
            </a:r>
          </a:p>
          <a:p>
            <a:r>
              <a:rPr lang="da-DK" sz="1500" dirty="0"/>
              <a:t>Developed ”Iverson Notation” in response</a:t>
            </a:r>
          </a:p>
          <a:p>
            <a:pPr lvl="1"/>
            <a:r>
              <a:rPr lang="da-DK" sz="1200" dirty="0"/>
              <a:t>Published ”A Programming Language” in 1962</a:t>
            </a:r>
            <a:endParaRPr lang="da-DK" sz="1500" dirty="0"/>
          </a:p>
          <a:p>
            <a:r>
              <a:rPr lang="da-DK" sz="1500" dirty="0"/>
              <a:t>Used APL for modelling and teaching</a:t>
            </a:r>
          </a:p>
          <a:p>
            <a:r>
              <a:rPr lang="da-DK" sz="1500" dirty="0"/>
              <a:t>Failed to get tenure at Harvard; moved to  IBM</a:t>
            </a:r>
          </a:p>
          <a:p>
            <a:pPr lvl="1"/>
            <a:r>
              <a:rPr lang="da-DK" sz="1200" dirty="0"/>
              <a:t>First APL Interpreter in 1966</a:t>
            </a:r>
          </a:p>
          <a:p>
            <a:pPr lvl="1"/>
            <a:r>
              <a:rPr lang="da-DK" sz="1200" dirty="0"/>
              <a:t>IBM Fellow in 1970</a:t>
            </a:r>
          </a:p>
          <a:p>
            <a:r>
              <a:rPr lang="da-DK" sz="1500" dirty="0"/>
              <a:t>J ("rationalised APL") from ca. 1989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18DEF8-4B17-7DCA-8A46-6B9340189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History of APL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262D336-98BF-2679-2BC0-7258D3242ED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DCE16E0A-9782-AA3F-633E-50CE75EEA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56495" y="1644253"/>
            <a:ext cx="1317201" cy="1854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8">
            <a:extLst>
              <a:ext uri="{FF2B5EF4-FFF2-40B4-BE49-F238E27FC236}">
                <a16:creationId xmlns:a16="http://schemas.microsoft.com/office/drawing/2014/main" id="{08623207-DAC3-00D1-0DCD-9C9EDAC7B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75" y="3584971"/>
            <a:ext cx="1279517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da-DK" altLang="en-US" sz="1050" dirty="0"/>
              <a:t>Kenneth E. Iverson</a:t>
            </a:r>
            <a:br>
              <a:rPr lang="da-DK" altLang="en-US" sz="1050" dirty="0"/>
            </a:br>
            <a:r>
              <a:rPr lang="da-DK" altLang="en-US" sz="1050" dirty="0"/>
              <a:t>1920-2004</a:t>
            </a:r>
            <a:endParaRPr lang="en-US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800356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875F3-6430-CB80-A624-28FA06E5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3E374A-1B64-09A2-2E85-60D9AE116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1813" y="1365421"/>
            <a:ext cx="5855306" cy="3141543"/>
          </a:xfrm>
        </p:spPr>
        <p:txBody>
          <a:bodyPr>
            <a:normAutofit fontScale="85000" lnSpcReduction="20000"/>
          </a:bodyPr>
          <a:lstStyle/>
          <a:p>
            <a:r>
              <a:rPr lang="da-DK" sz="1500" dirty="0"/>
              <a:t>Doctoral work at Harvard with Aiken and Leontief on evaluating input-output matrices</a:t>
            </a:r>
          </a:p>
          <a:p>
            <a:r>
              <a:rPr lang="da-DK" sz="1500" dirty="0"/>
              <a:t>Taught at Harvard for 6 years, </a:t>
            </a:r>
          </a:p>
          <a:p>
            <a:pPr lvl="1"/>
            <a:r>
              <a:rPr lang="da-DK" sz="1200" dirty="0"/>
              <a:t>Frustrated with inadequacies of mathematical notation</a:t>
            </a:r>
          </a:p>
          <a:p>
            <a:r>
              <a:rPr lang="da-DK" sz="1500" dirty="0"/>
              <a:t>Developed ”Iverson Notation” in response</a:t>
            </a:r>
          </a:p>
          <a:p>
            <a:pPr lvl="1"/>
            <a:r>
              <a:rPr lang="da-DK" sz="1200" dirty="0"/>
              <a:t>Published ”A Programming Language” in 1962</a:t>
            </a:r>
            <a:endParaRPr lang="da-DK" sz="1500" dirty="0"/>
          </a:p>
          <a:p>
            <a:r>
              <a:rPr lang="da-DK" sz="1500" dirty="0"/>
              <a:t>Used APL for modelling and teaching</a:t>
            </a:r>
          </a:p>
          <a:p>
            <a:r>
              <a:rPr lang="da-DK" sz="1500" dirty="0"/>
              <a:t>Failed to get tenure at Harvard; moved to  IBM</a:t>
            </a:r>
          </a:p>
          <a:p>
            <a:pPr lvl="1"/>
            <a:r>
              <a:rPr lang="da-DK" sz="1200" dirty="0"/>
              <a:t>First APL Interpreter in 1966</a:t>
            </a:r>
          </a:p>
          <a:p>
            <a:pPr lvl="1"/>
            <a:r>
              <a:rPr lang="da-DK" sz="1200" dirty="0"/>
              <a:t>IBM Fellow in 1970</a:t>
            </a:r>
          </a:p>
          <a:p>
            <a:r>
              <a:rPr lang="da-DK" sz="1500" dirty="0"/>
              <a:t>J ("rationalised APL") from ca. 1989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AE9740-BB9D-494A-343A-26A87FC55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History of APL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4AAFF3D-B7B0-E24A-EE8D-EF1CA18D3B2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B88A7423-8F60-D404-8923-653665E95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56495" y="1644253"/>
            <a:ext cx="1317201" cy="1854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8">
            <a:extLst>
              <a:ext uri="{FF2B5EF4-FFF2-40B4-BE49-F238E27FC236}">
                <a16:creationId xmlns:a16="http://schemas.microsoft.com/office/drawing/2014/main" id="{B0F0C4CA-4C79-B60B-D139-7FA8CE3A5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75" y="3584971"/>
            <a:ext cx="1279517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da-DK" altLang="en-US" sz="1050" dirty="0"/>
              <a:t>Kenneth E. Iverson</a:t>
            </a:r>
            <a:br>
              <a:rPr lang="da-DK" altLang="en-US" sz="1050" dirty="0"/>
            </a:br>
            <a:r>
              <a:rPr lang="da-DK" altLang="en-US" sz="1050" dirty="0"/>
              <a:t>1920-2004</a:t>
            </a:r>
            <a:endParaRPr lang="en-US" altLang="en-US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79830F-22E2-445D-ADFB-7CD88A508074}"/>
              </a:ext>
            </a:extLst>
          </p:cNvPr>
          <p:cNvSpPr txBox="1"/>
          <p:nvPr/>
        </p:nvSpPr>
        <p:spPr>
          <a:xfrm>
            <a:off x="693475" y="1513432"/>
            <a:ext cx="7757051" cy="3046988"/>
          </a:xfrm>
          <a:prstGeom prst="rect">
            <a:avLst/>
          </a:prstGeom>
          <a:solidFill>
            <a:schemeClr val="tx1"/>
          </a:solidFill>
          <a:ln w="38100"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2F1F0"/>
                </a:solidFill>
                <a:latin typeface="+mj-lt"/>
              </a:rPr>
              <a:t>ACM Turing award in 1979:</a:t>
            </a:r>
            <a:br>
              <a:rPr lang="en-US" sz="2400" b="1" dirty="0">
                <a:solidFill>
                  <a:srgbClr val="F2F1F0"/>
                </a:solidFill>
                <a:latin typeface="+mj-lt"/>
              </a:rPr>
            </a:br>
            <a:endParaRPr lang="en-US" sz="2400" b="1" dirty="0">
              <a:solidFill>
                <a:srgbClr val="F2F1F0"/>
              </a:solidFill>
              <a:latin typeface="+mj-lt"/>
            </a:endParaRPr>
          </a:p>
          <a:p>
            <a:r>
              <a:rPr lang="en-GB" sz="2400" i="1" dirty="0">
                <a:solidFill>
                  <a:srgbClr val="F2F1F0"/>
                </a:solidFill>
              </a:rPr>
              <a:t>“For his pioneering effort in programming languages</a:t>
            </a:r>
            <a:br>
              <a:rPr lang="en-GB" sz="2400" i="1" dirty="0">
                <a:solidFill>
                  <a:srgbClr val="F2F1F0"/>
                </a:solidFill>
              </a:rPr>
            </a:br>
            <a:r>
              <a:rPr lang="en-GB" sz="2400" i="1" dirty="0">
                <a:solidFill>
                  <a:srgbClr val="F2F1F0"/>
                </a:solidFill>
              </a:rPr>
              <a:t>and mathematical notation resulting in what the </a:t>
            </a:r>
          </a:p>
          <a:p>
            <a:r>
              <a:rPr lang="en-GB" sz="2400" i="1" dirty="0">
                <a:solidFill>
                  <a:srgbClr val="F2F1F0"/>
                </a:solidFill>
              </a:rPr>
              <a:t>computing field now knows as APL, </a:t>
            </a:r>
            <a:br>
              <a:rPr lang="en-GB" sz="2400" i="1" dirty="0">
                <a:solidFill>
                  <a:srgbClr val="F2F1F0"/>
                </a:solidFill>
              </a:rPr>
            </a:br>
            <a:r>
              <a:rPr lang="en-GB" sz="2400" i="1" dirty="0">
                <a:solidFill>
                  <a:srgbClr val="F2F1F0"/>
                </a:solidFill>
              </a:rPr>
              <a:t>for his contributions to the implementation of interactive systems, to educational uses of APL, </a:t>
            </a:r>
            <a:br>
              <a:rPr lang="en-GB" sz="2400" i="1" dirty="0">
                <a:solidFill>
                  <a:srgbClr val="F2F1F0"/>
                </a:solidFill>
              </a:rPr>
            </a:br>
            <a:r>
              <a:rPr lang="en-GB" sz="2400" i="1" dirty="0">
                <a:solidFill>
                  <a:srgbClr val="F2F1F0"/>
                </a:solidFill>
              </a:rPr>
              <a:t>and to programming language theory and practice.”</a:t>
            </a:r>
            <a:endParaRPr lang="en-US" sz="2400" dirty="0">
              <a:solidFill>
                <a:srgbClr val="F2F1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3718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DCB0C-A5A1-F7F4-7381-2325524D8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2">
            <a:extLst>
              <a:ext uri="{FF2B5EF4-FFF2-40B4-BE49-F238E27FC236}">
                <a16:creationId xmlns:a16="http://schemas.microsoft.com/office/drawing/2014/main" id="{4A18AB6C-E5DF-5454-E26C-CD84D1B18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07968" cy="685535"/>
          </a:xfrm>
        </p:spPr>
        <p:txBody>
          <a:bodyPr/>
          <a:lstStyle/>
          <a:p>
            <a:r>
              <a:rPr lang="en-GB" dirty="0"/>
              <a:t>Uses of APL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8A5839A-DC24-FBFE-B9B7-A6EDDC54CF3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3883E9-C7C5-E1EB-CB63-328909620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865174">
            <a:off x="420375" y="511411"/>
            <a:ext cx="3072713" cy="27906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ED99DA-17BA-2835-E0EA-0AD367ADF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50189">
            <a:off x="2768366" y="516384"/>
            <a:ext cx="2605566" cy="2780731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9C8B6AB-8087-A481-EDC9-51112D6578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 rot="915013">
            <a:off x="586336" y="1960497"/>
            <a:ext cx="2503251" cy="26837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DB29734-5BCC-EB74-22DD-088344919C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167418">
            <a:off x="2873899" y="2089806"/>
            <a:ext cx="2845964" cy="25205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15EF82-9499-18C4-DA7C-00692EE716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8422">
            <a:off x="5063248" y="1678527"/>
            <a:ext cx="2774762" cy="264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1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526DE-84C5-77FB-45BA-38D9D1F47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00A1522-4F9C-78BA-9E30-D10CC96CE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Syntaxes of Mathematics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06AE942-82EC-096B-646E-9945AF7F6FC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4A80A7-155E-63B0-3F5C-6FCEC2999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062" y="1234346"/>
            <a:ext cx="411994" cy="411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0333E0C-2539-EA86-9371-A6237904E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056" y="2011220"/>
            <a:ext cx="463674" cy="48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236A0B8-8860-CDEA-0B4D-F30D35E16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184" y="1658841"/>
            <a:ext cx="411994" cy="842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E302BD13-3A84-CA46-A673-01C3B565C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0617" y="2282957"/>
            <a:ext cx="1088773" cy="454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345D5FC7-38BE-B1D2-D76D-051AB5DE0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428" y="1349188"/>
            <a:ext cx="669641" cy="662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00429389-18EC-2EEA-E300-BB30164B2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630" y="3748650"/>
            <a:ext cx="773542" cy="433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AC5A4490-2B66-BCD7-8724-DFB68A1A0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4637" y="2571750"/>
            <a:ext cx="625070" cy="48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EA7BEE-E078-C2A5-CD2D-32ABE60C2B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0432" y="2943845"/>
            <a:ext cx="569254" cy="466472"/>
          </a:xfrm>
          <a:prstGeom prst="rect">
            <a:avLst/>
          </a:prstGeom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B08EFE5F-D660-F0EB-FB14-F19FF9F34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93" y="1414170"/>
            <a:ext cx="1857359" cy="46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53EB5F-2C69-F46C-354A-D9D888E6102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43527" y="2349546"/>
            <a:ext cx="859449" cy="9549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41E0D7-7FF0-0423-7761-603844E12E0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88717" y="3264902"/>
            <a:ext cx="760704" cy="967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966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25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6103E-D5A5-8DFA-9C66-29FAEA5B6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2539EE-1326-142C-749E-C3D8A1D49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Syntaxes of Mathematics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9A5BB2C-6C91-D81F-7C3F-79F8DA868B0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70D5C73-6256-5D9F-B9DF-67996644C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062" y="1234346"/>
            <a:ext cx="411994" cy="411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E64B19F-12BF-78B8-7064-90BCBF41F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056" y="2011220"/>
            <a:ext cx="463674" cy="48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34EE8BC-E150-5062-A715-F528BE88E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184" y="1658841"/>
            <a:ext cx="411994" cy="842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76F598C4-9556-BF20-274D-27267D5D6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0617" y="2282957"/>
            <a:ext cx="1088773" cy="454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BAC38672-32CC-3150-6133-29DE8E0EF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428" y="1349188"/>
            <a:ext cx="669641" cy="662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7DD2F88A-B633-0873-6C2B-BACACC60DF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630" y="3748650"/>
            <a:ext cx="773542" cy="433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C4D41842-D34A-1EE6-9027-5673AD781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4637" y="2571750"/>
            <a:ext cx="625070" cy="48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150E50-9871-8913-4DB0-01DF7259066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0432" y="2943845"/>
            <a:ext cx="569254" cy="466472"/>
          </a:xfrm>
          <a:prstGeom prst="rect">
            <a:avLst/>
          </a:prstGeom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50080F42-E8F8-83A0-C827-BB7779B6E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93" y="1414170"/>
            <a:ext cx="1857359" cy="46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18C747-6604-8D3C-D9DB-23F3366CF4F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43527" y="2349546"/>
            <a:ext cx="859449" cy="9549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846F5C-72B9-C94B-8F20-AB56E9FA1FF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88717" y="3264902"/>
            <a:ext cx="760704" cy="9674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356BAC-350C-F7BF-75EA-6274A0631E0C}"/>
              </a:ext>
            </a:extLst>
          </p:cNvPr>
          <p:cNvSpPr txBox="1"/>
          <p:nvPr/>
        </p:nvSpPr>
        <p:spPr>
          <a:xfrm>
            <a:off x="1214035" y="1417588"/>
            <a:ext cx="6715931" cy="2308324"/>
          </a:xfrm>
          <a:prstGeom prst="rect">
            <a:avLst/>
          </a:prstGeom>
          <a:solidFill>
            <a:schemeClr val="tx1"/>
          </a:solidFill>
          <a:ln w="38100"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2F1F0"/>
                </a:solidFill>
                <a:latin typeface="+mj-lt"/>
              </a:rPr>
              <a:t>Problems:</a:t>
            </a:r>
          </a:p>
          <a:p>
            <a:br>
              <a:rPr lang="en-GB" sz="2400" i="1" dirty="0">
                <a:solidFill>
                  <a:srgbClr val="F2F1F0"/>
                </a:solidFill>
              </a:rPr>
            </a:br>
            <a:r>
              <a:rPr lang="en-GB" sz="2400" i="1" dirty="0">
                <a:solidFill>
                  <a:srgbClr val="F2F1F0"/>
                </a:solidFill>
              </a:rPr>
              <a:t>- Wide variety of syntactical forms</a:t>
            </a:r>
          </a:p>
          <a:p>
            <a:r>
              <a:rPr lang="en-GB" sz="2400" i="1" dirty="0">
                <a:solidFill>
                  <a:srgbClr val="F2F1F0"/>
                </a:solidFill>
              </a:rPr>
              <a:t>- Strange and inconsistent precedence rules</a:t>
            </a:r>
            <a:br>
              <a:rPr lang="en-GB" sz="2400" i="1" dirty="0">
                <a:solidFill>
                  <a:srgbClr val="F2F1F0"/>
                </a:solidFill>
              </a:rPr>
            </a:br>
            <a:r>
              <a:rPr lang="en-GB" sz="2400" i="1" dirty="0">
                <a:solidFill>
                  <a:srgbClr val="F2F1F0"/>
                </a:solidFill>
              </a:rPr>
              <a:t>- Things get worse when you deal with matrices</a:t>
            </a:r>
            <a:br>
              <a:rPr lang="en-GB" sz="2400" i="1" dirty="0">
                <a:solidFill>
                  <a:srgbClr val="F2F1F0"/>
                </a:solidFill>
              </a:rPr>
            </a:br>
            <a:endParaRPr lang="en-US" sz="2400" dirty="0">
              <a:solidFill>
                <a:srgbClr val="F2F1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883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F4602-C442-9119-FED0-A6832F39E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FC850E-337F-2EE2-A702-5DF6942F3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Syntaxes of Mathematics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8E85022-0531-B40A-7FF5-2A6B896FAF3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87CF597-D38D-DD79-2AAE-2D112910C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13" y="1033242"/>
            <a:ext cx="411994" cy="411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10FAA7A-CF82-681E-A58E-C8E2DD82F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573" y="2536811"/>
            <a:ext cx="463674" cy="48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6F38D22-40B8-C35B-C7D7-2D02054E5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13" y="1569874"/>
            <a:ext cx="411994" cy="842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743DE120-099F-D24A-7012-066236C4E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1011" y="1676222"/>
            <a:ext cx="1088773" cy="454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F78B2075-029E-0AB7-ED62-B19377590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577" y="907842"/>
            <a:ext cx="669641" cy="662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FB33140E-DDF2-3243-288C-72BE164F4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39" y="4357037"/>
            <a:ext cx="773542" cy="433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0333CAF6-9176-2C54-EA36-432FD45B0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875" y="3742479"/>
            <a:ext cx="625070" cy="48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0825B8-1C72-5926-62A2-37130201A5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2783" y="3151369"/>
            <a:ext cx="569254" cy="466472"/>
          </a:xfrm>
          <a:prstGeom prst="rect">
            <a:avLst/>
          </a:prstGeom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E2B3722C-AACF-C048-611D-AD9CBBD27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6718" y="2236878"/>
            <a:ext cx="1857359" cy="46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7BFCFA-C13A-05EA-17DA-22C1CC1056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15673" y="2807566"/>
            <a:ext cx="859449" cy="9549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57EF71-9EAF-489F-51EB-1C704FFB6CE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65045" y="3868857"/>
            <a:ext cx="760704" cy="9674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3ADEF4-33A6-52C1-D4D3-D288118F4A1C}"/>
              </a:ext>
            </a:extLst>
          </p:cNvPr>
          <p:cNvSpPr txBox="1"/>
          <p:nvPr/>
        </p:nvSpPr>
        <p:spPr>
          <a:xfrm>
            <a:off x="2024385" y="974527"/>
            <a:ext cx="737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err="1">
                <a:latin typeface="APL385 Unicode" panose="020B0709000202000203" pitchFamily="49" charset="0"/>
              </a:rPr>
              <a:t>a×b</a:t>
            </a:r>
            <a:endParaRPr lang="en-GB" sz="2400" dirty="0">
              <a:latin typeface="APL385 Unicode" panose="020B0709000202000203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B3090B-4B2F-D207-4739-F825823C5A5F}"/>
              </a:ext>
            </a:extLst>
          </p:cNvPr>
          <p:cNvSpPr txBox="1"/>
          <p:nvPr/>
        </p:nvSpPr>
        <p:spPr>
          <a:xfrm>
            <a:off x="2024385" y="1678765"/>
            <a:ext cx="737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err="1">
                <a:latin typeface="APL385 Unicode" panose="020B0709000202000203" pitchFamily="49" charset="0"/>
              </a:rPr>
              <a:t>x÷y</a:t>
            </a:r>
            <a:endParaRPr lang="en-GB" sz="2400" dirty="0">
              <a:latin typeface="APL385 Unicode" panose="020B0709000202000203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505816-1109-BEE0-5619-B0FD0C560D74}"/>
              </a:ext>
            </a:extLst>
          </p:cNvPr>
          <p:cNvSpPr txBox="1"/>
          <p:nvPr/>
        </p:nvSpPr>
        <p:spPr>
          <a:xfrm>
            <a:off x="2208730" y="2520356"/>
            <a:ext cx="5533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APL385 Unicode" panose="020B0709000202000203" pitchFamily="49" charset="0"/>
              </a:rPr>
              <a:t>*x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BAAEDC-F102-1118-5214-5B03631023B8}"/>
              </a:ext>
            </a:extLst>
          </p:cNvPr>
          <p:cNvSpPr txBox="1"/>
          <p:nvPr/>
        </p:nvSpPr>
        <p:spPr>
          <a:xfrm>
            <a:off x="1840040" y="3106432"/>
            <a:ext cx="922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APL385 Unicode" panose="020B0709000202000203" pitchFamily="49" charset="0"/>
              </a:rPr>
              <a:t>a*÷n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7374DE-5D00-D27D-F11A-CC1F9ECA5CE3}"/>
              </a:ext>
            </a:extLst>
          </p:cNvPr>
          <p:cNvSpPr txBox="1"/>
          <p:nvPr/>
        </p:nvSpPr>
        <p:spPr>
          <a:xfrm>
            <a:off x="2208730" y="3742479"/>
            <a:ext cx="5533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APL385 Unicode" panose="020B0709000202000203" pitchFamily="49" charset="0"/>
              </a:rPr>
              <a:t>⌈x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F7337C-7BBA-2CA5-86D5-03FCF008A189}"/>
              </a:ext>
            </a:extLst>
          </p:cNvPr>
          <p:cNvSpPr txBox="1"/>
          <p:nvPr/>
        </p:nvSpPr>
        <p:spPr>
          <a:xfrm>
            <a:off x="1287003" y="4328555"/>
            <a:ext cx="1475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APL385 Unicode" panose="020B0709000202000203" pitchFamily="49" charset="0"/>
              </a:rPr>
              <a:t>7(+,-)2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C4CAB1-471E-4763-C610-B86108941EC4}"/>
              </a:ext>
            </a:extLst>
          </p:cNvPr>
          <p:cNvSpPr txBox="1"/>
          <p:nvPr/>
        </p:nvSpPr>
        <p:spPr>
          <a:xfrm>
            <a:off x="5343432" y="4111963"/>
            <a:ext cx="1290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APL385 Unicode" panose="020B0709000202000203" pitchFamily="49" charset="0"/>
              </a:rPr>
              <a:t>×/4×⍳6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F1B07A-7B74-CD48-454E-A16FAB89FBEB}"/>
              </a:ext>
            </a:extLst>
          </p:cNvPr>
          <p:cNvSpPr txBox="1"/>
          <p:nvPr/>
        </p:nvSpPr>
        <p:spPr>
          <a:xfrm>
            <a:off x="5343432" y="3026731"/>
            <a:ext cx="1290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APL385 Unicode" panose="020B0709000202000203" pitchFamily="49" charset="0"/>
              </a:rPr>
              <a:t>+/4×⍳6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44FDB5-5CFE-32AA-C029-460B46F3643C}"/>
              </a:ext>
            </a:extLst>
          </p:cNvPr>
          <p:cNvSpPr txBox="1"/>
          <p:nvPr/>
        </p:nvSpPr>
        <p:spPr>
          <a:xfrm>
            <a:off x="5896468" y="2236878"/>
            <a:ext cx="737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APL385 Unicode" panose="020B0709000202000203" pitchFamily="49" charset="0"/>
              </a:rPr>
              <a:t>⌈/x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157034-92DF-7C04-34EC-445040BDB1A5}"/>
              </a:ext>
            </a:extLst>
          </p:cNvPr>
          <p:cNvSpPr txBox="1"/>
          <p:nvPr/>
        </p:nvSpPr>
        <p:spPr>
          <a:xfrm>
            <a:off x="5712123" y="1638727"/>
            <a:ext cx="922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APL385 Unicode" panose="020B0709000202000203" pitchFamily="49" charset="0"/>
              </a:rPr>
              <a:t>10⍟x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2A90D5-5AAA-F4CA-7926-9A093E3ECEAD}"/>
              </a:ext>
            </a:extLst>
          </p:cNvPr>
          <p:cNvSpPr txBox="1"/>
          <p:nvPr/>
        </p:nvSpPr>
        <p:spPr>
          <a:xfrm>
            <a:off x="5896468" y="953192"/>
            <a:ext cx="737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err="1">
                <a:latin typeface="APL385 Unicode" panose="020B0709000202000203" pitchFamily="49" charset="0"/>
              </a:rPr>
              <a:t>k!n</a:t>
            </a:r>
            <a:endParaRPr lang="en-GB" sz="2400" dirty="0">
              <a:latin typeface="APL385 Unicode" panose="020B07090002020002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562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APL…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3428" y="1226920"/>
            <a:ext cx="91403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 dirty="0">
                <a:solidFill>
                  <a:srgbClr val="0070C0"/>
                </a:solidFill>
                <a:latin typeface="APL385 Unicode" panose="020B0709000202000203" pitchFamily="49" charset="0"/>
              </a:rPr>
              <a:t>(2×a)÷⍨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3428" y="2171348"/>
            <a:ext cx="185178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 dirty="0">
                <a:latin typeface="APL385 Unicode" panose="020B0709000202000203" pitchFamily="49" charset="0"/>
              </a:rPr>
              <a:t>(2×a)÷⍨</a:t>
            </a:r>
            <a:r>
              <a:rPr lang="en-GB" sz="1350" dirty="0">
                <a:solidFill>
                  <a:srgbClr val="0070C0"/>
                </a:solidFill>
                <a:latin typeface="APL385 Unicode" panose="020B0709000202000203" pitchFamily="49" charset="0"/>
              </a:rPr>
              <a:t>(-b)(+,-)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3352" y="1533555"/>
            <a:ext cx="182934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times a divided into…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9681" y="3760307"/>
            <a:ext cx="351891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 dirty="0">
                <a:latin typeface="APL385 Unicode" panose="020B0709000202000203" pitchFamily="49" charset="0"/>
              </a:rPr>
              <a:t>(2×a)÷⍨(-b)(+,-)0.5*⍨</a:t>
            </a:r>
            <a:r>
              <a:rPr lang="en-GB" sz="1350" dirty="0">
                <a:solidFill>
                  <a:srgbClr val="0070C0"/>
                </a:solidFill>
                <a:latin typeface="APL385 Unicode" panose="020B0709000202000203" pitchFamily="49" charset="0"/>
              </a:rPr>
              <a:t>(b*2)-4×a×c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3035" y="2471551"/>
            <a:ext cx="170912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-b plus or minus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450" y="3299366"/>
            <a:ext cx="180209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the square root of 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9682" y="2993671"/>
            <a:ext cx="237276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 dirty="0">
                <a:latin typeface="APL385 Unicode" panose="020B0709000202000203" pitchFamily="49" charset="0"/>
              </a:rPr>
              <a:t>(2×a)÷⍨(-b)(+,-)</a:t>
            </a:r>
            <a:r>
              <a:rPr lang="en-GB" sz="1350" dirty="0">
                <a:solidFill>
                  <a:srgbClr val="0070C0"/>
                </a:solidFill>
                <a:latin typeface="APL385 Unicode" panose="020B0709000202000203" pitchFamily="49" charset="0"/>
              </a:rPr>
              <a:t>0.5*⍨</a:t>
            </a:r>
            <a:endParaRPr lang="en-GB" sz="1350" dirty="0">
              <a:latin typeface="APL385 Unicode" panose="020B0709000202000203" pitchFamily="49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53859" y="4038790"/>
            <a:ext cx="214994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350" i="1" dirty="0"/>
              <a:t>… b squared minus 4 a c ...</a:t>
            </a:r>
            <a:endParaRPr lang="en-GB" sz="135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/>
          <a:srcRect b="1089"/>
          <a:stretch/>
        </p:blipFill>
        <p:spPr>
          <a:xfrm>
            <a:off x="5165993" y="1226920"/>
            <a:ext cx="2191544" cy="88763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8CF48C5-1332-45D5-AF98-C82A38775CDC}"/>
              </a:ext>
            </a:extLst>
          </p:cNvPr>
          <p:cNvSpPr/>
          <p:nvPr/>
        </p:nvSpPr>
        <p:spPr>
          <a:xfrm>
            <a:off x="5165993" y="1743150"/>
            <a:ext cx="2191544" cy="460902"/>
          </a:xfrm>
          <a:prstGeom prst="rect">
            <a:avLst/>
          </a:prstGeom>
          <a:solidFill>
            <a:srgbClr val="0070C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FB1A36-9532-4B71-AE78-880AC382A7D3}"/>
              </a:ext>
            </a:extLst>
          </p:cNvPr>
          <p:cNvSpPr/>
          <p:nvPr/>
        </p:nvSpPr>
        <p:spPr>
          <a:xfrm>
            <a:off x="5165994" y="1240432"/>
            <a:ext cx="729508" cy="460902"/>
          </a:xfrm>
          <a:prstGeom prst="rect">
            <a:avLst/>
          </a:prstGeom>
          <a:solidFill>
            <a:srgbClr val="0070C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3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0A07BE-3C93-4761-B0C0-037770186CA6}"/>
              </a:ext>
            </a:extLst>
          </p:cNvPr>
          <p:cNvSpPr/>
          <p:nvPr/>
        </p:nvSpPr>
        <p:spPr>
          <a:xfrm>
            <a:off x="5895502" y="1240432"/>
            <a:ext cx="202817" cy="460902"/>
          </a:xfrm>
          <a:prstGeom prst="rect">
            <a:avLst/>
          </a:prstGeom>
          <a:solidFill>
            <a:srgbClr val="0070C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3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FB6FD4-8861-451F-8C95-979954D8338A}"/>
              </a:ext>
            </a:extLst>
          </p:cNvPr>
          <p:cNvSpPr/>
          <p:nvPr/>
        </p:nvSpPr>
        <p:spPr>
          <a:xfrm>
            <a:off x="6098319" y="1322093"/>
            <a:ext cx="1134126" cy="379241"/>
          </a:xfrm>
          <a:prstGeom prst="rect">
            <a:avLst/>
          </a:prstGeom>
          <a:solidFill>
            <a:srgbClr val="0070C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350"/>
          </a:p>
        </p:txBody>
      </p:sp>
    </p:spTree>
    <p:extLst>
      <p:ext uri="{BB962C8B-B14F-4D97-AF65-F5344CB8AC3E}">
        <p14:creationId xmlns:p14="http://schemas.microsoft.com/office/powerpoint/2010/main" val="3548435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2" grpId="0" animBg="1"/>
      <p:bldP spid="2" grpId="1" animBg="1"/>
      <p:bldP spid="15" grpId="0" animBg="1"/>
      <p:bldP spid="15" grpId="1" animBg="1"/>
      <p:bldP spid="16" grpId="0" animBg="1"/>
      <p:bldP spid="16" grpId="1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5DBCAC-C448-CA78-F7EA-6F2C7917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Code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A1E691D-0289-0724-8A24-F31AF4C71B9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5A0F84-4E3C-BF45-A626-2EA05EF6FE20}"/>
              </a:ext>
            </a:extLst>
          </p:cNvPr>
          <p:cNvSpPr txBox="1"/>
          <p:nvPr/>
        </p:nvSpPr>
        <p:spPr>
          <a:xfrm>
            <a:off x="323529" y="1700046"/>
            <a:ext cx="3437105" cy="2209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spcAft>
                <a:spcPts val="300"/>
              </a:spcAft>
              <a:buNone/>
            </a:pP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300"/>
              </a:spcAft>
              <a:buNone/>
            </a:pPr>
            <a:b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>
              <a:lnSpc>
                <a:spcPts val="1425"/>
              </a:lnSpc>
              <a:spcAft>
                <a:spcPts val="300"/>
              </a:spcAft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spcAft>
                <a:spcPts val="300"/>
              </a:spcAft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 = </a:t>
            </a:r>
            <a:r>
              <a:rPr lang="en-GB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spcAft>
                <a:spcPts val="300"/>
              </a:spcAft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GB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GB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>
              <a:lnSpc>
                <a:spcPts val="1425"/>
              </a:lnSpc>
              <a:spcAft>
                <a:spcPts val="300"/>
              </a:spcAft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sum += </a:t>
            </a:r>
            <a:r>
              <a:rPr lang="en-GB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spcAft>
                <a:spcPts val="300"/>
              </a:spcAft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spcAft>
                <a:spcPts val="300"/>
              </a:spcAft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"%d\n"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sum);</a:t>
            </a:r>
          </a:p>
          <a:p>
            <a:pPr>
              <a:lnSpc>
                <a:spcPts val="1425"/>
              </a:lnSpc>
              <a:spcAft>
                <a:spcPts val="300"/>
              </a:spcAft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49ED3AA-B01D-4C1F-CFB0-7F36794DD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492" y="3056692"/>
            <a:ext cx="123217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L385 Unicode" panose="020B0709000202000203" pitchFamily="49" charset="0"/>
              </a:rPr>
              <a:t>⎕←+/⍳5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5C2A0F-5A38-380B-F298-BCD6F346A87E}"/>
              </a:ext>
            </a:extLst>
          </p:cNvPr>
          <p:cNvSpPr txBox="1"/>
          <p:nvPr/>
        </p:nvSpPr>
        <p:spPr>
          <a:xfrm>
            <a:off x="194554" y="4193537"/>
            <a:ext cx="8754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urier New" panose="02070309020205020404" pitchFamily="49" charset="0"/>
              </a:rPr>
              <a:t>console.log( </a:t>
            </a:r>
            <a:r>
              <a:rPr lang="en-GB" dirty="0" err="1">
                <a:latin typeface="Consolas" panose="020B0609020204030204" pitchFamily="49" charset="0"/>
                <a:cs typeface="Courier New" panose="02070309020205020404" pitchFamily="49" charset="0"/>
              </a:rPr>
              <a:t>Array.from</a:t>
            </a:r>
            <a:r>
              <a:rPr lang="en-GB" dirty="0">
                <a:latin typeface="Consolas" panose="020B0609020204030204" pitchFamily="49" charset="0"/>
                <a:cs typeface="Courier New" panose="02070309020205020404" pitchFamily="49" charset="0"/>
              </a:rPr>
              <a:t>( Array(5), (</a:t>
            </a:r>
            <a:r>
              <a:rPr lang="en-GB" dirty="0" err="1">
                <a:latin typeface="Consolas" panose="020B0609020204030204" pitchFamily="49" charset="0"/>
                <a:cs typeface="Courier New" panose="02070309020205020404" pitchFamily="49" charset="0"/>
              </a:rPr>
              <a:t>x,i</a:t>
            </a:r>
            <a:r>
              <a:rPr lang="en-GB" dirty="0">
                <a:latin typeface="Consolas" panose="020B0609020204030204" pitchFamily="49" charset="0"/>
                <a:cs typeface="Courier New" panose="02070309020205020404" pitchFamily="49" charset="0"/>
              </a:rPr>
              <a:t>)=&gt;</a:t>
            </a:r>
            <a:r>
              <a:rPr lang="en-GB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latin typeface="Consolas" panose="020B0609020204030204" pitchFamily="49" charset="0"/>
                <a:cs typeface="Courier New" panose="02070309020205020404" pitchFamily="49" charset="0"/>
              </a:rPr>
              <a:t> ).reduce( (</a:t>
            </a:r>
            <a:r>
              <a:rPr lang="en-GB" dirty="0" err="1">
                <a:latin typeface="Consolas" panose="020B0609020204030204" pitchFamily="49" charset="0"/>
                <a:cs typeface="Courier New" panose="02070309020205020404" pitchFamily="49" charset="0"/>
              </a:rPr>
              <a:t>x,y</a:t>
            </a:r>
            <a:r>
              <a:rPr lang="en-GB" dirty="0">
                <a:latin typeface="Consolas" panose="020B0609020204030204" pitchFamily="49" charset="0"/>
                <a:cs typeface="Courier New" panose="02070309020205020404" pitchFamily="49" charset="0"/>
              </a:rPr>
              <a:t>)=&gt;</a:t>
            </a:r>
            <a:r>
              <a:rPr lang="en-GB" dirty="0" err="1">
                <a:latin typeface="Consolas" panose="020B0609020204030204" pitchFamily="49" charset="0"/>
                <a:cs typeface="Courier New" panose="02070309020205020404" pitchFamily="49" charset="0"/>
              </a:rPr>
              <a:t>x+y</a:t>
            </a:r>
            <a:r>
              <a:rPr lang="en-GB" dirty="0">
                <a:latin typeface="Consolas" panose="020B0609020204030204" pitchFamily="49" charset="0"/>
                <a:cs typeface="Courier New" panose="02070309020205020404" pitchFamily="49" charset="0"/>
              </a:rPr>
              <a:t> ) )</a:t>
            </a:r>
          </a:p>
        </p:txBody>
      </p:sp>
      <p:pic>
        <p:nvPicPr>
          <p:cNvPr id="11" name="Picture 10" descr="A green apple with white letters&#10;&#10;AI-generated content may be incorrect.">
            <a:extLst>
              <a:ext uri="{FF2B5EF4-FFF2-40B4-BE49-F238E27FC236}">
                <a16:creationId xmlns:a16="http://schemas.microsoft.com/office/drawing/2014/main" id="{0249721A-75C2-5D74-CC54-5920D76AED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217" y="2048700"/>
            <a:ext cx="892107" cy="892107"/>
          </a:xfrm>
          <a:prstGeom prst="rect">
            <a:avLst/>
          </a:prstGeom>
        </p:spPr>
      </p:pic>
      <p:pic>
        <p:nvPicPr>
          <p:cNvPr id="13" name="Picture 12" descr="A blue and black letter c&#10;&#10;AI-generated content may be incorrect.">
            <a:extLst>
              <a:ext uri="{FF2B5EF4-FFF2-40B4-BE49-F238E27FC236}">
                <a16:creationId xmlns:a16="http://schemas.microsoft.com/office/drawing/2014/main" id="{56CAC90C-4F62-822F-29F7-7975C78828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538" y="1029698"/>
            <a:ext cx="568844" cy="593842"/>
          </a:xfrm>
          <a:prstGeom prst="rect">
            <a:avLst/>
          </a:prstGeom>
        </p:spPr>
      </p:pic>
      <p:pic>
        <p:nvPicPr>
          <p:cNvPr id="15" name="Picture 14" descr="A yellow and black logo&#10;&#10;AI-generated content may be incorrect.">
            <a:extLst>
              <a:ext uri="{FF2B5EF4-FFF2-40B4-BE49-F238E27FC236}">
                <a16:creationId xmlns:a16="http://schemas.microsoft.com/office/drawing/2014/main" id="{ED6DC40B-8463-B4C9-ACC8-EF2388EC54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170" y="3593259"/>
            <a:ext cx="600278" cy="60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385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60C0E4-ABB2-3DC0-CD30-28685FD4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Syntax of APL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8154C96-DD73-5AEB-C0D7-EADA5F56B6D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DDF50B-3699-9210-3F70-8C820777F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986250"/>
              </p:ext>
            </p:extLst>
          </p:nvPr>
        </p:nvGraphicFramePr>
        <p:xfrm>
          <a:off x="161779" y="1470074"/>
          <a:ext cx="8827476" cy="312527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97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7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59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2939">
                <a:tc>
                  <a:txBody>
                    <a:bodyPr/>
                    <a:lstStyle/>
                    <a:p>
                      <a:r>
                        <a:rPr lang="da-DK" sz="1800" dirty="0" err="1">
                          <a:solidFill>
                            <a:srgbClr val="F2F1F0"/>
                          </a:solidFill>
                        </a:rPr>
                        <a:t>Syntactical</a:t>
                      </a:r>
                      <a:r>
                        <a:rPr lang="da-DK" sz="1800" dirty="0">
                          <a:solidFill>
                            <a:srgbClr val="F2F1F0"/>
                          </a:solidFill>
                        </a:rPr>
                        <a:t> Form</a:t>
                      </a:r>
                      <a:endParaRPr lang="en-US" sz="1800" dirty="0">
                        <a:solidFill>
                          <a:srgbClr val="F2F1F0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FF6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800" dirty="0" err="1">
                          <a:solidFill>
                            <a:srgbClr val="F2F1F0"/>
                          </a:solidFill>
                        </a:rPr>
                        <a:t>Example</a:t>
                      </a:r>
                      <a:endParaRPr lang="en-US" sz="1800" dirty="0">
                        <a:solidFill>
                          <a:srgbClr val="F2F1F0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FF6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800" dirty="0" err="1">
                          <a:solidFill>
                            <a:srgbClr val="F2F1F0"/>
                          </a:solidFill>
                        </a:rPr>
                        <a:t>Result</a:t>
                      </a:r>
                      <a:endParaRPr lang="en-US" sz="1800" dirty="0">
                        <a:solidFill>
                          <a:srgbClr val="F2F1F0"/>
                        </a:solidFill>
                      </a:endParaRPr>
                    </a:p>
                  </a:txBody>
                  <a:tcPr marL="68580" marR="68580" marT="34290" marB="34290">
                    <a:solidFill>
                      <a:srgbClr val="FF6A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413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  <a:t>array</a:t>
                      </a:r>
                    </a:p>
                  </a:txBody>
                  <a:tcPr marL="68580" marR="68580" marT="34290" marB="34290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  <a:t>1 3.1415 1.2E18</a:t>
                      </a:r>
                    </a:p>
                  </a:txBody>
                  <a:tcPr marL="68580" marR="68580" marT="34290" marB="34290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rgbClr val="F2F1F0"/>
                        </a:solidFill>
                        <a:latin typeface="APL385 Unicode" panose="020B0709000202000203" pitchFamily="49" charset="0"/>
                      </a:endParaRPr>
                    </a:p>
                  </a:txBody>
                  <a:tcPr marL="68580" marR="68580" marT="34290" marB="34290">
                    <a:solidFill>
                      <a:srgbClr val="00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413">
                <a:tc>
                  <a:txBody>
                    <a:bodyPr/>
                    <a:lstStyle/>
                    <a:p>
                      <a:r>
                        <a:rPr lang="da-DK" sz="1800" b="1" dirty="0" err="1">
                          <a:solidFill>
                            <a:srgbClr val="FFA300"/>
                          </a:solidFill>
                          <a:latin typeface="APL385 Unicode" panose="020B0709000202000203" pitchFamily="49" charset="0"/>
                        </a:rPr>
                        <a:t>function</a:t>
                      </a:r>
                      <a:r>
                        <a:rPr lang="da-DK" sz="1800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  <a:t> argument</a:t>
                      </a:r>
                      <a:endParaRPr lang="en-US" sz="1800" dirty="0">
                        <a:solidFill>
                          <a:srgbClr val="F2F1F0"/>
                        </a:solidFill>
                        <a:latin typeface="APL385 Unicode" panose="020B0709000202000203" pitchFamily="49" charset="0"/>
                      </a:endParaRPr>
                    </a:p>
                  </a:txBody>
                  <a:tcPr marL="68580" marR="68580" marT="34290" marB="34290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800" b="1" dirty="0">
                          <a:solidFill>
                            <a:srgbClr val="FFA300"/>
                          </a:solidFill>
                          <a:latin typeface="APL385 Unicode" panose="020B0709000202000203" pitchFamily="49" charset="0"/>
                        </a:rPr>
                        <a:t>⍳</a:t>
                      </a:r>
                      <a:r>
                        <a:rPr lang="da-DK" sz="1800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  <a:t> 6</a:t>
                      </a:r>
                      <a:endParaRPr lang="en-US" sz="1800" dirty="0">
                        <a:solidFill>
                          <a:srgbClr val="F2F1F0"/>
                        </a:solidFill>
                        <a:latin typeface="APL385 Unicode" panose="020B0709000202000203" pitchFamily="49" charset="0"/>
                      </a:endParaRPr>
                    </a:p>
                  </a:txBody>
                  <a:tcPr marL="68580" marR="68580" marT="34290" marB="34290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800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  <a:t>1</a:t>
                      </a:r>
                      <a:r>
                        <a:rPr lang="da-DK" sz="1800" baseline="0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  <a:t> 2 3 4 5 6</a:t>
                      </a:r>
                      <a:endParaRPr lang="en-US" sz="1800" dirty="0">
                        <a:solidFill>
                          <a:srgbClr val="F2F1F0"/>
                        </a:solidFill>
                        <a:latin typeface="APL385 Unicode" panose="020B0709000202000203" pitchFamily="49" charset="0"/>
                      </a:endParaRPr>
                    </a:p>
                  </a:txBody>
                  <a:tcPr marL="68580" marR="68580" marT="34290" marB="34290">
                    <a:solidFill>
                      <a:srgbClr val="00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888">
                <a:tc>
                  <a:txBody>
                    <a:bodyPr/>
                    <a:lstStyle/>
                    <a:p>
                      <a:r>
                        <a:rPr lang="da-DK" sz="1800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  <a:t>left_arg </a:t>
                      </a:r>
                      <a:r>
                        <a:rPr lang="da-DK" sz="1800" b="1" dirty="0">
                          <a:solidFill>
                            <a:srgbClr val="FFA300"/>
                          </a:solidFill>
                          <a:latin typeface="APL385 Unicode" panose="020B0709000202000203" pitchFamily="49" charset="0"/>
                        </a:rPr>
                        <a:t>function</a:t>
                      </a:r>
                      <a:r>
                        <a:rPr lang="da-DK" sz="1800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  <a:t> right_arg</a:t>
                      </a:r>
                      <a:endParaRPr lang="en-US" sz="1800" dirty="0">
                        <a:solidFill>
                          <a:srgbClr val="F2F1F0"/>
                        </a:solidFill>
                        <a:latin typeface="APL385 Unicode" panose="020B0709000202000203" pitchFamily="49" charset="0"/>
                      </a:endParaRPr>
                    </a:p>
                  </a:txBody>
                  <a:tcPr marL="68580" marR="68580" marT="34290" marB="34290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800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  <a:t>1 2 3 </a:t>
                      </a:r>
                      <a:r>
                        <a:rPr lang="da-DK" sz="1800" b="1" dirty="0">
                          <a:solidFill>
                            <a:srgbClr val="FFA300"/>
                          </a:solidFill>
                          <a:latin typeface="APL385 Unicode" panose="020B0709000202000203" pitchFamily="49" charset="0"/>
                        </a:rPr>
                        <a:t>×</a:t>
                      </a:r>
                      <a:r>
                        <a:rPr lang="da-DK" sz="1800" baseline="0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  <a:t> 1 10 100</a:t>
                      </a:r>
                      <a:endParaRPr lang="en-US" sz="1800" dirty="0">
                        <a:solidFill>
                          <a:srgbClr val="F2F1F0"/>
                        </a:solidFill>
                        <a:latin typeface="APL385 Unicode" panose="020B0709000202000203" pitchFamily="49" charset="0"/>
                      </a:endParaRPr>
                    </a:p>
                  </a:txBody>
                  <a:tcPr marL="68580" marR="68580" marT="34290" marB="34290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800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  <a:t>1 20 300</a:t>
                      </a:r>
                      <a:endParaRPr lang="en-US" sz="1800" dirty="0">
                        <a:solidFill>
                          <a:srgbClr val="F2F1F0"/>
                        </a:solidFill>
                        <a:latin typeface="APL385 Unicode" panose="020B0709000202000203" pitchFamily="49" charset="0"/>
                      </a:endParaRPr>
                    </a:p>
                  </a:txBody>
                  <a:tcPr marL="68580" marR="68580" marT="34290" marB="34290">
                    <a:solidFill>
                      <a:srgbClr val="00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0363">
                <a:tc>
                  <a:txBody>
                    <a:bodyPr/>
                    <a:lstStyle/>
                    <a:p>
                      <a:r>
                        <a:rPr lang="da-DK" sz="1800" dirty="0" err="1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  <a:t>operand</a:t>
                      </a:r>
                      <a:r>
                        <a:rPr lang="da-DK" sz="1800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  <a:t> </a:t>
                      </a:r>
                      <a:r>
                        <a:rPr lang="da-DK" sz="1800" b="1" dirty="0">
                          <a:solidFill>
                            <a:srgbClr val="FFA300"/>
                          </a:solidFill>
                          <a:latin typeface="APL385 Unicode" panose="020B0709000202000203" pitchFamily="49" charset="0"/>
                        </a:rPr>
                        <a:t>operator</a:t>
                      </a:r>
                      <a:endParaRPr lang="en-US" sz="1800" dirty="0">
                        <a:solidFill>
                          <a:srgbClr val="FFA300"/>
                        </a:solidFill>
                        <a:latin typeface="APL385 Unicode" panose="020B0709000202000203" pitchFamily="49" charset="0"/>
                      </a:endParaRPr>
                    </a:p>
                  </a:txBody>
                  <a:tcPr marL="68580" marR="68580" marT="34290" marB="34290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800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  <a:t>  ×</a:t>
                      </a:r>
                      <a:r>
                        <a:rPr lang="da-DK" sz="1800" b="1" dirty="0">
                          <a:solidFill>
                            <a:srgbClr val="FFA300"/>
                          </a:solidFill>
                          <a:latin typeface="APL385 Unicode" panose="020B0709000202000203" pitchFamily="49" charset="0"/>
                        </a:rPr>
                        <a:t>/</a:t>
                      </a:r>
                      <a:r>
                        <a:rPr lang="da-DK" sz="1800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  <a:t> 1 2 3 4 5 6</a:t>
                      </a:r>
                      <a:br>
                        <a:rPr lang="da-DK" sz="1800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</a:br>
                      <a:r>
                        <a:rPr lang="da-DK" sz="1800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  <a:t>2 +</a:t>
                      </a:r>
                      <a:r>
                        <a:rPr lang="da-DK" sz="1800" b="1" dirty="0">
                          <a:solidFill>
                            <a:srgbClr val="FFA300"/>
                          </a:solidFill>
                          <a:latin typeface="APL385 Unicode" panose="020B0709000202000203" pitchFamily="49" charset="0"/>
                        </a:rPr>
                        <a:t>/</a:t>
                      </a:r>
                      <a:r>
                        <a:rPr lang="da-DK" sz="1800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  <a:t> 1 2 3 4 5 6</a:t>
                      </a:r>
                      <a:endParaRPr lang="en-US" sz="1800" dirty="0">
                        <a:solidFill>
                          <a:srgbClr val="F2F1F0"/>
                        </a:solidFill>
                        <a:latin typeface="APL385 Unicode" panose="020B0709000202000203" pitchFamily="49" charset="0"/>
                      </a:endParaRPr>
                    </a:p>
                  </a:txBody>
                  <a:tcPr marL="68580" marR="68580" marT="34290" marB="34290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800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  <a:t>720</a:t>
                      </a:r>
                      <a:br>
                        <a:rPr lang="da-DK" sz="1800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</a:br>
                      <a:r>
                        <a:rPr lang="da-DK" sz="1800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  <a:t>3 5 7 9 11</a:t>
                      </a:r>
                      <a:endParaRPr lang="en-US" sz="1800" dirty="0">
                        <a:solidFill>
                          <a:srgbClr val="F2F1F0"/>
                        </a:solidFill>
                        <a:latin typeface="APL385 Unicode" panose="020B0709000202000203" pitchFamily="49" charset="0"/>
                      </a:endParaRPr>
                    </a:p>
                  </a:txBody>
                  <a:tcPr marL="68580" marR="68580" marT="34290" marB="34290">
                    <a:solidFill>
                      <a:srgbClr val="00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888">
                <a:tc>
                  <a:txBody>
                    <a:bodyPr/>
                    <a:lstStyle/>
                    <a:p>
                      <a:r>
                        <a:rPr lang="da-DK" sz="1800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  <a:t>left_op</a:t>
                      </a:r>
                      <a:r>
                        <a:rPr lang="da-DK" sz="1800" baseline="0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  <a:t> </a:t>
                      </a:r>
                      <a:r>
                        <a:rPr lang="da-DK" sz="1800" b="1" baseline="0" dirty="0">
                          <a:solidFill>
                            <a:srgbClr val="FFA300"/>
                          </a:solidFill>
                          <a:latin typeface="APL385 Unicode" panose="020B0709000202000203" pitchFamily="49" charset="0"/>
                        </a:rPr>
                        <a:t>operator</a:t>
                      </a:r>
                      <a:r>
                        <a:rPr lang="da-DK" sz="1800" baseline="0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  <a:t> right_op</a:t>
                      </a:r>
                      <a:endParaRPr lang="en-US" sz="1800" dirty="0">
                        <a:solidFill>
                          <a:srgbClr val="F2F1F0"/>
                        </a:solidFill>
                        <a:latin typeface="APL385 Unicode" panose="020B0709000202000203" pitchFamily="49" charset="0"/>
                      </a:endParaRPr>
                    </a:p>
                  </a:txBody>
                  <a:tcPr marL="68580" marR="68580" marT="34290" marB="34290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800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  <a:t>1 0 2</a:t>
                      </a:r>
                      <a:r>
                        <a:rPr lang="da-DK" sz="1800" baseline="0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  <a:t> +</a:t>
                      </a:r>
                      <a:r>
                        <a:rPr lang="da-DK" sz="1800" b="1" baseline="0" dirty="0">
                          <a:solidFill>
                            <a:srgbClr val="FFA300"/>
                          </a:solidFill>
                          <a:latin typeface="APL385 Unicode" panose="020B0709000202000203" pitchFamily="49" charset="0"/>
                        </a:rPr>
                        <a:t>.</a:t>
                      </a:r>
                      <a:r>
                        <a:rPr lang="da-DK" sz="1800" baseline="0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  <a:t>× 1 2 3</a:t>
                      </a:r>
                      <a:endParaRPr lang="en-US" sz="1800" dirty="0">
                        <a:solidFill>
                          <a:srgbClr val="F2F1F0"/>
                        </a:solidFill>
                        <a:latin typeface="APL385 Unicode" panose="020B0709000202000203" pitchFamily="49" charset="0"/>
                      </a:endParaRPr>
                    </a:p>
                  </a:txBody>
                  <a:tcPr marL="68580" marR="68580" marT="34290" marB="34290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800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  <a:t>7</a:t>
                      </a:r>
                      <a:endParaRPr lang="en-US" sz="1800" dirty="0">
                        <a:solidFill>
                          <a:srgbClr val="F2F1F0"/>
                        </a:solidFill>
                        <a:latin typeface="APL385 Unicode" panose="020B0709000202000203" pitchFamily="49" charset="0"/>
                      </a:endParaRPr>
                    </a:p>
                  </a:txBody>
                  <a:tcPr marL="68580" marR="68580" marT="34290" marB="34290">
                    <a:solidFill>
                      <a:srgbClr val="00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413">
                <a:tc>
                  <a:txBody>
                    <a:bodyPr/>
                    <a:lstStyle/>
                    <a:p>
                      <a:r>
                        <a:rPr lang="da-DK" sz="1800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  <a:t>array</a:t>
                      </a:r>
                      <a:r>
                        <a:rPr lang="da-DK" sz="1800" b="1" dirty="0">
                          <a:solidFill>
                            <a:srgbClr val="FFA300"/>
                          </a:solidFill>
                          <a:latin typeface="APL385 Unicode" panose="020B0709000202000203" pitchFamily="49" charset="0"/>
                        </a:rPr>
                        <a:t>[indices]</a:t>
                      </a:r>
                      <a:endParaRPr lang="en-US" sz="1800" b="1" dirty="0">
                        <a:solidFill>
                          <a:srgbClr val="FFA300"/>
                        </a:solidFill>
                        <a:latin typeface="APL385 Unicode" panose="020B0709000202000203" pitchFamily="49" charset="0"/>
                      </a:endParaRPr>
                    </a:p>
                  </a:txBody>
                  <a:tcPr marL="68580" marR="68580" marT="34290" marB="34290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800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  <a:t>'ABCDEF'</a:t>
                      </a:r>
                      <a:r>
                        <a:rPr lang="da-DK" sz="1800" b="1" dirty="0">
                          <a:solidFill>
                            <a:srgbClr val="FFA300"/>
                          </a:solidFill>
                          <a:latin typeface="APL385 Unicode" panose="020B0709000202000203" pitchFamily="49" charset="0"/>
                        </a:rPr>
                        <a:t>[</a:t>
                      </a:r>
                      <a:r>
                        <a:rPr lang="da-DK" sz="1800" dirty="0">
                          <a:solidFill>
                            <a:srgbClr val="FFA300"/>
                          </a:solidFill>
                          <a:latin typeface="APL385 Unicode" panose="020B0709000202000203" pitchFamily="49" charset="0"/>
                        </a:rPr>
                        <a:t>2 5 5 6</a:t>
                      </a:r>
                      <a:r>
                        <a:rPr lang="da-DK" sz="1800" b="1" dirty="0">
                          <a:solidFill>
                            <a:srgbClr val="FFA300"/>
                          </a:solidFill>
                          <a:latin typeface="APL385 Unicode" panose="020B0709000202000203" pitchFamily="49" charset="0"/>
                        </a:rPr>
                        <a:t>]</a:t>
                      </a:r>
                      <a:endParaRPr lang="en-US" sz="1800" b="1" dirty="0">
                        <a:solidFill>
                          <a:srgbClr val="FFA300"/>
                        </a:solidFill>
                        <a:latin typeface="APL385 Unicode" panose="020B0709000202000203" pitchFamily="49" charset="0"/>
                      </a:endParaRPr>
                    </a:p>
                  </a:txBody>
                  <a:tcPr marL="68580" marR="68580" marT="34290" marB="34290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800" dirty="0">
                          <a:solidFill>
                            <a:srgbClr val="F2F1F0"/>
                          </a:solidFill>
                          <a:latin typeface="APL385 Unicode" panose="020B0709000202000203" pitchFamily="49" charset="0"/>
                        </a:rPr>
                        <a:t>BEEF</a:t>
                      </a:r>
                      <a:endParaRPr lang="en-US" sz="1800" dirty="0">
                        <a:solidFill>
                          <a:srgbClr val="F2F1F0"/>
                        </a:solidFill>
                        <a:latin typeface="APL385 Unicode" panose="020B0709000202000203" pitchFamily="49" charset="0"/>
                      </a:endParaRPr>
                    </a:p>
                  </a:txBody>
                  <a:tcPr marL="68580" marR="68580" marT="34290" marB="34290">
                    <a:solidFill>
                      <a:srgbClr val="00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6077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7E098-E318-037C-7482-E35F7D88C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30D050-077F-7A07-4985-36AF9B34A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6" y="1365421"/>
            <a:ext cx="8820473" cy="31415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dirty="0"/>
              <a:t>Dyalog is started like most normal applications (icon on desktop        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945A00-EA23-71E7-BCD2-4AC8A1F88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Starting and Stopping Dyalog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2218813-33CE-8735-8E65-A0E9AF624E9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6302E2-D757-3003-0754-077B0F5E1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313" y="1319222"/>
            <a:ext cx="522048" cy="6111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0508B2-4F4D-3DEC-E64A-2E1879B9D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54" y="2205297"/>
            <a:ext cx="2767994" cy="1871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0D54A9-8D25-8BC0-13EC-F9ED9170CA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6222" y="2305099"/>
            <a:ext cx="2452891" cy="167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862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1AD33-F117-4047-BD1E-48DF303E3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511698-4F0F-B515-E943-10B0E611C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6" y="1365421"/>
            <a:ext cx="8820473" cy="314154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/>
              <a:t>Dyalog is started like most normal applications (icon on desktop        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Exit Dyalog, like most other applications, using the     at the top right</a:t>
            </a:r>
          </a:p>
          <a:p>
            <a:pPr marL="0" indent="0">
              <a:buNone/>
            </a:pPr>
            <a:r>
              <a:rPr lang="en-GB" dirty="0"/>
              <a:t>	or enter</a:t>
            </a:r>
          </a:p>
          <a:p>
            <a:pPr>
              <a:buNone/>
            </a:pPr>
            <a:r>
              <a:rPr lang="en-GB" dirty="0"/>
              <a:t>			</a:t>
            </a:r>
            <a:r>
              <a:rPr lang="en-GB" b="1" dirty="0">
                <a:solidFill>
                  <a:srgbClr val="FF6600"/>
                </a:solidFill>
                <a:latin typeface="APL385 Unicode" panose="020B0709000202000203" pitchFamily="49" charset="0"/>
              </a:rPr>
              <a:t>)OFF</a:t>
            </a:r>
          </a:p>
          <a:p>
            <a:pPr>
              <a:buNone/>
            </a:pPr>
            <a:r>
              <a:rPr lang="en-GB" dirty="0"/>
              <a:t>		at the keyboard (and press ENTER)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7641C8-1E6B-5BDB-6998-9ABD2A8AB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Starting and Stopping Dyalog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4027988-79C3-AD19-CF43-AE4FB057366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1EBD51-D923-34FE-FB39-9840B0BAE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313" y="1319222"/>
            <a:ext cx="522048" cy="6111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04F6DA-934E-B79E-BF4A-4893DF54C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239" y="2436735"/>
            <a:ext cx="270030" cy="27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279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50B3F-1E05-BB90-EF1A-2348887FE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Let's Get Started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AED5A6A-773F-1F53-C356-46029CA5506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5838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F41D9F-A027-BB0D-F4F7-E2AB3B971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APL has two-argument, infix functions. These are called </a:t>
            </a:r>
            <a:r>
              <a:rPr lang="en-GB" b="1" dirty="0"/>
              <a:t>dyadic</a:t>
            </a:r>
            <a:r>
              <a:rPr lang="en-GB" dirty="0"/>
              <a:t> functions.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1686BE-B64E-6FF9-1190-9E670A4E2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Let's Get Started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0AA8F3A-A2A2-4893-BAA9-93D4F73115C3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CB301A-9C16-C70C-17A0-F2AE40FADDA0}"/>
              </a:ext>
            </a:extLst>
          </p:cNvPr>
          <p:cNvSpPr txBox="1"/>
          <p:nvPr/>
        </p:nvSpPr>
        <p:spPr>
          <a:xfrm>
            <a:off x="4018804" y="2571750"/>
            <a:ext cx="11063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APL385 Unicode" panose="020B0709000202000203" pitchFamily="49" charset="0"/>
              </a:rPr>
              <a:t>3 * 3</a:t>
            </a:r>
          </a:p>
          <a:p>
            <a:pPr algn="ctr"/>
            <a:endParaRPr lang="en-GB" sz="2400" dirty="0">
              <a:latin typeface="APL385 Unicode" panose="020B0709000202000203" pitchFamily="49" charset="0"/>
            </a:endParaRPr>
          </a:p>
          <a:p>
            <a:pPr algn="ctr"/>
            <a:r>
              <a:rPr lang="en-GB" sz="2400" dirty="0">
                <a:latin typeface="APL385 Unicode" panose="020B0709000202000203" pitchFamily="49" charset="0"/>
              </a:rPr>
              <a:t>5 - 3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C30980E-4E05-043F-E387-E8B38659682F}"/>
              </a:ext>
            </a:extLst>
          </p:cNvPr>
          <p:cNvSpPr/>
          <p:nvPr/>
        </p:nvSpPr>
        <p:spPr>
          <a:xfrm>
            <a:off x="1023528" y="2762655"/>
            <a:ext cx="1919591" cy="791183"/>
          </a:xfrm>
          <a:prstGeom prst="roundRect">
            <a:avLst/>
          </a:prstGeom>
          <a:solidFill>
            <a:srgbClr val="003B5C"/>
          </a:solidFill>
          <a:ln w="28575"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Try this:</a:t>
            </a:r>
          </a:p>
        </p:txBody>
      </p:sp>
    </p:spTree>
    <p:extLst>
      <p:ext uri="{BB962C8B-B14F-4D97-AF65-F5344CB8AC3E}">
        <p14:creationId xmlns:p14="http://schemas.microsoft.com/office/powerpoint/2010/main" val="2341672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497DD8-5584-0B3B-0A44-C23EEBB5A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There are also one-argument, prefix functions. These are called </a:t>
            </a:r>
            <a:r>
              <a:rPr lang="en-GB" i="1" dirty="0"/>
              <a:t>monadic</a:t>
            </a:r>
            <a:r>
              <a:rPr lang="en-GB" dirty="0"/>
              <a:t> functions.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D99646-071F-0535-794B-6B15C717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Syntax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C89B046-A6E8-455C-4469-3865962297C3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A4944D-73EB-14A9-21C0-1501E5634380}"/>
              </a:ext>
            </a:extLst>
          </p:cNvPr>
          <p:cNvSpPr txBox="1"/>
          <p:nvPr/>
        </p:nvSpPr>
        <p:spPr>
          <a:xfrm>
            <a:off x="4295322" y="2571750"/>
            <a:ext cx="5533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APL385 Unicode" panose="020B0709000202000203" pitchFamily="49" charset="0"/>
              </a:rPr>
              <a:t>~1</a:t>
            </a:r>
          </a:p>
          <a:p>
            <a:pPr algn="ctr"/>
            <a:endParaRPr lang="en-GB" sz="2400" dirty="0">
              <a:latin typeface="APL385 Unicode" panose="020B0709000202000203" pitchFamily="49" charset="0"/>
            </a:endParaRPr>
          </a:p>
          <a:p>
            <a:pPr algn="ctr"/>
            <a:r>
              <a:rPr lang="en-GB" sz="2400" dirty="0">
                <a:latin typeface="APL385 Unicode" panose="020B0709000202000203" pitchFamily="49" charset="0"/>
              </a:rPr>
              <a:t>-6</a:t>
            </a:r>
          </a:p>
        </p:txBody>
      </p:sp>
    </p:spTree>
    <p:extLst>
      <p:ext uri="{BB962C8B-B14F-4D97-AF65-F5344CB8AC3E}">
        <p14:creationId xmlns:p14="http://schemas.microsoft.com/office/powerpoint/2010/main" val="3679626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CDB0C-7FD1-A8B6-156F-52ABB68B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9DF1DB-0337-AEFC-D93D-63FEFA3B1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Some functions map between elements of their left and right argument arrays. It is easy to add lists of numbers together: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7453D4-E1E0-E5B1-E2DA-3E178BD54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Syntax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58D1F3A-D0C3-227B-C870-3EEB1100DE3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7BB430-962A-B95D-9770-E33B4911EDCC}"/>
              </a:ext>
            </a:extLst>
          </p:cNvPr>
          <p:cNvSpPr txBox="1"/>
          <p:nvPr/>
        </p:nvSpPr>
        <p:spPr>
          <a:xfrm>
            <a:off x="3281423" y="2571750"/>
            <a:ext cx="2581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APL385 Unicode" panose="020B0709000202000203" pitchFamily="49" charset="0"/>
              </a:rPr>
              <a:t>1 2 3 + 4 5 6</a:t>
            </a:r>
          </a:p>
        </p:txBody>
      </p:sp>
    </p:spTree>
    <p:extLst>
      <p:ext uri="{BB962C8B-B14F-4D97-AF65-F5344CB8AC3E}">
        <p14:creationId xmlns:p14="http://schemas.microsoft.com/office/powerpoint/2010/main" val="9153427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C50DD-68DC-AE3D-3EF8-7E760B134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9E6CB0-B0CD-734C-D79E-D4D1D7555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Negative numbers are written with a high minus </a:t>
            </a:r>
            <a:r>
              <a:rPr lang="en-GB" dirty="0">
                <a:latin typeface="APL385 Unicode" panose="020B0709000202000203" pitchFamily="49" charset="0"/>
              </a:rPr>
              <a:t>¯</a:t>
            </a:r>
            <a:r>
              <a:rPr lang="en-GB" dirty="0"/>
              <a:t> to differentiate between negation (</a:t>
            </a:r>
            <a:r>
              <a:rPr lang="en-GB" dirty="0">
                <a:latin typeface="APL385 Unicode" panose="020B0709000202000203" pitchFamily="49" charset="0"/>
              </a:rPr>
              <a:t>-3</a:t>
            </a:r>
            <a:r>
              <a:rPr lang="en-GB" dirty="0"/>
              <a:t>) and literal negative numbers (</a:t>
            </a:r>
            <a:r>
              <a:rPr lang="en-GB" dirty="0">
                <a:latin typeface="APL385 Unicode" panose="020B0709000202000203" pitchFamily="49" charset="0"/>
              </a:rPr>
              <a:t>¯3</a:t>
            </a:r>
            <a:r>
              <a:rPr lang="en-GB" dirty="0"/>
              <a:t>).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BF621D-F479-7B2B-3191-74AF599C5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Syntax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9828425-4F79-3930-6B8B-EAB474E0C17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64E1CC-21D8-44DC-2D9B-C29B0A690710}"/>
              </a:ext>
            </a:extLst>
          </p:cNvPr>
          <p:cNvSpPr txBox="1"/>
          <p:nvPr/>
        </p:nvSpPr>
        <p:spPr>
          <a:xfrm>
            <a:off x="3189251" y="2571750"/>
            <a:ext cx="2765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APL385 Unicode" panose="020B0709000202000203" pitchFamily="49" charset="0"/>
              </a:rPr>
              <a:t>1 2 3 - 1 0 ¯1</a:t>
            </a:r>
          </a:p>
        </p:txBody>
      </p:sp>
    </p:spTree>
    <p:extLst>
      <p:ext uri="{BB962C8B-B14F-4D97-AF65-F5344CB8AC3E}">
        <p14:creationId xmlns:p14="http://schemas.microsoft.com/office/powerpoint/2010/main" val="3553915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B0FC6-18FB-5D53-611D-84BB5FB0D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A15C52-F5FC-EB4C-6147-A8D450206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All</a:t>
            </a:r>
            <a:r>
              <a:rPr lang="en-GB" dirty="0"/>
              <a:t> negative numbers are shown with a high minus sign, which is a part of the number, just like the </a:t>
            </a:r>
            <a:r>
              <a:rPr lang="en-GB" b="1" dirty="0"/>
              <a:t>decimal point</a:t>
            </a:r>
            <a:r>
              <a:rPr lang="en-GB" dirty="0"/>
              <a:t> in a fractional number. The high minus is </a:t>
            </a:r>
            <a:r>
              <a:rPr lang="en-GB" b="1" dirty="0"/>
              <a:t>NOT</a:t>
            </a:r>
            <a:r>
              <a:rPr lang="en-GB" dirty="0"/>
              <a:t> a function.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ECC7BF-CF29-28B7-6929-9D44F9006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Syntax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1796FC8-6DF1-AC43-63E2-E3B8B076113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6" name="Group 35">
            <a:extLst>
              <a:ext uri="{FF2B5EF4-FFF2-40B4-BE49-F238E27FC236}">
                <a16:creationId xmlns:a16="http://schemas.microsoft.com/office/drawing/2014/main" id="{75202C93-68E3-737F-AAE0-2F88CED08F13}"/>
              </a:ext>
            </a:extLst>
          </p:cNvPr>
          <p:cNvGrpSpPr>
            <a:grpSpLocks/>
          </p:cNvGrpSpPr>
          <p:nvPr/>
        </p:nvGrpSpPr>
        <p:grpSpPr bwMode="auto">
          <a:xfrm>
            <a:off x="1656271" y="3204046"/>
            <a:ext cx="5778103" cy="377429"/>
            <a:chOff x="431" y="1842"/>
            <a:chExt cx="4853" cy="317"/>
          </a:xfrm>
        </p:grpSpPr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19319588-C4B6-1423-9675-0AE58F85F6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" y="1997"/>
              <a:ext cx="4853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350"/>
            </a:p>
          </p:txBody>
        </p:sp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C035EDCE-2F39-2E66-AECD-906710AD6C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1842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350"/>
            </a:p>
          </p:txBody>
        </p:sp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804B982F-584E-55E0-48FA-1619E852C7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1842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350"/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9FA7EC6E-9697-C9BA-AE5C-2DEC39924A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1842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350"/>
            </a:p>
          </p:txBody>
        </p: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8E4A5EF9-5F26-6BDB-3036-9745ED390E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2" y="1842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350"/>
            </a:p>
          </p:txBody>
        </p:sp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6BA92CB5-BC72-7DDF-891A-E781ACCC7C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4" y="1842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350"/>
            </a:p>
          </p:txBody>
        </p:sp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88E5251F-E3AD-871A-0FBE-D13864B5BA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5" y="1842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350"/>
            </a:p>
          </p:txBody>
        </p:sp>
        <p:sp>
          <p:nvSpPr>
            <p:cNvPr id="14" name="Line 15">
              <a:extLst>
                <a:ext uri="{FF2B5EF4-FFF2-40B4-BE49-F238E27FC236}">
                  <a16:creationId xmlns:a16="http://schemas.microsoft.com/office/drawing/2014/main" id="{A2C922BF-452D-4580-A079-EEA0C0D06B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0" y="1842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350"/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ADF2432A-918F-3AC0-4682-4EA949A13C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2" y="1842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350"/>
            </a:p>
          </p:txBody>
        </p:sp>
        <p:sp>
          <p:nvSpPr>
            <p:cNvPr id="16" name="Line 17">
              <a:extLst>
                <a:ext uri="{FF2B5EF4-FFF2-40B4-BE49-F238E27FC236}">
                  <a16:creationId xmlns:a16="http://schemas.microsoft.com/office/drawing/2014/main" id="{F4CFB950-81C0-EC2B-9758-09015EF1BE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3" y="1842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350"/>
            </a:p>
          </p:txBody>
        </p:sp>
        <p:sp>
          <p:nvSpPr>
            <p:cNvPr id="17" name="Line 18">
              <a:extLst>
                <a:ext uri="{FF2B5EF4-FFF2-40B4-BE49-F238E27FC236}">
                  <a16:creationId xmlns:a16="http://schemas.microsoft.com/office/drawing/2014/main" id="{66BF8E90-1320-917C-A501-2AF59BA4B1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1842"/>
              <a:ext cx="0" cy="31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350"/>
            </a:p>
          </p:txBody>
        </p:sp>
        <p:sp>
          <p:nvSpPr>
            <p:cNvPr id="18" name="Line 19">
              <a:extLst>
                <a:ext uri="{FF2B5EF4-FFF2-40B4-BE49-F238E27FC236}">
                  <a16:creationId xmlns:a16="http://schemas.microsoft.com/office/drawing/2014/main" id="{53C74C73-72D4-CE1B-494E-D9D313A4E8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6" y="1842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350"/>
            </a:p>
          </p:txBody>
        </p:sp>
        <p:sp>
          <p:nvSpPr>
            <p:cNvPr id="19" name="Line 20">
              <a:extLst>
                <a:ext uri="{FF2B5EF4-FFF2-40B4-BE49-F238E27FC236}">
                  <a16:creationId xmlns:a16="http://schemas.microsoft.com/office/drawing/2014/main" id="{6AB66EEB-80A7-3CDE-7128-A699931F3D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1842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350"/>
            </a:p>
          </p:txBody>
        </p:sp>
        <p:sp>
          <p:nvSpPr>
            <p:cNvPr id="20" name="Line 21">
              <a:extLst>
                <a:ext uri="{FF2B5EF4-FFF2-40B4-BE49-F238E27FC236}">
                  <a16:creationId xmlns:a16="http://schemas.microsoft.com/office/drawing/2014/main" id="{D459620F-DD5D-066B-F13D-4F679CA64C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1" y="1842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350"/>
            </a:p>
          </p:txBody>
        </p:sp>
        <p:sp>
          <p:nvSpPr>
            <p:cNvPr id="21" name="Line 22">
              <a:extLst>
                <a:ext uri="{FF2B5EF4-FFF2-40B4-BE49-F238E27FC236}">
                  <a16:creationId xmlns:a16="http://schemas.microsoft.com/office/drawing/2014/main" id="{AA953479-87DB-394E-2272-CDF6F70B6D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3" y="1842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350"/>
            </a:p>
          </p:txBody>
        </p:sp>
        <p:sp>
          <p:nvSpPr>
            <p:cNvPr id="22" name="Line 23">
              <a:extLst>
                <a:ext uri="{FF2B5EF4-FFF2-40B4-BE49-F238E27FC236}">
                  <a16:creationId xmlns:a16="http://schemas.microsoft.com/office/drawing/2014/main" id="{CF0D03EB-2DBE-DEE7-ACB2-16DCFDED1B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1842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350"/>
            </a:p>
          </p:txBody>
        </p:sp>
        <p:sp>
          <p:nvSpPr>
            <p:cNvPr id="23" name="Line 24">
              <a:extLst>
                <a:ext uri="{FF2B5EF4-FFF2-40B4-BE49-F238E27FC236}">
                  <a16:creationId xmlns:a16="http://schemas.microsoft.com/office/drawing/2014/main" id="{FB68D3A5-2B0E-CB5E-5C82-74F7AE2001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1842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350"/>
            </a:p>
          </p:txBody>
        </p:sp>
        <p:sp>
          <p:nvSpPr>
            <p:cNvPr id="24" name="Line 25">
              <a:extLst>
                <a:ext uri="{FF2B5EF4-FFF2-40B4-BE49-F238E27FC236}">
                  <a16:creationId xmlns:a16="http://schemas.microsoft.com/office/drawing/2014/main" id="{58A4A29C-32DF-45E7-DA62-A98F1A2D09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7" y="1842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350"/>
            </a:p>
          </p:txBody>
        </p:sp>
        <p:sp>
          <p:nvSpPr>
            <p:cNvPr id="25" name="Line 26">
              <a:extLst>
                <a:ext uri="{FF2B5EF4-FFF2-40B4-BE49-F238E27FC236}">
                  <a16:creationId xmlns:a16="http://schemas.microsoft.com/office/drawing/2014/main" id="{C4A96B24-9535-EC94-F875-2F189FD6C0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1842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350"/>
            </a:p>
          </p:txBody>
        </p:sp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BD4F3B87-B2CD-413A-707D-54C7A0C59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7" y="1842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350"/>
            </a:p>
          </p:txBody>
        </p:sp>
        <p:sp>
          <p:nvSpPr>
            <p:cNvPr id="27" name="Line 28">
              <a:extLst>
                <a:ext uri="{FF2B5EF4-FFF2-40B4-BE49-F238E27FC236}">
                  <a16:creationId xmlns:a16="http://schemas.microsoft.com/office/drawing/2014/main" id="{0D1BE5EB-ACDC-D231-9983-E5D74960E7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9" y="1842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350"/>
            </a:p>
          </p:txBody>
        </p:sp>
        <p:sp>
          <p:nvSpPr>
            <p:cNvPr id="28" name="Line 29">
              <a:extLst>
                <a:ext uri="{FF2B5EF4-FFF2-40B4-BE49-F238E27FC236}">
                  <a16:creationId xmlns:a16="http://schemas.microsoft.com/office/drawing/2014/main" id="{F04B01E4-5BD1-AF2B-18F9-6DF7419B98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0" y="1842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350"/>
            </a:p>
          </p:txBody>
        </p:sp>
        <p:sp>
          <p:nvSpPr>
            <p:cNvPr id="29" name="Line 30">
              <a:extLst>
                <a:ext uri="{FF2B5EF4-FFF2-40B4-BE49-F238E27FC236}">
                  <a16:creationId xmlns:a16="http://schemas.microsoft.com/office/drawing/2014/main" id="{FF3E532B-6601-524B-AE33-6EF815C428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" y="1842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350"/>
            </a:p>
          </p:txBody>
        </p:sp>
        <p:sp>
          <p:nvSpPr>
            <p:cNvPr id="30" name="Line 31">
              <a:extLst>
                <a:ext uri="{FF2B5EF4-FFF2-40B4-BE49-F238E27FC236}">
                  <a16:creationId xmlns:a16="http://schemas.microsoft.com/office/drawing/2014/main" id="{A500F560-630F-CA51-B71F-642B330BE9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" y="1842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350"/>
            </a:p>
          </p:txBody>
        </p:sp>
        <p:sp>
          <p:nvSpPr>
            <p:cNvPr id="31" name="Line 32">
              <a:extLst>
                <a:ext uri="{FF2B5EF4-FFF2-40B4-BE49-F238E27FC236}">
                  <a16:creationId xmlns:a16="http://schemas.microsoft.com/office/drawing/2014/main" id="{C70FD09A-1166-2ED7-9B1E-75D90A6A1F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" y="1842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350"/>
            </a:p>
          </p:txBody>
        </p:sp>
      </p:grpSp>
      <p:sp>
        <p:nvSpPr>
          <p:cNvPr id="32" name="Text Box 33">
            <a:extLst>
              <a:ext uri="{FF2B5EF4-FFF2-40B4-BE49-F238E27FC236}">
                <a16:creationId xmlns:a16="http://schemas.microsoft.com/office/drawing/2014/main" id="{92433AD5-8B01-71F4-3DE3-361D92E59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9510" y="3647697"/>
            <a:ext cx="567063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GB" sz="1350" dirty="0">
                <a:sym typeface="Dyalog Std TT" pitchFamily="49" charset="2"/>
              </a:rPr>
              <a:t>... 100............10.........</a:t>
            </a:r>
            <a:r>
              <a:rPr lang="en-GB" sz="1350" dirty="0"/>
              <a:t>3 </a:t>
            </a:r>
            <a:r>
              <a:rPr lang="en-GB" sz="1350" dirty="0">
                <a:sym typeface="Dyalog Std TT" pitchFamily="49" charset="2"/>
              </a:rPr>
              <a:t></a:t>
            </a:r>
            <a:r>
              <a:rPr lang="en-GB" sz="1350" dirty="0"/>
              <a:t>2 </a:t>
            </a:r>
            <a:r>
              <a:rPr lang="en-GB" sz="1350" dirty="0">
                <a:sym typeface="Dyalog Std TT" pitchFamily="49" charset="2"/>
              </a:rPr>
              <a:t>1</a:t>
            </a:r>
            <a:r>
              <a:rPr lang="en-GB" sz="1350" dirty="0"/>
              <a:t>  </a:t>
            </a:r>
            <a:r>
              <a:rPr lang="en-GB" sz="1350" b="1" dirty="0"/>
              <a:t>0 </a:t>
            </a:r>
            <a:r>
              <a:rPr lang="en-GB" sz="1350" dirty="0"/>
              <a:t> 1  2  3...........10................100...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157464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588BE8-2140-D130-2048-BE0B78D7F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9D1A4E-1575-BD83-1AE4-6567661E5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Typing APL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4573D77-25D9-AEF3-5D4F-F10253462E9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03B237-FFEF-4861-D963-98077368D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630" y="1196094"/>
            <a:ext cx="6858000" cy="386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417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14C423-0279-BF56-A493-F134C698A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Typing APL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27F4749-455D-410E-580F-AF78D9F3F7F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A997C7E-149B-5DD6-E07E-91AA8C81B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4229853"/>
            <a:ext cx="8528373" cy="4588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err="1"/>
              <a:t>apl.wiki</a:t>
            </a:r>
            <a:r>
              <a:rPr lang="en-GB" dirty="0"/>
              <a:t>/mnemonics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7AFBE6-4F9E-187E-2F4A-5AD782822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3645"/>
            <a:ext cx="9144000" cy="331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510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2EE24D-6A95-1A1B-DB63-44483C852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In addition to the language bar:</a:t>
            </a:r>
          </a:p>
          <a:p>
            <a:r>
              <a:rPr lang="da-DK" dirty="0"/>
              <a:t>Type a symbol and hit F1 to get more help</a:t>
            </a:r>
          </a:p>
          <a:p>
            <a:r>
              <a:rPr lang="da-DK" dirty="0"/>
              <a:t>Use the Help → Documentation Centre menu item</a:t>
            </a:r>
          </a:p>
          <a:p>
            <a:r>
              <a:rPr lang="da-DK" dirty="0"/>
              <a:t>Use Google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5DCDD-ECC0-50AA-02C6-F3361A994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Resources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A0D1BB2-BD42-6683-F87E-C46C6821ECF3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9854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1E15B-696F-9D35-FAAE-33573F1DC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0DDF4C-EB10-0BA9-5962-B014238BB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In addition to the language bar:</a:t>
            </a:r>
          </a:p>
          <a:p>
            <a:r>
              <a:rPr lang="da-DK" dirty="0"/>
              <a:t>Type a symbol and hit F1 to get more help</a:t>
            </a:r>
          </a:p>
          <a:p>
            <a:r>
              <a:rPr lang="da-DK" dirty="0"/>
              <a:t>Use the Help|Documentation Centre menu item</a:t>
            </a:r>
          </a:p>
          <a:p>
            <a:r>
              <a:rPr lang="da-DK" dirty="0"/>
              <a:t>Use Google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0B3596-C7E4-9C34-7506-A19798F1D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Resources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92D1F65-BB55-A104-B101-108A805A044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A59999-5011-1AE3-8E9A-D249E9E85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3768" y="474576"/>
            <a:ext cx="6476464" cy="419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780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21BA3-1C27-8569-30AD-65F4F5A55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9F1FE4-B05B-0FCE-D304-A03CCC161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 Dyalog installer includes a Windows IME (Input Method Editor).</a:t>
            </a:r>
          </a:p>
          <a:p>
            <a:pPr marL="0" indent="0">
              <a:buNone/>
            </a:pPr>
            <a:r>
              <a:rPr lang="en-GB" dirty="0"/>
              <a:t>It can be activated for ANY Windows application (like Notepad, Word, </a:t>
            </a:r>
            <a:r>
              <a:rPr lang="en-GB" dirty="0" err="1"/>
              <a:t>Powerpoint</a:t>
            </a:r>
            <a:r>
              <a:rPr lang="en-GB" dirty="0"/>
              <a:t>) and provides a complete / normal APL keyboard.</a:t>
            </a:r>
          </a:p>
          <a:p>
            <a:pPr marL="0" indent="0">
              <a:buNone/>
            </a:pPr>
            <a:r>
              <a:rPr lang="en-GB" dirty="0"/>
              <a:t>RIDE and the IME also support the "backtick" keyboard.</a:t>
            </a:r>
          </a:p>
          <a:p>
            <a:pPr marL="0" indent="0">
              <a:buNone/>
            </a:pPr>
            <a:r>
              <a:rPr lang="en-GB" dirty="0"/>
              <a:t>For alternatives, see: </a:t>
            </a:r>
            <a:r>
              <a:rPr lang="en-GB" dirty="0" err="1"/>
              <a:t>apl.wiki</a:t>
            </a:r>
            <a:r>
              <a:rPr lang="en-GB" dirty="0"/>
              <a:t>/</a:t>
            </a:r>
            <a:r>
              <a:rPr lang="en-GB" dirty="0" err="1"/>
              <a:t>typing_glyphs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A06CB2-0F2D-1AAB-815B-326F4DE08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Resources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183EA44-F048-83AD-FB01-757E0AAC230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45892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25FC1-1C56-D1E1-8027-C90AAECC6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68F382-B3C9-BD32-C81C-0B096B178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 Dyalog installer includes a Windows IME (Input Method Editor).</a:t>
            </a:r>
          </a:p>
          <a:p>
            <a:pPr marL="0" indent="0">
              <a:buNone/>
            </a:pPr>
            <a:r>
              <a:rPr lang="en-GB" dirty="0"/>
              <a:t>It can be activated for ANY Windows application (like Notepad, Word, </a:t>
            </a:r>
            <a:r>
              <a:rPr lang="en-GB" dirty="0" err="1"/>
              <a:t>Powerpoint</a:t>
            </a:r>
            <a:r>
              <a:rPr lang="en-GB" dirty="0"/>
              <a:t>) and provides a complete / normal APL keyboard.</a:t>
            </a:r>
          </a:p>
          <a:p>
            <a:pPr marL="0" indent="0">
              <a:buNone/>
            </a:pPr>
            <a:r>
              <a:rPr lang="en-GB" dirty="0"/>
              <a:t>RIDE and the IME also support the "backtick" keyboard.</a:t>
            </a:r>
          </a:p>
          <a:p>
            <a:pPr marL="0" indent="0">
              <a:buNone/>
            </a:pPr>
            <a:r>
              <a:rPr lang="en-GB" dirty="0"/>
              <a:t>For alternatives, see: </a:t>
            </a:r>
            <a:r>
              <a:rPr lang="en-GB" dirty="0" err="1"/>
              <a:t>apl.wiki</a:t>
            </a:r>
            <a:r>
              <a:rPr lang="en-GB" dirty="0"/>
              <a:t>/</a:t>
            </a:r>
            <a:r>
              <a:rPr lang="en-GB" dirty="0" err="1"/>
              <a:t>typing_glyphs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BD1195-851B-1866-2BC6-4E9895DBA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Resources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8EDD930-6B1E-467E-103C-112BB3D2583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8A8BD9-BFDA-651F-4EA4-C18CE4B38E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8322" y="474576"/>
            <a:ext cx="5187356" cy="419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3616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20C7F-436C-4CE8-BD54-836C1231F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A41BF-B5B8-4DE6-8DD1-D133B5440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ECF29E-AB8A-4FDE-A1F6-F4BA1D93F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Dyalog Intro Part 1</a:t>
            </a:r>
            <a:endParaRPr lang="en-GB" dirty="0"/>
          </a:p>
        </p:txBody>
      </p:sp>
      <p:pic>
        <p:nvPicPr>
          <p:cNvPr id="1026" name="Picture 2" descr="August 27 â The Important Anniversary In My Life, And ...">
            <a:extLst>
              <a:ext uri="{FF2B5EF4-FFF2-40B4-BE49-F238E27FC236}">
                <a16:creationId xmlns:a16="http://schemas.microsoft.com/office/drawing/2014/main" id="{592E3D4F-D750-494E-8057-5C9935B73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102" y="2920838"/>
            <a:ext cx="1944594" cy="1559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upload.wikimedia.org/wikipedia/commons/9/9f/IBM_Selectric.jpg">
            <a:extLst>
              <a:ext uri="{FF2B5EF4-FFF2-40B4-BE49-F238E27FC236}">
                <a16:creationId xmlns:a16="http://schemas.microsoft.com/office/drawing/2014/main" id="{C8554BAA-445A-4BC8-A7F6-6EEF5C5DB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548878"/>
            <a:ext cx="3913649" cy="2935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6FFBDE-018A-36E5-00A7-BA6D2D68DA41}"/>
              </a:ext>
            </a:extLst>
          </p:cNvPr>
          <p:cNvSpPr txBox="1"/>
          <p:nvPr/>
        </p:nvSpPr>
        <p:spPr>
          <a:xfrm>
            <a:off x="498625" y="3933974"/>
            <a:ext cx="46465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APL Demonstration 1975</a:t>
            </a:r>
          </a:p>
          <a:p>
            <a:r>
              <a:rPr lang="en-GB" sz="1200" dirty="0">
                <a:hlinkClick r:id="rId4"/>
              </a:rPr>
              <a:t>https://www.youtube.com/watch?v=_DTpQ4Kk2wA&amp;t=120s</a:t>
            </a:r>
            <a:r>
              <a:rPr lang="en-GB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82300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44FD0-E588-81BC-BF1C-FC0FC7304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081F10-4A34-3480-8942-B99095579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0F5101-695F-DDE0-A10C-A45D3DC33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Syntax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503AA10-C833-F6E1-258D-D750B800704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CECAB1-C062-BD62-30A8-496C7CC192DC}"/>
              </a:ext>
            </a:extLst>
          </p:cNvPr>
          <p:cNvSpPr txBox="1"/>
          <p:nvPr/>
        </p:nvSpPr>
        <p:spPr>
          <a:xfrm>
            <a:off x="3281428" y="2571750"/>
            <a:ext cx="2581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APL385 Unicode" panose="020B0709000202000203" pitchFamily="49" charset="0"/>
              </a:rPr>
              <a:t>+ - × ÷ | * ⍟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060017A-A1B1-BAEB-080B-1B7C3610742D}"/>
              </a:ext>
            </a:extLst>
          </p:cNvPr>
          <p:cNvSpPr/>
          <p:nvPr/>
        </p:nvSpPr>
        <p:spPr>
          <a:xfrm>
            <a:off x="543630" y="1472119"/>
            <a:ext cx="1919591" cy="791183"/>
          </a:xfrm>
          <a:prstGeom prst="roundRect">
            <a:avLst/>
          </a:prstGeom>
          <a:solidFill>
            <a:srgbClr val="003B5C"/>
          </a:solidFill>
          <a:ln w="28575"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Try these: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481571-B361-044E-3C57-4E982C3D96B5}"/>
              </a:ext>
            </a:extLst>
          </p:cNvPr>
          <p:cNvSpPr txBox="1"/>
          <p:nvPr/>
        </p:nvSpPr>
        <p:spPr>
          <a:xfrm>
            <a:off x="543630" y="3735421"/>
            <a:ext cx="7891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APL can do arithmetic (add, subtract, multiply etc.) with </a:t>
            </a:r>
            <a:r>
              <a:rPr lang="en-GB" i="1" dirty="0">
                <a:solidFill>
                  <a:srgbClr val="FF6600"/>
                </a:solidFill>
              </a:rPr>
              <a:t>integers</a:t>
            </a:r>
            <a:r>
              <a:rPr lang="en-GB" dirty="0"/>
              <a:t> (whole numbers) and </a:t>
            </a:r>
            <a:r>
              <a:rPr lang="en-GB" i="1" dirty="0">
                <a:solidFill>
                  <a:srgbClr val="FF6600"/>
                </a:solidFill>
              </a:rPr>
              <a:t>floating point </a:t>
            </a:r>
            <a:r>
              <a:rPr lang="en-GB" dirty="0"/>
              <a:t>numbers (fractional numbers).</a:t>
            </a:r>
          </a:p>
        </p:txBody>
      </p:sp>
    </p:spTree>
    <p:extLst>
      <p:ext uri="{BB962C8B-B14F-4D97-AF65-F5344CB8AC3E}">
        <p14:creationId xmlns:p14="http://schemas.microsoft.com/office/powerpoint/2010/main" val="3556462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5A546-F1F4-7F93-8D55-119F5C3BD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3144F5-A836-0A9E-52F1-0B0224662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F617E9-4E19-BB89-FB84-826E6EB51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Syntax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6951732-CEEB-6871-DA88-A90941AA0C6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9E23E-6E33-3567-E9AA-D66A59BE1D61}"/>
              </a:ext>
            </a:extLst>
          </p:cNvPr>
          <p:cNvSpPr txBox="1"/>
          <p:nvPr/>
        </p:nvSpPr>
        <p:spPr>
          <a:xfrm>
            <a:off x="3281428" y="2571750"/>
            <a:ext cx="2581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APL385 Unicode" panose="020B0709000202000203" pitchFamily="49" charset="0"/>
              </a:rPr>
              <a:t>+ - × ÷ | * ⍟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9BB87F-F1AF-4A36-D398-49F5B98CD743}"/>
              </a:ext>
            </a:extLst>
          </p:cNvPr>
          <p:cNvSpPr txBox="1"/>
          <p:nvPr/>
        </p:nvSpPr>
        <p:spPr>
          <a:xfrm>
            <a:off x="543630" y="3735421"/>
            <a:ext cx="7891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All </a:t>
            </a:r>
            <a:r>
              <a:rPr lang="en-GB" i="1" dirty="0">
                <a:solidFill>
                  <a:srgbClr val="FF6600"/>
                </a:solidFill>
              </a:rPr>
              <a:t>primitive</a:t>
            </a:r>
            <a:r>
              <a:rPr lang="en-GB" dirty="0"/>
              <a:t> APL functions and operators are represented by symbols.</a:t>
            </a:r>
          </a:p>
        </p:txBody>
      </p:sp>
    </p:spTree>
    <p:extLst>
      <p:ext uri="{BB962C8B-B14F-4D97-AF65-F5344CB8AC3E}">
        <p14:creationId xmlns:p14="http://schemas.microsoft.com/office/powerpoint/2010/main" val="29921569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60E4CE-0198-0EA7-3A8A-C5B441856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 </a:t>
            </a:r>
            <a:r>
              <a:rPr lang="en-GB" dirty="0">
                <a:latin typeface="APL385 Unicode" panose="020B0709000202000203" pitchFamily="49" charset="0"/>
              </a:rPr>
              <a:t>     </a:t>
            </a:r>
            <a:r>
              <a:rPr lang="pl-PL" dirty="0">
                <a:solidFill>
                  <a:srgbClr val="00B050"/>
                </a:solidFill>
                <a:latin typeface="APL385 Unicode" panose="020B0709000202000203" pitchFamily="49" charset="0"/>
              </a:rPr>
              <a:t>3+4</a:t>
            </a:r>
          </a:p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7</a:t>
            </a:r>
          </a:p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      </a:t>
            </a:r>
            <a:r>
              <a:rPr lang="pl-PL" dirty="0">
                <a:solidFill>
                  <a:srgbClr val="00B050"/>
                </a:solidFill>
                <a:latin typeface="APL385 Unicode" panose="020B0709000202000203" pitchFamily="49" charset="0"/>
              </a:rPr>
              <a:t>+¯4</a:t>
            </a:r>
          </a:p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¯4</a:t>
            </a:r>
          </a:p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      </a:t>
            </a:r>
            <a:r>
              <a:rPr lang="pl-PL" dirty="0">
                <a:solidFill>
                  <a:srgbClr val="00B050"/>
                </a:solidFill>
                <a:latin typeface="APL385 Unicode" panose="020B0709000202000203" pitchFamily="49" charset="0"/>
              </a:rPr>
              <a:t>+ 3J¯4</a:t>
            </a:r>
          </a:p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3J4</a:t>
            </a: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6B93F8-78EA-036A-289E-C8D0AD997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Plus/Conjugate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+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2E96472-0C83-F7C2-3C3A-E08109780CB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38913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AFE5-0245-CB00-C8BB-8CC5560A8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DFB322-5778-EBCF-E772-0D967BF9C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 </a:t>
            </a:r>
            <a:r>
              <a:rPr lang="en-GB" dirty="0">
                <a:latin typeface="APL385 Unicode" panose="020B0709000202000203" pitchFamily="49" charset="0"/>
              </a:rPr>
              <a:t>     </a:t>
            </a:r>
            <a:r>
              <a:rPr lang="pl-PL" dirty="0">
                <a:solidFill>
                  <a:srgbClr val="00B050"/>
                </a:solidFill>
                <a:latin typeface="APL385 Unicode" panose="020B0709000202000203" pitchFamily="49" charset="0"/>
              </a:rPr>
              <a:t>3-4</a:t>
            </a:r>
          </a:p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¯1</a:t>
            </a:r>
          </a:p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      </a:t>
            </a:r>
            <a:r>
              <a:rPr lang="pl-PL" dirty="0">
                <a:solidFill>
                  <a:srgbClr val="00B050"/>
                </a:solidFill>
                <a:latin typeface="APL385 Unicode" panose="020B0709000202000203" pitchFamily="49" charset="0"/>
              </a:rPr>
              <a:t>-7</a:t>
            </a:r>
          </a:p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¯7</a:t>
            </a: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2DDE4D-E32D-8D75-19CA-4B14586B1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Minus/Negate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-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2757C35-87B0-6740-7B1A-CA010BA3988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1288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27F95-6AF3-CC17-12BC-5CC6A3D0D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11C5E2-3C0B-4498-C0C0-A9FB64497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 </a:t>
            </a:r>
            <a:r>
              <a:rPr lang="en-GB" dirty="0">
                <a:latin typeface="APL385 Unicode" panose="020B0709000202000203" pitchFamily="49" charset="0"/>
              </a:rPr>
              <a:t>     </a:t>
            </a:r>
            <a:r>
              <a:rPr lang="pl-PL" dirty="0">
                <a:solidFill>
                  <a:srgbClr val="00B050"/>
                </a:solidFill>
                <a:latin typeface="APL385 Unicode" panose="020B0709000202000203" pitchFamily="49" charset="0"/>
              </a:rPr>
              <a:t>3×4</a:t>
            </a:r>
          </a:p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12</a:t>
            </a:r>
          </a:p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      </a:t>
            </a:r>
            <a:r>
              <a:rPr lang="pl-PL" dirty="0">
                <a:solidFill>
                  <a:srgbClr val="00B050"/>
                </a:solidFill>
                <a:latin typeface="APL385 Unicode" panose="020B0709000202000203" pitchFamily="49" charset="0"/>
              </a:rPr>
              <a:t>×4 ¯16 0 12</a:t>
            </a:r>
          </a:p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1 ¯1 0 1</a:t>
            </a: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DDE434-35E7-3E8A-3EC1-B9C75AC2C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Times/Signum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×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7E9CA65-CB9E-39D2-A923-E38CDB607DC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81406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71271-F350-E623-554A-52B566273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739F84-87E4-AE00-A18B-DCCB0FB31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 </a:t>
            </a:r>
            <a:r>
              <a:rPr lang="en-GB" dirty="0">
                <a:latin typeface="APL385 Unicode" panose="020B0709000202000203" pitchFamily="49" charset="0"/>
              </a:rPr>
              <a:t>     </a:t>
            </a:r>
            <a:r>
              <a:rPr lang="pl-PL" dirty="0">
                <a:solidFill>
                  <a:srgbClr val="00B050"/>
                </a:solidFill>
                <a:latin typeface="APL385 Unicode" panose="020B0709000202000203" pitchFamily="49" charset="0"/>
              </a:rPr>
              <a:t>3÷4</a:t>
            </a:r>
          </a:p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0.75</a:t>
            </a:r>
          </a:p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      </a:t>
            </a:r>
            <a:r>
              <a:rPr lang="pl-PL" dirty="0">
                <a:solidFill>
                  <a:srgbClr val="00B050"/>
                </a:solidFill>
                <a:latin typeface="APL385 Unicode" panose="020B0709000202000203" pitchFamily="49" charset="0"/>
              </a:rPr>
              <a:t>÷9</a:t>
            </a:r>
          </a:p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0.1111111111</a:t>
            </a: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62A924-BF58-B325-B415-3ADD13EAD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Divide/Reciprocal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÷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3DD5AFE-5960-4B1D-D371-03EA3D7466E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0913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39BF3-5353-5EA7-B778-560340A5F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3E990A-2C2F-BEFC-4562-734043422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 </a:t>
            </a:r>
            <a:r>
              <a:rPr lang="en-GB" dirty="0">
                <a:latin typeface="APL385 Unicode" panose="020B0709000202000203" pitchFamily="49" charset="0"/>
              </a:rPr>
              <a:t>     </a:t>
            </a:r>
            <a:r>
              <a:rPr lang="pl-PL" dirty="0">
                <a:solidFill>
                  <a:srgbClr val="00B050"/>
                </a:solidFill>
                <a:latin typeface="APL385 Unicode" panose="020B0709000202000203" pitchFamily="49" charset="0"/>
              </a:rPr>
              <a:t>3|10 11 12</a:t>
            </a:r>
          </a:p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1 2 0</a:t>
            </a:r>
          </a:p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      </a:t>
            </a:r>
            <a:r>
              <a:rPr lang="pl-PL" dirty="0">
                <a:solidFill>
                  <a:srgbClr val="00B050"/>
                </a:solidFill>
                <a:latin typeface="APL385 Unicode" panose="020B0709000202000203" pitchFamily="49" charset="0"/>
              </a:rPr>
              <a:t>|¯2 4 3j4</a:t>
            </a:r>
          </a:p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2 4 5</a:t>
            </a: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E37BEC-31F1-150A-A3DA-EBBD6DD53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Residue/Magnitude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|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DDD959A-6ECF-F433-A7F5-0F80194576E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34515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E1918-6BB4-93CA-3EF1-4541E9CD1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8A8EE7-FA2B-BD5F-4EF7-97DF6995C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 </a:t>
            </a:r>
            <a:r>
              <a:rPr lang="en-GB" dirty="0">
                <a:latin typeface="APL385 Unicode" panose="020B0709000202000203" pitchFamily="49" charset="0"/>
              </a:rPr>
              <a:t>     </a:t>
            </a:r>
            <a:r>
              <a:rPr lang="pl-PL" dirty="0">
                <a:solidFill>
                  <a:srgbClr val="00B050"/>
                </a:solidFill>
                <a:latin typeface="APL385 Unicode" panose="020B0709000202000203" pitchFamily="49" charset="0"/>
              </a:rPr>
              <a:t>2*3</a:t>
            </a:r>
          </a:p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8</a:t>
            </a:r>
          </a:p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      </a:t>
            </a:r>
            <a:r>
              <a:rPr lang="pl-PL" dirty="0">
                <a:solidFill>
                  <a:srgbClr val="00B050"/>
                </a:solidFill>
                <a:latin typeface="APL385 Unicode" panose="020B0709000202000203" pitchFamily="49" charset="0"/>
              </a:rPr>
              <a:t>*1</a:t>
            </a:r>
          </a:p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2.718281828</a:t>
            </a: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7F5184-977B-5A9B-3539-4E3E405E6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Power/Exponential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*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19A77B3-F130-BB58-9908-486ACDF5E87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074" name="Picture 2" descr="Illustration of the sun">
            <a:extLst>
              <a:ext uri="{FF2B5EF4-FFF2-40B4-BE49-F238E27FC236}">
                <a16:creationId xmlns:a16="http://schemas.microsoft.com/office/drawing/2014/main" id="{BE990D83-C089-01A6-281E-CC179C05AA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324" y="1782471"/>
            <a:ext cx="2023792" cy="1966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08113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6A441-101A-D367-CF0E-265721EA1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CFFC39-0BDE-05B0-D42C-ECF565E7F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 </a:t>
            </a:r>
            <a:r>
              <a:rPr lang="en-GB" dirty="0">
                <a:latin typeface="APL385 Unicode" panose="020B0709000202000203" pitchFamily="49" charset="0"/>
              </a:rPr>
              <a:t>     </a:t>
            </a:r>
            <a:r>
              <a:rPr lang="pl-PL" dirty="0">
                <a:solidFill>
                  <a:srgbClr val="00B050"/>
                </a:solidFill>
                <a:latin typeface="APL385 Unicode" panose="020B0709000202000203" pitchFamily="49" charset="0"/>
              </a:rPr>
              <a:t>10⍟1000</a:t>
            </a:r>
          </a:p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3</a:t>
            </a:r>
          </a:p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      </a:t>
            </a:r>
            <a:r>
              <a:rPr lang="pl-PL" dirty="0">
                <a:solidFill>
                  <a:srgbClr val="00B050"/>
                </a:solidFill>
                <a:latin typeface="APL385 Unicode" panose="020B0709000202000203" pitchFamily="49" charset="0"/>
              </a:rPr>
              <a:t>10*3</a:t>
            </a:r>
          </a:p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1000</a:t>
            </a:r>
          </a:p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      </a:t>
            </a:r>
            <a:r>
              <a:rPr lang="pl-PL" dirty="0">
                <a:solidFill>
                  <a:srgbClr val="00B050"/>
                </a:solidFill>
                <a:latin typeface="APL385 Unicode" panose="020B0709000202000203" pitchFamily="49" charset="0"/>
              </a:rPr>
              <a:t>⍟1000</a:t>
            </a:r>
          </a:p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6.907755279</a:t>
            </a:r>
          </a:p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      </a:t>
            </a:r>
            <a:r>
              <a:rPr lang="pl-PL" dirty="0">
                <a:solidFill>
                  <a:srgbClr val="00B050"/>
                </a:solidFill>
                <a:latin typeface="APL385 Unicode" panose="020B0709000202000203" pitchFamily="49" charset="0"/>
              </a:rPr>
              <a:t>*⍟1000</a:t>
            </a:r>
          </a:p>
          <a:p>
            <a:pPr marL="0" indent="0">
              <a:buNone/>
            </a:pPr>
            <a:r>
              <a:rPr lang="pl-PL" dirty="0">
                <a:latin typeface="APL385 Unicode" panose="020B0709000202000203" pitchFamily="49" charset="0"/>
              </a:rPr>
              <a:t>1000</a:t>
            </a: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406D78-AA04-0583-9858-E709A7521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Logarithm/Natural Log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⍟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245E02E-D5BC-070C-F374-A3BD4D192AD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0" name="Picture 2" descr="Cut Log Texture">
            <a:extLst>
              <a:ext uri="{FF2B5EF4-FFF2-40B4-BE49-F238E27FC236}">
                <a16:creationId xmlns:a16="http://schemas.microsoft.com/office/drawing/2014/main" id="{235DDD95-F7D8-E405-57D0-FCAA3FDB8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5634" y="2156702"/>
            <a:ext cx="1931548" cy="1287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5623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6ACDB9-20F3-B616-E7D0-7F55E5A33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How much money will I have if I invest $3 at 12% interest for 15 years?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3 × 1.12 * 15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16.42069728</a:t>
            </a:r>
          </a:p>
          <a:p>
            <a:pPr marL="0" indent="0">
              <a:buNone/>
            </a:pPr>
            <a:r>
              <a:rPr lang="en-GB" dirty="0"/>
              <a:t>How many years will it take to reach $5 if I invest $3 at 8%?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1.08 ⍟ 5÷3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6.637457293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223E74-4EC3-FAB7-D8DA-35B51BDF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Power and Log – for investors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0D64D02-1271-D8C5-A8DC-C9CC4C166E0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0472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ED7E19-6044-08E0-599F-D7EB2E1C9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/>
              <a:t>A number on its own is called a </a:t>
            </a:r>
            <a:r>
              <a:rPr lang="en-GB" b="1" i="1" dirty="0">
                <a:solidFill>
                  <a:srgbClr val="FF6600"/>
                </a:solidFill>
              </a:rPr>
              <a:t>scalar</a:t>
            </a:r>
            <a:r>
              <a:rPr lang="en-GB" i="1" dirty="0"/>
              <a:t>.</a:t>
            </a:r>
          </a:p>
          <a:p>
            <a:pPr>
              <a:buNone/>
            </a:pPr>
            <a:r>
              <a:rPr lang="en-GB" dirty="0"/>
              <a:t>For example:</a:t>
            </a:r>
          </a:p>
          <a:p>
            <a:pPr>
              <a:buNone/>
            </a:pPr>
            <a:r>
              <a:rPr lang="en-GB" sz="2100" dirty="0">
                <a:latin typeface="APL385 Unicode" panose="020B0709000202000203" pitchFamily="49" charset="0"/>
              </a:rPr>
              <a:t>    </a:t>
            </a:r>
            <a:r>
              <a:rPr lang="en-GB" sz="2100" dirty="0">
                <a:solidFill>
                  <a:srgbClr val="00B050"/>
                </a:solidFill>
                <a:latin typeface="APL385 Unicode" panose="020B0709000202000203" pitchFamily="49" charset="0"/>
              </a:rPr>
              <a:t>77 ⍝ a scalar</a:t>
            </a:r>
            <a:r>
              <a:rPr lang="en-GB" sz="2100" dirty="0">
                <a:latin typeface="APL385 Unicode" panose="020B0709000202000203" pitchFamily="49" charset="0"/>
              </a:rPr>
              <a:t>		 </a:t>
            </a:r>
            <a:endParaRPr lang="en-GB" sz="2100" dirty="0">
              <a:solidFill>
                <a:srgbClr val="DD6DCD"/>
              </a:solidFill>
              <a:latin typeface="APL385 Unicode" panose="020B0709000202000203" pitchFamily="49" charset="0"/>
            </a:endParaRP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/>
              <a:t>A list of scalars is called a </a:t>
            </a:r>
            <a:r>
              <a:rPr lang="en-GB" b="1" i="1" dirty="0">
                <a:solidFill>
                  <a:srgbClr val="FF6600"/>
                </a:solidFill>
              </a:rPr>
              <a:t>vector</a:t>
            </a:r>
            <a:r>
              <a:rPr lang="en-GB" dirty="0"/>
              <a:t>:</a:t>
            </a:r>
          </a:p>
          <a:p>
            <a:pPr>
              <a:buNone/>
            </a:pPr>
            <a:r>
              <a:rPr lang="en-GB" sz="2100" dirty="0">
                <a:latin typeface="APL385 Unicode" panose="020B0709000202000203" pitchFamily="49" charset="0"/>
              </a:rPr>
              <a:t>    </a:t>
            </a:r>
            <a:r>
              <a:rPr lang="en-GB" sz="2100" dirty="0">
                <a:solidFill>
                  <a:srgbClr val="00B050"/>
                </a:solidFill>
                <a:latin typeface="APL385 Unicode" panose="020B0709000202000203" pitchFamily="49" charset="0"/>
              </a:rPr>
              <a:t>23 77 </a:t>
            </a:r>
            <a:r>
              <a:rPr lang="en-GB" sz="2100" dirty="0">
                <a:solidFill>
                  <a:srgbClr val="00B050"/>
                </a:solidFill>
                <a:latin typeface="APL385 Unicode" panose="020B0709000202000203" pitchFamily="49" charset="0"/>
                <a:sym typeface="Dyalog Std TT" pitchFamily="49" charset="2"/>
              </a:rPr>
              <a:t></a:t>
            </a:r>
            <a:r>
              <a:rPr lang="en-GB" sz="2100" dirty="0">
                <a:solidFill>
                  <a:srgbClr val="00B050"/>
                </a:solidFill>
                <a:latin typeface="APL385 Unicode" panose="020B0709000202000203" pitchFamily="49" charset="0"/>
              </a:rPr>
              <a:t>10321   </a:t>
            </a:r>
            <a:r>
              <a:rPr lang="en-GB" sz="2100" dirty="0">
                <a:solidFill>
                  <a:srgbClr val="DD6DCD"/>
                </a:solidFill>
                <a:latin typeface="APL385 Unicode" panose="020B0709000202000203" pitchFamily="49" charset="0"/>
                <a:sym typeface="Dyalog Std TT" pitchFamily="49" charset="2"/>
              </a:rPr>
              <a:t>⍝ a 3-element vector</a:t>
            </a:r>
            <a:endParaRPr lang="en-US" sz="2100" dirty="0">
              <a:solidFill>
                <a:srgbClr val="DD6DCD"/>
              </a:solidFill>
              <a:latin typeface="APL385 Unicode" panose="020B0709000202000203" pitchFamily="49" charset="0"/>
              <a:sym typeface="Dyalog Std TT" pitchFamily="49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E89B41-65AE-9FD5-B62E-C818F9570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Scalars and Vectors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C0F9176A-4EE1-AE83-B7FC-4F56778742C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0305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B6E26-3749-CBFE-1939-188A40BA7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2F373D-5E05-F78F-2BBC-AC89AEB99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Dyadic functions can map between a single value and an array of values.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62F4A9-5967-3382-342F-A57871FB3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Singleton Extension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200AF97-AD68-7685-8017-28F847FE02D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F43B58-7FD0-F181-11F2-27593EEE3D90}"/>
              </a:ext>
            </a:extLst>
          </p:cNvPr>
          <p:cNvSpPr txBox="1"/>
          <p:nvPr/>
        </p:nvSpPr>
        <p:spPr>
          <a:xfrm>
            <a:off x="2728387" y="2571750"/>
            <a:ext cx="368722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APL385 Unicode" panose="020B0709000202000203" pitchFamily="49" charset="0"/>
              </a:rPr>
              <a:t>      3 × 1 10 100</a:t>
            </a:r>
          </a:p>
          <a:p>
            <a:r>
              <a:rPr lang="en-GB" sz="2400" dirty="0">
                <a:latin typeface="APL385 Unicode" panose="020B0709000202000203" pitchFamily="49" charset="0"/>
              </a:rPr>
              <a:t>3 30 300</a:t>
            </a:r>
          </a:p>
          <a:p>
            <a:endParaRPr lang="en-GB" sz="2400" dirty="0">
              <a:latin typeface="APL385 Unicode" panose="020B0709000202000203" pitchFamily="49" charset="0"/>
            </a:endParaRPr>
          </a:p>
          <a:p>
            <a:r>
              <a:rPr lang="en-GB" sz="2400" dirty="0">
                <a:latin typeface="APL385 Unicode" panose="020B0709000202000203" pitchFamily="49" charset="0"/>
              </a:rPr>
              <a:t>      3 = 1 2 3 4 5</a:t>
            </a:r>
          </a:p>
          <a:p>
            <a:r>
              <a:rPr lang="en-GB" sz="2400" dirty="0">
                <a:latin typeface="APL385 Unicode" panose="020B0709000202000203" pitchFamily="49" charset="0"/>
              </a:rPr>
              <a:t>0 0 1 0 0</a:t>
            </a:r>
          </a:p>
        </p:txBody>
      </p:sp>
    </p:spTree>
    <p:extLst>
      <p:ext uri="{BB962C8B-B14F-4D97-AF65-F5344CB8AC3E}">
        <p14:creationId xmlns:p14="http://schemas.microsoft.com/office/powerpoint/2010/main" val="29295320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4B93C-408A-36F9-2262-24B435787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E507A9-32A5-068C-A151-8BE1A1215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Dyadic functions can map between a single value and an array of values.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1F351D-E010-6F4C-4EB6-7FC089E26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Singleton Extension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CA4A6F2-0D0F-600A-BFA6-8F6CF477FE5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9F0498-19E1-FA90-E8C6-B4A4E641D7BB}"/>
              </a:ext>
            </a:extLst>
          </p:cNvPr>
          <p:cNvSpPr txBox="1"/>
          <p:nvPr/>
        </p:nvSpPr>
        <p:spPr>
          <a:xfrm>
            <a:off x="2728387" y="2571750"/>
            <a:ext cx="368722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APL385 Unicode" panose="020B0709000202000203" pitchFamily="49" charset="0"/>
              </a:rPr>
              <a:t>      3 × 1 10 100</a:t>
            </a:r>
          </a:p>
          <a:p>
            <a:r>
              <a:rPr lang="en-GB" sz="2400" dirty="0">
                <a:latin typeface="APL385 Unicode" panose="020B0709000202000203" pitchFamily="49" charset="0"/>
              </a:rPr>
              <a:t>3 30 300</a:t>
            </a:r>
          </a:p>
          <a:p>
            <a:endParaRPr lang="en-GB" sz="2400" dirty="0">
              <a:latin typeface="APL385 Unicode" panose="020B0709000202000203" pitchFamily="49" charset="0"/>
            </a:endParaRPr>
          </a:p>
          <a:p>
            <a:r>
              <a:rPr lang="en-GB" sz="2400" dirty="0">
                <a:latin typeface="APL385 Unicode" panose="020B0709000202000203" pitchFamily="49" charset="0"/>
              </a:rPr>
              <a:t>      3 = 1 2 3 4 5</a:t>
            </a:r>
          </a:p>
          <a:p>
            <a:r>
              <a:rPr lang="en-GB" sz="2400" dirty="0">
                <a:latin typeface="APL385 Unicode" panose="020B0709000202000203" pitchFamily="49" charset="0"/>
              </a:rPr>
              <a:t>0 0 1 0 0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34ECA6-0187-AD68-2089-EA3C5ACE5833}"/>
              </a:ext>
            </a:extLst>
          </p:cNvPr>
          <p:cNvSpPr/>
          <p:nvPr/>
        </p:nvSpPr>
        <p:spPr>
          <a:xfrm>
            <a:off x="376881" y="2503066"/>
            <a:ext cx="1919591" cy="2003898"/>
          </a:xfrm>
          <a:prstGeom prst="roundRect">
            <a:avLst/>
          </a:prstGeom>
          <a:solidFill>
            <a:srgbClr val="003B5C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Try this: Replace the functions in these expressions with</a:t>
            </a:r>
          </a:p>
          <a:p>
            <a:pPr algn="ctr"/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⌈ ⌊ &lt;</a:t>
            </a:r>
          </a:p>
        </p:txBody>
      </p:sp>
    </p:spTree>
    <p:extLst>
      <p:ext uri="{BB962C8B-B14F-4D97-AF65-F5344CB8AC3E}">
        <p14:creationId xmlns:p14="http://schemas.microsoft.com/office/powerpoint/2010/main" val="88180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B4DD8C-0B14-769D-ADDE-978A7FEEE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None/>
            </a:pPr>
            <a:r>
              <a:rPr lang="en-GB" dirty="0"/>
              <a:t>The shape of the arguments is said to be </a:t>
            </a:r>
            <a:r>
              <a:rPr lang="en-GB" b="1" i="1" dirty="0">
                <a:solidFill>
                  <a:srgbClr val="FF6600"/>
                </a:solidFill>
              </a:rPr>
              <a:t>conformable</a:t>
            </a:r>
            <a:r>
              <a:rPr lang="en-GB" dirty="0"/>
              <a:t> if they are identical or if one of them is a singleton. </a:t>
            </a:r>
          </a:p>
          <a:p>
            <a:pPr marL="457200" indent="-457200">
              <a:buNone/>
            </a:pPr>
            <a:endParaRPr lang="en-GB" dirty="0"/>
          </a:p>
          <a:p>
            <a:pPr marL="457200" indent="-457200">
              <a:buNone/>
            </a:pPr>
            <a:r>
              <a:rPr lang="en-GB" dirty="0">
                <a:latin typeface="APL385 Unicode" panose="020B0709000202000203" pitchFamily="49" charset="0"/>
              </a:rPr>
              <a:t>	 </a:t>
            </a:r>
            <a:r>
              <a:rPr lang="en-GB" dirty="0">
                <a:solidFill>
                  <a:srgbClr val="00B0F0"/>
                </a:solidFill>
                <a:latin typeface="APL385 Unicode" panose="020B0709000202000203" pitchFamily="49" charset="0"/>
              </a:rPr>
              <a:t>3</a:t>
            </a:r>
            <a:r>
              <a:rPr lang="en-GB" dirty="0">
                <a:solidFill>
                  <a:srgbClr val="FFC000"/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6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chemeClr val="hlink"/>
                </a:solidFill>
                <a:latin typeface="APL385 Unicode" panose="020B0709000202000203" pitchFamily="49" charset="0"/>
              </a:rPr>
              <a:t>21</a:t>
            </a:r>
            <a:r>
              <a:rPr lang="en-GB" dirty="0">
                <a:latin typeface="APL385 Unicode" panose="020B0709000202000203" pitchFamily="49" charset="0"/>
              </a:rPr>
              <a:t> + 1</a:t>
            </a:r>
          </a:p>
          <a:p>
            <a:pPr marL="457200" indent="-457200">
              <a:buNone/>
            </a:pPr>
            <a:r>
              <a:rPr lang="en-GB" dirty="0">
                <a:solidFill>
                  <a:srgbClr val="00B0F0"/>
                </a:solidFill>
                <a:latin typeface="APL385 Unicode" panose="020B0709000202000203" pitchFamily="49" charset="0"/>
              </a:rPr>
              <a:t>4</a:t>
            </a:r>
            <a:r>
              <a:rPr lang="en-GB" dirty="0">
                <a:solidFill>
                  <a:schemeClr val="tx2"/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7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chemeClr val="hlink"/>
                </a:solidFill>
                <a:latin typeface="APL385 Unicode" panose="020B0709000202000203" pitchFamily="49" charset="0"/>
              </a:rPr>
              <a:t>22</a:t>
            </a:r>
          </a:p>
          <a:p>
            <a:pPr marL="457200" indent="-457200">
              <a:buNone/>
            </a:pPr>
            <a:endParaRPr lang="en-GB" dirty="0">
              <a:solidFill>
                <a:schemeClr val="hlink"/>
              </a:solidFill>
              <a:latin typeface="APL385 Unicode" panose="020B0709000202000203" pitchFamily="49" charset="0"/>
            </a:endParaRPr>
          </a:p>
          <a:p>
            <a:pPr marL="457200" indent="-457200">
              <a:buNone/>
            </a:pPr>
            <a:r>
              <a:rPr lang="en-GB" dirty="0">
                <a:solidFill>
                  <a:schemeClr val="tx1"/>
                </a:solidFill>
              </a:rPr>
              <a:t>Here the left argument length is 3 and the right argument has a single element, so the shapes are </a:t>
            </a:r>
            <a:r>
              <a:rPr lang="en-GB" i="1" dirty="0">
                <a:solidFill>
                  <a:schemeClr val="tx1"/>
                </a:solidFill>
              </a:rPr>
              <a:t>conformable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91B70C0-BB27-81C2-A670-539AAC32B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Conformable Shapes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F980BE4-0E3E-774B-36D8-F5C425E1FA4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98681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2AF14-599B-1007-CA5F-80C855937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05E51B-52FD-0790-3D5C-35253D974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While experimenting, you may cause a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LENGTH ERROR</a:t>
            </a:r>
            <a:r>
              <a:rPr lang="en-GB" dirty="0"/>
              <a:t>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F95C2E-CE35-4E42-EFF1-C1D533A3A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Common Errors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92A394D-E941-1997-CC45-E6B47BD7D1A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AF4FC9-AD13-ABAE-A5EF-31743FD04488}"/>
              </a:ext>
            </a:extLst>
          </p:cNvPr>
          <p:cNvSpPr txBox="1"/>
          <p:nvPr/>
        </p:nvSpPr>
        <p:spPr>
          <a:xfrm>
            <a:off x="323527" y="2498863"/>
            <a:ext cx="864852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APL385 Unicode" panose="020B0709000202000203" pitchFamily="49" charset="0"/>
              </a:rPr>
              <a:t>      1 2+3 4 5</a:t>
            </a:r>
          </a:p>
          <a:p>
            <a:endParaRPr lang="en-GB" sz="2000" dirty="0">
              <a:latin typeface="APL385 Unicode" panose="020B0709000202000203" pitchFamily="49" charset="0"/>
            </a:endParaRPr>
          </a:p>
          <a:p>
            <a:r>
              <a:rPr lang="en-GB" sz="2000" dirty="0">
                <a:latin typeface="APL385 Unicode" panose="020B0709000202000203" pitchFamily="49" charset="0"/>
              </a:rPr>
              <a:t>LENGTH ERROR: Mismatched left and right argument shapes</a:t>
            </a:r>
          </a:p>
          <a:p>
            <a:r>
              <a:rPr lang="en-GB" sz="2000" dirty="0">
                <a:latin typeface="APL385 Unicode" panose="020B0709000202000203" pitchFamily="49" charset="0"/>
              </a:rPr>
              <a:t>      1 2+3 4 5</a:t>
            </a:r>
          </a:p>
          <a:p>
            <a:r>
              <a:rPr lang="en-GB" sz="2000" dirty="0">
                <a:latin typeface="APL385 Unicode" panose="020B0709000202000203" pitchFamily="49" charset="0"/>
              </a:rPr>
              <a:t>         ∧</a:t>
            </a:r>
          </a:p>
        </p:txBody>
      </p:sp>
    </p:spTree>
    <p:extLst>
      <p:ext uri="{BB962C8B-B14F-4D97-AF65-F5344CB8AC3E}">
        <p14:creationId xmlns:p14="http://schemas.microsoft.com/office/powerpoint/2010/main" val="27670207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F6570-71BE-5AFD-D710-B8AF0A3A7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95431B-99E3-346B-BC46-7612F4D8E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While experimenting, you may cause a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DOMAIN ERROR</a:t>
            </a:r>
            <a:r>
              <a:rPr lang="en-GB" dirty="0"/>
              <a:t>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41951D-C550-E320-7EDD-00735B3C5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Common Errors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932B1935-EC95-4BB2-5FA8-893F13148C2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6FBCCB-D7EA-64D2-28C2-0F8FB316E0B9}"/>
              </a:ext>
            </a:extLst>
          </p:cNvPr>
          <p:cNvSpPr txBox="1"/>
          <p:nvPr/>
        </p:nvSpPr>
        <p:spPr>
          <a:xfrm>
            <a:off x="323527" y="2498863"/>
            <a:ext cx="449353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APL385 Unicode" panose="020B0709000202000203" pitchFamily="49" charset="0"/>
              </a:rPr>
              <a:t>      2 3 4÷1 0 4</a:t>
            </a:r>
          </a:p>
          <a:p>
            <a:r>
              <a:rPr lang="en-GB" sz="2000" dirty="0">
                <a:latin typeface="APL385 Unicode" panose="020B0709000202000203" pitchFamily="49" charset="0"/>
              </a:rPr>
              <a:t>DOMAIN ERROR: Divide by zero</a:t>
            </a:r>
          </a:p>
          <a:p>
            <a:r>
              <a:rPr lang="en-GB" sz="2000" dirty="0">
                <a:latin typeface="APL385 Unicode" panose="020B0709000202000203" pitchFamily="49" charset="0"/>
              </a:rPr>
              <a:t>      2 3 4÷1 0 4</a:t>
            </a:r>
          </a:p>
          <a:p>
            <a:r>
              <a:rPr lang="en-GB" sz="2000" dirty="0">
                <a:latin typeface="APL385 Unicode" panose="020B0709000202000203" pitchFamily="49" charset="0"/>
              </a:rPr>
              <a:t>           ∧</a:t>
            </a:r>
          </a:p>
        </p:txBody>
      </p:sp>
    </p:spTree>
    <p:extLst>
      <p:ext uri="{BB962C8B-B14F-4D97-AF65-F5344CB8AC3E}">
        <p14:creationId xmlns:p14="http://schemas.microsoft.com/office/powerpoint/2010/main" val="35286270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A922D-80B3-5478-1EDD-99AE331B0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4B7A2A-F204-0882-AA89-03F697B62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While experimenting, you may cause a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VALUE ERROR</a:t>
            </a:r>
            <a:r>
              <a:rPr lang="en-GB" dirty="0"/>
              <a:t>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FAE884-DC56-28A1-50B5-91FC88D38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Common Errors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9DE90F8-703F-5C29-D39C-49FF3A18120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6DFC94-9B71-7BA2-A48D-3AF49721ECCD}"/>
              </a:ext>
            </a:extLst>
          </p:cNvPr>
          <p:cNvSpPr txBox="1"/>
          <p:nvPr/>
        </p:nvSpPr>
        <p:spPr>
          <a:xfrm>
            <a:off x="323527" y="2498863"/>
            <a:ext cx="480131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APL385 Unicode" panose="020B0709000202000203" pitchFamily="49" charset="0"/>
              </a:rPr>
              <a:t>      a</a:t>
            </a:r>
          </a:p>
          <a:p>
            <a:r>
              <a:rPr lang="en-GB" sz="2000" dirty="0">
                <a:latin typeface="APL385 Unicode" panose="020B0709000202000203" pitchFamily="49" charset="0"/>
              </a:rPr>
              <a:t>VALUE ERROR: Undefined name: a</a:t>
            </a:r>
          </a:p>
          <a:p>
            <a:r>
              <a:rPr lang="en-GB" sz="2000" dirty="0">
                <a:latin typeface="APL385 Unicode" panose="020B0709000202000203" pitchFamily="49" charset="0"/>
              </a:rPr>
              <a:t>      a</a:t>
            </a:r>
          </a:p>
          <a:p>
            <a:r>
              <a:rPr lang="en-GB" sz="2000" dirty="0">
                <a:latin typeface="APL385 Unicode" panose="020B0709000202000203" pitchFamily="49" charset="0"/>
              </a:rPr>
              <a:t>      ∧</a:t>
            </a:r>
          </a:p>
        </p:txBody>
      </p:sp>
    </p:spTree>
    <p:extLst>
      <p:ext uri="{BB962C8B-B14F-4D97-AF65-F5344CB8AC3E}">
        <p14:creationId xmlns:p14="http://schemas.microsoft.com/office/powerpoint/2010/main" val="22320138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09CBB-F6C3-4E78-8CFF-E08388217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2C2109-51EA-92BE-0D89-E16289E93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While experimenting, you may cause a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SYNTAX ERROR</a:t>
            </a:r>
            <a:r>
              <a:rPr lang="en-GB" dirty="0"/>
              <a:t>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45BE1D-3227-1F6B-E4AE-2301EC034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Common Errors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C0795CD-8A81-2BF6-6083-6C01AD51565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B90D90-AF05-3AAD-2F66-FD2460001738}"/>
              </a:ext>
            </a:extLst>
          </p:cNvPr>
          <p:cNvSpPr txBox="1"/>
          <p:nvPr/>
        </p:nvSpPr>
        <p:spPr>
          <a:xfrm>
            <a:off x="323527" y="2498863"/>
            <a:ext cx="572464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APL385 Unicode" panose="020B0709000202000203" pitchFamily="49" charset="0"/>
              </a:rPr>
              <a:t>      3+</a:t>
            </a:r>
          </a:p>
          <a:p>
            <a:r>
              <a:rPr lang="en-GB" sz="2000" dirty="0">
                <a:latin typeface="APL385 Unicode" panose="020B0709000202000203" pitchFamily="49" charset="0"/>
              </a:rPr>
              <a:t>SYNTAX ERROR: Missing right argument</a:t>
            </a:r>
          </a:p>
          <a:p>
            <a:r>
              <a:rPr lang="en-GB" sz="2000" dirty="0">
                <a:latin typeface="APL385 Unicode" panose="020B0709000202000203" pitchFamily="49" charset="0"/>
              </a:rPr>
              <a:t>      3+</a:t>
            </a:r>
          </a:p>
          <a:p>
            <a:r>
              <a:rPr lang="en-GB" sz="2000" dirty="0">
                <a:latin typeface="APL385 Unicode" panose="020B0709000202000203" pitchFamily="49" charset="0"/>
              </a:rPr>
              <a:t>       ∧</a:t>
            </a:r>
          </a:p>
        </p:txBody>
      </p:sp>
    </p:spTree>
    <p:extLst>
      <p:ext uri="{BB962C8B-B14F-4D97-AF65-F5344CB8AC3E}">
        <p14:creationId xmlns:p14="http://schemas.microsoft.com/office/powerpoint/2010/main" val="6760573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29F94-E8DE-313C-D96B-087981E4C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1C06C0-DEC4-A881-534E-A04AC365A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Spaces are only significant between numbers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7A7F0A-55E6-4F60-6C4F-D897A42FA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Common Errors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2F35190-B787-8BD8-B88E-17295582137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F5B5EB-7243-2B92-5300-3BAA58669878}"/>
              </a:ext>
            </a:extLst>
          </p:cNvPr>
          <p:cNvSpPr txBox="1"/>
          <p:nvPr/>
        </p:nvSpPr>
        <p:spPr>
          <a:xfrm>
            <a:off x="323527" y="2044906"/>
            <a:ext cx="557075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APL385 Unicode" panose="020B0709000202000203" pitchFamily="49" charset="0"/>
              </a:rPr>
              <a:t>      2    11        +3</a:t>
            </a:r>
          </a:p>
          <a:p>
            <a:r>
              <a:rPr lang="en-GB" sz="2000" dirty="0">
                <a:latin typeface="APL385 Unicode" panose="020B0709000202000203" pitchFamily="49" charset="0"/>
              </a:rPr>
              <a:t>5 14</a:t>
            </a:r>
          </a:p>
          <a:p>
            <a:r>
              <a:rPr lang="en-GB" sz="2000" dirty="0">
                <a:latin typeface="APL385 Unicode" panose="020B0709000202000203" pitchFamily="49" charset="0"/>
              </a:rPr>
              <a:t>      10      ÷    ¯1.25   .2</a:t>
            </a:r>
          </a:p>
          <a:p>
            <a:r>
              <a:rPr lang="en-GB" sz="2000" dirty="0">
                <a:latin typeface="APL385 Unicode" panose="020B0709000202000203" pitchFamily="49" charset="0"/>
              </a:rPr>
              <a:t>¯8 50</a:t>
            </a:r>
          </a:p>
          <a:p>
            <a:r>
              <a:rPr lang="en-GB" sz="2000" dirty="0">
                <a:latin typeface="APL385 Unicode" panose="020B0709000202000203" pitchFamily="49" charset="0"/>
              </a:rPr>
              <a:t>      10÷¯1.25.2   ⍝ Missing space</a:t>
            </a:r>
          </a:p>
          <a:p>
            <a:r>
              <a:rPr lang="en-GB" sz="2000" dirty="0">
                <a:latin typeface="APL385 Unicode" panose="020B0709000202000203" pitchFamily="49" charset="0"/>
              </a:rPr>
              <a:t>SYNTAX ERROR</a:t>
            </a:r>
          </a:p>
          <a:p>
            <a:r>
              <a:rPr lang="en-GB" sz="2000" dirty="0">
                <a:latin typeface="APL385 Unicode" panose="020B0709000202000203" pitchFamily="49" charset="0"/>
              </a:rPr>
              <a:t>      10÷¯1.25. 2   ⍝ Missing space</a:t>
            </a:r>
          </a:p>
          <a:p>
            <a:r>
              <a:rPr lang="en-GB" sz="2000" dirty="0">
                <a:latin typeface="APL385 Unicode" panose="020B0709000202000203" pitchFamily="49" charset="0"/>
              </a:rPr>
              <a:t>         ∧</a:t>
            </a:r>
          </a:p>
        </p:txBody>
      </p:sp>
    </p:spTree>
    <p:extLst>
      <p:ext uri="{BB962C8B-B14F-4D97-AF65-F5344CB8AC3E}">
        <p14:creationId xmlns:p14="http://schemas.microsoft.com/office/powerpoint/2010/main" val="164196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EF9DB-7E9E-A0A8-639F-42C5F1822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8C7174-1E89-B166-422D-089955096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Anything after a lamp symbol </a:t>
            </a:r>
            <a:r>
              <a:rPr lang="en-GB" dirty="0">
                <a:latin typeface="APL385 Unicode" panose="020B0709000202000203" pitchFamily="49" charset="0"/>
              </a:rPr>
              <a:t>⍝</a:t>
            </a:r>
            <a:r>
              <a:rPr lang="en-GB" dirty="0"/>
              <a:t> is ignored.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672397-72A4-9C8C-D8B8-506063585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Comments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9A831D0-13B5-8606-1EA2-3CB1E2A62FC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3764EE-CB99-7E07-0C17-15C3ECB7E9CD}"/>
              </a:ext>
            </a:extLst>
          </p:cNvPr>
          <p:cNvSpPr txBox="1"/>
          <p:nvPr/>
        </p:nvSpPr>
        <p:spPr>
          <a:xfrm>
            <a:off x="323526" y="2498863"/>
            <a:ext cx="762721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PL385 Unicode" panose="020B0709000202000203" pitchFamily="49" charset="0"/>
              </a:rPr>
              <a:t>      ⍝ nothing happens on this line</a:t>
            </a:r>
          </a:p>
          <a:p>
            <a:r>
              <a:rPr lang="en-GB" sz="2000" dirty="0">
                <a:latin typeface="APL385 Unicode" panose="020B0709000202000203" pitchFamily="49" charset="0"/>
              </a:rPr>
              <a:t>      2 × 3 ⍝ 4 5</a:t>
            </a:r>
          </a:p>
          <a:p>
            <a:r>
              <a:rPr lang="en-GB" sz="2000" dirty="0">
                <a:latin typeface="APL385 Unicode" panose="020B0709000202000203" pitchFamily="49" charset="0"/>
              </a:rPr>
              <a:t>6</a:t>
            </a:r>
          </a:p>
          <a:p>
            <a:r>
              <a:rPr lang="en-GB" sz="2000" dirty="0">
                <a:latin typeface="APL385 Unicode" panose="020B0709000202000203" pitchFamily="49" charset="0"/>
              </a:rPr>
              <a:t>      'A'   ⍝ lamp is not an "A"</a:t>
            </a:r>
          </a:p>
          <a:p>
            <a:r>
              <a:rPr lang="en-GB" sz="2000" dirty="0">
                <a:latin typeface="APL385 Unicode" panose="020B0709000202000203" pitchFamily="49" charset="0"/>
              </a:rPr>
              <a:t>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8999E4-AB92-3494-2F93-E714DD95D3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9890" y="1453568"/>
            <a:ext cx="1312996" cy="203713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E5D6B1A-17A5-DB20-363E-3C75294093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20464" y="1794984"/>
            <a:ext cx="1958977" cy="1469233"/>
          </a:xfrm>
          <a:prstGeom prst="rect">
            <a:avLst/>
          </a:prstGeom>
        </p:spPr>
      </p:pic>
      <p:pic>
        <p:nvPicPr>
          <p:cNvPr id="9" name="Picture 8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775FB458-3741-9DFF-01CD-2B73F08B24A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003" y="3155579"/>
            <a:ext cx="2104887" cy="165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01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30777-11A5-EC80-22C2-2C73C6963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428C61-34EA-5B00-0E7D-643907D37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APL uses symbols to represent language features</a:t>
            </a:r>
          </a:p>
          <a:p>
            <a:r>
              <a:rPr lang="en-GB" dirty="0"/>
              <a:t>APL uses approximately 70 symbols to represent functions and operators, thus providing an extremely compact notation</a:t>
            </a:r>
          </a:p>
          <a:p>
            <a:pPr lvl="1"/>
            <a:r>
              <a:rPr lang="en-GB" dirty="0"/>
              <a:t>Some are normal ASCII symbols	(</a:t>
            </a:r>
            <a:r>
              <a:rPr lang="en-GB" dirty="0">
                <a:latin typeface="APL385 Unicode" panose="020B0709000202000203" pitchFamily="49" charset="0"/>
              </a:rPr>
              <a:t>+-/\!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a few are Greek letters		(</a:t>
            </a:r>
            <a:r>
              <a:rPr lang="en-GB" dirty="0">
                <a:latin typeface="APL385 Unicode" panose="020B0709000202000203" pitchFamily="49" charset="0"/>
                <a:cs typeface="Courier New" panose="02070309020205020404" pitchFamily="49" charset="0"/>
              </a:rPr>
              <a:t>⍺∊⍳⍴⍵</a:t>
            </a:r>
            <a:r>
              <a:rPr lang="en-GB" dirty="0"/>
              <a:t>) </a:t>
            </a:r>
          </a:p>
          <a:p>
            <a:pPr lvl="1"/>
            <a:r>
              <a:rPr lang="en-GB" dirty="0"/>
              <a:t>others were created for APL	(</a:t>
            </a:r>
            <a:r>
              <a:rPr lang="en-GB" dirty="0">
                <a:latin typeface="APL385 Unicode" panose="020B0709000202000203" pitchFamily="49" charset="0"/>
              </a:rPr>
              <a:t>⌽⍉⌸⌈⌊↑↓</a:t>
            </a:r>
            <a:r>
              <a:rPr lang="en-GB" dirty="0"/>
              <a:t>)</a:t>
            </a:r>
          </a:p>
          <a:p>
            <a:r>
              <a:rPr lang="en-GB" dirty="0"/>
              <a:t>All of the symbols are part of the Unicode character set and can be stored in UTF-8 text files.</a:t>
            </a:r>
          </a:p>
          <a:p>
            <a:r>
              <a:rPr lang="en-GB" dirty="0"/>
              <a:t>APL symbols are now "decently" rendered by most operating systems without installing an APL font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065B1B-99BB-F5A3-9E6B-FBCBECA12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APL Symbols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7CEFB50-55A1-A13B-6D39-1EE5E13F306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022F4E-4548-FCF3-0CBA-1CE069F9B0B1}"/>
              </a:ext>
            </a:extLst>
          </p:cNvPr>
          <p:cNvSpPr txBox="1"/>
          <p:nvPr/>
        </p:nvSpPr>
        <p:spPr>
          <a:xfrm>
            <a:off x="5304819" y="2489130"/>
            <a:ext cx="38298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but different Unicode code points!</a:t>
            </a:r>
          </a:p>
          <a:p>
            <a:r>
              <a:rPr lang="en-GB" sz="1200" dirty="0"/>
              <a:t>Greek letter </a:t>
            </a:r>
            <a:r>
              <a:rPr lang="el-GR" sz="1200" b="1" dirty="0"/>
              <a:t>α</a:t>
            </a:r>
            <a:r>
              <a:rPr lang="en-GB" sz="1200" b="1" dirty="0"/>
              <a:t> </a:t>
            </a:r>
            <a:r>
              <a:rPr lang="en-GB" sz="1200" dirty="0"/>
              <a:t>is not</a:t>
            </a:r>
            <a:r>
              <a:rPr lang="en-GB" sz="1200" b="1" dirty="0"/>
              <a:t> ⍺ </a:t>
            </a:r>
            <a:r>
              <a:rPr lang="en-GB" sz="1200" dirty="0"/>
              <a:t>(APL Functional Symbol Alpha)</a:t>
            </a:r>
          </a:p>
        </p:txBody>
      </p:sp>
    </p:spTree>
    <p:extLst>
      <p:ext uri="{BB962C8B-B14F-4D97-AF65-F5344CB8AC3E}">
        <p14:creationId xmlns:p14="http://schemas.microsoft.com/office/powerpoint/2010/main" val="8379195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B014-0D65-7479-80BA-EEA210246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82BE9F-60A3-F429-8646-2500E253A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Terminate APL by typing </a:t>
            </a:r>
            <a:r>
              <a:rPr lang="en-GB" dirty="0">
                <a:latin typeface="APL385 Unicode" panose="020B0709000202000203" pitchFamily="49" charset="0"/>
              </a:rPr>
              <a:t>)OFF</a:t>
            </a:r>
            <a:r>
              <a:rPr lang="en-GB" dirty="0"/>
              <a:t> or click ×</a:t>
            </a:r>
          </a:p>
          <a:p>
            <a:r>
              <a:rPr lang="en-GB" dirty="0"/>
              <a:t>APL can be used as a calculator</a:t>
            </a:r>
          </a:p>
          <a:p>
            <a:r>
              <a:rPr lang="en-GB" dirty="0">
                <a:sym typeface="Dyalog Std TT" pitchFamily="49" charset="2"/>
              </a:rPr>
              <a:t>The lamp symbol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  <a:sym typeface="Dyalog Std TT" pitchFamily="49" charset="2"/>
              </a:rPr>
              <a:t>⍝</a:t>
            </a:r>
            <a:r>
              <a:rPr lang="en-GB" dirty="0">
                <a:sym typeface="Dyalog Std TT" pitchFamily="49" charset="2"/>
              </a:rPr>
              <a:t> is used to add comments</a:t>
            </a:r>
            <a:endParaRPr lang="en-GB" dirty="0"/>
          </a:p>
          <a:p>
            <a:r>
              <a:rPr lang="en-GB" dirty="0"/>
              <a:t>Negative numbers begin with a </a:t>
            </a:r>
            <a:r>
              <a:rPr lang="en-GB" dirty="0">
                <a:solidFill>
                  <a:srgbClr val="7030A0"/>
                </a:solidFill>
                <a:latin typeface="APL385 Unicode" panose="020B0709000202000203" pitchFamily="49" charset="0"/>
                <a:sym typeface="Dyalog Std TT" pitchFamily="49" charset="2"/>
              </a:rPr>
              <a:t></a:t>
            </a:r>
          </a:p>
          <a:p>
            <a:r>
              <a:rPr lang="en-GB" i="1" dirty="0">
                <a:sym typeface="Dyalog Std TT" pitchFamily="49" charset="2"/>
              </a:rPr>
              <a:t>Vectors</a:t>
            </a:r>
            <a:r>
              <a:rPr lang="en-GB" dirty="0">
                <a:sym typeface="Dyalog Std TT" pitchFamily="49" charset="2"/>
              </a:rPr>
              <a:t> are lists of </a:t>
            </a:r>
            <a:r>
              <a:rPr lang="en-GB" i="1" dirty="0">
                <a:sym typeface="Dyalog Std TT" pitchFamily="49" charset="2"/>
              </a:rPr>
              <a:t>scalars</a:t>
            </a:r>
            <a:endParaRPr lang="en-GB" dirty="0">
              <a:sym typeface="Dyalog Std TT" pitchFamily="49" charset="2"/>
            </a:endParaRPr>
          </a:p>
          <a:p>
            <a:r>
              <a:rPr lang="en-GB" dirty="0">
                <a:sym typeface="Dyalog Std TT" pitchFamily="49" charset="2"/>
              </a:rPr>
              <a:t>Arrays can be used as arguments to most primitives, but their shapes must be </a:t>
            </a:r>
            <a:r>
              <a:rPr lang="en-GB" i="1" dirty="0">
                <a:sym typeface="Dyalog Std TT" pitchFamily="49" charset="2"/>
              </a:rPr>
              <a:t>conformable</a:t>
            </a:r>
            <a:endParaRPr lang="en-GB" dirty="0">
              <a:sym typeface="Dyalog Std TT" pitchFamily="49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DBDE33-7BEB-F1C9-1E96-4B69FC7E0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Review?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83FEE36-CB48-D3F9-3FB9-FCB8C0AE059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24355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2F026F-DE9E-281E-47D2-DEF211C4B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15000" dirty="0"/>
              <a:t>🤔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91117E-1856-D4ED-5BE0-692BB62B2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7E2D7C0-A264-02DA-4270-AC9F564D8D0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30190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A98A50-919B-DFDB-09E9-F23960B48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Start APL using the icon on your desk, if you have not done so already</a:t>
            </a:r>
          </a:p>
          <a:p>
            <a:r>
              <a:rPr lang="en-GB" dirty="0"/>
              <a:t>Calculate your age in months (roughly)</a:t>
            </a:r>
          </a:p>
          <a:p>
            <a:r>
              <a:rPr lang="en-GB" dirty="0"/>
              <a:t>Add a comment to the line and re-execute it</a:t>
            </a:r>
          </a:p>
          <a:p>
            <a:r>
              <a:rPr lang="en-GB" u="sng" dirty="0"/>
              <a:t>Add</a:t>
            </a:r>
            <a:r>
              <a:rPr lang="en-GB" dirty="0"/>
              <a:t>  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¯10</a:t>
            </a:r>
            <a:r>
              <a:rPr lang="en-GB" dirty="0">
                <a:solidFill>
                  <a:srgbClr val="FF0000"/>
                </a:solidFill>
              </a:rPr>
              <a:t>   </a:t>
            </a:r>
            <a:r>
              <a:rPr lang="en-GB" dirty="0"/>
              <a:t>to your age</a:t>
            </a:r>
          </a:p>
          <a:p>
            <a:r>
              <a:rPr lang="en-GB" dirty="0"/>
              <a:t>Subtract </a:t>
            </a:r>
            <a:r>
              <a:rPr lang="en-GB" dirty="0">
                <a:latin typeface="APL385 Unicode" panose="020B0709000202000203" pitchFamily="49" charset="0"/>
              </a:rPr>
              <a:t>10</a:t>
            </a:r>
            <a:r>
              <a:rPr lang="en-GB" dirty="0"/>
              <a:t> from the numbers </a:t>
            </a:r>
            <a:r>
              <a:rPr lang="en-GB" dirty="0">
                <a:latin typeface="APL385 Unicode" panose="020B0709000202000203" pitchFamily="49" charset="0"/>
              </a:rPr>
              <a:t>11</a:t>
            </a:r>
            <a:r>
              <a:rPr lang="en-GB" dirty="0"/>
              <a:t>, </a:t>
            </a:r>
            <a:r>
              <a:rPr lang="en-GB" dirty="0">
                <a:latin typeface="APL385 Unicode" panose="020B0709000202000203" pitchFamily="49" charset="0"/>
              </a:rPr>
              <a:t>1</a:t>
            </a:r>
            <a:r>
              <a:rPr lang="en-GB" dirty="0"/>
              <a:t> and </a:t>
            </a:r>
            <a:r>
              <a:rPr lang="en-GB" dirty="0">
                <a:latin typeface="APL385 Unicode" panose="020B0709000202000203" pitchFamily="49" charset="0"/>
              </a:rPr>
              <a:t>¯4</a:t>
            </a:r>
          </a:p>
          <a:p>
            <a:r>
              <a:rPr lang="en-GB" dirty="0"/>
              <a:t>Divide </a:t>
            </a:r>
            <a:r>
              <a:rPr lang="en-GB" dirty="0">
                <a:latin typeface="APL385 Unicode" panose="020B0709000202000203" pitchFamily="49" charset="0"/>
              </a:rPr>
              <a:t>100</a:t>
            </a:r>
            <a:r>
              <a:rPr lang="en-GB" dirty="0"/>
              <a:t>  by </a:t>
            </a:r>
            <a:r>
              <a:rPr lang="en-GB" dirty="0">
                <a:latin typeface="APL385 Unicode" panose="020B0709000202000203" pitchFamily="49" charset="0"/>
              </a:rPr>
              <a:t>20</a:t>
            </a:r>
            <a:r>
              <a:rPr lang="en-GB" dirty="0"/>
              <a:t> and </a:t>
            </a:r>
            <a:r>
              <a:rPr lang="en-GB" dirty="0">
                <a:latin typeface="APL385 Unicode" panose="020B0709000202000203" pitchFamily="49" charset="0"/>
              </a:rPr>
              <a:t>¯30</a:t>
            </a:r>
            <a:r>
              <a:rPr lang="en-GB" dirty="0"/>
              <a:t> by </a:t>
            </a:r>
            <a:r>
              <a:rPr lang="en-GB" dirty="0">
                <a:latin typeface="APL385 Unicode" panose="020B0709000202000203" pitchFamily="49" charset="0"/>
              </a:rPr>
              <a:t>10</a:t>
            </a:r>
            <a:r>
              <a:rPr lang="en-GB" dirty="0"/>
              <a:t>, in a single APL statement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24911A-4966-19D5-C7B3-646FE8A88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77BB650-C1DF-6DE4-48BA-63D93FD44143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40806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27BE3-FAFD-42E8-BAD3-73D29C88C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904999"/>
            <a:ext cx="3562673" cy="2601965"/>
          </a:xfrm>
        </p:spPr>
        <p:txBody>
          <a:bodyPr/>
          <a:lstStyle/>
          <a:p>
            <a:pPr marL="0" indent="0">
              <a:buNone/>
            </a:pPr>
            <a:r>
              <a:rPr lang="en-GB" b="0" dirty="0">
                <a:solidFill>
                  <a:schemeClr val="tx1"/>
                </a:solidFill>
                <a:effectLst/>
                <a:latin typeface="APL385 Unicode" panose="020B0709000202000203" pitchFamily="49" charset="0"/>
              </a:rPr>
              <a:t>      3 × 5</a:t>
            </a:r>
          </a:p>
          <a:p>
            <a:pPr marL="0" indent="0">
              <a:buNone/>
            </a:pPr>
            <a:r>
              <a:rPr lang="en-GB" b="0" dirty="0">
                <a:solidFill>
                  <a:schemeClr val="tx1"/>
                </a:solidFill>
                <a:effectLst/>
                <a:latin typeface="APL385 Unicode" panose="020B0709000202000203" pitchFamily="49" charset="0"/>
              </a:rPr>
              <a:t>15</a:t>
            </a:r>
          </a:p>
          <a:p>
            <a:pPr marL="0" indent="0">
              <a:buNone/>
            </a:pPr>
            <a:endParaRPr lang="en-GB" b="0" dirty="0">
              <a:solidFill>
                <a:schemeClr val="tx1"/>
              </a:solidFill>
              <a:effectLst/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3 – 5</a:t>
            </a:r>
          </a:p>
          <a:p>
            <a:pPr marL="0" indent="0">
              <a:buNone/>
            </a:pPr>
            <a:r>
              <a:rPr lang="en-GB" b="0" dirty="0">
                <a:solidFill>
                  <a:schemeClr val="tx1"/>
                </a:solidFill>
                <a:effectLst/>
                <a:latin typeface="APL385 Unicode" panose="020B0709000202000203" pitchFamily="49" charset="0"/>
              </a:rPr>
              <a:t>¯2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A3412-42D2-4139-B26F-6AEAEA9F21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B2DCC-4491-4A14-9F72-D6999AD5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Simple syntax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BF610-8452-41FA-A3F0-884DCB5ABA4F}"/>
              </a:ext>
            </a:extLst>
          </p:cNvPr>
          <p:cNvSpPr txBox="1">
            <a:spLocks/>
          </p:cNvSpPr>
          <p:nvPr/>
        </p:nvSpPr>
        <p:spPr>
          <a:xfrm>
            <a:off x="4944018" y="1904998"/>
            <a:ext cx="3562673" cy="2601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- 6 3 0 ¯12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¯6 ¯3 0 12</a:t>
            </a: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  <a:latin typeface="APL385 Unicode" panose="020B0709000202000203" pitchFamily="49" charset="0"/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⍳ 7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1 2 3 4 5 6 7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E264A06-0589-4DC1-99E6-C4C016430895}"/>
              </a:ext>
            </a:extLst>
          </p:cNvPr>
          <p:cNvSpPr txBox="1">
            <a:spLocks/>
          </p:cNvSpPr>
          <p:nvPr/>
        </p:nvSpPr>
        <p:spPr>
          <a:xfrm>
            <a:off x="323527" y="1281545"/>
            <a:ext cx="4054508" cy="3325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1800" dirty="0"/>
              <a:t>two-argument, infix: </a:t>
            </a:r>
            <a:r>
              <a:rPr lang="en-GB" sz="1800" b="1" dirty="0"/>
              <a:t>dyadic</a:t>
            </a:r>
            <a:r>
              <a:rPr lang="en-GB" sz="1800" dirty="0"/>
              <a:t> functions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62A58E57-3FFD-4B6F-A800-93F78782A752}"/>
              </a:ext>
            </a:extLst>
          </p:cNvPr>
          <p:cNvSpPr txBox="1">
            <a:spLocks/>
          </p:cNvSpPr>
          <p:nvPr/>
        </p:nvSpPr>
        <p:spPr>
          <a:xfrm>
            <a:off x="4765964" y="1276694"/>
            <a:ext cx="4267199" cy="3325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1800" dirty="0"/>
              <a:t>one-argument, prefix: </a:t>
            </a:r>
            <a:r>
              <a:rPr lang="en-GB" sz="1800" b="1" dirty="0"/>
              <a:t>monadic</a:t>
            </a:r>
            <a:r>
              <a:rPr lang="en-GB" sz="1800" dirty="0"/>
              <a:t> functions</a:t>
            </a:r>
          </a:p>
        </p:txBody>
      </p:sp>
    </p:spTree>
    <p:extLst>
      <p:ext uri="{BB962C8B-B14F-4D97-AF65-F5344CB8AC3E}">
        <p14:creationId xmlns:p14="http://schemas.microsoft.com/office/powerpoint/2010/main" val="774057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A3412-42D2-4139-B26F-6AEAEA9F21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B2DCC-4491-4A14-9F72-D6999AD57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267657"/>
            <a:ext cx="3839763" cy="685535"/>
          </a:xfrm>
        </p:spPr>
        <p:txBody>
          <a:bodyPr/>
          <a:lstStyle/>
          <a:p>
            <a:r>
              <a:rPr lang="en-GB" dirty="0"/>
              <a:t>Simple syntax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BF610-8452-41FA-A3F0-884DCB5ABA4F}"/>
              </a:ext>
            </a:extLst>
          </p:cNvPr>
          <p:cNvSpPr txBox="1">
            <a:spLocks/>
          </p:cNvSpPr>
          <p:nvPr/>
        </p:nvSpPr>
        <p:spPr>
          <a:xfrm>
            <a:off x="408710" y="1282996"/>
            <a:ext cx="8097982" cy="32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         ⍳ 7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1 2 3 4 5 6 7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     2 × ⍳ 7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2 4 6 8 10 12 14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¯1 + 2 × ⍳ 7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1 3 5 7 9 11 13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E264A06-0589-4DC1-99E6-C4C016430895}"/>
              </a:ext>
            </a:extLst>
          </p:cNvPr>
          <p:cNvSpPr txBox="1">
            <a:spLocks/>
          </p:cNvSpPr>
          <p:nvPr/>
        </p:nvSpPr>
        <p:spPr>
          <a:xfrm>
            <a:off x="207819" y="890845"/>
            <a:ext cx="3567546" cy="3325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pPr algn="r"/>
            <a:r>
              <a:rPr lang="en-GB" sz="1800" dirty="0"/>
              <a:t>Short left scope; long right scope</a:t>
            </a:r>
          </a:p>
        </p:txBody>
      </p:sp>
    </p:spTree>
    <p:extLst>
      <p:ext uri="{BB962C8B-B14F-4D97-AF65-F5344CB8AC3E}">
        <p14:creationId xmlns:p14="http://schemas.microsoft.com/office/powerpoint/2010/main" val="180767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A3412-42D2-4139-B26F-6AEAEA9F21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B2DCC-4491-4A14-9F72-D6999AD57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267657"/>
            <a:ext cx="3839763" cy="685535"/>
          </a:xfrm>
        </p:spPr>
        <p:txBody>
          <a:bodyPr/>
          <a:lstStyle/>
          <a:p>
            <a:r>
              <a:rPr lang="en-GB" dirty="0"/>
              <a:t>Simple syntax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BF610-8452-41FA-A3F0-884DCB5ABA4F}"/>
              </a:ext>
            </a:extLst>
          </p:cNvPr>
          <p:cNvSpPr txBox="1">
            <a:spLocks/>
          </p:cNvSpPr>
          <p:nvPr/>
        </p:nvSpPr>
        <p:spPr>
          <a:xfrm>
            <a:off x="408710" y="1282996"/>
            <a:ext cx="8097982" cy="32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endParaRPr lang="en-GB" dirty="0">
              <a:solidFill>
                <a:schemeClr val="tx1"/>
              </a:solidFill>
              <a:latin typeface="APL385 Unicode" panose="020B0709000202000203" pitchFamily="49" charset="0"/>
            </a:endParaRPr>
          </a:p>
          <a:p>
            <a:pPr marL="0" indent="0">
              <a:buFont typeface="Wingdings 2" panose="05020102010507070707" pitchFamily="18" charset="2"/>
              <a:buNone/>
            </a:pPr>
            <a:endParaRPr lang="en-GB" dirty="0">
              <a:solidFill>
                <a:schemeClr val="tx1"/>
              </a:solidFill>
              <a:latin typeface="APL385 Unicode" panose="020B0709000202000203" pitchFamily="49" charset="0"/>
            </a:endParaRPr>
          </a:p>
          <a:p>
            <a:pPr marL="0" indent="0">
              <a:buFont typeface="Wingdings 2" panose="05020102010507070707" pitchFamily="18" charset="2"/>
              <a:buNone/>
            </a:pPr>
            <a:endParaRPr lang="en-GB" dirty="0">
              <a:solidFill>
                <a:schemeClr val="tx1"/>
              </a:solidFill>
              <a:latin typeface="APL385 Unicode" panose="020B0709000202000203" pitchFamily="49" charset="0"/>
            </a:endParaRPr>
          </a:p>
          <a:p>
            <a:pPr marL="0" indent="0">
              <a:buFont typeface="Wingdings 2" panose="05020102010507070707" pitchFamily="18" charset="2"/>
              <a:buNone/>
            </a:pPr>
            <a:endParaRPr lang="en-GB" dirty="0">
              <a:solidFill>
                <a:schemeClr val="tx1"/>
              </a:solidFill>
              <a:latin typeface="APL385 Unicode" panose="020B0709000202000203" pitchFamily="49" charset="0"/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¯1 + 2 × ⍳ 7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E264A06-0589-4DC1-99E6-C4C016430895}"/>
              </a:ext>
            </a:extLst>
          </p:cNvPr>
          <p:cNvSpPr txBox="1">
            <a:spLocks/>
          </p:cNvSpPr>
          <p:nvPr/>
        </p:nvSpPr>
        <p:spPr>
          <a:xfrm>
            <a:off x="207819" y="890845"/>
            <a:ext cx="3567546" cy="3325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pPr algn="r"/>
            <a:r>
              <a:rPr lang="en-GB" sz="1800" dirty="0"/>
              <a:t>Short left scope, long right scope</a:t>
            </a:r>
          </a:p>
        </p:txBody>
      </p:sp>
    </p:spTree>
    <p:extLst>
      <p:ext uri="{BB962C8B-B14F-4D97-AF65-F5344CB8AC3E}">
        <p14:creationId xmlns:p14="http://schemas.microsoft.com/office/powerpoint/2010/main" val="39311238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A3412-42D2-4139-B26F-6AEAEA9F21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B2DCC-4491-4A14-9F72-D6999AD57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267657"/>
            <a:ext cx="3839763" cy="685535"/>
          </a:xfrm>
        </p:spPr>
        <p:txBody>
          <a:bodyPr/>
          <a:lstStyle/>
          <a:p>
            <a:r>
              <a:rPr lang="en-GB" dirty="0"/>
              <a:t>Simple syntax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BF610-8452-41FA-A3F0-884DCB5ABA4F}"/>
              </a:ext>
            </a:extLst>
          </p:cNvPr>
          <p:cNvSpPr txBox="1">
            <a:spLocks/>
          </p:cNvSpPr>
          <p:nvPr/>
        </p:nvSpPr>
        <p:spPr>
          <a:xfrm>
            <a:off x="408710" y="1282996"/>
            <a:ext cx="8097982" cy="32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endParaRPr lang="en-GB" dirty="0">
              <a:solidFill>
                <a:schemeClr val="tx1"/>
              </a:solidFill>
              <a:latin typeface="APL385 Unicode" panose="020B0709000202000203" pitchFamily="49" charset="0"/>
            </a:endParaRPr>
          </a:p>
          <a:p>
            <a:pPr marL="0" indent="0">
              <a:buFont typeface="Wingdings 2" panose="05020102010507070707" pitchFamily="18" charset="2"/>
              <a:buNone/>
            </a:pPr>
            <a:endParaRPr lang="en-GB" dirty="0">
              <a:solidFill>
                <a:schemeClr val="tx1"/>
              </a:solidFill>
              <a:latin typeface="APL385 Unicode" panose="020B0709000202000203" pitchFamily="49" charset="0"/>
            </a:endParaRPr>
          </a:p>
          <a:p>
            <a:pPr marL="0" indent="0">
              <a:buFont typeface="Wingdings 2" panose="05020102010507070707" pitchFamily="18" charset="2"/>
              <a:buNone/>
            </a:pPr>
            <a:endParaRPr lang="en-GB" dirty="0">
              <a:solidFill>
                <a:schemeClr val="tx1"/>
              </a:solidFill>
              <a:latin typeface="APL385 Unicode" panose="020B0709000202000203" pitchFamily="49" charset="0"/>
            </a:endParaRPr>
          </a:p>
          <a:p>
            <a:pPr marL="0" indent="0">
              <a:buFont typeface="Wingdings 2" panose="05020102010507070707" pitchFamily="18" charset="2"/>
              <a:buNone/>
            </a:pPr>
            <a:endParaRPr lang="en-GB" dirty="0">
              <a:solidFill>
                <a:schemeClr val="tx1"/>
              </a:solidFill>
              <a:latin typeface="APL385 Unicode" panose="020B0709000202000203" pitchFamily="49" charset="0"/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¯1 + 2 × ⍳ </a:t>
            </a:r>
            <a:r>
              <a:rPr lang="en-GB" dirty="0">
                <a:solidFill>
                  <a:schemeClr val="accent4"/>
                </a:solidFill>
                <a:latin typeface="APL385 Unicode" panose="020B0709000202000203" pitchFamily="49" charset="0"/>
              </a:rPr>
              <a:t>7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E264A06-0589-4DC1-99E6-C4C016430895}"/>
              </a:ext>
            </a:extLst>
          </p:cNvPr>
          <p:cNvSpPr txBox="1">
            <a:spLocks/>
          </p:cNvSpPr>
          <p:nvPr/>
        </p:nvSpPr>
        <p:spPr>
          <a:xfrm>
            <a:off x="207819" y="890845"/>
            <a:ext cx="3567546" cy="3325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pPr algn="r"/>
            <a:r>
              <a:rPr lang="en-GB" sz="1800" dirty="0"/>
              <a:t>Short left scope, long right scope</a:t>
            </a:r>
          </a:p>
        </p:txBody>
      </p:sp>
    </p:spTree>
    <p:extLst>
      <p:ext uri="{BB962C8B-B14F-4D97-AF65-F5344CB8AC3E}">
        <p14:creationId xmlns:p14="http://schemas.microsoft.com/office/powerpoint/2010/main" val="18926090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A3412-42D2-4139-B26F-6AEAEA9F21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B2DCC-4491-4A14-9F72-D6999AD57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267657"/>
            <a:ext cx="3839763" cy="685535"/>
          </a:xfrm>
        </p:spPr>
        <p:txBody>
          <a:bodyPr/>
          <a:lstStyle/>
          <a:p>
            <a:r>
              <a:rPr lang="en-GB" dirty="0"/>
              <a:t>Simple syntax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BF610-8452-41FA-A3F0-884DCB5ABA4F}"/>
              </a:ext>
            </a:extLst>
          </p:cNvPr>
          <p:cNvSpPr txBox="1">
            <a:spLocks/>
          </p:cNvSpPr>
          <p:nvPr/>
        </p:nvSpPr>
        <p:spPr>
          <a:xfrm>
            <a:off x="408710" y="1282996"/>
            <a:ext cx="8097982" cy="32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endParaRPr lang="en-GB" dirty="0">
              <a:solidFill>
                <a:schemeClr val="tx1"/>
              </a:solidFill>
              <a:latin typeface="APL385 Unicode" panose="020B0709000202000203" pitchFamily="49" charset="0"/>
            </a:endParaRPr>
          </a:p>
          <a:p>
            <a:pPr marL="0" indent="0">
              <a:buFont typeface="Wingdings 2" panose="05020102010507070707" pitchFamily="18" charset="2"/>
              <a:buNone/>
            </a:pPr>
            <a:endParaRPr lang="en-GB" dirty="0">
              <a:solidFill>
                <a:schemeClr val="tx1"/>
              </a:solidFill>
              <a:latin typeface="APL385 Unicode" panose="020B0709000202000203" pitchFamily="49" charset="0"/>
            </a:endParaRPr>
          </a:p>
          <a:p>
            <a:pPr marL="0" indent="0">
              <a:buFont typeface="Wingdings 2" panose="05020102010507070707" pitchFamily="18" charset="2"/>
              <a:buNone/>
            </a:pPr>
            <a:endParaRPr lang="en-GB" dirty="0">
              <a:solidFill>
                <a:schemeClr val="tx1"/>
              </a:solidFill>
              <a:latin typeface="APL385 Unicode" panose="020B0709000202000203" pitchFamily="49" charset="0"/>
            </a:endParaRPr>
          </a:p>
          <a:p>
            <a:pPr marL="0" indent="0">
              <a:buFont typeface="Wingdings 2" panose="05020102010507070707" pitchFamily="18" charset="2"/>
              <a:buNone/>
            </a:pPr>
            <a:endParaRPr lang="en-GB" dirty="0">
              <a:solidFill>
                <a:schemeClr val="tx1"/>
              </a:solidFill>
              <a:latin typeface="APL385 Unicode" panose="020B0709000202000203" pitchFamily="49" charset="0"/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¯1 + 2 × </a:t>
            </a:r>
            <a:r>
              <a:rPr lang="en-GB" dirty="0">
                <a:solidFill>
                  <a:schemeClr val="accent4"/>
                </a:solidFill>
                <a:latin typeface="APL385 Unicode" panose="020B0709000202000203" pitchFamily="49" charset="0"/>
              </a:rPr>
              <a:t>1 2 3 4 5 6 7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E264A06-0589-4DC1-99E6-C4C016430895}"/>
              </a:ext>
            </a:extLst>
          </p:cNvPr>
          <p:cNvSpPr txBox="1">
            <a:spLocks/>
          </p:cNvSpPr>
          <p:nvPr/>
        </p:nvSpPr>
        <p:spPr>
          <a:xfrm>
            <a:off x="207819" y="890845"/>
            <a:ext cx="3567546" cy="3325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pPr algn="r"/>
            <a:r>
              <a:rPr lang="en-GB" sz="1800" dirty="0"/>
              <a:t>Short left scope, long right scope</a:t>
            </a:r>
          </a:p>
        </p:txBody>
      </p:sp>
    </p:spTree>
    <p:extLst>
      <p:ext uri="{BB962C8B-B14F-4D97-AF65-F5344CB8AC3E}">
        <p14:creationId xmlns:p14="http://schemas.microsoft.com/office/powerpoint/2010/main" val="30403042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A3412-42D2-4139-B26F-6AEAEA9F21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B2DCC-4491-4A14-9F72-D6999AD57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267657"/>
            <a:ext cx="3839763" cy="685535"/>
          </a:xfrm>
        </p:spPr>
        <p:txBody>
          <a:bodyPr/>
          <a:lstStyle/>
          <a:p>
            <a:r>
              <a:rPr lang="en-GB" dirty="0"/>
              <a:t>Simple syntax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BF610-8452-41FA-A3F0-884DCB5ABA4F}"/>
              </a:ext>
            </a:extLst>
          </p:cNvPr>
          <p:cNvSpPr txBox="1">
            <a:spLocks/>
          </p:cNvSpPr>
          <p:nvPr/>
        </p:nvSpPr>
        <p:spPr>
          <a:xfrm>
            <a:off x="408710" y="1282996"/>
            <a:ext cx="8097982" cy="32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endParaRPr lang="en-GB" dirty="0">
              <a:solidFill>
                <a:schemeClr val="tx1"/>
              </a:solidFill>
              <a:latin typeface="APL385 Unicode" panose="020B0709000202000203" pitchFamily="49" charset="0"/>
            </a:endParaRPr>
          </a:p>
          <a:p>
            <a:pPr marL="0" indent="0">
              <a:buFont typeface="Wingdings 2" panose="05020102010507070707" pitchFamily="18" charset="2"/>
              <a:buNone/>
            </a:pPr>
            <a:endParaRPr lang="en-GB" dirty="0">
              <a:solidFill>
                <a:schemeClr val="tx1"/>
              </a:solidFill>
              <a:latin typeface="APL385 Unicode" panose="020B0709000202000203" pitchFamily="49" charset="0"/>
            </a:endParaRPr>
          </a:p>
          <a:p>
            <a:pPr marL="0" indent="0">
              <a:buFont typeface="Wingdings 2" panose="05020102010507070707" pitchFamily="18" charset="2"/>
              <a:buNone/>
            </a:pPr>
            <a:endParaRPr lang="en-GB" dirty="0">
              <a:solidFill>
                <a:schemeClr val="tx1"/>
              </a:solidFill>
              <a:latin typeface="APL385 Unicode" panose="020B0709000202000203" pitchFamily="49" charset="0"/>
            </a:endParaRPr>
          </a:p>
          <a:p>
            <a:pPr marL="0" indent="0">
              <a:buFont typeface="Wingdings 2" panose="05020102010507070707" pitchFamily="18" charset="2"/>
              <a:buNone/>
            </a:pPr>
            <a:endParaRPr lang="en-GB" dirty="0">
              <a:solidFill>
                <a:schemeClr val="tx1"/>
              </a:solidFill>
              <a:latin typeface="APL385 Unicode" panose="020B0709000202000203" pitchFamily="49" charset="0"/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¯1 + </a:t>
            </a:r>
            <a:r>
              <a:rPr lang="en-GB" dirty="0">
                <a:solidFill>
                  <a:schemeClr val="accent4"/>
                </a:solidFill>
                <a:latin typeface="APL385 Unicode" panose="020B0709000202000203" pitchFamily="49" charset="0"/>
              </a:rPr>
              <a:t>2 4 6 8 10 12 14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E264A06-0589-4DC1-99E6-C4C016430895}"/>
              </a:ext>
            </a:extLst>
          </p:cNvPr>
          <p:cNvSpPr txBox="1">
            <a:spLocks/>
          </p:cNvSpPr>
          <p:nvPr/>
        </p:nvSpPr>
        <p:spPr>
          <a:xfrm>
            <a:off x="207819" y="890845"/>
            <a:ext cx="3567546" cy="3325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pPr algn="r"/>
            <a:r>
              <a:rPr lang="en-GB" sz="1800" dirty="0"/>
              <a:t>Short left scope, long right scope</a:t>
            </a:r>
          </a:p>
        </p:txBody>
      </p:sp>
    </p:spTree>
    <p:extLst>
      <p:ext uri="{BB962C8B-B14F-4D97-AF65-F5344CB8AC3E}">
        <p14:creationId xmlns:p14="http://schemas.microsoft.com/office/powerpoint/2010/main" val="10830273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A3412-42D2-4139-B26F-6AEAEA9F21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B2DCC-4491-4A14-9F72-D6999AD57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267657"/>
            <a:ext cx="3839763" cy="685535"/>
          </a:xfrm>
        </p:spPr>
        <p:txBody>
          <a:bodyPr/>
          <a:lstStyle/>
          <a:p>
            <a:r>
              <a:rPr lang="en-GB" dirty="0"/>
              <a:t>Simple syntax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BF610-8452-41FA-A3F0-884DCB5ABA4F}"/>
              </a:ext>
            </a:extLst>
          </p:cNvPr>
          <p:cNvSpPr txBox="1">
            <a:spLocks/>
          </p:cNvSpPr>
          <p:nvPr/>
        </p:nvSpPr>
        <p:spPr>
          <a:xfrm>
            <a:off x="408710" y="1282996"/>
            <a:ext cx="8097982" cy="32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endParaRPr lang="en-GB" dirty="0">
              <a:solidFill>
                <a:schemeClr val="tx1"/>
              </a:solidFill>
              <a:latin typeface="APL385 Unicode" panose="020B0709000202000203" pitchFamily="49" charset="0"/>
            </a:endParaRPr>
          </a:p>
          <a:p>
            <a:pPr marL="0" indent="0">
              <a:buFont typeface="Wingdings 2" panose="05020102010507070707" pitchFamily="18" charset="2"/>
              <a:buNone/>
            </a:pPr>
            <a:endParaRPr lang="en-GB" dirty="0">
              <a:solidFill>
                <a:schemeClr val="tx1"/>
              </a:solidFill>
              <a:latin typeface="APL385 Unicode" panose="020B0709000202000203" pitchFamily="49" charset="0"/>
            </a:endParaRPr>
          </a:p>
          <a:p>
            <a:pPr marL="0" indent="0">
              <a:buFont typeface="Wingdings 2" panose="05020102010507070707" pitchFamily="18" charset="2"/>
              <a:buNone/>
            </a:pPr>
            <a:endParaRPr lang="en-GB" dirty="0">
              <a:solidFill>
                <a:schemeClr val="tx1"/>
              </a:solidFill>
              <a:latin typeface="APL385 Unicode" panose="020B0709000202000203" pitchFamily="49" charset="0"/>
            </a:endParaRPr>
          </a:p>
          <a:p>
            <a:pPr marL="0" indent="0">
              <a:buFont typeface="Wingdings 2" panose="05020102010507070707" pitchFamily="18" charset="2"/>
              <a:buNone/>
            </a:pPr>
            <a:endParaRPr lang="en-GB" dirty="0">
              <a:solidFill>
                <a:schemeClr val="tx1"/>
              </a:solidFill>
              <a:latin typeface="APL385 Unicode" panose="020B0709000202000203" pitchFamily="49" charset="0"/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chemeClr val="accent4"/>
                </a:solidFill>
                <a:latin typeface="APL385 Unicode" panose="020B0709000202000203" pitchFamily="49" charset="0"/>
              </a:rPr>
              <a:t>1 3 5 7 9 11 13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E264A06-0589-4DC1-99E6-C4C016430895}"/>
              </a:ext>
            </a:extLst>
          </p:cNvPr>
          <p:cNvSpPr txBox="1">
            <a:spLocks/>
          </p:cNvSpPr>
          <p:nvPr/>
        </p:nvSpPr>
        <p:spPr>
          <a:xfrm>
            <a:off x="207819" y="890845"/>
            <a:ext cx="3567546" cy="3325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pPr algn="r"/>
            <a:r>
              <a:rPr lang="en-GB" sz="1800" dirty="0"/>
              <a:t>Short left scope, long right scope</a:t>
            </a:r>
          </a:p>
        </p:txBody>
      </p:sp>
    </p:spTree>
    <p:extLst>
      <p:ext uri="{BB962C8B-B14F-4D97-AF65-F5344CB8AC3E}">
        <p14:creationId xmlns:p14="http://schemas.microsoft.com/office/powerpoint/2010/main" val="155959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A3412-42D2-4139-B26F-6AEAEA9F21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B2DCC-4491-4A14-9F72-D6999AD5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Operators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BF610-8452-41FA-A3F0-884DCB5ABA4F}"/>
              </a:ext>
            </a:extLst>
          </p:cNvPr>
          <p:cNvSpPr txBox="1">
            <a:spLocks/>
          </p:cNvSpPr>
          <p:nvPr/>
        </p:nvSpPr>
        <p:spPr>
          <a:xfrm>
            <a:off x="1659082" y="1573609"/>
            <a:ext cx="8097982" cy="3387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2   5   8   ¯4   6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E264A06-0589-4DC1-99E6-C4C016430895}"/>
              </a:ext>
            </a:extLst>
          </p:cNvPr>
          <p:cNvSpPr txBox="1">
            <a:spLocks/>
          </p:cNvSpPr>
          <p:nvPr/>
        </p:nvSpPr>
        <p:spPr>
          <a:xfrm>
            <a:off x="815363" y="786937"/>
            <a:ext cx="1983255" cy="3325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1800" dirty="0"/>
              <a:t>How to sum a list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5CE861-47EA-416A-925C-CDBA88F61E3B}"/>
              </a:ext>
            </a:extLst>
          </p:cNvPr>
          <p:cNvSpPr txBox="1"/>
          <p:nvPr/>
        </p:nvSpPr>
        <p:spPr>
          <a:xfrm>
            <a:off x="3124199" y="1594390"/>
            <a:ext cx="350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tx1"/>
                </a:solidFill>
                <a:latin typeface="APL385 Unicode" panose="020B0709000202000203" pitchFamily="49" charset="0"/>
              </a:rPr>
              <a:t>+   +   +    +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0085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A3412-42D2-4139-B26F-6AEAEA9F21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B2DCC-4491-4A14-9F72-D6999AD5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Operators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BF610-8452-41FA-A3F0-884DCB5ABA4F}"/>
              </a:ext>
            </a:extLst>
          </p:cNvPr>
          <p:cNvSpPr txBox="1">
            <a:spLocks/>
          </p:cNvSpPr>
          <p:nvPr/>
        </p:nvSpPr>
        <p:spPr>
          <a:xfrm>
            <a:off x="1659082" y="1573609"/>
            <a:ext cx="8097982" cy="3387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2   5   8   ¯4   </a:t>
            </a:r>
            <a:r>
              <a:rPr lang="en-GB" dirty="0">
                <a:solidFill>
                  <a:schemeClr val="accent4"/>
                </a:solidFill>
                <a:latin typeface="APL385 Unicode" panose="020B0709000202000203" pitchFamily="49" charset="0"/>
              </a:rPr>
              <a:t>6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2 + 5 + 8 +  </a:t>
            </a:r>
            <a:r>
              <a:rPr lang="en-GB" dirty="0">
                <a:solidFill>
                  <a:schemeClr val="accent4"/>
                </a:solidFill>
                <a:latin typeface="APL385 Unicode" panose="020B0709000202000203" pitchFamily="49" charset="0"/>
              </a:rPr>
              <a:t>2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2 + 5 + </a:t>
            </a:r>
            <a:r>
              <a:rPr lang="en-GB" dirty="0">
                <a:solidFill>
                  <a:schemeClr val="accent4"/>
                </a:solidFill>
                <a:latin typeface="APL385 Unicode" panose="020B0709000202000203" pitchFamily="49" charset="0"/>
              </a:rPr>
              <a:t>10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2 + </a:t>
            </a:r>
            <a:r>
              <a:rPr lang="en-GB" dirty="0">
                <a:solidFill>
                  <a:schemeClr val="accent4"/>
                </a:solidFill>
                <a:latin typeface="APL385 Unicode" panose="020B0709000202000203" pitchFamily="49" charset="0"/>
              </a:rPr>
              <a:t>15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chemeClr val="accent4"/>
                </a:solidFill>
                <a:latin typeface="APL385 Unicode" panose="020B0709000202000203" pitchFamily="49" charset="0"/>
              </a:rPr>
              <a:t>17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E264A06-0589-4DC1-99E6-C4C016430895}"/>
              </a:ext>
            </a:extLst>
          </p:cNvPr>
          <p:cNvSpPr txBox="1">
            <a:spLocks/>
          </p:cNvSpPr>
          <p:nvPr/>
        </p:nvSpPr>
        <p:spPr>
          <a:xfrm>
            <a:off x="815363" y="786937"/>
            <a:ext cx="1983255" cy="3325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1800" dirty="0"/>
              <a:t>How to sum a list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5CE861-47EA-416A-925C-CDBA88F61E3B}"/>
              </a:ext>
            </a:extLst>
          </p:cNvPr>
          <p:cNvSpPr txBox="1"/>
          <p:nvPr/>
        </p:nvSpPr>
        <p:spPr>
          <a:xfrm>
            <a:off x="3124199" y="1594390"/>
            <a:ext cx="350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tx1"/>
                </a:solidFill>
                <a:latin typeface="APL385 Unicode" panose="020B0709000202000203" pitchFamily="49" charset="0"/>
              </a:rPr>
              <a:t>+   +   +    +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679189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A3412-42D2-4139-B26F-6AEAEA9F21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B2DCC-4491-4A14-9F72-D6999AD5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Operators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BF610-8452-41FA-A3F0-884DCB5ABA4F}"/>
              </a:ext>
            </a:extLst>
          </p:cNvPr>
          <p:cNvSpPr txBox="1">
            <a:spLocks/>
          </p:cNvSpPr>
          <p:nvPr/>
        </p:nvSpPr>
        <p:spPr>
          <a:xfrm>
            <a:off x="1659082" y="1573609"/>
            <a:ext cx="8097982" cy="3387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2   5   8   ¯4   6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E264A06-0589-4DC1-99E6-C4C016430895}"/>
              </a:ext>
            </a:extLst>
          </p:cNvPr>
          <p:cNvSpPr txBox="1">
            <a:spLocks/>
          </p:cNvSpPr>
          <p:nvPr/>
        </p:nvSpPr>
        <p:spPr>
          <a:xfrm>
            <a:off x="815363" y="786937"/>
            <a:ext cx="1983255" cy="3325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1800" dirty="0"/>
              <a:t>How to sum a list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5CE861-47EA-416A-925C-CDBA88F61E3B}"/>
              </a:ext>
            </a:extLst>
          </p:cNvPr>
          <p:cNvSpPr txBox="1"/>
          <p:nvPr/>
        </p:nvSpPr>
        <p:spPr>
          <a:xfrm>
            <a:off x="3124199" y="1594390"/>
            <a:ext cx="350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tx1"/>
                </a:solidFill>
                <a:latin typeface="APL385 Unicode" panose="020B0709000202000203" pitchFamily="49" charset="0"/>
              </a:rPr>
              <a:t>             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8227645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A3412-42D2-4139-B26F-6AEAEA9F21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B2DCC-4491-4A14-9F72-D6999AD5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Operators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BF610-8452-41FA-A3F0-884DCB5ABA4F}"/>
              </a:ext>
            </a:extLst>
          </p:cNvPr>
          <p:cNvSpPr txBox="1">
            <a:spLocks/>
          </p:cNvSpPr>
          <p:nvPr/>
        </p:nvSpPr>
        <p:spPr>
          <a:xfrm>
            <a:off x="1659082" y="1573609"/>
            <a:ext cx="8097982" cy="3387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+</a:t>
            </a:r>
            <a:r>
              <a:rPr lang="en-GB" dirty="0">
                <a:solidFill>
                  <a:srgbClr val="FFB000"/>
                </a:solidFill>
                <a:latin typeface="APL385 Unicode" panose="020B0709000202000203" pitchFamily="49" charset="0"/>
              </a:rPr>
              <a:t>/</a:t>
            </a: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2   5   8   ¯4   6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17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E264A06-0589-4DC1-99E6-C4C016430895}"/>
              </a:ext>
            </a:extLst>
          </p:cNvPr>
          <p:cNvSpPr txBox="1">
            <a:spLocks/>
          </p:cNvSpPr>
          <p:nvPr/>
        </p:nvSpPr>
        <p:spPr>
          <a:xfrm>
            <a:off x="815363" y="786937"/>
            <a:ext cx="1983255" cy="3325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1800" dirty="0"/>
              <a:t>How to sum a list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5CE861-47EA-416A-925C-CDBA88F61E3B}"/>
              </a:ext>
            </a:extLst>
          </p:cNvPr>
          <p:cNvSpPr txBox="1"/>
          <p:nvPr/>
        </p:nvSpPr>
        <p:spPr>
          <a:xfrm>
            <a:off x="3124199" y="1594390"/>
            <a:ext cx="350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tx1"/>
                </a:solidFill>
                <a:latin typeface="APL385 Unicode" panose="020B0709000202000203" pitchFamily="49" charset="0"/>
              </a:rPr>
              <a:t>             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117635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A3412-42D2-4139-B26F-6AEAEA9F21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B2DCC-4491-4A14-9F72-D6999AD5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Operators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BF610-8452-41FA-A3F0-884DCB5ABA4F}"/>
              </a:ext>
            </a:extLst>
          </p:cNvPr>
          <p:cNvSpPr txBox="1">
            <a:spLocks/>
          </p:cNvSpPr>
          <p:nvPr/>
        </p:nvSpPr>
        <p:spPr>
          <a:xfrm>
            <a:off x="1659082" y="1573609"/>
            <a:ext cx="8097982" cy="3387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+/  2   5   8   ¯4   6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lang="en-GB" dirty="0">
              <a:solidFill>
                <a:schemeClr val="tx1"/>
              </a:solidFill>
              <a:latin typeface="APL385 Unicode" panose="020B0709000202000203" pitchFamily="49" charset="0"/>
            </a:endParaRP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E264A06-0589-4DC1-99E6-C4C016430895}"/>
              </a:ext>
            </a:extLst>
          </p:cNvPr>
          <p:cNvSpPr txBox="1">
            <a:spLocks/>
          </p:cNvSpPr>
          <p:nvPr/>
        </p:nvSpPr>
        <p:spPr>
          <a:xfrm>
            <a:off x="815363" y="786937"/>
            <a:ext cx="1983255" cy="3325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1800" dirty="0"/>
              <a:t>How to sum a list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5CE861-47EA-416A-925C-CDBA88F61E3B}"/>
              </a:ext>
            </a:extLst>
          </p:cNvPr>
          <p:cNvSpPr txBox="1"/>
          <p:nvPr/>
        </p:nvSpPr>
        <p:spPr>
          <a:xfrm>
            <a:off x="3124199" y="1594390"/>
            <a:ext cx="350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tx1"/>
                </a:solidFill>
                <a:latin typeface="APL385 Unicode" panose="020B0709000202000203" pitchFamily="49" charset="0"/>
              </a:rPr>
              <a:t>             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18982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A3412-42D2-4139-B26F-6AEAEA9F21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B2DCC-4491-4A14-9F72-D6999AD5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Operators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BF610-8452-41FA-A3F0-884DCB5ABA4F}"/>
              </a:ext>
            </a:extLst>
          </p:cNvPr>
          <p:cNvSpPr txBox="1">
            <a:spLocks/>
          </p:cNvSpPr>
          <p:nvPr/>
        </p:nvSpPr>
        <p:spPr>
          <a:xfrm>
            <a:off x="1659082" y="1573609"/>
            <a:ext cx="8097982" cy="3387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</a:t>
            </a:r>
            <a:r>
              <a:rPr lang="en-GB" dirty="0">
                <a:solidFill>
                  <a:srgbClr val="FFB000"/>
                </a:solidFill>
                <a:latin typeface="APL385 Unicode" panose="020B0709000202000203" pitchFamily="49" charset="0"/>
              </a:rPr>
              <a:t>×</a:t>
            </a: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/  2   5   8   ¯4   6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¯1920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E264A06-0589-4DC1-99E6-C4C016430895}"/>
              </a:ext>
            </a:extLst>
          </p:cNvPr>
          <p:cNvSpPr txBox="1">
            <a:spLocks/>
          </p:cNvSpPr>
          <p:nvPr/>
        </p:nvSpPr>
        <p:spPr>
          <a:xfrm>
            <a:off x="815363" y="786937"/>
            <a:ext cx="1983255" cy="3325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1800" dirty="0"/>
              <a:t>How to sum a list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5CE861-47EA-416A-925C-CDBA88F61E3B}"/>
              </a:ext>
            </a:extLst>
          </p:cNvPr>
          <p:cNvSpPr txBox="1"/>
          <p:nvPr/>
        </p:nvSpPr>
        <p:spPr>
          <a:xfrm>
            <a:off x="3124199" y="1594390"/>
            <a:ext cx="350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tx1"/>
                </a:solidFill>
                <a:latin typeface="APL385 Unicode" panose="020B0709000202000203" pitchFamily="49" charset="0"/>
              </a:rPr>
              <a:t>             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67025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A3412-42D2-4139-B26F-6AEAEA9F21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B2DCC-4491-4A14-9F72-D6999AD5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Operators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BF610-8452-41FA-A3F0-884DCB5ABA4F}"/>
              </a:ext>
            </a:extLst>
          </p:cNvPr>
          <p:cNvSpPr txBox="1">
            <a:spLocks/>
          </p:cNvSpPr>
          <p:nvPr/>
        </p:nvSpPr>
        <p:spPr>
          <a:xfrm>
            <a:off x="1659082" y="1573609"/>
            <a:ext cx="8097982" cy="3387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</a:t>
            </a:r>
            <a:r>
              <a:rPr lang="en-GB" dirty="0">
                <a:solidFill>
                  <a:srgbClr val="FFB000"/>
                </a:solidFill>
                <a:latin typeface="APL385 Unicode" panose="020B0709000202000203" pitchFamily="49" charset="0"/>
              </a:rPr>
              <a:t>⌈</a:t>
            </a: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/  2   5   8   ¯4   6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8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E264A06-0589-4DC1-99E6-C4C016430895}"/>
              </a:ext>
            </a:extLst>
          </p:cNvPr>
          <p:cNvSpPr txBox="1">
            <a:spLocks/>
          </p:cNvSpPr>
          <p:nvPr/>
        </p:nvSpPr>
        <p:spPr>
          <a:xfrm>
            <a:off x="815363" y="786937"/>
            <a:ext cx="1983255" cy="3325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1800" dirty="0"/>
              <a:t>How to sum a list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5CE861-47EA-416A-925C-CDBA88F61E3B}"/>
              </a:ext>
            </a:extLst>
          </p:cNvPr>
          <p:cNvSpPr txBox="1"/>
          <p:nvPr/>
        </p:nvSpPr>
        <p:spPr>
          <a:xfrm>
            <a:off x="3124199" y="1594390"/>
            <a:ext cx="350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tx1"/>
                </a:solidFill>
                <a:latin typeface="APL385 Unicode" panose="020B0709000202000203" pitchFamily="49" charset="0"/>
              </a:rPr>
              <a:t>             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061996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A3412-42D2-4139-B26F-6AEAEA9F21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B2DCC-4491-4A14-9F72-D6999AD5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Operators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BF610-8452-41FA-A3F0-884DCB5ABA4F}"/>
              </a:ext>
            </a:extLst>
          </p:cNvPr>
          <p:cNvSpPr txBox="1">
            <a:spLocks/>
          </p:cNvSpPr>
          <p:nvPr/>
        </p:nvSpPr>
        <p:spPr>
          <a:xfrm>
            <a:off x="1659082" y="1573609"/>
            <a:ext cx="8097982" cy="3387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</a:t>
            </a:r>
            <a:r>
              <a:rPr lang="en-GB" dirty="0">
                <a:solidFill>
                  <a:srgbClr val="FFB000"/>
                </a:solidFill>
                <a:latin typeface="APL385 Unicode" panose="020B0709000202000203" pitchFamily="49" charset="0"/>
              </a:rPr>
              <a:t>⌊</a:t>
            </a: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/  2   5   8   ¯4   6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¯4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E264A06-0589-4DC1-99E6-C4C016430895}"/>
              </a:ext>
            </a:extLst>
          </p:cNvPr>
          <p:cNvSpPr txBox="1">
            <a:spLocks/>
          </p:cNvSpPr>
          <p:nvPr/>
        </p:nvSpPr>
        <p:spPr>
          <a:xfrm>
            <a:off x="815363" y="786937"/>
            <a:ext cx="1983255" cy="3325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1800" dirty="0"/>
              <a:t>How to sum a list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5CE861-47EA-416A-925C-CDBA88F61E3B}"/>
              </a:ext>
            </a:extLst>
          </p:cNvPr>
          <p:cNvSpPr txBox="1"/>
          <p:nvPr/>
        </p:nvSpPr>
        <p:spPr>
          <a:xfrm>
            <a:off x="3124199" y="1594390"/>
            <a:ext cx="350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tx1"/>
                </a:solidFill>
                <a:latin typeface="APL385 Unicode" panose="020B0709000202000203" pitchFamily="49" charset="0"/>
              </a:rPr>
              <a:t>             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666513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A3412-42D2-4139-B26F-6AEAEA9F21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B2DCC-4491-4A14-9F72-D6999AD5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Operators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BF610-8452-41FA-A3F0-884DCB5ABA4F}"/>
              </a:ext>
            </a:extLst>
          </p:cNvPr>
          <p:cNvSpPr txBox="1">
            <a:spLocks/>
          </p:cNvSpPr>
          <p:nvPr/>
        </p:nvSpPr>
        <p:spPr>
          <a:xfrm>
            <a:off x="2555358" y="1119446"/>
            <a:ext cx="6298356" cy="3523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3000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      1 2 3 </a:t>
            </a:r>
            <a:r>
              <a:rPr lang="en-GB" sz="3000" dirty="0">
                <a:solidFill>
                  <a:srgbClr val="FFB000"/>
                </a:solidFill>
                <a:latin typeface="APL385 Unicode" panose="020B0709000202000203" pitchFamily="49" charset="0"/>
              </a:rPr>
              <a:t>∘.</a:t>
            </a:r>
            <a:r>
              <a:rPr lang="en-GB" sz="3000" dirty="0">
                <a:latin typeface="APL385 Unicode" panose="020B0709000202000203" pitchFamily="49" charset="0"/>
              </a:rPr>
              <a:t>× 1 2 3 4 5</a:t>
            </a:r>
          </a:p>
          <a:p>
            <a:pPr marL="0" indent="0">
              <a:buNone/>
            </a:pPr>
            <a:endParaRPr lang="en-GB" sz="3000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1 2 3  4  5</a:t>
            </a: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2 4 6  8 10</a:t>
            </a: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3 6 9 12 15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E264A06-0589-4DC1-99E6-C4C016430895}"/>
              </a:ext>
            </a:extLst>
          </p:cNvPr>
          <p:cNvSpPr txBox="1">
            <a:spLocks/>
          </p:cNvSpPr>
          <p:nvPr/>
        </p:nvSpPr>
        <p:spPr>
          <a:xfrm>
            <a:off x="815363" y="786937"/>
            <a:ext cx="4130710" cy="3325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1800" dirty="0"/>
              <a:t>Outer Product</a:t>
            </a:r>
          </a:p>
        </p:txBody>
      </p:sp>
    </p:spTree>
    <p:extLst>
      <p:ext uri="{BB962C8B-B14F-4D97-AF65-F5344CB8AC3E}">
        <p14:creationId xmlns:p14="http://schemas.microsoft.com/office/powerpoint/2010/main" val="2011621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A3412-42D2-4139-B26F-6AEAEA9F21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B2DCC-4491-4A14-9F72-D6999AD5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Operators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BF610-8452-41FA-A3F0-884DCB5ABA4F}"/>
              </a:ext>
            </a:extLst>
          </p:cNvPr>
          <p:cNvSpPr txBox="1">
            <a:spLocks/>
          </p:cNvSpPr>
          <p:nvPr/>
        </p:nvSpPr>
        <p:spPr>
          <a:xfrm>
            <a:off x="2555358" y="1119446"/>
            <a:ext cx="6298356" cy="3523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3000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      1 2 3 </a:t>
            </a:r>
            <a:r>
              <a:rPr lang="en-GB" sz="3000" dirty="0">
                <a:solidFill>
                  <a:schemeClr val="tx1"/>
                </a:solidFill>
                <a:latin typeface="APL385 Unicode" panose="020B0709000202000203" pitchFamily="49" charset="0"/>
              </a:rPr>
              <a:t>∘.× </a:t>
            </a:r>
            <a:r>
              <a:rPr lang="en-GB" sz="3000" dirty="0">
                <a:latin typeface="APL385 Unicode" panose="020B0709000202000203" pitchFamily="49" charset="0"/>
              </a:rPr>
              <a:t>1 2 3 4 5</a:t>
            </a:r>
          </a:p>
          <a:p>
            <a:pPr marL="0" indent="0">
              <a:buNone/>
            </a:pPr>
            <a:endParaRPr lang="en-GB" sz="3000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1 2 3  4  5</a:t>
            </a: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2 4 6  8 10</a:t>
            </a: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3 6 9 12 15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E264A06-0589-4DC1-99E6-C4C016430895}"/>
              </a:ext>
            </a:extLst>
          </p:cNvPr>
          <p:cNvSpPr txBox="1">
            <a:spLocks/>
          </p:cNvSpPr>
          <p:nvPr/>
        </p:nvSpPr>
        <p:spPr>
          <a:xfrm>
            <a:off x="815363" y="786937"/>
            <a:ext cx="4130710" cy="3325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1800" dirty="0"/>
              <a:t>Outer Product</a:t>
            </a:r>
          </a:p>
        </p:txBody>
      </p:sp>
    </p:spTree>
    <p:extLst>
      <p:ext uri="{BB962C8B-B14F-4D97-AF65-F5344CB8AC3E}">
        <p14:creationId xmlns:p14="http://schemas.microsoft.com/office/powerpoint/2010/main" val="2151496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A3412-42D2-4139-B26F-6AEAEA9F21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B2DCC-4491-4A14-9F72-D6999AD5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Operators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BF610-8452-41FA-A3F0-884DCB5ABA4F}"/>
              </a:ext>
            </a:extLst>
          </p:cNvPr>
          <p:cNvSpPr txBox="1">
            <a:spLocks/>
          </p:cNvSpPr>
          <p:nvPr/>
        </p:nvSpPr>
        <p:spPr>
          <a:xfrm>
            <a:off x="2555358" y="1119446"/>
            <a:ext cx="6298356" cy="3523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3000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      1 2 3 ∘.</a:t>
            </a:r>
            <a:r>
              <a:rPr lang="en-GB" sz="3000" dirty="0">
                <a:solidFill>
                  <a:srgbClr val="FFB000"/>
                </a:solidFill>
                <a:latin typeface="APL385 Unicode" panose="020B0709000202000203" pitchFamily="49" charset="0"/>
              </a:rPr>
              <a:t>+</a:t>
            </a:r>
            <a:r>
              <a:rPr lang="en-GB" sz="3000" dirty="0">
                <a:latin typeface="APL385 Unicode" panose="020B0709000202000203" pitchFamily="49" charset="0"/>
              </a:rPr>
              <a:t> 1 2 3 4 5</a:t>
            </a:r>
          </a:p>
          <a:p>
            <a:pPr marL="0" indent="0">
              <a:buNone/>
            </a:pPr>
            <a:endParaRPr lang="en-GB" sz="3000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2 3 4 5 6</a:t>
            </a: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3 4 5 6 7</a:t>
            </a: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4 5 6 7 8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E264A06-0589-4DC1-99E6-C4C016430895}"/>
              </a:ext>
            </a:extLst>
          </p:cNvPr>
          <p:cNvSpPr txBox="1">
            <a:spLocks/>
          </p:cNvSpPr>
          <p:nvPr/>
        </p:nvSpPr>
        <p:spPr>
          <a:xfrm>
            <a:off x="815363" y="786937"/>
            <a:ext cx="4130710" cy="3325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1800" dirty="0"/>
              <a:t>Outer Product</a:t>
            </a:r>
          </a:p>
        </p:txBody>
      </p:sp>
    </p:spTree>
    <p:extLst>
      <p:ext uri="{BB962C8B-B14F-4D97-AF65-F5344CB8AC3E}">
        <p14:creationId xmlns:p14="http://schemas.microsoft.com/office/powerpoint/2010/main" val="675915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A3412-42D2-4139-B26F-6AEAEA9F21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B2DCC-4491-4A14-9F72-D6999AD5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Operators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BF610-8452-41FA-A3F0-884DCB5ABA4F}"/>
              </a:ext>
            </a:extLst>
          </p:cNvPr>
          <p:cNvSpPr txBox="1">
            <a:spLocks/>
          </p:cNvSpPr>
          <p:nvPr/>
        </p:nvSpPr>
        <p:spPr>
          <a:xfrm>
            <a:off x="2555358" y="1119446"/>
            <a:ext cx="6298356" cy="3523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3000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      1 2 3 ∘.</a:t>
            </a:r>
            <a:r>
              <a:rPr lang="en-GB" sz="3000" dirty="0">
                <a:solidFill>
                  <a:srgbClr val="FFB000"/>
                </a:solidFill>
                <a:latin typeface="APL385 Unicode" panose="020B0709000202000203" pitchFamily="49" charset="0"/>
              </a:rPr>
              <a:t>=</a:t>
            </a:r>
            <a:r>
              <a:rPr lang="en-GB" sz="3000" dirty="0">
                <a:latin typeface="APL385 Unicode" panose="020B0709000202000203" pitchFamily="49" charset="0"/>
              </a:rPr>
              <a:t> 1 2 3 4 5</a:t>
            </a:r>
          </a:p>
          <a:p>
            <a:pPr marL="0" indent="0">
              <a:buNone/>
            </a:pPr>
            <a:endParaRPr lang="en-GB" sz="3000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1 0 0 0 0</a:t>
            </a: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0 1 0 0 0</a:t>
            </a: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0 0 1 0 0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E264A06-0589-4DC1-99E6-C4C016430895}"/>
              </a:ext>
            </a:extLst>
          </p:cNvPr>
          <p:cNvSpPr txBox="1">
            <a:spLocks/>
          </p:cNvSpPr>
          <p:nvPr/>
        </p:nvSpPr>
        <p:spPr>
          <a:xfrm>
            <a:off x="815363" y="786937"/>
            <a:ext cx="4130710" cy="3325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1800" dirty="0"/>
              <a:t>Outer Product</a:t>
            </a:r>
          </a:p>
        </p:txBody>
      </p:sp>
    </p:spTree>
    <p:extLst>
      <p:ext uri="{BB962C8B-B14F-4D97-AF65-F5344CB8AC3E}">
        <p14:creationId xmlns:p14="http://schemas.microsoft.com/office/powerpoint/2010/main" val="912423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A3412-42D2-4139-B26F-6AEAEA9F21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B2DCC-4491-4A14-9F72-D6999AD5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Operators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BF610-8452-41FA-A3F0-884DCB5ABA4F}"/>
              </a:ext>
            </a:extLst>
          </p:cNvPr>
          <p:cNvSpPr txBox="1">
            <a:spLocks/>
          </p:cNvSpPr>
          <p:nvPr/>
        </p:nvSpPr>
        <p:spPr>
          <a:xfrm>
            <a:off x="2555358" y="1119446"/>
            <a:ext cx="6298356" cy="3523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3000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      1 2 3 ∘.</a:t>
            </a:r>
            <a:r>
              <a:rPr lang="en-GB" sz="3000" dirty="0">
                <a:solidFill>
                  <a:srgbClr val="FFB000"/>
                </a:solidFill>
                <a:latin typeface="APL385 Unicode" panose="020B0709000202000203" pitchFamily="49" charset="0"/>
              </a:rPr>
              <a:t>≥</a:t>
            </a:r>
            <a:r>
              <a:rPr lang="en-GB" sz="3000" dirty="0">
                <a:latin typeface="APL385 Unicode" panose="020B0709000202000203" pitchFamily="49" charset="0"/>
              </a:rPr>
              <a:t> 1 2 3 4 5</a:t>
            </a:r>
          </a:p>
          <a:p>
            <a:pPr marL="0" indent="0">
              <a:buNone/>
            </a:pPr>
            <a:endParaRPr lang="en-GB" sz="3000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1 0 0 0 0</a:t>
            </a: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1 1 0 0 0</a:t>
            </a: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1 1 1 0 0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E264A06-0589-4DC1-99E6-C4C016430895}"/>
              </a:ext>
            </a:extLst>
          </p:cNvPr>
          <p:cNvSpPr txBox="1">
            <a:spLocks/>
          </p:cNvSpPr>
          <p:nvPr/>
        </p:nvSpPr>
        <p:spPr>
          <a:xfrm>
            <a:off x="815363" y="786937"/>
            <a:ext cx="4130710" cy="3325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1800" dirty="0"/>
              <a:t>Outer Product</a:t>
            </a:r>
          </a:p>
        </p:txBody>
      </p:sp>
    </p:spTree>
    <p:extLst>
      <p:ext uri="{BB962C8B-B14F-4D97-AF65-F5344CB8AC3E}">
        <p14:creationId xmlns:p14="http://schemas.microsoft.com/office/powerpoint/2010/main" val="1028260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A3412-42D2-4139-B26F-6AEAEA9F21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B2DCC-4491-4A14-9F72-D6999AD5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Booleans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BF610-8452-41FA-A3F0-884DCB5ABA4F}"/>
              </a:ext>
            </a:extLst>
          </p:cNvPr>
          <p:cNvSpPr txBox="1">
            <a:spLocks/>
          </p:cNvSpPr>
          <p:nvPr/>
        </p:nvSpPr>
        <p:spPr>
          <a:xfrm>
            <a:off x="2555358" y="1119446"/>
            <a:ext cx="6298356" cy="3523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3000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      1 2 3 ∘.</a:t>
            </a:r>
            <a:r>
              <a:rPr lang="en-GB" sz="3000" dirty="0">
                <a:solidFill>
                  <a:srgbClr val="FFB000"/>
                </a:solidFill>
                <a:latin typeface="APL385 Unicode" panose="020B0709000202000203" pitchFamily="49" charset="0"/>
              </a:rPr>
              <a:t>≥</a:t>
            </a:r>
            <a:r>
              <a:rPr lang="en-GB" sz="3000" dirty="0">
                <a:latin typeface="APL385 Unicode" panose="020B0709000202000203" pitchFamily="49" charset="0"/>
              </a:rPr>
              <a:t> 1 2 3 4 5</a:t>
            </a:r>
          </a:p>
          <a:p>
            <a:pPr marL="0" indent="0">
              <a:buNone/>
            </a:pPr>
            <a:endParaRPr lang="en-GB" sz="3000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1 0 0 0 0</a:t>
            </a: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1 1 0 0 0</a:t>
            </a: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1 1 1 0 0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E264A06-0589-4DC1-99E6-C4C016430895}"/>
              </a:ext>
            </a:extLst>
          </p:cNvPr>
          <p:cNvSpPr txBox="1">
            <a:spLocks/>
          </p:cNvSpPr>
          <p:nvPr/>
        </p:nvSpPr>
        <p:spPr>
          <a:xfrm>
            <a:off x="815363" y="786937"/>
            <a:ext cx="4130710" cy="3325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1800" dirty="0"/>
              <a:t>Friendly 1s and 0s</a:t>
            </a:r>
          </a:p>
        </p:txBody>
      </p:sp>
    </p:spTree>
    <p:extLst>
      <p:ext uri="{BB962C8B-B14F-4D97-AF65-F5344CB8AC3E}">
        <p14:creationId xmlns:p14="http://schemas.microsoft.com/office/powerpoint/2010/main" val="1905307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A3412-42D2-4139-B26F-6AEAEA9F21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B2DCC-4491-4A14-9F72-D6999AD5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Booleans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BF610-8452-41FA-A3F0-884DCB5ABA4F}"/>
              </a:ext>
            </a:extLst>
          </p:cNvPr>
          <p:cNvSpPr txBox="1">
            <a:spLocks/>
          </p:cNvSpPr>
          <p:nvPr/>
        </p:nvSpPr>
        <p:spPr>
          <a:xfrm>
            <a:off x="2555358" y="1119446"/>
            <a:ext cx="6298356" cy="3523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3000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    </a:t>
            </a:r>
            <a:r>
              <a:rPr lang="en-GB" sz="3000" dirty="0">
                <a:solidFill>
                  <a:srgbClr val="FFB000"/>
                </a:solidFill>
                <a:latin typeface="APL385 Unicode" panose="020B0709000202000203" pitchFamily="49" charset="0"/>
              </a:rPr>
              <a:t>+/</a:t>
            </a:r>
            <a:r>
              <a:rPr lang="en-GB" sz="3000" dirty="0">
                <a:latin typeface="APL385 Unicode" panose="020B0709000202000203" pitchFamily="49" charset="0"/>
              </a:rPr>
              <a:t>1 2 3 ∘</a:t>
            </a:r>
            <a:r>
              <a:rPr lang="en-GB" sz="3000" dirty="0">
                <a:solidFill>
                  <a:schemeClr val="tx1"/>
                </a:solidFill>
                <a:latin typeface="APL385 Unicode" panose="020B0709000202000203" pitchFamily="49" charset="0"/>
              </a:rPr>
              <a:t>.≥ </a:t>
            </a:r>
            <a:r>
              <a:rPr lang="en-GB" sz="3000" dirty="0">
                <a:latin typeface="APL385 Unicode" panose="020B0709000202000203" pitchFamily="49" charset="0"/>
              </a:rPr>
              <a:t>1 2 3 4 5</a:t>
            </a:r>
          </a:p>
          <a:p>
            <a:pPr marL="0" indent="0">
              <a:buNone/>
            </a:pPr>
            <a:endParaRPr lang="en-GB" sz="3000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1 0 0 0 0</a:t>
            </a: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1 1 0 0 0</a:t>
            </a: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1 1 1 0 0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E264A06-0589-4DC1-99E6-C4C016430895}"/>
              </a:ext>
            </a:extLst>
          </p:cNvPr>
          <p:cNvSpPr txBox="1">
            <a:spLocks/>
          </p:cNvSpPr>
          <p:nvPr/>
        </p:nvSpPr>
        <p:spPr>
          <a:xfrm>
            <a:off x="815363" y="786937"/>
            <a:ext cx="4130710" cy="3325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1800" dirty="0"/>
              <a:t>Friendly 1s and 0s</a:t>
            </a:r>
          </a:p>
        </p:txBody>
      </p:sp>
    </p:spTree>
    <p:extLst>
      <p:ext uri="{BB962C8B-B14F-4D97-AF65-F5344CB8AC3E}">
        <p14:creationId xmlns:p14="http://schemas.microsoft.com/office/powerpoint/2010/main" val="406294227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A3412-42D2-4139-B26F-6AEAEA9F21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B2DCC-4491-4A14-9F72-D6999AD5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Booleans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BF610-8452-41FA-A3F0-884DCB5ABA4F}"/>
              </a:ext>
            </a:extLst>
          </p:cNvPr>
          <p:cNvSpPr txBox="1">
            <a:spLocks/>
          </p:cNvSpPr>
          <p:nvPr/>
        </p:nvSpPr>
        <p:spPr>
          <a:xfrm>
            <a:off x="2555358" y="1119446"/>
            <a:ext cx="6298356" cy="3523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3000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    </a:t>
            </a:r>
            <a:r>
              <a:rPr lang="en-GB" sz="3000" dirty="0">
                <a:solidFill>
                  <a:schemeClr val="tx1"/>
                </a:solidFill>
                <a:latin typeface="APL385 Unicode" panose="020B0709000202000203" pitchFamily="49" charset="0"/>
              </a:rPr>
              <a:t>+/</a:t>
            </a:r>
            <a:r>
              <a:rPr lang="en-GB" sz="3000" dirty="0">
                <a:latin typeface="APL385 Unicode" panose="020B0709000202000203" pitchFamily="49" charset="0"/>
              </a:rPr>
              <a:t>1 2 3 ∘.</a:t>
            </a:r>
            <a:r>
              <a:rPr lang="en-GB" sz="3000" dirty="0">
                <a:solidFill>
                  <a:schemeClr val="tx1"/>
                </a:solidFill>
                <a:latin typeface="APL385 Unicode" panose="020B0709000202000203" pitchFamily="49" charset="0"/>
              </a:rPr>
              <a:t>≥</a:t>
            </a:r>
            <a:r>
              <a:rPr lang="en-GB" sz="3000" dirty="0">
                <a:latin typeface="APL385 Unicode" panose="020B0709000202000203" pitchFamily="49" charset="0"/>
              </a:rPr>
              <a:t> 1 2 3 4 5</a:t>
            </a:r>
          </a:p>
          <a:p>
            <a:pPr marL="0" indent="0">
              <a:buNone/>
            </a:pPr>
            <a:endParaRPr lang="en-GB" sz="3000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1</a:t>
            </a: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2</a:t>
            </a: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3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E264A06-0589-4DC1-99E6-C4C016430895}"/>
              </a:ext>
            </a:extLst>
          </p:cNvPr>
          <p:cNvSpPr txBox="1">
            <a:spLocks/>
          </p:cNvSpPr>
          <p:nvPr/>
        </p:nvSpPr>
        <p:spPr>
          <a:xfrm>
            <a:off x="815363" y="786937"/>
            <a:ext cx="4130710" cy="3325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1800" dirty="0"/>
              <a:t>Friendly 1s and 0s</a:t>
            </a:r>
          </a:p>
        </p:txBody>
      </p:sp>
    </p:spTree>
    <p:extLst>
      <p:ext uri="{BB962C8B-B14F-4D97-AF65-F5344CB8AC3E}">
        <p14:creationId xmlns:p14="http://schemas.microsoft.com/office/powerpoint/2010/main" val="19375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:wipe/>
      </p:transition>
    </mc:Choice>
    <mc:Fallback xmlns="">
      <p:transition spd="slow" advTm="0">
        <p:wip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A3412-42D2-4139-B26F-6AEAEA9F21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B2DCC-4491-4A14-9F72-D6999AD5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Booleans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BF610-8452-41FA-A3F0-884DCB5ABA4F}"/>
              </a:ext>
            </a:extLst>
          </p:cNvPr>
          <p:cNvSpPr txBox="1">
            <a:spLocks/>
          </p:cNvSpPr>
          <p:nvPr/>
        </p:nvSpPr>
        <p:spPr>
          <a:xfrm>
            <a:off x="2555358" y="1119446"/>
            <a:ext cx="6298356" cy="3523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3000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    </a:t>
            </a:r>
            <a:r>
              <a:rPr lang="en-GB" sz="3000" dirty="0">
                <a:solidFill>
                  <a:schemeClr val="tx1"/>
                </a:solidFill>
                <a:latin typeface="APL385 Unicode" panose="020B0709000202000203" pitchFamily="49" charset="0"/>
              </a:rPr>
              <a:t>+/</a:t>
            </a:r>
            <a:r>
              <a:rPr lang="en-GB" sz="3000" dirty="0">
                <a:latin typeface="APL385 Unicode" panose="020B0709000202000203" pitchFamily="49" charset="0"/>
              </a:rPr>
              <a:t>1 2 3 ∘.</a:t>
            </a:r>
            <a:r>
              <a:rPr lang="en-GB" sz="3000" dirty="0">
                <a:solidFill>
                  <a:schemeClr val="tx1"/>
                </a:solidFill>
                <a:latin typeface="APL385 Unicode" panose="020B0709000202000203" pitchFamily="49" charset="0"/>
              </a:rPr>
              <a:t>≥</a:t>
            </a:r>
            <a:r>
              <a:rPr lang="en-GB" sz="3000" dirty="0">
                <a:latin typeface="APL385 Unicode" panose="020B0709000202000203" pitchFamily="49" charset="0"/>
              </a:rPr>
              <a:t> 1 2 3 4 5</a:t>
            </a:r>
          </a:p>
          <a:p>
            <a:pPr marL="0" indent="0">
              <a:buNone/>
            </a:pPr>
            <a:endParaRPr lang="en-GB" sz="3000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1 2 3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E264A06-0589-4DC1-99E6-C4C016430895}"/>
              </a:ext>
            </a:extLst>
          </p:cNvPr>
          <p:cNvSpPr txBox="1">
            <a:spLocks/>
          </p:cNvSpPr>
          <p:nvPr/>
        </p:nvSpPr>
        <p:spPr>
          <a:xfrm>
            <a:off x="815363" y="786937"/>
            <a:ext cx="4130710" cy="3325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1800" dirty="0"/>
              <a:t>Friendly 1s and 0s</a:t>
            </a:r>
          </a:p>
        </p:txBody>
      </p:sp>
    </p:spTree>
    <p:extLst>
      <p:ext uri="{BB962C8B-B14F-4D97-AF65-F5344CB8AC3E}">
        <p14:creationId xmlns:p14="http://schemas.microsoft.com/office/powerpoint/2010/main" val="2491089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A3412-42D2-4139-B26F-6AEAEA9F21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B2DCC-4491-4A14-9F72-D6999AD5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Booleans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BF610-8452-41FA-A3F0-884DCB5ABA4F}"/>
              </a:ext>
            </a:extLst>
          </p:cNvPr>
          <p:cNvSpPr txBox="1">
            <a:spLocks/>
          </p:cNvSpPr>
          <p:nvPr/>
        </p:nvSpPr>
        <p:spPr>
          <a:xfrm>
            <a:off x="2555358" y="1119446"/>
            <a:ext cx="6298356" cy="3523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3000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    </a:t>
            </a:r>
            <a:r>
              <a:rPr lang="en-GB" sz="3000" dirty="0">
                <a:solidFill>
                  <a:schemeClr val="tx1"/>
                </a:solidFill>
                <a:latin typeface="APL385 Unicode" panose="020B0709000202000203" pitchFamily="49" charset="0"/>
              </a:rPr>
              <a:t>+/</a:t>
            </a:r>
            <a:r>
              <a:rPr lang="en-GB" sz="3000" dirty="0">
                <a:latin typeface="APL385 Unicode" panose="020B0709000202000203" pitchFamily="49" charset="0"/>
              </a:rPr>
              <a:t>1 2 3 ∘</a:t>
            </a:r>
            <a:r>
              <a:rPr lang="en-GB" sz="3000" dirty="0">
                <a:solidFill>
                  <a:schemeClr val="tx1"/>
                </a:solidFill>
                <a:latin typeface="APL385 Unicode" panose="020B0709000202000203" pitchFamily="49" charset="0"/>
              </a:rPr>
              <a:t>.≥ </a:t>
            </a:r>
            <a:r>
              <a:rPr lang="en-GB" sz="3000" dirty="0">
                <a:latin typeface="APL385 Unicode" panose="020B0709000202000203" pitchFamily="49" charset="0"/>
              </a:rPr>
              <a:t>1 2 3 4 5</a:t>
            </a:r>
          </a:p>
          <a:p>
            <a:pPr marL="0" indent="0">
              <a:buNone/>
            </a:pPr>
            <a:endParaRPr lang="en-GB" sz="3000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1 0 0 0 0</a:t>
            </a: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1 1 0 0 0</a:t>
            </a: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1 1 1 0 0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E264A06-0589-4DC1-99E6-C4C016430895}"/>
              </a:ext>
            </a:extLst>
          </p:cNvPr>
          <p:cNvSpPr txBox="1">
            <a:spLocks/>
          </p:cNvSpPr>
          <p:nvPr/>
        </p:nvSpPr>
        <p:spPr>
          <a:xfrm>
            <a:off x="815363" y="786937"/>
            <a:ext cx="4130710" cy="3325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1800" dirty="0"/>
              <a:t>Friendly 1s and 0s</a:t>
            </a:r>
          </a:p>
        </p:txBody>
      </p:sp>
    </p:spTree>
    <p:extLst>
      <p:ext uri="{BB962C8B-B14F-4D97-AF65-F5344CB8AC3E}">
        <p14:creationId xmlns:p14="http://schemas.microsoft.com/office/powerpoint/2010/main" val="170956898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A3412-42D2-4139-B26F-6AEAEA9F21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B2DCC-4491-4A14-9F72-D6999AD5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Booleans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BF610-8452-41FA-A3F0-884DCB5ABA4F}"/>
              </a:ext>
            </a:extLst>
          </p:cNvPr>
          <p:cNvSpPr txBox="1">
            <a:spLocks/>
          </p:cNvSpPr>
          <p:nvPr/>
        </p:nvSpPr>
        <p:spPr>
          <a:xfrm>
            <a:off x="2555358" y="1119446"/>
            <a:ext cx="6298356" cy="3523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3000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    </a:t>
            </a:r>
            <a:r>
              <a:rPr lang="en-GB" sz="3000" dirty="0">
                <a:solidFill>
                  <a:schemeClr val="tx1"/>
                </a:solidFill>
                <a:latin typeface="APL385 Unicode" panose="020B0709000202000203" pitchFamily="49" charset="0"/>
              </a:rPr>
              <a:t>+</a:t>
            </a:r>
            <a:r>
              <a:rPr lang="en-GB" sz="3000" spc="-10000" dirty="0">
                <a:solidFill>
                  <a:schemeClr val="tx1"/>
                </a:solidFill>
                <a:latin typeface="APL385 Unicode" panose="020B0709000202000203" pitchFamily="49" charset="0"/>
              </a:rPr>
              <a:t>/</a:t>
            </a:r>
            <a:r>
              <a:rPr lang="en-GB" sz="3000" dirty="0">
                <a:solidFill>
                  <a:srgbClr val="FFB000"/>
                </a:solidFill>
                <a:latin typeface="APL385 Unicode" panose="020B0709000202000203" pitchFamily="49" charset="0"/>
              </a:rPr>
              <a:t>-</a:t>
            </a:r>
            <a:r>
              <a:rPr lang="en-GB" sz="3000" dirty="0">
                <a:latin typeface="APL385 Unicode" panose="020B0709000202000203" pitchFamily="49" charset="0"/>
              </a:rPr>
              <a:t>1 2 3 ∘</a:t>
            </a:r>
            <a:r>
              <a:rPr lang="en-GB" sz="3000" dirty="0">
                <a:solidFill>
                  <a:schemeClr val="tx1"/>
                </a:solidFill>
                <a:latin typeface="APL385 Unicode" panose="020B0709000202000203" pitchFamily="49" charset="0"/>
              </a:rPr>
              <a:t>.≥ </a:t>
            </a:r>
            <a:r>
              <a:rPr lang="en-GB" sz="3000" dirty="0">
                <a:latin typeface="APL385 Unicode" panose="020B0709000202000203" pitchFamily="49" charset="0"/>
              </a:rPr>
              <a:t>1 2 3 4 5</a:t>
            </a:r>
          </a:p>
          <a:p>
            <a:pPr marL="0" indent="0">
              <a:buNone/>
            </a:pPr>
            <a:endParaRPr lang="en-GB" sz="3000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1 0 0 0 0</a:t>
            </a: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1 1 0 0 0</a:t>
            </a: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1 1 1 0 0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E264A06-0589-4DC1-99E6-C4C016430895}"/>
              </a:ext>
            </a:extLst>
          </p:cNvPr>
          <p:cNvSpPr txBox="1">
            <a:spLocks/>
          </p:cNvSpPr>
          <p:nvPr/>
        </p:nvSpPr>
        <p:spPr>
          <a:xfrm>
            <a:off x="815363" y="786937"/>
            <a:ext cx="4130710" cy="3325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1800" dirty="0"/>
              <a:t>Friendly 1s and 0s</a:t>
            </a:r>
          </a:p>
        </p:txBody>
      </p:sp>
    </p:spTree>
    <p:extLst>
      <p:ext uri="{BB962C8B-B14F-4D97-AF65-F5344CB8AC3E}">
        <p14:creationId xmlns:p14="http://schemas.microsoft.com/office/powerpoint/2010/main" val="186697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A3412-42D2-4139-B26F-6AEAEA9F21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B2DCC-4491-4A14-9F72-D6999AD5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Booleans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BF610-8452-41FA-A3F0-884DCB5ABA4F}"/>
              </a:ext>
            </a:extLst>
          </p:cNvPr>
          <p:cNvSpPr txBox="1">
            <a:spLocks/>
          </p:cNvSpPr>
          <p:nvPr/>
        </p:nvSpPr>
        <p:spPr>
          <a:xfrm>
            <a:off x="2555358" y="1119446"/>
            <a:ext cx="6298356" cy="3523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3000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    </a:t>
            </a:r>
            <a:r>
              <a:rPr lang="en-GB" sz="3000" dirty="0">
                <a:solidFill>
                  <a:schemeClr val="tx1"/>
                </a:solidFill>
                <a:latin typeface="APL385 Unicode" panose="020B0709000202000203" pitchFamily="49" charset="0"/>
              </a:rPr>
              <a:t>+</a:t>
            </a:r>
            <a:r>
              <a:rPr lang="en-GB" sz="3000" spc="-10000" dirty="0">
                <a:solidFill>
                  <a:schemeClr val="tx1"/>
                </a:solidFill>
                <a:latin typeface="APL385 Unicode" panose="020B0709000202000203" pitchFamily="49" charset="0"/>
              </a:rPr>
              <a:t>/</a:t>
            </a:r>
            <a:r>
              <a:rPr lang="en-GB" sz="3000" dirty="0">
                <a:solidFill>
                  <a:schemeClr val="tx1"/>
                </a:solidFill>
                <a:latin typeface="APL385 Unicode" panose="020B0709000202000203" pitchFamily="49" charset="0"/>
              </a:rPr>
              <a:t>-</a:t>
            </a:r>
            <a:r>
              <a:rPr lang="en-GB" sz="3000" dirty="0">
                <a:latin typeface="APL385 Unicode" panose="020B0709000202000203" pitchFamily="49" charset="0"/>
              </a:rPr>
              <a:t>1 2 3 ∘</a:t>
            </a:r>
            <a:r>
              <a:rPr lang="en-GB" sz="3000" dirty="0">
                <a:solidFill>
                  <a:schemeClr val="tx1"/>
                </a:solidFill>
                <a:latin typeface="APL385 Unicode" panose="020B0709000202000203" pitchFamily="49" charset="0"/>
              </a:rPr>
              <a:t>.≥ </a:t>
            </a:r>
            <a:r>
              <a:rPr lang="en-GB" sz="3000" dirty="0">
                <a:latin typeface="APL385 Unicode" panose="020B0709000202000203" pitchFamily="49" charset="0"/>
              </a:rPr>
              <a:t>1 2 3 4 5</a:t>
            </a:r>
          </a:p>
          <a:p>
            <a:pPr marL="0" indent="0">
              <a:buNone/>
            </a:pPr>
            <a:endParaRPr lang="en-GB" sz="3000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1 0 0 0 0</a:t>
            </a: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1 1 0 0 0</a:t>
            </a: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1 1 1 0 0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E264A06-0589-4DC1-99E6-C4C016430895}"/>
              </a:ext>
            </a:extLst>
          </p:cNvPr>
          <p:cNvSpPr txBox="1">
            <a:spLocks/>
          </p:cNvSpPr>
          <p:nvPr/>
        </p:nvSpPr>
        <p:spPr>
          <a:xfrm>
            <a:off x="815363" y="786937"/>
            <a:ext cx="4130710" cy="3325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1800" dirty="0"/>
              <a:t>Friendly 1s and 0s</a:t>
            </a:r>
          </a:p>
        </p:txBody>
      </p:sp>
    </p:spTree>
    <p:extLst>
      <p:ext uri="{BB962C8B-B14F-4D97-AF65-F5344CB8AC3E}">
        <p14:creationId xmlns:p14="http://schemas.microsoft.com/office/powerpoint/2010/main" val="2397800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A3412-42D2-4139-B26F-6AEAEA9F21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B2DCC-4491-4A14-9F72-D6999AD5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Booleans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BF610-8452-41FA-A3F0-884DCB5ABA4F}"/>
              </a:ext>
            </a:extLst>
          </p:cNvPr>
          <p:cNvSpPr txBox="1">
            <a:spLocks/>
          </p:cNvSpPr>
          <p:nvPr/>
        </p:nvSpPr>
        <p:spPr>
          <a:xfrm>
            <a:off x="2555358" y="1119446"/>
            <a:ext cx="6298356" cy="3523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3000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    </a:t>
            </a:r>
            <a:r>
              <a:rPr lang="en-GB" sz="3000" dirty="0">
                <a:solidFill>
                  <a:schemeClr val="tx1"/>
                </a:solidFill>
                <a:latin typeface="APL385 Unicode" panose="020B0709000202000203" pitchFamily="49" charset="0"/>
              </a:rPr>
              <a:t>+</a:t>
            </a:r>
            <a:r>
              <a:rPr lang="en-GB" sz="3000" spc="-10000" dirty="0">
                <a:solidFill>
                  <a:schemeClr val="tx1"/>
                </a:solidFill>
                <a:latin typeface="APL385 Unicode" panose="020B0709000202000203" pitchFamily="49" charset="0"/>
              </a:rPr>
              <a:t>/</a:t>
            </a:r>
            <a:r>
              <a:rPr lang="en-GB" sz="3000" dirty="0">
                <a:solidFill>
                  <a:schemeClr val="tx1"/>
                </a:solidFill>
                <a:latin typeface="APL385 Unicode" panose="020B0709000202000203" pitchFamily="49" charset="0"/>
              </a:rPr>
              <a:t>-</a:t>
            </a:r>
            <a:r>
              <a:rPr lang="en-GB" sz="3000" dirty="0">
                <a:latin typeface="APL385 Unicode" panose="020B0709000202000203" pitchFamily="49" charset="0"/>
              </a:rPr>
              <a:t>1 2 3 ∘</a:t>
            </a:r>
            <a:r>
              <a:rPr lang="en-GB" sz="3000" dirty="0">
                <a:solidFill>
                  <a:schemeClr val="tx1"/>
                </a:solidFill>
                <a:latin typeface="APL385 Unicode" panose="020B0709000202000203" pitchFamily="49" charset="0"/>
              </a:rPr>
              <a:t>.≥ </a:t>
            </a:r>
            <a:r>
              <a:rPr lang="en-GB" sz="3000" dirty="0">
                <a:latin typeface="APL385 Unicode" panose="020B0709000202000203" pitchFamily="49" charset="0"/>
              </a:rPr>
              <a:t>1 2 3 4 5</a:t>
            </a:r>
          </a:p>
          <a:p>
            <a:pPr marL="0" indent="0">
              <a:buNone/>
            </a:pPr>
            <a:endParaRPr lang="en-GB" sz="3000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3 2 1 0 0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E264A06-0589-4DC1-99E6-C4C016430895}"/>
              </a:ext>
            </a:extLst>
          </p:cNvPr>
          <p:cNvSpPr txBox="1">
            <a:spLocks/>
          </p:cNvSpPr>
          <p:nvPr/>
        </p:nvSpPr>
        <p:spPr>
          <a:xfrm>
            <a:off x="815363" y="786937"/>
            <a:ext cx="4130710" cy="33250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1800" dirty="0"/>
              <a:t>Friendly 1s and 0s</a:t>
            </a:r>
          </a:p>
        </p:txBody>
      </p:sp>
    </p:spTree>
    <p:extLst>
      <p:ext uri="{BB962C8B-B14F-4D97-AF65-F5344CB8AC3E}">
        <p14:creationId xmlns:p14="http://schemas.microsoft.com/office/powerpoint/2010/main" val="1290144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wipe dir="u"/>
      </p:transition>
    </mc:Choice>
    <mc:Fallback xmlns="">
      <p:transition spd="slow">
        <p:wipe dir="u"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D5E1AF-98D4-3FDC-4AE9-E2622666E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Order can be changed using parentheses.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BB3DB8-6599-E449-9EE5-E48E06338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Order of Execution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A56D21B-7365-865A-B23C-C996A8DF048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F6A586F-76DF-55B8-C9F7-475AC601EB91}"/>
              </a:ext>
            </a:extLst>
          </p:cNvPr>
          <p:cNvSpPr txBox="1">
            <a:spLocks/>
          </p:cNvSpPr>
          <p:nvPr/>
        </p:nvSpPr>
        <p:spPr>
          <a:xfrm>
            <a:off x="2555358" y="1899138"/>
            <a:ext cx="6298356" cy="2743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     (10×⍳2)+5</a:t>
            </a:r>
          </a:p>
        </p:txBody>
      </p:sp>
    </p:spTree>
    <p:extLst>
      <p:ext uri="{BB962C8B-B14F-4D97-AF65-F5344CB8AC3E}">
        <p14:creationId xmlns:p14="http://schemas.microsoft.com/office/powerpoint/2010/main" val="172041290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885E7-AA3A-680B-1C59-437058AB6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B26FEB-08C7-6F58-13DA-1DB0731C5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Order can be changed using parentheses.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513381-8618-C3CB-9168-B8B6BC99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Order of Execution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A89E1E3-8595-2946-0024-33487DF5F1E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5194E4E-8814-52A8-AEB8-B7F056A31838}"/>
              </a:ext>
            </a:extLst>
          </p:cNvPr>
          <p:cNvSpPr txBox="1">
            <a:spLocks/>
          </p:cNvSpPr>
          <p:nvPr/>
        </p:nvSpPr>
        <p:spPr>
          <a:xfrm>
            <a:off x="2555358" y="1899138"/>
            <a:ext cx="6298356" cy="2743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     (10×⍳2)+5</a:t>
            </a: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             5</a:t>
            </a:r>
          </a:p>
        </p:txBody>
      </p:sp>
    </p:spTree>
    <p:extLst>
      <p:ext uri="{BB962C8B-B14F-4D97-AF65-F5344CB8AC3E}">
        <p14:creationId xmlns:p14="http://schemas.microsoft.com/office/powerpoint/2010/main" val="344992779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E893E-48A2-E6BF-21AF-DBC4EDB78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7353DC-5C66-3F82-6A29-318BBA91E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Order can be changed using parentheses.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FF64CB-10F0-5980-5DDF-9A4BCE5F0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Order of Execution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9F1F966-4FE9-BA6E-3DB7-EB3B42B0D4D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E1C68B5-1587-6B01-DCFA-494F28560785}"/>
              </a:ext>
            </a:extLst>
          </p:cNvPr>
          <p:cNvSpPr txBox="1">
            <a:spLocks/>
          </p:cNvSpPr>
          <p:nvPr/>
        </p:nvSpPr>
        <p:spPr>
          <a:xfrm>
            <a:off x="2555358" y="1899138"/>
            <a:ext cx="6298356" cy="2743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     (10×⍳2)+5</a:t>
            </a: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           )+5</a:t>
            </a:r>
          </a:p>
        </p:txBody>
      </p:sp>
    </p:spTree>
    <p:extLst>
      <p:ext uri="{BB962C8B-B14F-4D97-AF65-F5344CB8AC3E}">
        <p14:creationId xmlns:p14="http://schemas.microsoft.com/office/powerpoint/2010/main" val="106630882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9EED4-1F90-EA5A-27D5-A9CCCDF44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4FCF17-73D8-90D3-F184-6E0B02150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Order can be changed using parentheses.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D43A27-88E9-B86D-8DA4-7A3F790EE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Order of Execution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63AE29F-384D-4813-9416-D9E4C8C999C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2C69BDD-CD67-7E2D-0544-C87FD0C33118}"/>
              </a:ext>
            </a:extLst>
          </p:cNvPr>
          <p:cNvSpPr txBox="1">
            <a:spLocks/>
          </p:cNvSpPr>
          <p:nvPr/>
        </p:nvSpPr>
        <p:spPr>
          <a:xfrm>
            <a:off x="2555358" y="1899138"/>
            <a:ext cx="6298356" cy="2743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     (10×⍳2)+5</a:t>
            </a: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     (10×⍳2)+5</a:t>
            </a:r>
          </a:p>
        </p:txBody>
      </p:sp>
    </p:spTree>
    <p:extLst>
      <p:ext uri="{BB962C8B-B14F-4D97-AF65-F5344CB8AC3E}">
        <p14:creationId xmlns:p14="http://schemas.microsoft.com/office/powerpoint/2010/main" val="212902597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E6DA5-CAD6-44CA-79BA-CE5749382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854522-70DE-02F4-D08E-BCDD28FC3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Order can be changed using parentheses.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1E60CF-16D6-28B4-EA80-4A106CDE6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Order of Execution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97E30F6-FF4C-654A-088F-9711B25E0AC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ED33506-3E65-63A5-3639-1EAE59CBA513}"/>
              </a:ext>
            </a:extLst>
          </p:cNvPr>
          <p:cNvSpPr txBox="1">
            <a:spLocks/>
          </p:cNvSpPr>
          <p:nvPr/>
        </p:nvSpPr>
        <p:spPr>
          <a:xfrm>
            <a:off x="2555358" y="1899138"/>
            <a:ext cx="6298356" cy="2743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     (10×⍳2)+5</a:t>
            </a: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     (10×1 2)+5</a:t>
            </a:r>
          </a:p>
        </p:txBody>
      </p:sp>
    </p:spTree>
    <p:extLst>
      <p:ext uri="{BB962C8B-B14F-4D97-AF65-F5344CB8AC3E}">
        <p14:creationId xmlns:p14="http://schemas.microsoft.com/office/powerpoint/2010/main" val="76686342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ECBC4-7D47-1B33-5529-4F2B85356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C6D409-D558-EC29-4773-ED3B916EF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Order can be changed using parentheses.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6A9BA3-D48C-C6CC-2E71-836B4D074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Order of Execution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1426223-F942-3B98-CEFC-DB46E1E7F5E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60A897D-373D-446D-90BA-CB3F11750F29}"/>
              </a:ext>
            </a:extLst>
          </p:cNvPr>
          <p:cNvSpPr txBox="1">
            <a:spLocks/>
          </p:cNvSpPr>
          <p:nvPr/>
        </p:nvSpPr>
        <p:spPr>
          <a:xfrm>
            <a:off x="2555358" y="1899138"/>
            <a:ext cx="6298356" cy="2743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     (10×⍳2)+5</a:t>
            </a: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     (10 20)+5</a:t>
            </a:r>
          </a:p>
        </p:txBody>
      </p:sp>
    </p:spTree>
    <p:extLst>
      <p:ext uri="{BB962C8B-B14F-4D97-AF65-F5344CB8AC3E}">
        <p14:creationId xmlns:p14="http://schemas.microsoft.com/office/powerpoint/2010/main" val="201986056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F4457-659F-861A-E173-F6A0E201A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18CEFD2-73BE-A623-83EA-D42EEF694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Order can be changed using parentheses.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2BC523-CEB1-3115-FD69-3A808F01D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Order of Execution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7D5E105-34E7-18FE-C609-8AD4A26001E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75FB92-33BD-97BB-127B-EFB0B6070CA5}"/>
              </a:ext>
            </a:extLst>
          </p:cNvPr>
          <p:cNvSpPr txBox="1">
            <a:spLocks/>
          </p:cNvSpPr>
          <p:nvPr/>
        </p:nvSpPr>
        <p:spPr>
          <a:xfrm>
            <a:off x="2555358" y="1899138"/>
            <a:ext cx="6298356" cy="2743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     (10×⍳2)+5</a:t>
            </a:r>
          </a:p>
          <a:p>
            <a:pPr marL="0" indent="0">
              <a:buNone/>
            </a:pPr>
            <a:r>
              <a:rPr lang="en-GB" sz="3000" dirty="0">
                <a:latin typeface="APL385 Unicode" panose="020B0709000202000203" pitchFamily="49" charset="0"/>
              </a:rPr>
              <a:t>15 25</a:t>
            </a:r>
          </a:p>
        </p:txBody>
      </p:sp>
    </p:spTree>
    <p:extLst>
      <p:ext uri="{BB962C8B-B14F-4D97-AF65-F5344CB8AC3E}">
        <p14:creationId xmlns:p14="http://schemas.microsoft.com/office/powerpoint/2010/main" val="419610189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68314-7666-FA75-093E-B5C0BFE90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A754B3-8F8C-9583-2FF1-8751F8F2F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Juxtaposed values form lists before any functions are applied. This is called </a:t>
            </a:r>
            <a:r>
              <a:rPr lang="en-GB" b="1" i="1" dirty="0">
                <a:solidFill>
                  <a:srgbClr val="FF6600"/>
                </a:solidFill>
              </a:rPr>
              <a:t>stranding</a:t>
            </a:r>
            <a:r>
              <a:rPr lang="en-GB" dirty="0"/>
              <a:t> and lets us write very natural expressions, such as: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5F3032-8E9C-099E-A919-356643BD0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GOTCHA! Stranding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9DF78D3-C804-88C2-A8B1-1C93A403421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A1C302-28E0-24BA-6E4E-0169E9A26F5D}"/>
              </a:ext>
            </a:extLst>
          </p:cNvPr>
          <p:cNvSpPr txBox="1"/>
          <p:nvPr/>
        </p:nvSpPr>
        <p:spPr>
          <a:xfrm>
            <a:off x="3281424" y="2571750"/>
            <a:ext cx="2581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APL385 Unicode" panose="020B0709000202000203" pitchFamily="49" charset="0"/>
              </a:rPr>
              <a:t>1 2 3 + 4 5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3ADA8F-9C64-ED89-369D-B0E89022FE9A}"/>
              </a:ext>
            </a:extLst>
          </p:cNvPr>
          <p:cNvSpPr txBox="1"/>
          <p:nvPr/>
        </p:nvSpPr>
        <p:spPr>
          <a:xfrm>
            <a:off x="376881" y="3151762"/>
            <a:ext cx="5639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but this can lead to some surprises if we are not aware: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D1AB1A-D1D5-FB1D-389B-0772014C854C}"/>
              </a:ext>
            </a:extLst>
          </p:cNvPr>
          <p:cNvSpPr txBox="1"/>
          <p:nvPr/>
        </p:nvSpPr>
        <p:spPr>
          <a:xfrm>
            <a:off x="3465767" y="3702490"/>
            <a:ext cx="2212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APL385 Unicode" panose="020B0709000202000203" pitchFamily="49" charset="0"/>
              </a:rPr>
              <a:t>2 + 2 2 + 2</a:t>
            </a:r>
          </a:p>
        </p:txBody>
      </p:sp>
    </p:spTree>
    <p:extLst>
      <p:ext uri="{BB962C8B-B14F-4D97-AF65-F5344CB8AC3E}">
        <p14:creationId xmlns:p14="http://schemas.microsoft.com/office/powerpoint/2010/main" val="519934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7DDD9-C970-EC5C-4BF7-1BE3A7059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F121CF-E9FE-6905-584E-57424FF77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044103"/>
            <a:ext cx="8443592" cy="34628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Names are assigned with the left arrow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name ← expression</a:t>
            </a:r>
          </a:p>
          <a:p>
            <a:pPr marL="0" indent="0">
              <a:buNone/>
            </a:pPr>
            <a:r>
              <a:rPr lang="en-GB" dirty="0"/>
              <a:t>We say "name </a:t>
            </a:r>
            <a:r>
              <a:rPr lang="en-GB" b="1" dirty="0">
                <a:solidFill>
                  <a:srgbClr val="FF6600"/>
                </a:solidFill>
              </a:rPr>
              <a:t>gets</a:t>
            </a:r>
            <a:r>
              <a:rPr lang="en-GB" dirty="0"/>
              <a:t> [function or array]".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6D2463-8797-A297-1499-F8EA97D7B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Naming Things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C4B59E9-3D4B-C015-FB88-49CB8C767A3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5D5214-115A-AE2E-1254-26F50C534237}"/>
              </a:ext>
            </a:extLst>
          </p:cNvPr>
          <p:cNvSpPr txBox="1"/>
          <p:nvPr/>
        </p:nvSpPr>
        <p:spPr>
          <a:xfrm>
            <a:off x="2479120" y="2500509"/>
            <a:ext cx="418576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APL385 Unicode" panose="020B0709000202000203" pitchFamily="49" charset="0"/>
              </a:rPr>
              <a:t>one←1</a:t>
            </a:r>
          </a:p>
          <a:p>
            <a:r>
              <a:rPr lang="en-GB" sz="2000" dirty="0">
                <a:latin typeface="APL385 Unicode" panose="020B0709000202000203" pitchFamily="49" charset="0"/>
              </a:rPr>
              <a:t>three←3</a:t>
            </a:r>
          </a:p>
          <a:p>
            <a:r>
              <a:rPr lang="en-GB" sz="2000" dirty="0">
                <a:latin typeface="APL385 Unicode" panose="020B0709000202000203" pitchFamily="49" charset="0"/>
              </a:rPr>
              <a:t>equals←=</a:t>
            </a:r>
          </a:p>
          <a:p>
            <a:r>
              <a:rPr lang="en-GB" sz="2000" dirty="0">
                <a:latin typeface="APL385 Unicode" panose="020B0709000202000203" pitchFamily="49" charset="0"/>
              </a:rPr>
              <a:t>plus←+</a:t>
            </a:r>
          </a:p>
          <a:p>
            <a:r>
              <a:rPr lang="en-GB" sz="2000" dirty="0">
                <a:latin typeface="APL385 Unicode" panose="020B0709000202000203" pitchFamily="49" charset="0"/>
              </a:rPr>
              <a:t>four←4</a:t>
            </a:r>
          </a:p>
          <a:p>
            <a:endParaRPr lang="en-GB" sz="2000" dirty="0">
              <a:latin typeface="APL385 Unicode" panose="020B0709000202000203" pitchFamily="49" charset="0"/>
            </a:endParaRPr>
          </a:p>
          <a:p>
            <a:r>
              <a:rPr lang="en-GB" sz="2000" dirty="0">
                <a:latin typeface="APL385 Unicode" panose="020B0709000202000203" pitchFamily="49" charset="0"/>
              </a:rPr>
              <a:t>four equals one plus three</a:t>
            </a:r>
          </a:p>
        </p:txBody>
      </p:sp>
    </p:spTree>
    <p:extLst>
      <p:ext uri="{BB962C8B-B14F-4D97-AF65-F5344CB8AC3E}">
        <p14:creationId xmlns:p14="http://schemas.microsoft.com/office/powerpoint/2010/main" val="907493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075303-11EA-9D13-1232-B24D429B7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GB" dirty="0"/>
              <a:t>Named arrays are also called </a:t>
            </a:r>
            <a:r>
              <a:rPr lang="en-GB" i="1" dirty="0"/>
              <a:t>variables</a:t>
            </a:r>
            <a:r>
              <a:rPr lang="en-GB" dirty="0"/>
              <a:t>.</a:t>
            </a:r>
          </a:p>
          <a:p>
            <a:pPr>
              <a:buNone/>
            </a:pPr>
            <a:r>
              <a:rPr lang="en-GB" dirty="0"/>
              <a:t>Names (variables) </a:t>
            </a:r>
            <a:r>
              <a:rPr lang="en-GB" i="1" dirty="0"/>
              <a:t>can</a:t>
            </a:r>
            <a:r>
              <a:rPr lang="en-GB" dirty="0"/>
              <a:t> be re-used:</a:t>
            </a:r>
          </a:p>
          <a:p>
            <a:pPr>
              <a:buNone/>
            </a:pPr>
            <a:r>
              <a:rPr lang="en-GB" dirty="0">
                <a:latin typeface="APL385 Unicode" panose="020B0709000202000203" pitchFamily="49" charset="0"/>
                <a:sym typeface="Dyalog Std TT" pitchFamily="49" charset="2"/>
              </a:rPr>
              <a:t>	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  <a:sym typeface="Dyalog Std TT" pitchFamily="49" charset="2"/>
              </a:rPr>
              <a:t>n  1.5   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  <a:sym typeface="Dyalog Std TT" pitchFamily="49" charset="2"/>
              </a:rPr>
              <a:t>⍝ it was 0.55 before</a:t>
            </a:r>
          </a:p>
          <a:p>
            <a:pPr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  <a:sym typeface="Dyalog Std TT" pitchFamily="49" charset="2"/>
              </a:rPr>
              <a:t>	   n + items</a:t>
            </a:r>
            <a:endParaRPr lang="en-GB" dirty="0">
              <a:solidFill>
                <a:srgbClr val="DD6DCD"/>
              </a:solidFill>
              <a:latin typeface="APL385 Unicode" panose="020B0709000202000203" pitchFamily="49" charset="0"/>
              <a:sym typeface="Dyalog Std TT" pitchFamily="49" charset="2"/>
            </a:endParaRPr>
          </a:p>
          <a:p>
            <a:pPr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  <a:sym typeface="Dyalog Std TT" pitchFamily="49" charset="2"/>
              </a:rPr>
              <a:t>2.5 3.5 4.5 5.5 6.5</a:t>
            </a:r>
          </a:p>
          <a:p>
            <a:pPr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  <a:sym typeface="Dyalog Std TT" pitchFamily="49" charset="2"/>
              </a:rPr>
              <a:t>	   n × n</a:t>
            </a:r>
          </a:p>
          <a:p>
            <a:pPr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  <a:sym typeface="Dyalog Std TT" pitchFamily="49" charset="2"/>
              </a:rPr>
              <a:t>2.25</a:t>
            </a:r>
          </a:p>
          <a:p>
            <a:pPr>
              <a:buNone/>
            </a:pPr>
            <a:r>
              <a:rPr lang="en-GB" dirty="0">
                <a:sym typeface="Dyalog Std TT" pitchFamily="49" charset="2"/>
              </a:rPr>
              <a:t>NB: Re-using a name (for a different purpose) </a:t>
            </a:r>
            <a:r>
              <a:rPr lang="en-GB" b="1" i="1" dirty="0">
                <a:sym typeface="Dyalog Std TT" pitchFamily="49" charset="2"/>
              </a:rPr>
              <a:t>is</a:t>
            </a:r>
            <a:r>
              <a:rPr lang="en-GB" dirty="0">
                <a:sym typeface="Dyalog Std TT" pitchFamily="49" charset="2"/>
              </a:rPr>
              <a:t> a questionable practice.</a:t>
            </a:r>
            <a:br>
              <a:rPr lang="en-GB" dirty="0">
                <a:sym typeface="Dyalog Std TT" pitchFamily="49" charset="2"/>
              </a:rPr>
            </a:br>
            <a:r>
              <a:rPr lang="en-GB" dirty="0">
                <a:sym typeface="Dyalog Std TT" pitchFamily="49" charset="2"/>
              </a:rPr>
              <a:t>However, you will see it often in legacy code.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D69BC0-B7CA-85E1-6DD4-103162FE5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Naming Things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DE54208-14F6-1D25-A76F-CF316815177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85961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792F03-0CFF-7862-187E-D489A0B0A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GB" dirty="0"/>
              <a:t>Several names can be assigned at once.</a:t>
            </a:r>
          </a:p>
          <a:p>
            <a:pPr>
              <a:buNone/>
            </a:pPr>
            <a:r>
              <a:rPr lang="en-GB" sz="2250" dirty="0">
                <a:solidFill>
                  <a:srgbClr val="DD6DCD"/>
                </a:solidFill>
                <a:latin typeface="APL385 Unicode" panose="020B0709000202000203" pitchFamily="49" charset="0"/>
                <a:sym typeface="Dyalog Std TT" pitchFamily="49" charset="2"/>
              </a:rPr>
              <a:t>	</a:t>
            </a:r>
            <a:r>
              <a:rPr lang="en-GB" sz="2250" dirty="0">
                <a:solidFill>
                  <a:srgbClr val="00B050"/>
                </a:solidFill>
                <a:latin typeface="APL385 Unicode" pitchFamily="49" charset="0"/>
                <a:sym typeface="Dyalog Std TT" pitchFamily="49" charset="2"/>
              </a:rPr>
              <a:t>A←B←42      </a:t>
            </a:r>
            <a:r>
              <a:rPr lang="en-GB" sz="2250" dirty="0">
                <a:solidFill>
                  <a:srgbClr val="DD6DCD"/>
                </a:solidFill>
                <a:latin typeface="APL385 Unicode" panose="020B0709000202000203" pitchFamily="49" charset="0"/>
                <a:sym typeface="Dyalog Std TT" pitchFamily="49" charset="2"/>
              </a:rPr>
              <a:t>⍝ A=B</a:t>
            </a:r>
            <a:br>
              <a:rPr lang="en-GB" sz="2250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  <a:sym typeface="Dyalog Std TT" pitchFamily="49" charset="2"/>
              </a:rPr>
            </a:br>
            <a:r>
              <a:rPr lang="en-GB" sz="2250" dirty="0">
                <a:solidFill>
                  <a:srgbClr val="00B050"/>
                </a:solidFill>
                <a:latin typeface="APL385 Unicode" pitchFamily="49" charset="0"/>
                <a:sym typeface="Dyalog Std TT" pitchFamily="49" charset="2"/>
              </a:rPr>
              <a:t>A←2xB←42    </a:t>
            </a:r>
            <a:r>
              <a:rPr lang="en-GB" sz="2250" dirty="0">
                <a:solidFill>
                  <a:srgbClr val="DD6DCD"/>
                </a:solidFill>
                <a:latin typeface="APL385 Unicode" panose="020B0709000202000203" pitchFamily="49" charset="0"/>
                <a:sym typeface="Dyalog Std TT" pitchFamily="49" charset="2"/>
              </a:rPr>
              <a:t>⍝ A is twice B</a:t>
            </a:r>
            <a:br>
              <a:rPr lang="en-GB" sz="2250" dirty="0">
                <a:solidFill>
                  <a:srgbClr val="DD6DCD"/>
                </a:solidFill>
                <a:latin typeface="APL385 Unicode" panose="020B0709000202000203" pitchFamily="49" charset="0"/>
                <a:sym typeface="Dyalog Std TT" pitchFamily="49" charset="2"/>
              </a:rPr>
            </a:br>
            <a:r>
              <a:rPr lang="en-GB" sz="2250" dirty="0">
                <a:solidFill>
                  <a:srgbClr val="00B050"/>
                </a:solidFill>
                <a:latin typeface="APL385 Unicode" panose="020B0709000202000203" pitchFamily="49" charset="0"/>
                <a:sym typeface="Dyalog Std TT" pitchFamily="49" charset="2"/>
              </a:rPr>
              <a:t>A←B+B←42    </a:t>
            </a:r>
            <a:r>
              <a:rPr lang="en-GB" sz="2250" dirty="0">
                <a:solidFill>
                  <a:srgbClr val="DD6DCD"/>
                </a:solidFill>
                <a:latin typeface="APL385 Unicode" panose="020B0709000202000203" pitchFamily="49" charset="0"/>
                <a:sym typeface="Dyalog Std TT" pitchFamily="49" charset="2"/>
              </a:rPr>
              <a:t>⍝ A is twice B (nasty)</a:t>
            </a:r>
            <a:br>
              <a:rPr lang="en-GB" sz="2250" dirty="0">
                <a:solidFill>
                  <a:srgbClr val="DD6DCD"/>
                </a:solidFill>
                <a:latin typeface="APL385 Unicode" panose="020B0709000202000203" pitchFamily="49" charset="0"/>
                <a:sym typeface="Dyalog Std TT" pitchFamily="49" charset="2"/>
              </a:rPr>
            </a:br>
            <a:r>
              <a:rPr lang="en-GB" sz="2250" dirty="0">
                <a:solidFill>
                  <a:srgbClr val="00B050"/>
                </a:solidFill>
                <a:latin typeface="APL385 Unicode" panose="020B0709000202000203" pitchFamily="49" charset="0"/>
                <a:sym typeface="Dyalog Std TT" pitchFamily="49" charset="2"/>
              </a:rPr>
              <a:t>(C D)←1 9   </a:t>
            </a:r>
            <a:r>
              <a:rPr lang="en-GB" sz="2250" dirty="0">
                <a:solidFill>
                  <a:srgbClr val="DD6DCD"/>
                </a:solidFill>
                <a:latin typeface="APL385 Unicode" panose="020B0709000202000203" pitchFamily="49" charset="0"/>
                <a:sym typeface="Dyalog Std TT" pitchFamily="49" charset="2"/>
              </a:rPr>
              <a:t>⍝ C is 1 and D is 9</a:t>
            </a:r>
          </a:p>
          <a:p>
            <a:pPr>
              <a:buNone/>
            </a:pPr>
            <a:r>
              <a:rPr lang="en-GB" dirty="0">
                <a:solidFill>
                  <a:schemeClr val="tx1"/>
                </a:solidFill>
                <a:sym typeface="Dyalog Std TT" pitchFamily="49" charset="2"/>
              </a:rPr>
              <a:t>An array can be created by juxtaposing names:</a:t>
            </a:r>
          </a:p>
          <a:p>
            <a:pPr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  <a:sym typeface="Dyalog Std TT" pitchFamily="49" charset="2"/>
              </a:rPr>
              <a:t>	  A B C D</a:t>
            </a:r>
          </a:p>
          <a:p>
            <a:pPr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  <a:sym typeface="Dyalog Std TT" pitchFamily="49" charset="2"/>
              </a:rPr>
              <a:t>84 42 1 9</a:t>
            </a:r>
            <a:b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  <a:sym typeface="Dyalog Std TT" pitchFamily="49" charset="2"/>
              </a:rPr>
            </a:b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  <a:sym typeface="Dyalog Std TT" pitchFamily="49" charset="2"/>
              </a:rPr>
              <a:t>	A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  <a:sym typeface="Dyalog Std TT" pitchFamily="49" charset="2"/>
              </a:rPr>
              <a:t>A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  <a:sym typeface="Dyalog Std TT" pitchFamily="49" charset="2"/>
              </a:rPr>
              <a:t> B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  <a:sym typeface="Dyalog Std TT" pitchFamily="49" charset="2"/>
              </a:rPr>
              <a:t>B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  <a:sym typeface="Dyalog Std TT" pitchFamily="49" charset="2"/>
            </a:endParaRPr>
          </a:p>
          <a:p>
            <a:pPr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  <a:sym typeface="Dyalog Std TT" pitchFamily="49" charset="2"/>
              </a:rPr>
              <a:t>84 84 42 42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877134-74B7-2722-E0E2-3A8A64B81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Naming Things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30DE452-69CA-D14C-A8F3-439FE7BEAEB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54924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1CDB8-736F-2172-86BE-8C25F6FB8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6407EA-1AC8-BDAF-6CD2-9EC64A8B7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Names can be composed of upper and lowercase letters and numbers:</a:t>
            </a:r>
            <a:br>
              <a:rPr lang="en-GB" dirty="0"/>
            </a:br>
            <a:endParaRPr lang="en-GB" dirty="0"/>
          </a:p>
          <a:p>
            <a:pPr>
              <a:buNone/>
            </a:pPr>
            <a:r>
              <a:rPr lang="en-GB" dirty="0">
                <a:latin typeface="APL385 Unicode" panose="020B0709000202000203" pitchFamily="49" charset="0"/>
              </a:rPr>
              <a:t>	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abc123XYZ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  <a:sym typeface="Dyalog Std TT" pitchFamily="49" charset="2"/>
              </a:rPr>
              <a:t>← 23</a:t>
            </a:r>
          </a:p>
          <a:p>
            <a:pPr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  <a:sym typeface="Dyalog Std TT" pitchFamily="49" charset="2"/>
              </a:rPr>
              <a:t>	  abc123XYZ + 1</a:t>
            </a:r>
          </a:p>
          <a:p>
            <a:pPr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  <a:sym typeface="Dyalog Std TT" pitchFamily="49" charset="2"/>
              </a:rPr>
              <a:t>24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A5ED84-5577-3FDC-81E8-6D8D0B5A0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Naming Things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DE862D6-4D07-9C5A-23BD-4B7BF6EF9CC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108731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2BB16-6792-843B-0D05-FFA8397B8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FD279E-9364-617D-BEBA-99BD335AA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/>
              <a:t>Names can include some special characters like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∆⍙_</a:t>
            </a:r>
            <a:r>
              <a:rPr lang="en-GB" dirty="0">
                <a:solidFill>
                  <a:srgbClr val="FF0000"/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and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accented characters like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ó</a:t>
            </a:r>
            <a:r>
              <a:rPr lang="en-GB" dirty="0"/>
              <a:t>:</a:t>
            </a:r>
          </a:p>
          <a:p>
            <a:pPr>
              <a:buNone/>
            </a:pPr>
            <a:r>
              <a:rPr lang="en-GB" dirty="0">
                <a:latin typeface="APL385 Unicode" panose="020B0709000202000203" pitchFamily="49" charset="0"/>
              </a:rPr>
              <a:t>	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a_ó∆ø1⍙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  <a:sym typeface="Dyalog Std TT" pitchFamily="49" charset="2"/>
              </a:rPr>
              <a:t>← 230</a:t>
            </a:r>
          </a:p>
          <a:p>
            <a:pPr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  <a:sym typeface="Dyalog Std TT" pitchFamily="49" charset="2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a_ó∆ø1⍙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  <a:sym typeface="Dyalog Std TT" pitchFamily="49" charset="2"/>
              </a:rPr>
              <a:t> + 1</a:t>
            </a:r>
          </a:p>
          <a:p>
            <a:pPr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sym typeface="Dyalog Std TT" pitchFamily="49" charset="2"/>
              </a:rPr>
              <a:t>231</a:t>
            </a:r>
            <a:br>
              <a:rPr lang="en-GB" dirty="0">
                <a:solidFill>
                  <a:schemeClr val="accent3">
                    <a:lumMod val="50000"/>
                  </a:schemeClr>
                </a:solidFill>
                <a:sym typeface="Dyalog Std TT" pitchFamily="49" charset="2"/>
              </a:rPr>
            </a:br>
            <a:endParaRPr lang="en-GB" dirty="0">
              <a:solidFill>
                <a:schemeClr val="accent3">
                  <a:lumMod val="50000"/>
                </a:schemeClr>
              </a:solidFill>
              <a:sym typeface="Dyalog Std TT" pitchFamily="49" charset="2"/>
            </a:endParaRPr>
          </a:p>
          <a:p>
            <a:pPr marL="0" indent="0">
              <a:buNone/>
            </a:pPr>
            <a:r>
              <a:rPr lang="en-GB" dirty="0">
                <a:sym typeface="Dyalog Std TT" pitchFamily="49" charset="2"/>
              </a:rPr>
              <a:t>These are best avoided, but you may encounter them in old code.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07CD27-5DA5-42F3-514F-E64EFD4A1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Naming Things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0829961-E680-01DA-8176-C95417992D4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05928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9AB30-C0FD-EC52-6F37-44DDBEB02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CBE0CE-16C4-C5EF-A37A-2965A8E56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GB" dirty="0">
                <a:sym typeface="Dyalog Std TT" pitchFamily="49" charset="2"/>
              </a:rPr>
              <a:t>Names MAY NOT begin with a digit:</a:t>
            </a:r>
            <a:br>
              <a:rPr lang="en-GB" dirty="0">
                <a:sym typeface="Dyalog Std TT" pitchFamily="49" charset="2"/>
              </a:rPr>
            </a:br>
            <a:endParaRPr lang="en-GB" dirty="0">
              <a:sym typeface="Dyalog Std TT" pitchFamily="49" charset="2"/>
            </a:endParaRPr>
          </a:p>
          <a:p>
            <a:pPr>
              <a:buNone/>
            </a:pPr>
            <a:r>
              <a:rPr lang="en-GB" dirty="0">
                <a:latin typeface="APL385 Unicode" panose="020B0709000202000203" pitchFamily="49" charset="0"/>
                <a:sym typeface="Dyalog Std TT" pitchFamily="49" charset="2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  <a:sym typeface="Dyalog Std TT" pitchFamily="49" charset="2"/>
              </a:rPr>
              <a:t>2xy3 ← 321</a:t>
            </a:r>
          </a:p>
          <a:p>
            <a:pPr>
              <a:buNone/>
            </a:pPr>
            <a:r>
              <a:rPr lang="en-GB" dirty="0">
                <a:latin typeface="APL385 Unicode" panose="020B0709000202000203" pitchFamily="49" charset="0"/>
                <a:sym typeface="Dyalog Std TT" pitchFamily="49" charset="2"/>
              </a:rPr>
              <a:t>SYNTAX ERROR</a:t>
            </a:r>
          </a:p>
          <a:p>
            <a:pPr>
              <a:buNone/>
            </a:pPr>
            <a:r>
              <a:rPr lang="en-GB" dirty="0">
                <a:latin typeface="APL385 Unicode" panose="020B0709000202000203" pitchFamily="49" charset="0"/>
                <a:sym typeface="Dyalog Std TT" pitchFamily="49" charset="2"/>
              </a:rPr>
              <a:t>      2 xy3←321</a:t>
            </a:r>
          </a:p>
          <a:p>
            <a:pPr>
              <a:buNone/>
            </a:pPr>
            <a:r>
              <a:rPr lang="en-GB" dirty="0">
                <a:latin typeface="APL385 Unicode" panose="020B0709000202000203" pitchFamily="49" charset="0"/>
                <a:sym typeface="Dyalog Std TT" pitchFamily="49" charset="2"/>
              </a:rPr>
              <a:t>           ∧</a:t>
            </a:r>
            <a:endParaRPr lang="en-GB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  <a:sym typeface="Dyalog Std TT" pitchFamily="49" charset="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1BFB1C-D0A1-FDB5-B551-A93E6E1CD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Naming Things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07A73F4-562A-9C4E-2890-30D4A48C6403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80871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734A01-4097-A917-F114-3088B5B79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To find all currently named arrays, use the </a:t>
            </a:r>
            <a:r>
              <a:rPr lang="en-GB" b="1" i="1" dirty="0">
                <a:solidFill>
                  <a:srgbClr val="FF6600"/>
                </a:solidFill>
              </a:rPr>
              <a:t>system command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)VARS</a:t>
            </a:r>
          </a:p>
          <a:p>
            <a:pPr marL="0" indent="0">
              <a:buNone/>
            </a:pPr>
            <a:r>
              <a:rPr lang="en-GB" dirty="0"/>
              <a:t>Or the </a:t>
            </a:r>
            <a:r>
              <a:rPr lang="en-GB" b="1" i="1" dirty="0">
                <a:solidFill>
                  <a:srgbClr val="FF6600"/>
                </a:solidFill>
              </a:rPr>
              <a:t>user command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]Names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1FD1E9-EE45-C2BC-13B8-30E482B7F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Naming Things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FF15FCB-D65B-06A6-CA80-22787F15CCE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91010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B455C5-03C2-339A-DB83-581A4E234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System commands and user commands are not APL language statements, but commands to the system.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)VARS</a:t>
            </a:r>
            <a:r>
              <a:rPr lang="en-GB" dirty="0"/>
              <a:t> and </a:t>
            </a:r>
            <a:r>
              <a:rPr lang="en-GB" dirty="0">
                <a:latin typeface="APL385 Unicode" panose="020B0709000202000203" pitchFamily="49" charset="0"/>
              </a:rPr>
              <a:t>)OFF</a:t>
            </a:r>
            <a:r>
              <a:rPr lang="en-GB" dirty="0"/>
              <a:t> are system commands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)ERASE</a:t>
            </a:r>
            <a:r>
              <a:rPr lang="en-GB" dirty="0"/>
              <a:t> is another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9FE4BA-F797-DE87-8C8A-BD881C70A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/ User Commands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0AC2FE6-20B6-2277-A838-4289C390EB2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213803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53DF2A-E4D5-4F35-B262-88AC08EEC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90000"/>
              </a:lnSpc>
              <a:buNone/>
            </a:pPr>
            <a:r>
              <a:rPr lang="en-GB" dirty="0">
                <a:sym typeface="Dyalog Std TT" pitchFamily="49" charset="2"/>
              </a:rPr>
              <a:t>To remove a name you can enter:</a:t>
            </a:r>
          </a:p>
          <a:p>
            <a:pPr>
              <a:lnSpc>
                <a:spcPct val="90000"/>
              </a:lnSpc>
              <a:buNone/>
            </a:pPr>
            <a:r>
              <a:rPr lang="en-GB" dirty="0">
                <a:latin typeface="APL385 Unicode" panose="020B0709000202000203" pitchFamily="49" charset="0"/>
                <a:sym typeface="Dyalog Std TT" pitchFamily="49" charset="2"/>
              </a:rPr>
              <a:t>	  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  <a:sym typeface="Dyalog Std TT" pitchFamily="49" charset="2"/>
              </a:rPr>
              <a:t>)</a:t>
            </a:r>
            <a:r>
              <a:rPr lang="en-GB" b="1" dirty="0">
                <a:solidFill>
                  <a:srgbClr val="FF6600"/>
                </a:solidFill>
                <a:latin typeface="APL385 Unicode" panose="020B0709000202000203" pitchFamily="49" charset="0"/>
                <a:sym typeface="Dyalog Std TT" pitchFamily="49" charset="2"/>
              </a:rPr>
              <a:t>erase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  <a:sym typeface="Dyalog Std TT" pitchFamily="49" charset="2"/>
              </a:rPr>
              <a:t>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  <a:sym typeface="Dyalog Std TT" pitchFamily="49" charset="2"/>
              </a:rPr>
              <a:t>n</a:t>
            </a:r>
          </a:p>
          <a:p>
            <a:pPr>
              <a:lnSpc>
                <a:spcPct val="90000"/>
              </a:lnSpc>
              <a:buNone/>
            </a:pPr>
            <a:r>
              <a:rPr lang="en-GB" dirty="0">
                <a:sym typeface="Dyalog Std TT" pitchFamily="49" charset="2"/>
              </a:rPr>
              <a:t>After which…</a:t>
            </a:r>
            <a:br>
              <a:rPr lang="en-GB" dirty="0">
                <a:sym typeface="Dyalog Std TT" pitchFamily="49" charset="2"/>
              </a:rPr>
            </a:br>
            <a:endParaRPr lang="en-GB" dirty="0">
              <a:sym typeface="Dyalog Std TT" pitchFamily="49" charset="2"/>
            </a:endParaRPr>
          </a:p>
          <a:p>
            <a:pPr>
              <a:lnSpc>
                <a:spcPct val="90000"/>
              </a:lnSpc>
              <a:buNone/>
            </a:pPr>
            <a:r>
              <a:rPr lang="en-GB" dirty="0">
                <a:latin typeface="APL385 Unicode" panose="020B0709000202000203" pitchFamily="49" charset="0"/>
                <a:sym typeface="Dyalog Std TT" pitchFamily="49" charset="2"/>
              </a:rPr>
              <a:t>	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  <a:sym typeface="Dyalog Std TT" pitchFamily="49" charset="2"/>
              </a:rPr>
              <a:t>n</a:t>
            </a:r>
          </a:p>
          <a:p>
            <a:pPr>
              <a:lnSpc>
                <a:spcPct val="90000"/>
              </a:lnSpc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  <a:sym typeface="Dyalog Std TT" pitchFamily="49" charset="2"/>
              </a:rPr>
              <a:t>VALUE ERROR</a:t>
            </a:r>
          </a:p>
          <a:p>
            <a:pPr>
              <a:lnSpc>
                <a:spcPct val="90000"/>
              </a:lnSpc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  <a:sym typeface="Dyalog Std TT" pitchFamily="49" charset="2"/>
              </a:rPr>
              <a:t>	   n</a:t>
            </a:r>
          </a:p>
          <a:p>
            <a:pPr>
              <a:lnSpc>
                <a:spcPct val="90000"/>
              </a:lnSpc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  <a:sym typeface="Dyalog Std TT" pitchFamily="49" charset="2"/>
              </a:rPr>
              <a:t>	   ^</a:t>
            </a:r>
          </a:p>
          <a:p>
            <a:pPr>
              <a:lnSpc>
                <a:spcPct val="90000"/>
              </a:lnSpc>
              <a:buNone/>
            </a:pPr>
            <a:r>
              <a:rPr lang="en-GB" dirty="0">
                <a:sym typeface="Dyalog Std TT" pitchFamily="49" charset="2"/>
              </a:rPr>
              <a:t>The name is no longer defined!</a:t>
            </a:r>
          </a:p>
          <a:p>
            <a:pPr>
              <a:lnSpc>
                <a:spcPct val="90000"/>
              </a:lnSpc>
              <a:buNone/>
            </a:pPr>
            <a:r>
              <a:rPr lang="en-GB" i="1" dirty="0">
                <a:sym typeface="Dyalog Std TT" pitchFamily="49" charset="2"/>
              </a:rPr>
              <a:t>System command</a:t>
            </a:r>
            <a:r>
              <a:rPr lang="en-GB" dirty="0">
                <a:sym typeface="Dyalog Std TT" pitchFamily="49" charset="2"/>
              </a:rPr>
              <a:t> names are case insensitive (but the arguments are not)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40C4E6-75FA-4040-68A5-CFBAABD17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Commands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BE17EAA-B210-CB82-6F36-08A37A80A07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151058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ECF322-8D8D-EB1F-6247-3044F80F1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Dfns</a:t>
            </a:r>
            <a:endParaRPr lang="en-GB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F4DF6D0-D251-0628-CDAD-09586B9DC8A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FCC42DD-AD17-0E75-CFA6-4A20C5F28F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3542" y="1447281"/>
            <a:ext cx="849691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 </a:t>
            </a:r>
            <a:r>
              <a:rPr kumimoji="0" lang="en-US" altLang="en-US" b="1" i="1" u="none" strike="noStrike" cap="none" normalizeH="0" baseline="0" dirty="0" err="1">
                <a:ln>
                  <a:noFill/>
                </a:ln>
                <a:solidFill>
                  <a:srgbClr val="FF6600"/>
                </a:solidFill>
                <a:effectLst/>
                <a:latin typeface="+mj-lt"/>
              </a:rPr>
              <a:t>dfn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(pronounced "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dee-fun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" with a very short "u" sound) is a way of writing functions in APL. It starts and ends with curly braces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L385 Unicode" panose="020B0709000202000203" pitchFamily="49" charset="0"/>
              </a:rPr>
              <a:t>{}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has a right argument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APL385 Unicode" panose="020B0709000202000203" pitchFamily="49" charset="0"/>
              </a:rPr>
              <a:t>⍵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</a:t>
            </a: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+mj-lt"/>
              </a:rPr>
              <a:t>omega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 and an optional left argument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APL385 Unicode" panose="020B0709000202000203" pitchFamily="49" charset="0"/>
              </a:rPr>
              <a:t>⍺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</a:t>
            </a: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+mj-lt"/>
              </a:rPr>
              <a:t>alpha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).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4CD439B-ADE6-4781-1391-E5730509A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8965" y="3397767"/>
            <a:ext cx="360836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L385 Unicode" panose="020B0709000202000203" pitchFamily="49" charset="0"/>
              </a:rPr>
              <a:t>      {3+2×⍵} 6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L385 Unicode" panose="020B0709000202000203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L385 Unicode" panose="020B0709000202000203" pitchFamily="49" charset="0"/>
              </a:rPr>
              <a:t>15 </a:t>
            </a:r>
          </a:p>
        </p:txBody>
      </p:sp>
    </p:spTree>
    <p:extLst>
      <p:ext uri="{BB962C8B-B14F-4D97-AF65-F5344CB8AC3E}">
        <p14:creationId xmlns:p14="http://schemas.microsoft.com/office/powerpoint/2010/main" val="309632092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C8B79-EDED-4C9D-EFAC-CE725E338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BA4A17-0830-DB3C-2273-C415D2C34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Dfns</a:t>
            </a:r>
            <a:endParaRPr lang="en-GB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5A85E40-145E-DC87-B048-107A0335A26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778D5D6-F976-FA34-EDD2-93954CFDA5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3542" y="1447281"/>
            <a:ext cx="849691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 </a:t>
            </a:r>
            <a:r>
              <a:rPr kumimoji="0" lang="en-US" altLang="en-US" b="1" i="1" u="none" strike="noStrike" cap="none" normalizeH="0" baseline="0" dirty="0" err="1">
                <a:ln>
                  <a:noFill/>
                </a:ln>
                <a:solidFill>
                  <a:srgbClr val="FF6600"/>
                </a:solidFill>
                <a:effectLst/>
                <a:latin typeface="+mj-lt"/>
              </a:rPr>
              <a:t>dfn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(pronounced "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dee-fun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" with a very short "u" sound) is a way of writing functions in APL. It starts and ends with curly braces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L385 Unicode" panose="020B0709000202000203" pitchFamily="49" charset="0"/>
              </a:rPr>
              <a:t>{}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has a right argument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APL385 Unicode" panose="020B0709000202000203" pitchFamily="49" charset="0"/>
              </a:rPr>
              <a:t>⍵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</a:t>
            </a: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+mj-lt"/>
              </a:rPr>
              <a:t>omega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 and an optional left argument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APL385 Unicode" panose="020B0709000202000203" pitchFamily="49" charset="0"/>
              </a:rPr>
              <a:t>⍺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</a:t>
            </a: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+mj-lt"/>
              </a:rPr>
              <a:t>alpha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).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2054DAA-070B-C097-BDA1-A82ADA38A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8965" y="3397767"/>
            <a:ext cx="360836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L385 Unicode" panose="020B0709000202000203" pitchFamily="49" charset="0"/>
              </a:rPr>
              <a:t>    3 {</a:t>
            </a:r>
            <a:r>
              <a:rPr lang="en-US" altLang="en-US" sz="2400" dirty="0">
                <a:latin typeface="APL385 Unicode" panose="020B0709000202000203" pitchFamily="49" charset="0"/>
              </a:rPr>
              <a:t>⍺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L385 Unicode" panose="020B0709000202000203" pitchFamily="49" charset="0"/>
              </a:rPr>
              <a:t>+2×⍵} 6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L385 Unicode" panose="020B0709000202000203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L385 Unicode" panose="020B0709000202000203" pitchFamily="49" charset="0"/>
              </a:rPr>
              <a:t>15 </a:t>
            </a:r>
          </a:p>
        </p:txBody>
      </p:sp>
    </p:spTree>
    <p:extLst>
      <p:ext uri="{BB962C8B-B14F-4D97-AF65-F5344CB8AC3E}">
        <p14:creationId xmlns:p14="http://schemas.microsoft.com/office/powerpoint/2010/main" val="251480465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CDAD2-9058-97FC-DD34-B47E97DB9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5C7F89-33FD-616D-0E4D-8DCFA3407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Dfns</a:t>
            </a:r>
            <a:endParaRPr lang="en-GB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F63D2EB-F171-CEE4-B857-36DD276ABCA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8C430E4-2A24-4A38-C153-B36EBC252F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3542" y="2001278"/>
            <a:ext cx="84969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Dfns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can be named so that useful expressions can be reused.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6EDFB54-DDCB-95E1-9622-A980D7763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8965" y="3213101"/>
            <a:ext cx="360836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L385 Unicode" panose="020B0709000202000203" pitchFamily="49" charset="0"/>
              </a:rPr>
              <a:t>      Sum ← {</a:t>
            </a:r>
            <a:r>
              <a:rPr lang="en-US" altLang="en-US" sz="2400" dirty="0">
                <a:latin typeface="APL385 Unicode" panose="020B0709000202000203" pitchFamily="49" charset="0"/>
              </a:rPr>
              <a:t>+/⍵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L385 Unicode" panose="020B0709000202000203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latin typeface="APL385 Unicode" panose="020B0709000202000203" pitchFamily="49" charset="0"/>
              </a:rPr>
              <a:t>      Sum 1 2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L385 Unicode" panose="020B0709000202000203" pitchFamily="49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4473377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A4112-61BA-E5A4-5E3E-4CFCCD36D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08A632-77CE-B5C0-FF9F-78DC1AA0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Syntactic </a:t>
            </a:r>
            <a:r>
              <a:rPr lang="en-GB" dirty="0" err="1"/>
              <a:t>Nameclass</a:t>
            </a:r>
            <a:endParaRPr lang="en-GB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4901107-4EED-B400-F1C5-EEB20869F6E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57221E9-5F56-030C-EB7D-C04DEB8B2D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3529" y="1375266"/>
            <a:ext cx="84969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dirty="0"/>
              <a:t>You may come across the following error: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5513D80-8425-1463-16EC-D17355A21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042" y="1976784"/>
            <a:ext cx="857591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L385 Unicode" panose="020B0709000202000203" pitchFamily="49" charset="0"/>
              </a:rPr>
              <a:t>      count ← {+/⍵}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L385 Unicode" panose="020B0709000202000203" pitchFamily="49" charset="0"/>
              </a:rPr>
              <a:t>      count ← {+/⍵} 1 0 0 1 0 1 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L385 Unicode" panose="020B0709000202000203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L385 Unicode" panose="020B0709000202000203" pitchFamily="49" charset="0"/>
              </a:rPr>
              <a:t>SYNTAX ERROR: Invalid modified assignment, or an attempt was made to change </a:t>
            </a:r>
            <a:r>
              <a:rPr kumimoji="0" lang="en-GB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L385 Unicode" panose="020B0709000202000203" pitchFamily="49" charset="0"/>
              </a:rPr>
              <a:t>nameclass</a:t>
            </a:r>
            <a:r>
              <a:rPr kumimoji="0" lang="en-GB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L385 Unicode" panose="020B0709000202000203" pitchFamily="49" charset="0"/>
              </a:rPr>
              <a:t> on assignment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L385 Unicode" panose="020B0709000202000203" pitchFamily="49" charset="0"/>
              </a:rPr>
              <a:t>      count←{+/⍵}1 0 0 1 0 1 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L385 Unicode" panose="020B0709000202000203" pitchFamily="49" charset="0"/>
              </a:rPr>
              <a:t>      ∧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L385 Unicode" panose="020B07090002020002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31383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5B848A-6FC2-4954-F09E-7546450D2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Things in APL have both a word and a number which identifies what type of thing it is. This is called its </a:t>
            </a:r>
            <a:r>
              <a:rPr lang="en-GB" b="1" dirty="0">
                <a:hlinkClick r:id="rId2"/>
              </a:rPr>
              <a:t>name class</a:t>
            </a:r>
            <a:r>
              <a:rPr lang="en-GB" dirty="0"/>
              <a:t>. So far, we have met </a:t>
            </a:r>
            <a:r>
              <a:rPr lang="en-GB" b="1" dirty="0"/>
              <a:t>variables</a:t>
            </a:r>
            <a:r>
              <a:rPr lang="en-GB" dirty="0"/>
              <a:t> (</a:t>
            </a:r>
            <a:r>
              <a:rPr lang="en-GB" dirty="0" err="1"/>
              <a:t>nameclass</a:t>
            </a:r>
            <a:r>
              <a:rPr lang="en-GB" dirty="0"/>
              <a:t> 2) and </a:t>
            </a:r>
            <a:r>
              <a:rPr lang="en-GB" b="1" dirty="0"/>
              <a:t>functions</a:t>
            </a:r>
            <a:r>
              <a:rPr lang="en-GB" dirty="0"/>
              <a:t> (</a:t>
            </a:r>
            <a:r>
              <a:rPr lang="en-GB" dirty="0" err="1"/>
              <a:t>nameclass</a:t>
            </a:r>
            <a:r>
              <a:rPr lang="en-GB" dirty="0"/>
              <a:t> 3). There are more than these, but they will be introduced later.</a:t>
            </a:r>
          </a:p>
          <a:p>
            <a:r>
              <a:rPr lang="en-GB" dirty="0"/>
              <a:t>In Dyalog APL, if a name already has a function assigned, that same name cannot then be assigned an array value. Nor vice versa. If this happens, erase the name and try again.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B348B4-D002-FC3B-EE34-FEAE18AED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Syntactic </a:t>
            </a:r>
            <a:r>
              <a:rPr lang="en-GB" dirty="0" err="1"/>
              <a:t>Nameclass</a:t>
            </a:r>
            <a:endParaRPr lang="en-GB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5176FC4-E758-E111-6F3B-4C0F23FE417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780055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8C57B0-6557-CB3E-0A51-EE5DE356B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  <a:defRPr/>
            </a:pPr>
            <a:r>
              <a:rPr lang="en-GB" dirty="0"/>
              <a:t>APL provides an easy way to generate lists of numbers.</a:t>
            </a:r>
          </a:p>
          <a:p>
            <a:pPr>
              <a:buFontTx/>
              <a:buNone/>
              <a:defRPr/>
            </a:pPr>
            <a:r>
              <a:rPr lang="en-GB" dirty="0"/>
              <a:t>The primitive monadic </a:t>
            </a:r>
            <a:r>
              <a:rPr lang="en-GB" sz="3000" dirty="0">
                <a:solidFill>
                  <a:srgbClr val="FF6600"/>
                </a:solidFill>
                <a:latin typeface="APL385 Unicode" pitchFamily="49" charset="0"/>
              </a:rPr>
              <a:t>⍳</a:t>
            </a:r>
            <a:r>
              <a:rPr lang="en-GB" dirty="0"/>
              <a:t> (</a:t>
            </a:r>
            <a:r>
              <a:rPr lang="en-GB" b="1" dirty="0"/>
              <a:t>iota</a:t>
            </a:r>
            <a:r>
              <a:rPr lang="en-GB" dirty="0"/>
              <a:t>) generates all the natural numbers from 1 to its argument. Ex:</a:t>
            </a:r>
          </a:p>
          <a:p>
            <a:pPr>
              <a:buFontTx/>
              <a:buNone/>
              <a:defRPr/>
            </a:pPr>
            <a:r>
              <a:rPr lang="en-GB" dirty="0"/>
              <a:t> 		</a:t>
            </a:r>
            <a:r>
              <a:rPr lang="en-GB" dirty="0">
                <a:solidFill>
                  <a:srgbClr val="00B050"/>
                </a:solidFill>
                <a:latin typeface="APL385 Unicode" pitchFamily="49" charset="0"/>
              </a:rPr>
              <a:t>⍳</a:t>
            </a:r>
            <a:r>
              <a:rPr lang="en-GB" dirty="0">
                <a:solidFill>
                  <a:srgbClr val="00B050"/>
                </a:solidFill>
              </a:rPr>
              <a:t> 5</a:t>
            </a:r>
          </a:p>
          <a:p>
            <a:pPr>
              <a:buFontTx/>
              <a:buNone/>
              <a:defRPr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</a:rPr>
              <a:t>1  2  3  4  5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F11182-7B5C-4C7B-4D1D-248C4B976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Generator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945BBCA1-8F52-2E8F-D1C4-18AE3B6F694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66665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A3E2B-62F7-6417-F5B1-CDDD39320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32EA85-02D4-252A-15A1-E14010CDC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  <a:defRPr/>
            </a:pPr>
            <a:r>
              <a:rPr lang="en-GB" dirty="0"/>
              <a:t>We can use iota to generate all sorts of sequences:</a:t>
            </a:r>
          </a:p>
          <a:p>
            <a:pPr>
              <a:buFontTx/>
              <a:buNone/>
              <a:defRPr/>
            </a:pPr>
            <a:r>
              <a:rPr lang="en-GB" dirty="0">
                <a:latin typeface="APL385 Unicode" panose="020B0709000202000203" pitchFamily="49" charset="0"/>
              </a:rPr>
              <a:t>    </a:t>
            </a:r>
            <a:r>
              <a:rPr lang="en-GB" dirty="0">
                <a:solidFill>
                  <a:srgbClr val="00B050"/>
                </a:solidFill>
                <a:latin typeface="APL385 Unicode" pitchFamily="49" charset="0"/>
              </a:rPr>
              <a:t>2010 + ⍳ 5</a:t>
            </a:r>
          </a:p>
          <a:p>
            <a:pPr>
              <a:buFontTx/>
              <a:buNone/>
              <a:defRPr/>
            </a:pPr>
            <a:r>
              <a:rPr lang="en-GB" dirty="0">
                <a:latin typeface="APL385 Unicode" panose="020B0709000202000203" pitchFamily="49" charset="0"/>
              </a:rPr>
              <a:t>2011 2012 2013 2014 2015</a:t>
            </a:r>
          </a:p>
          <a:p>
            <a:pPr>
              <a:buFontTx/>
              <a:buNone/>
              <a:defRPr/>
            </a:pPr>
            <a:r>
              <a:rPr lang="en-GB" dirty="0">
                <a:latin typeface="APL385 Unicode" panose="020B0709000202000203" pitchFamily="49" charset="0"/>
              </a:rPr>
              <a:t>    </a:t>
            </a:r>
            <a:r>
              <a:rPr lang="en-GB" dirty="0">
                <a:solidFill>
                  <a:srgbClr val="00B050"/>
                </a:solidFill>
                <a:latin typeface="APL385 Unicode" pitchFamily="49" charset="0"/>
              </a:rPr>
              <a:t>2 × ⍳ 6</a:t>
            </a:r>
          </a:p>
          <a:p>
            <a:pPr>
              <a:buFontTx/>
              <a:buNone/>
              <a:defRPr/>
            </a:pPr>
            <a:r>
              <a:rPr lang="en-GB" dirty="0">
                <a:latin typeface="APL385 Unicode" panose="020B0709000202000203" pitchFamily="49" charset="0"/>
              </a:rPr>
              <a:t>2 4 6 8 10 12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7776A6-26CA-B81E-4518-E90C06746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Generator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81E6223-11E4-B871-E6D2-6874B73ABB5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253334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EBBFB-B1FB-4E98-D706-EA99FC34C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65E8D6-36F4-A960-1E88-81699B579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Tx/>
              <a:buNone/>
              <a:defRPr/>
            </a:pPr>
            <a:r>
              <a:rPr lang="en-GB" dirty="0">
                <a:latin typeface="APL385 Unicode" panose="020B0709000202000203" pitchFamily="49" charset="0"/>
              </a:rPr>
              <a:t>    </a:t>
            </a:r>
            <a:r>
              <a:rPr lang="en-GB" dirty="0">
                <a:solidFill>
                  <a:srgbClr val="00B050"/>
                </a:solidFill>
                <a:latin typeface="APL385 Unicode" pitchFamily="49" charset="0"/>
              </a:rPr>
              <a:t>0.1 × ¯4 + ⍳ 7</a:t>
            </a:r>
          </a:p>
          <a:p>
            <a:pPr>
              <a:buFontTx/>
              <a:buNone/>
              <a:defRPr/>
            </a:pPr>
            <a:r>
              <a:rPr lang="en-GB" dirty="0">
                <a:latin typeface="APL385 Unicode" panose="020B0709000202000203" pitchFamily="49" charset="0"/>
              </a:rPr>
              <a:t>¯0.3 ¯0.2 ¯0.1 0 0.1 0.2 0.3</a:t>
            </a:r>
          </a:p>
          <a:p>
            <a:pPr>
              <a:buFontTx/>
              <a:buNone/>
              <a:defRPr/>
            </a:pPr>
            <a:r>
              <a:rPr lang="en-GB" dirty="0">
                <a:latin typeface="APL385 Unicode" panose="020B0709000202000203" pitchFamily="49" charset="0"/>
              </a:rPr>
              <a:t>    </a:t>
            </a:r>
            <a:r>
              <a:rPr lang="en-GB" dirty="0">
                <a:solidFill>
                  <a:srgbClr val="00B050"/>
                </a:solidFill>
                <a:latin typeface="APL385 Unicode" pitchFamily="49" charset="0"/>
              </a:rPr>
              <a:t>2 * ⍳7</a:t>
            </a:r>
          </a:p>
          <a:p>
            <a:pPr>
              <a:buFontTx/>
              <a:buNone/>
              <a:defRPr/>
            </a:pPr>
            <a:r>
              <a:rPr lang="en-GB" dirty="0">
                <a:latin typeface="APL385 Unicode" panose="020B0709000202000203" pitchFamily="49" charset="0"/>
              </a:rPr>
              <a:t>2 4 8 16 32 64 128</a:t>
            </a:r>
          </a:p>
          <a:p>
            <a:pPr>
              <a:buFontTx/>
              <a:buNone/>
              <a:defRPr/>
            </a:pPr>
            <a:r>
              <a:rPr lang="en-GB" dirty="0">
                <a:latin typeface="APL385 Unicode" panose="020B0709000202000203" pitchFamily="49" charset="0"/>
              </a:rPr>
              <a:t>    </a:t>
            </a:r>
            <a:r>
              <a:rPr lang="en-GB" dirty="0">
                <a:solidFill>
                  <a:srgbClr val="00B050"/>
                </a:solidFill>
                <a:latin typeface="APL385 Unicode" pitchFamily="49" charset="0"/>
              </a:rPr>
              <a:t>! ⍳ 7</a:t>
            </a:r>
          </a:p>
          <a:p>
            <a:pPr>
              <a:buFontTx/>
              <a:buNone/>
              <a:defRPr/>
            </a:pPr>
            <a:r>
              <a:rPr lang="en-GB" dirty="0">
                <a:latin typeface="APL385 Unicode" panose="020B0709000202000203" pitchFamily="49" charset="0"/>
              </a:rPr>
              <a:t>1 2 6 24 120 720 5040</a:t>
            </a:r>
          </a:p>
          <a:p>
            <a:pPr>
              <a:buFontTx/>
              <a:buNone/>
              <a:defRPr/>
            </a:pPr>
            <a:r>
              <a:rPr lang="en-GB" dirty="0">
                <a:latin typeface="APL385 Unicode" panose="020B0709000202000203" pitchFamily="49" charset="0"/>
              </a:rPr>
              <a:t>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⍳0</a:t>
            </a:r>
          </a:p>
          <a:p>
            <a:pPr>
              <a:buFontTx/>
              <a:buNone/>
              <a:defRPr/>
            </a:pP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26D66B-AC26-4C9E-97D3-520A073A6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Generator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16767A6-3929-3062-1699-8DC593CCF27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ight Arrow 1">
            <a:extLst>
              <a:ext uri="{FF2B5EF4-FFF2-40B4-BE49-F238E27FC236}">
                <a16:creationId xmlns:a16="http://schemas.microsoft.com/office/drawing/2014/main" id="{E9C10CB6-8D00-C540-EF3E-57A986C06A8C}"/>
              </a:ext>
            </a:extLst>
          </p:cNvPr>
          <p:cNvSpPr/>
          <p:nvPr/>
        </p:nvSpPr>
        <p:spPr bwMode="auto">
          <a:xfrm flipH="1">
            <a:off x="1782486" y="4216062"/>
            <a:ext cx="1291455" cy="502788"/>
          </a:xfrm>
          <a:prstGeom prst="rightArrow">
            <a:avLst>
              <a:gd name="adj1" fmla="val 57739"/>
              <a:gd name="adj2" fmla="val 58267"/>
            </a:avLst>
          </a:prstGeom>
          <a:solidFill>
            <a:schemeClr val="tx1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400" dirty="0">
                <a:solidFill>
                  <a:schemeClr val="bg1"/>
                </a:solidFill>
                <a:latin typeface="+mj-lt"/>
                <a:cs typeface="Arial" charset="0"/>
              </a:rPr>
              <a:t>Empty result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47DF7-5C8B-A893-5A9E-39C4B6B4DFF3}"/>
              </a:ext>
            </a:extLst>
          </p:cNvPr>
          <p:cNvSpPr/>
          <p:nvPr/>
        </p:nvSpPr>
        <p:spPr bwMode="auto">
          <a:xfrm>
            <a:off x="394862" y="4278435"/>
            <a:ext cx="702078" cy="37804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dirty="0">
              <a:latin typeface="Times" pitchFamily="18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2672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EDCDE-ED4A-2C64-CE76-88307893A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E8223A-D6A7-FF31-D3BF-66911F1F0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  <a:defRPr/>
            </a:pPr>
            <a:r>
              <a:rPr lang="en-GB" dirty="0"/>
              <a:t>All kinds of sequences can be generated.</a:t>
            </a:r>
          </a:p>
          <a:p>
            <a:pPr>
              <a:buFontTx/>
              <a:buNone/>
              <a:defRPr/>
            </a:pPr>
            <a:r>
              <a:rPr lang="en-GB" dirty="0"/>
              <a:t>Here are the first 12 terms of the Fibonacci series:</a:t>
            </a:r>
          </a:p>
          <a:p>
            <a:pPr>
              <a:buFontTx/>
              <a:buNone/>
              <a:defRPr/>
            </a:pPr>
            <a:r>
              <a:rPr lang="en-GB" dirty="0">
                <a:solidFill>
                  <a:srgbClr val="00B050"/>
                </a:solidFill>
                <a:latin typeface="APL385 Unicode" pitchFamily="49" charset="0"/>
              </a:rPr>
              <a:t>    ⌊ 0.5 + (1.618* ⍳ 12) ÷ 5*0.5</a:t>
            </a:r>
          </a:p>
          <a:p>
            <a:pPr>
              <a:buFontTx/>
              <a:buNone/>
              <a:defRPr/>
            </a:pPr>
            <a:r>
              <a:rPr lang="en-GB" dirty="0">
                <a:latin typeface="APL385 Unicode" panose="020B0709000202000203" pitchFamily="49" charset="0"/>
              </a:rPr>
              <a:t>1 1 2 3 5 8 13 21 34 55 89 144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DD84E4-67DB-AA87-F308-8AC5F759B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Generator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B9069A9-77BF-F41B-C47C-F896D91CD43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284933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B3FEE0-C02C-FF8E-3353-F6E6DD24F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APL expressions are parsed right to left</a:t>
            </a:r>
          </a:p>
          <a:p>
            <a:pPr lvl="1"/>
            <a:r>
              <a:rPr lang="en-GB" dirty="0"/>
              <a:t>Functions have a long right scope and short left scope</a:t>
            </a:r>
          </a:p>
          <a:p>
            <a:r>
              <a:rPr lang="en-GB" dirty="0" err="1"/>
              <a:t>Dfns</a:t>
            </a:r>
            <a:r>
              <a:rPr lang="en-GB" dirty="0"/>
              <a:t> let us re-use expressions as functions</a:t>
            </a:r>
          </a:p>
          <a:p>
            <a:r>
              <a:rPr lang="en-GB" dirty="0"/>
              <a:t>Functions and arrays can be named</a:t>
            </a:r>
          </a:p>
          <a:p>
            <a:r>
              <a:rPr lang="en-GB" dirty="0"/>
              <a:t>Functions and arrays have different syntactic name classes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C1F455-D9E1-562B-2EB5-3A636C72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Review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78A6958-3507-092A-AC39-2D6ADD540E6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448708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27280-ECE8-B8FB-C4BC-810EE2F8F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F782DF-607F-2CCA-F9ED-DF677426D47F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0800000">
            <a:off x="323527" y="1365421"/>
            <a:ext cx="8443592" cy="314154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15000" dirty="0"/>
              <a:t>🤔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3C7017-B48B-8905-AD69-2612689F6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1FD21AF-1211-EB93-7D9C-5F213F36221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18945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5CFB25-B4FD-F659-7342-2D897372F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https://rikedyp.uk/APLBootcamp</a:t>
            </a:r>
          </a:p>
          <a:p>
            <a:pPr marL="0" indent="0">
              <a:buNone/>
            </a:pPr>
            <a:r>
              <a:rPr lang="en-GB" dirty="0"/>
              <a:t>Part 1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F639AF-B5BD-D904-37BE-30F9687AB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ACCC1D3-C422-4189-BCD2-7109ED1844F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0812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yalog">
      <a:dk1>
        <a:srgbClr val="3B475E"/>
      </a:dk1>
      <a:lt1>
        <a:sysClr val="window" lastClr="FFFFFF"/>
      </a:lt1>
      <a:dk2>
        <a:srgbClr val="5A6D8F"/>
      </a:dk2>
      <a:lt2>
        <a:srgbClr val="F6F6D9"/>
      </a:lt2>
      <a:accent1>
        <a:srgbClr val="ED7F00"/>
      </a:accent1>
      <a:accent2>
        <a:srgbClr val="928ABD"/>
      </a:accent2>
      <a:accent3>
        <a:srgbClr val="2C5656"/>
      </a:accent3>
      <a:accent4>
        <a:srgbClr val="FFA336"/>
      </a:accent4>
      <a:accent5>
        <a:srgbClr val="BBB5D6"/>
      </a:accent5>
      <a:accent6>
        <a:srgbClr val="231F20"/>
      </a:accent6>
      <a:hlink>
        <a:srgbClr val="5A6D8F"/>
      </a:hlink>
      <a:folHlink>
        <a:srgbClr val="928ABD"/>
      </a:folHlink>
    </a:clrScheme>
    <a:fontScheme name="Sarabun">
      <a:majorFont>
        <a:latin typeface="Sarabun"/>
        <a:ea typeface=""/>
        <a:cs typeface=""/>
      </a:majorFont>
      <a:minorFont>
        <a:latin typeface="Sarabu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alog19_template_bold_calibri.potx" id="{F0C38D23-3AC9-47E9-8D0D-BEDB5EAFCAD2}" vid="{35320D08-F00A-4224-9D94-CDC48BBB4D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8148</TotalTime>
  <Words>3816</Words>
  <Application>Microsoft Office PowerPoint</Application>
  <PresentationFormat>On-screen Show (16:9)</PresentationFormat>
  <Paragraphs>659</Paragraphs>
  <Slides>107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107</vt:i4>
      </vt:variant>
    </vt:vector>
  </HeadingPairs>
  <TitlesOfParts>
    <vt:vector size="119" baseType="lpstr">
      <vt:lpstr>Consolas</vt:lpstr>
      <vt:lpstr>Courier New</vt:lpstr>
      <vt:lpstr>Times</vt:lpstr>
      <vt:lpstr>Times New Roman</vt:lpstr>
      <vt:lpstr>Arial</vt:lpstr>
      <vt:lpstr>Wingdings</vt:lpstr>
      <vt:lpstr>Sarabun</vt:lpstr>
      <vt:lpstr>APL385 Unicode</vt:lpstr>
      <vt:lpstr>Wingdings 2</vt:lpstr>
      <vt:lpstr>Calibri</vt:lpstr>
      <vt:lpstr>Dyalog Std TT</vt:lpstr>
      <vt:lpstr>Office Theme</vt:lpstr>
      <vt:lpstr>APL Bootcamp – Part 1</vt:lpstr>
      <vt:lpstr>History of APL</vt:lpstr>
      <vt:lpstr>History of APL</vt:lpstr>
      <vt:lpstr>History of APL</vt:lpstr>
      <vt:lpstr>Uses of APL</vt:lpstr>
      <vt:lpstr>Syntaxes of Mathematics</vt:lpstr>
      <vt:lpstr>Syntaxes of Mathematics</vt:lpstr>
      <vt:lpstr>Syntaxes of Mathematics</vt:lpstr>
      <vt:lpstr>Reading APL…</vt:lpstr>
      <vt:lpstr>Reading Code</vt:lpstr>
      <vt:lpstr>Syntax of APL</vt:lpstr>
      <vt:lpstr>Starting and Stopping Dyalog</vt:lpstr>
      <vt:lpstr>Starting and Stopping Dyalog</vt:lpstr>
      <vt:lpstr>Let's Get Started</vt:lpstr>
      <vt:lpstr>Let's Get Started</vt:lpstr>
      <vt:lpstr>Basic Syntax</vt:lpstr>
      <vt:lpstr>Basic Syntax</vt:lpstr>
      <vt:lpstr>Basic Syntax</vt:lpstr>
      <vt:lpstr>Basic Syntax</vt:lpstr>
      <vt:lpstr>Typing APL</vt:lpstr>
      <vt:lpstr>Typing APL</vt:lpstr>
      <vt:lpstr>Resources</vt:lpstr>
      <vt:lpstr>Resources</vt:lpstr>
      <vt:lpstr>Resources</vt:lpstr>
      <vt:lpstr>Resources</vt:lpstr>
      <vt:lpstr>PowerPoint Presentation</vt:lpstr>
      <vt:lpstr>Basic Syntax</vt:lpstr>
      <vt:lpstr>Basic Syntax</vt:lpstr>
      <vt:lpstr>Plus/Conjugate (+)</vt:lpstr>
      <vt:lpstr>Minus/Negate (-)</vt:lpstr>
      <vt:lpstr>Times/Signum (×)</vt:lpstr>
      <vt:lpstr>Divide/Reciprocal (÷)</vt:lpstr>
      <vt:lpstr>Residue/Magnitude (|)</vt:lpstr>
      <vt:lpstr>Power/Exponential (*)</vt:lpstr>
      <vt:lpstr>Logarithm/Natural Log (⍟)</vt:lpstr>
      <vt:lpstr>Power and Log – for investors</vt:lpstr>
      <vt:lpstr>Scalars and Vectors</vt:lpstr>
      <vt:lpstr>Singleton Extension</vt:lpstr>
      <vt:lpstr>Singleton Extension</vt:lpstr>
      <vt:lpstr>Conformable Shapes</vt:lpstr>
      <vt:lpstr>Common Errors</vt:lpstr>
      <vt:lpstr>Common Errors</vt:lpstr>
      <vt:lpstr>Common Errors</vt:lpstr>
      <vt:lpstr>Common Errors</vt:lpstr>
      <vt:lpstr>Common Errors</vt:lpstr>
      <vt:lpstr>Comments</vt:lpstr>
      <vt:lpstr>APL Symbols</vt:lpstr>
      <vt:lpstr>Review?</vt:lpstr>
      <vt:lpstr>Questions?</vt:lpstr>
      <vt:lpstr>Exercises</vt:lpstr>
      <vt:lpstr>Simple syntax</vt:lpstr>
      <vt:lpstr>Simple syntax</vt:lpstr>
      <vt:lpstr>Simple syntax</vt:lpstr>
      <vt:lpstr>Simple syntax</vt:lpstr>
      <vt:lpstr>Simple syntax</vt:lpstr>
      <vt:lpstr>Simple syntax</vt:lpstr>
      <vt:lpstr>Simple syntax</vt:lpstr>
      <vt:lpstr>Operators</vt:lpstr>
      <vt:lpstr>Operators</vt:lpstr>
      <vt:lpstr>Operators</vt:lpstr>
      <vt:lpstr>Operators</vt:lpstr>
      <vt:lpstr>Operators</vt:lpstr>
      <vt:lpstr>Operators</vt:lpstr>
      <vt:lpstr>Operators</vt:lpstr>
      <vt:lpstr>Operators</vt:lpstr>
      <vt:lpstr>Operators</vt:lpstr>
      <vt:lpstr>Operators</vt:lpstr>
      <vt:lpstr>Operators</vt:lpstr>
      <vt:lpstr>Operators</vt:lpstr>
      <vt:lpstr>Operators</vt:lpstr>
      <vt:lpstr>Booleans</vt:lpstr>
      <vt:lpstr>Booleans</vt:lpstr>
      <vt:lpstr>Booleans</vt:lpstr>
      <vt:lpstr>Booleans</vt:lpstr>
      <vt:lpstr>Booleans</vt:lpstr>
      <vt:lpstr>Booleans</vt:lpstr>
      <vt:lpstr>Booleans</vt:lpstr>
      <vt:lpstr>Booleans</vt:lpstr>
      <vt:lpstr>Order of Execution</vt:lpstr>
      <vt:lpstr>Order of Execution</vt:lpstr>
      <vt:lpstr>Order of Execution</vt:lpstr>
      <vt:lpstr>Order of Execution</vt:lpstr>
      <vt:lpstr>Order of Execution</vt:lpstr>
      <vt:lpstr>Order of Execution</vt:lpstr>
      <vt:lpstr>Order of Execution</vt:lpstr>
      <vt:lpstr>GOTCHA! Stranding</vt:lpstr>
      <vt:lpstr>Naming Things</vt:lpstr>
      <vt:lpstr>Naming Things</vt:lpstr>
      <vt:lpstr>Naming Things</vt:lpstr>
      <vt:lpstr>Naming Things</vt:lpstr>
      <vt:lpstr>Naming Things</vt:lpstr>
      <vt:lpstr>Naming Things</vt:lpstr>
      <vt:lpstr>Naming Things</vt:lpstr>
      <vt:lpstr>System / User Commands</vt:lpstr>
      <vt:lpstr>System Commands</vt:lpstr>
      <vt:lpstr>Dfns</vt:lpstr>
      <vt:lpstr>Dfns</vt:lpstr>
      <vt:lpstr>Dfns</vt:lpstr>
      <vt:lpstr>Syntactic Nameclass</vt:lpstr>
      <vt:lpstr>Syntactic Nameclass</vt:lpstr>
      <vt:lpstr>Index Generator</vt:lpstr>
      <vt:lpstr>Index Generator</vt:lpstr>
      <vt:lpstr>Index Generator</vt:lpstr>
      <vt:lpstr>Index Generator</vt:lpstr>
      <vt:lpstr>Review</vt:lpstr>
      <vt:lpstr>Questions?</vt:lpstr>
      <vt:lpstr>Exercises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Fiona Smith</dc:creator>
  <cp:lastModifiedBy>Rich Park</cp:lastModifiedBy>
  <cp:revision>334</cp:revision>
  <dcterms:created xsi:type="dcterms:W3CDTF">2019-07-25T11:46:05Z</dcterms:created>
  <dcterms:modified xsi:type="dcterms:W3CDTF">2025-08-20T15:52:11Z</dcterms:modified>
</cp:coreProperties>
</file>