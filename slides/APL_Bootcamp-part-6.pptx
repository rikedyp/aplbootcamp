
<file path=[Content_Types].xml><?xml version="1.0" encoding="utf-8"?>
<Types xmlns="http://schemas.openxmlformats.org/package/2006/content-types">
  <Default Extension="fntdata" ContentType="application/x-fontdata"/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howSpecialPlsOnTitleSld="0" embedTrueTypeFonts="1">
  <p:sldMasterIdLst>
    <p:sldMasterId id="2147483648" r:id="rId1"/>
  </p:sldMasterIdLst>
  <p:notesMasterIdLst>
    <p:notesMasterId r:id="rId57"/>
  </p:notesMasterIdLst>
  <p:handoutMasterIdLst>
    <p:handoutMasterId r:id="rId58"/>
  </p:handoutMasterIdLst>
  <p:sldIdLst>
    <p:sldId id="257" r:id="rId2"/>
    <p:sldId id="259" r:id="rId3"/>
    <p:sldId id="260" r:id="rId4"/>
    <p:sldId id="261" r:id="rId5"/>
    <p:sldId id="263" r:id="rId6"/>
    <p:sldId id="264" r:id="rId7"/>
    <p:sldId id="265" r:id="rId8"/>
    <p:sldId id="262" r:id="rId9"/>
    <p:sldId id="266" r:id="rId10"/>
    <p:sldId id="267" r:id="rId11"/>
    <p:sldId id="268" r:id="rId12"/>
    <p:sldId id="269" r:id="rId13"/>
    <p:sldId id="270" r:id="rId14"/>
    <p:sldId id="272" r:id="rId15"/>
    <p:sldId id="273" r:id="rId16"/>
    <p:sldId id="271" r:id="rId17"/>
    <p:sldId id="274" r:id="rId18"/>
    <p:sldId id="275" r:id="rId19"/>
    <p:sldId id="276" r:id="rId20"/>
    <p:sldId id="277" r:id="rId21"/>
    <p:sldId id="279" r:id="rId22"/>
    <p:sldId id="280" r:id="rId23"/>
    <p:sldId id="281" r:id="rId24"/>
    <p:sldId id="278" r:id="rId25"/>
    <p:sldId id="282" r:id="rId26"/>
    <p:sldId id="283" r:id="rId27"/>
    <p:sldId id="284" r:id="rId28"/>
    <p:sldId id="312" r:id="rId29"/>
    <p:sldId id="285" r:id="rId30"/>
    <p:sldId id="286" r:id="rId31"/>
    <p:sldId id="287" r:id="rId32"/>
    <p:sldId id="288" r:id="rId33"/>
    <p:sldId id="289" r:id="rId34"/>
    <p:sldId id="290" r:id="rId35"/>
    <p:sldId id="291" r:id="rId36"/>
    <p:sldId id="304" r:id="rId37"/>
    <p:sldId id="292" r:id="rId38"/>
    <p:sldId id="293" r:id="rId39"/>
    <p:sldId id="294" r:id="rId40"/>
    <p:sldId id="295" r:id="rId41"/>
    <p:sldId id="296" r:id="rId42"/>
    <p:sldId id="297" r:id="rId43"/>
    <p:sldId id="298" r:id="rId44"/>
    <p:sldId id="299" r:id="rId45"/>
    <p:sldId id="311" r:id="rId46"/>
    <p:sldId id="300" r:id="rId47"/>
    <p:sldId id="301" r:id="rId48"/>
    <p:sldId id="302" r:id="rId49"/>
    <p:sldId id="303" r:id="rId50"/>
    <p:sldId id="305" r:id="rId51"/>
    <p:sldId id="306" r:id="rId52"/>
    <p:sldId id="307" r:id="rId53"/>
    <p:sldId id="308" r:id="rId54"/>
    <p:sldId id="309" r:id="rId55"/>
    <p:sldId id="310" r:id="rId56"/>
  </p:sldIdLst>
  <p:sldSz cx="9144000" cy="5143500" type="screen16x9"/>
  <p:notesSz cx="6858000" cy="9144000"/>
  <p:embeddedFontLst>
    <p:embeddedFont>
      <p:font typeface="APL385 Unicode" panose="020B0709000202000203" pitchFamily="49" charset="0"/>
      <p:regular r:id="rId59"/>
    </p:embeddedFont>
    <p:embeddedFont>
      <p:font typeface="Sarabun" panose="00000500000000000000" pitchFamily="2" charset="-34"/>
      <p:regular r:id="rId60"/>
      <p:bold r:id="rId61"/>
      <p:italic r:id="rId62"/>
      <p:boldItalic r:id="rId63"/>
    </p:embeddedFont>
    <p:embeddedFont>
      <p:font typeface="Times" panose="02020603050405020304" pitchFamily="18" charset="0"/>
      <p:regular r:id="rId64"/>
      <p:bold r:id="rId65"/>
      <p:italic r:id="rId66"/>
      <p:boldItalic r:id="rId67"/>
    </p:embeddedFont>
    <p:embeddedFont>
      <p:font typeface="Wingdings 2" panose="05020102010507070707" pitchFamily="18" charset="2"/>
      <p:regular r:id="rId68"/>
    </p:embeddedFont>
  </p:embeddedFont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  <a:srgbClr val="5A6D8F"/>
    <a:srgbClr val="3B475E"/>
    <a:srgbClr val="ED7F00"/>
    <a:srgbClr val="FDFDF5"/>
    <a:srgbClr val="F6F6D9"/>
    <a:srgbClr val="BBB5D6"/>
    <a:srgbClr val="928ABD"/>
    <a:srgbClr val="373535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6771" autoAdjust="0"/>
    <p:restoredTop sz="95508" autoAdjust="0"/>
  </p:normalViewPr>
  <p:slideViewPr>
    <p:cSldViewPr snapToGrid="0">
      <p:cViewPr varScale="1">
        <p:scale>
          <a:sx n="147" d="100"/>
          <a:sy n="147" d="100"/>
        </p:scale>
        <p:origin x="498" y="114"/>
      </p:cViewPr>
      <p:guideLst>
        <p:guide orient="horz" pos="1620"/>
        <p:guide pos="2880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3" d="2"/>
        <a:sy n="3" d="2"/>
      </p:scale>
      <p:origin x="0" y="0"/>
    </p:cViewPr>
  </p:notesTextViewPr>
  <p:sorterViewPr>
    <p:cViewPr>
      <p:scale>
        <a:sx n="100" d="100"/>
        <a:sy n="100" d="100"/>
      </p:scale>
      <p:origin x="0" y="0"/>
    </p:cViewPr>
  </p:sorterViewPr>
  <p:notesViewPr>
    <p:cSldViewPr snapToGrid="0">
      <p:cViewPr varScale="1">
        <p:scale>
          <a:sx n="69" d="100"/>
          <a:sy n="69" d="100"/>
        </p:scale>
        <p:origin x="2693" y="77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"1.0" encoding="UTF-8" standalone="yes"?>
<Relationships xmlns="http://schemas.openxmlformats.org/package/2006/relationships"><Relationship Id="rId26" Type="http://schemas.openxmlformats.org/officeDocument/2006/relationships/slide" Target="slides/slide25.xml"/><Relationship Id="rId21" Type="http://schemas.openxmlformats.org/officeDocument/2006/relationships/slide" Target="slides/slide20.xml"/><Relationship Id="rId42" Type="http://schemas.openxmlformats.org/officeDocument/2006/relationships/slide" Target="slides/slide41.xml"/><Relationship Id="rId47" Type="http://schemas.openxmlformats.org/officeDocument/2006/relationships/slide" Target="slides/slide46.xml"/><Relationship Id="rId63" Type="http://schemas.openxmlformats.org/officeDocument/2006/relationships/font" Target="fonts/font5.fntdata"/><Relationship Id="rId68" Type="http://schemas.openxmlformats.org/officeDocument/2006/relationships/font" Target="NULL"/><Relationship Id="rId7" Type="http://schemas.openxmlformats.org/officeDocument/2006/relationships/slide" Target="slides/slide6.xml"/><Relationship Id="rId71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3" Type="http://schemas.openxmlformats.org/officeDocument/2006/relationships/slide" Target="slides/slide52.xml"/><Relationship Id="rId58" Type="http://schemas.openxmlformats.org/officeDocument/2006/relationships/handoutMaster" Target="handoutMasters/handoutMaster1.xml"/><Relationship Id="rId66" Type="http://schemas.openxmlformats.org/officeDocument/2006/relationships/font" Target="fonts/font8.fntdata"/><Relationship Id="rId5" Type="http://schemas.openxmlformats.org/officeDocument/2006/relationships/slide" Target="slides/slide4.xml"/><Relationship Id="rId61" Type="http://schemas.openxmlformats.org/officeDocument/2006/relationships/font" Target="fonts/font3.fntdata"/><Relationship Id="rId19" Type="http://schemas.openxmlformats.org/officeDocument/2006/relationships/slide" Target="slides/slide1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slide" Target="slides/slide47.xml"/><Relationship Id="rId56" Type="http://schemas.openxmlformats.org/officeDocument/2006/relationships/slide" Target="slides/slide55.xml"/><Relationship Id="rId64" Type="http://schemas.openxmlformats.org/officeDocument/2006/relationships/font" Target="fonts/font6.fntdata"/><Relationship Id="rId69" Type="http://schemas.openxmlformats.org/officeDocument/2006/relationships/presProps" Target="presProps.xml"/><Relationship Id="rId8" Type="http://schemas.openxmlformats.org/officeDocument/2006/relationships/slide" Target="slides/slide7.xml"/><Relationship Id="rId51" Type="http://schemas.openxmlformats.org/officeDocument/2006/relationships/slide" Target="slides/slide50.xml"/><Relationship Id="rId72" Type="http://schemas.openxmlformats.org/officeDocument/2006/relationships/tableStyles" Target="tableStyles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59" Type="http://schemas.openxmlformats.org/officeDocument/2006/relationships/font" Target="fonts/font1.fntdata"/><Relationship Id="rId67" Type="http://schemas.openxmlformats.org/officeDocument/2006/relationships/font" Target="fonts/font9.fntdata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54" Type="http://schemas.openxmlformats.org/officeDocument/2006/relationships/slide" Target="slides/slide53.xml"/><Relationship Id="rId62" Type="http://schemas.openxmlformats.org/officeDocument/2006/relationships/font" Target="fonts/font4.fntdata"/><Relationship Id="rId70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slide" Target="slides/slide48.xml"/><Relationship Id="rId57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slide" Target="slides/slide51.xml"/><Relationship Id="rId60" Type="http://schemas.openxmlformats.org/officeDocument/2006/relationships/font" Target="fonts/font2.fntdata"/><Relationship Id="rId65" Type="http://schemas.openxmlformats.org/officeDocument/2006/relationships/font" Target="fonts/font7.fntdata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9" Type="http://schemas.openxmlformats.org/officeDocument/2006/relationships/slide" Target="slides/slide38.xml"/><Relationship Id="rId34" Type="http://schemas.openxmlformats.org/officeDocument/2006/relationships/slide" Target="slides/slide33.xml"/><Relationship Id="rId50" Type="http://schemas.openxmlformats.org/officeDocument/2006/relationships/slide" Target="slides/slide49.xml"/><Relationship Id="rId55" Type="http://schemas.openxmlformats.org/officeDocument/2006/relationships/slide" Target="slides/slide54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A6A3BD-28BD-4949-B52F-24E999822598}" type="datetimeFigureOut">
              <a:rPr lang="en-GB" smtClean="0">
                <a:latin typeface="Sarabun" panose="00000500000000000000" pitchFamily="2" charset="-34"/>
              </a:rPr>
              <a:t>04/09/2025</a:t>
            </a:fld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dirty="0">
              <a:latin typeface="Sarabun" panose="00000500000000000000" pitchFamily="2" charset="-34"/>
            </a:endParaRPr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D7370AB-76A5-41F1-9753-9FE7E667F0C0}" type="slidenum">
              <a:rPr lang="en-GB" smtClean="0">
                <a:latin typeface="Sarabun" panose="00000500000000000000" pitchFamily="2" charset="-34"/>
              </a:rPr>
              <a:t>‹#›</a:t>
            </a:fld>
            <a:endParaRPr lang="en-GB" dirty="0">
              <a:latin typeface="Sarabun" panose="00000500000000000000" pitchFamily="2" charset="-34"/>
            </a:endParaRPr>
          </a:p>
        </p:txBody>
      </p:sp>
    </p:spTree>
    <p:extLst>
      <p:ext uri="{BB962C8B-B14F-4D97-AF65-F5344CB8AC3E}">
        <p14:creationId xmlns:p14="http://schemas.microsoft.com/office/powerpoint/2010/main" val="356471822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CDEAEF8A-5BB8-41C8-B8C2-160617C17EF4}" type="datetimeFigureOut">
              <a:rPr lang="en-GB" smtClean="0"/>
              <a:pPr/>
              <a:t>04/09/2025</a:t>
            </a:fld>
            <a:endParaRPr lang="en-GB" dirty="0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 dirty="0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  <a:endParaRPr lang="en-GB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Sarabun" panose="00000500000000000000" pitchFamily="2" charset="-34"/>
              </a:defRPr>
            </a:lvl1pPr>
          </a:lstStyle>
          <a:p>
            <a:endParaRPr lang="en-GB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Sarabun" panose="00000500000000000000" pitchFamily="2" charset="-34"/>
              </a:defRPr>
            </a:lvl1pPr>
          </a:lstStyle>
          <a:p>
            <a:fld id="{4320660A-27FD-4528-AE7F-EC6080404EEB}" type="slidenum">
              <a:rPr lang="en-GB" smtClean="0"/>
              <a:pPr/>
              <a:t>‹#›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01213395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Sarabun" panose="00000500000000000000" pitchFamily="2" charset="-34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sv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png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1_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 hasCustomPrompt="1"/>
          </p:nvPr>
        </p:nvSpPr>
        <p:spPr>
          <a:xfrm>
            <a:off x="445060" y="1688053"/>
            <a:ext cx="5073517" cy="1767394"/>
          </a:xfrm>
          <a:prstGeom prst="rect">
            <a:avLst/>
          </a:prstGeom>
        </p:spPr>
        <p:txBody>
          <a:bodyPr anchor="ctr" anchorCtr="0">
            <a:noAutofit/>
          </a:bodyPr>
          <a:lstStyle>
            <a:lvl1pPr algn="l">
              <a:lnSpc>
                <a:spcPct val="100000"/>
              </a:lnSpc>
              <a:defRPr sz="3600" b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r>
              <a:rPr lang="en-US" dirty="0"/>
              <a:t>Title</a:t>
            </a:r>
            <a:endParaRPr lang="en-GB" dirty="0"/>
          </a:p>
        </p:txBody>
      </p:sp>
      <p:sp>
        <p:nvSpPr>
          <p:cNvPr id="9" name="Text Placeholder 8"/>
          <p:cNvSpPr>
            <a:spLocks noGrp="1"/>
          </p:cNvSpPr>
          <p:nvPr>
            <p:ph type="body" sz="quarter" idx="10" hasCustomPrompt="1"/>
          </p:nvPr>
        </p:nvSpPr>
        <p:spPr>
          <a:xfrm>
            <a:off x="445061" y="3741620"/>
            <a:ext cx="5073516" cy="1024109"/>
          </a:xfrm>
        </p:spPr>
        <p:txBody>
          <a:bodyPr anchor="t" anchorCtr="0">
            <a:noAutofit/>
          </a:bodyPr>
          <a:lstStyle>
            <a:lvl1pPr marL="0" indent="0" algn="l">
              <a:lnSpc>
                <a:spcPct val="100000"/>
              </a:lnSpc>
              <a:buNone/>
              <a:defRPr sz="2400" i="1" baseline="0">
                <a:solidFill>
                  <a:srgbClr val="3B475E"/>
                </a:solidFill>
                <a:latin typeface="Sarabun" panose="00000500000000000000" pitchFamily="2" charset="-34"/>
              </a:defRPr>
            </a:lvl1pPr>
          </a:lstStyle>
          <a:p>
            <a:pPr lvl="0"/>
            <a:r>
              <a:rPr lang="en-US" dirty="0"/>
              <a:t>Presenter</a:t>
            </a:r>
          </a:p>
        </p:txBody>
      </p:sp>
      <p:sp useBgFill="1">
        <p:nvSpPr>
          <p:cNvPr id="3" name="Rounded Rectangle 2"/>
          <p:cNvSpPr/>
          <p:nvPr userDrawn="1"/>
        </p:nvSpPr>
        <p:spPr>
          <a:xfrm>
            <a:off x="8616917" y="51470"/>
            <a:ext cx="405045" cy="270030"/>
          </a:xfrm>
          <a:prstGeom prst="roundRect">
            <a:avLst/>
          </a:prstGeom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GB" dirty="0"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91A7F93E-0AC9-4994-C087-EC47479093DE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>
          <a:xfrm>
            <a:off x="551227" y="679296"/>
            <a:ext cx="2306274" cy="381037"/>
          </a:xfrm>
          <a:prstGeom prst="rect">
            <a:avLst/>
          </a:prstGeom>
        </p:spPr>
      </p:pic>
      <p:sp>
        <p:nvSpPr>
          <p:cNvPr id="10" name="Media Placeholder 3">
            <a:extLst>
              <a:ext uri="{FF2B5EF4-FFF2-40B4-BE49-F238E27FC236}">
                <a16:creationId xmlns:a16="http://schemas.microsoft.com/office/drawing/2014/main" id="{A8C42A55-8D9A-E8BD-8457-92C7015F8BD3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  <p:pic>
        <p:nvPicPr>
          <p:cNvPr id="6" name="Picture 5">
            <a:extLst>
              <a:ext uri="{FF2B5EF4-FFF2-40B4-BE49-F238E27FC236}">
                <a16:creationId xmlns:a16="http://schemas.microsoft.com/office/drawing/2014/main" id="{B1FE235E-8BE2-78BC-2D0F-81A926E2507A}"/>
              </a:ext>
            </a:extLst>
          </p:cNvPr>
          <p:cNvPicPr>
            <a:picLocks noChangeAspect="1"/>
          </p:cNvPicPr>
          <p:nvPr userDrawn="1"/>
        </p:nvPicPr>
        <p:blipFill>
          <a:blip r:embed="rId4"/>
          <a:stretch>
            <a:fillRect/>
          </a:stretch>
        </p:blipFill>
        <p:spPr>
          <a:xfrm>
            <a:off x="0" y="5094961"/>
            <a:ext cx="9144000" cy="487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94737365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56DBA27B-8304-4CFA-81F2-07D6954C9B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/>
            </a:lvl1pPr>
            <a:lvl2pPr>
              <a:spcBef>
                <a:spcPts val="0"/>
              </a:spcBef>
              <a:buClr>
                <a:srgbClr val="FF6600"/>
              </a:buClr>
              <a:defRPr/>
            </a:lvl2pPr>
            <a:lvl3pPr>
              <a:spcBef>
                <a:spcPts val="0"/>
              </a:spcBef>
              <a:buClr>
                <a:srgbClr val="FF6600"/>
              </a:buClr>
              <a:defRPr/>
            </a:lvl3pPr>
            <a:lvl4pPr>
              <a:spcBef>
                <a:spcPts val="0"/>
              </a:spcBef>
              <a:buClr>
                <a:srgbClr val="FFA336"/>
              </a:buClr>
              <a:defRPr/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228F4D49-482B-40A2-86AF-43C7452AA67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07968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2" name="Media Placeholder 3">
            <a:extLst>
              <a:ext uri="{FF2B5EF4-FFF2-40B4-BE49-F238E27FC236}">
                <a16:creationId xmlns:a16="http://schemas.microsoft.com/office/drawing/2014/main" id="{41860E7C-CA2A-CCFE-19A9-6DCDEE29B22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23183522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 Placeholder 2">
            <a:extLst>
              <a:ext uri="{FF2B5EF4-FFF2-40B4-BE49-F238E27FC236}">
                <a16:creationId xmlns:a16="http://schemas.microsoft.com/office/drawing/2014/main" id="{BE1C07FA-679D-46C0-86F7-8D17779A014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264925"/>
            <a:ext cx="4104000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7" name="Text Placeholder 2">
            <a:extLst>
              <a:ext uri="{FF2B5EF4-FFF2-40B4-BE49-F238E27FC236}">
                <a16:creationId xmlns:a16="http://schemas.microsoft.com/office/drawing/2014/main" id="{64BF5B9E-EBC4-409F-984B-6D47D81EDF48}"/>
              </a:ext>
            </a:extLst>
          </p:cNvPr>
          <p:cNvSpPr>
            <a:spLocks noGrp="1"/>
          </p:cNvSpPr>
          <p:nvPr>
            <p:ph idx="10"/>
          </p:nvPr>
        </p:nvSpPr>
        <p:spPr>
          <a:xfrm>
            <a:off x="4747260" y="1264925"/>
            <a:ext cx="4104641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>
            <a:lvl1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1pPr>
            <a:lvl2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2pPr>
            <a:lvl3pPr>
              <a:spcBef>
                <a:spcPts val="0"/>
              </a:spcBef>
              <a:buClr>
                <a:srgbClr val="FF6600"/>
              </a:buClr>
              <a:defRPr>
                <a:latin typeface="Sarabun" panose="00000500000000000000" pitchFamily="2" charset="-34"/>
              </a:defRPr>
            </a:lvl3pPr>
            <a:lvl4pPr>
              <a:spcBef>
                <a:spcPts val="0"/>
              </a:spcBef>
              <a:defRPr>
                <a:latin typeface="Sarabun" panose="00000500000000000000" pitchFamily="2" charset="-34"/>
              </a:defRPr>
            </a:lvl4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8" name="Title Placeholder 1">
            <a:extLst>
              <a:ext uri="{FF2B5EF4-FFF2-40B4-BE49-F238E27FC236}">
                <a16:creationId xmlns:a16="http://schemas.microsoft.com/office/drawing/2014/main" id="{1378A4D6-E4A6-4021-9A3E-CD1962CFE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54350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CFE9A372-03E3-E60F-6496-867B43D28DD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1432268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Placeholder 1">
            <a:extLst>
              <a:ext uri="{FF2B5EF4-FFF2-40B4-BE49-F238E27FC236}">
                <a16:creationId xmlns:a16="http://schemas.microsoft.com/office/drawing/2014/main" id="{4C4900D4-E042-4F52-A837-0B504DD6A4A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23529" y="267657"/>
            <a:ext cx="6527846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6AE5AD0B-78DA-96AF-6F08-3574B654A51A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42264723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Media Placeholder 3">
            <a:extLst>
              <a:ext uri="{FF2B5EF4-FFF2-40B4-BE49-F238E27FC236}">
                <a16:creationId xmlns:a16="http://schemas.microsoft.com/office/drawing/2014/main" id="{2ADF6038-2E5A-469C-35D8-0A0580CF19AD}"/>
              </a:ext>
            </a:extLst>
          </p:cNvPr>
          <p:cNvSpPr>
            <a:spLocks noGrp="1"/>
          </p:cNvSpPr>
          <p:nvPr>
            <p:ph type="media" sz="quarter" idx="11" hasCustomPrompt="1"/>
          </p:nvPr>
        </p:nvSpPr>
        <p:spPr>
          <a:xfrm>
            <a:off x="6957391" y="0"/>
            <a:ext cx="2186609" cy="1311965"/>
          </a:xfrm>
        </p:spPr>
        <p:txBody>
          <a:bodyPr/>
          <a:lstStyle>
            <a:lvl1pPr marL="0" indent="0" algn="ctr">
              <a:buNone/>
              <a:defRPr sz="1200"/>
            </a:lvl1pPr>
          </a:lstStyle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1200"/>
              </a:spcAft>
              <a:buClr>
                <a:srgbClr val="FF6600"/>
              </a:buClr>
              <a:buSzPct val="75000"/>
              <a:buFont typeface="Wingdings 2" panose="05020102010507070707" pitchFamily="18" charset="2"/>
              <a:buNone/>
              <a:tabLst/>
              <a:defRPr/>
            </a:pPr>
            <a:r>
              <a:rPr lang="en-GB" dirty="0" err="1"/>
              <a:t>PICinPIC</a:t>
            </a:r>
            <a:r>
              <a:rPr lang="en-GB" dirty="0"/>
              <a:t> WILL SHOW HERE, CONTENT COULD BE OBSCURED.  (invisible box)</a:t>
            </a:r>
          </a:p>
        </p:txBody>
      </p:sp>
    </p:spTree>
    <p:extLst>
      <p:ext uri="{BB962C8B-B14F-4D97-AF65-F5344CB8AC3E}">
        <p14:creationId xmlns:p14="http://schemas.microsoft.com/office/powerpoint/2010/main" val="144769428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9" Type="http://schemas.openxmlformats.org/officeDocument/2006/relationships/image" Target="../media/image3.sv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323528" y="267657"/>
            <a:ext cx="7005527" cy="685535"/>
          </a:xfrm>
          <a:prstGeom prst="rect">
            <a:avLst/>
          </a:prstGeom>
        </p:spPr>
        <p:txBody>
          <a:bodyPr vert="horz" lIns="91440" tIns="45720" rIns="91440" bIns="45720" rtlCol="0" anchor="b" anchorCtr="0">
            <a:noAutofit/>
          </a:bodyPr>
          <a:lstStyle/>
          <a:p>
            <a:r>
              <a:rPr lang="en-US" dirty="0"/>
              <a:t>Click to edit Master title style</a:t>
            </a:r>
            <a:endParaRPr lang="en-GB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323527" y="1264925"/>
            <a:ext cx="8528373" cy="324204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</p:txBody>
      </p:sp>
      <p:sp>
        <p:nvSpPr>
          <p:cNvPr id="6" name="Content Placeholder 2">
            <a:extLst>
              <a:ext uri="{FF2B5EF4-FFF2-40B4-BE49-F238E27FC236}">
                <a16:creationId xmlns:a16="http://schemas.microsoft.com/office/drawing/2014/main" id="{79B4391E-A2CA-4E7C-B5A9-A31CF000D3E5}"/>
              </a:ext>
            </a:extLst>
          </p:cNvPr>
          <p:cNvSpPr txBox="1">
            <a:spLocks/>
          </p:cNvSpPr>
          <p:nvPr userDrawn="1"/>
        </p:nvSpPr>
        <p:spPr>
          <a:xfrm>
            <a:off x="710852" y="4745354"/>
            <a:ext cx="7066640" cy="398145"/>
          </a:xfrm>
          <a:prstGeom prst="rect">
            <a:avLst/>
          </a:prstGeom>
        </p:spPr>
        <p:txBody>
          <a:bodyPr anchor="ctr">
            <a:normAutofit/>
          </a:bodyPr>
          <a:lstStyle>
            <a:lvl1pPr marL="0" indent="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Arial" panose="020B0604020202020204" pitchFamily="34" charset="0"/>
              <a:buNone/>
              <a:defRPr sz="18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1pPr>
            <a:lvl2pPr marL="717550" indent="-35560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60000"/>
              <a:buFont typeface="Courier New" panose="02070309020205020404" pitchFamily="49" charset="0"/>
              <a:buChar char="o"/>
              <a:defRPr sz="24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2pPr>
            <a:lvl3pPr marL="1079500" indent="-361950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SzPct val="75000"/>
              <a:buFont typeface="Wingdings" panose="05000000000000000000" pitchFamily="2" charset="2"/>
              <a:buChar char="§"/>
              <a:defRPr sz="20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3pPr>
            <a:lvl4pPr marL="1433513" indent="-354013" algn="l" defTabSz="914400" rtl="0" eaLnBrk="1" latinLnBrk="0" hangingPunct="1">
              <a:lnSpc>
                <a:spcPct val="80000"/>
              </a:lnSpc>
              <a:spcBef>
                <a:spcPts val="400"/>
              </a:spcBef>
              <a:buClr>
                <a:srgbClr val="FF9421"/>
              </a:buClr>
              <a:buFont typeface="Calibri" panose="020F0502020204030204" pitchFamily="34" charset="0"/>
              <a:buChar char="–"/>
              <a:defRPr sz="1600" kern="1200">
                <a:solidFill>
                  <a:schemeClr val="bg1"/>
                </a:solidFill>
                <a:latin typeface="+mn-lt"/>
                <a:ea typeface="+mn-ea"/>
                <a:cs typeface="+mn-cs"/>
              </a:defRPr>
            </a:lvl4pPr>
            <a:lvl5pPr marL="1828800" indent="0" algn="l" defTabSz="914400" rtl="0" eaLnBrk="1" latinLnBrk="0" hangingPunct="1">
              <a:spcBef>
                <a:spcPct val="20000"/>
              </a:spcBef>
              <a:buClr>
                <a:srgbClr val="FF9421"/>
              </a:buClr>
              <a:buFont typeface="Calibri" panose="020F050202020403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0" hangingPunct="1">
              <a:spcBef>
                <a:spcPct val="200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ctr" rtl="0">
              <a:spcBef>
                <a:spcPts val="0"/>
              </a:spcBef>
            </a:pPr>
            <a:r>
              <a:rPr lang="en-US" sz="1600" dirty="0">
                <a:solidFill>
                  <a:srgbClr val="282828"/>
                </a:solidFill>
                <a:latin typeface="Sarabun" panose="00000500000000000000" pitchFamily="2" charset="-34"/>
              </a:rPr>
              <a:t>View &gt; Master Views &gt; Slide Master : edit title in top slide</a:t>
            </a:r>
          </a:p>
        </p:txBody>
      </p:sp>
      <p:sp>
        <p:nvSpPr>
          <p:cNvPr id="49" name="Date Placeholder 3"/>
          <p:cNvSpPr txBox="1">
            <a:spLocks/>
          </p:cNvSpPr>
          <p:nvPr userDrawn="1"/>
        </p:nvSpPr>
        <p:spPr>
          <a:xfrm>
            <a:off x="45720" y="4743900"/>
            <a:ext cx="665132" cy="39960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defPPr>
              <a:defRPr lang="en-US"/>
            </a:defPPr>
            <a:lvl1pPr marL="0" algn="l" defTabSz="914400" rtl="0" eaLnBrk="1" latinLnBrk="0" hangingPunct="1">
              <a:defRPr sz="2000" b="0" kern="1200">
                <a:solidFill>
                  <a:schemeClr val="bg1"/>
                </a:solidFill>
                <a:latin typeface="Klavika Medium" panose="02000603000000000000" pitchFamily="2" charset="0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l"/>
            <a:fld id="{02EDF88B-1B61-4481-9BD6-D2E23BF0DCD8}" type="slidenum">
              <a:rPr lang="en-GB" sz="1600" baseline="0" smtClean="0">
                <a:solidFill>
                  <a:srgbClr val="FF6A13"/>
                </a:solidFill>
                <a:latin typeface="Sarabun" panose="00000500000000000000" pitchFamily="2" charset="-34"/>
              </a:rPr>
              <a:pPr algn="l"/>
              <a:t>‹#›</a:t>
            </a:fld>
            <a:endParaRPr lang="en-GB" sz="1600" baseline="0" dirty="0">
              <a:solidFill>
                <a:srgbClr val="FF6A13"/>
              </a:solidFill>
              <a:latin typeface="Sarabun" panose="00000500000000000000" pitchFamily="2" charset="-34"/>
            </a:endParaRPr>
          </a:p>
        </p:txBody>
      </p:sp>
      <p:pic>
        <p:nvPicPr>
          <p:cNvPr id="4" name="Picture 3">
            <a:extLst>
              <a:ext uri="{FF2B5EF4-FFF2-40B4-BE49-F238E27FC236}">
                <a16:creationId xmlns:a16="http://schemas.microsoft.com/office/drawing/2014/main" id="{14920957-0551-8F72-773E-84D867F26A52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90400"/>
          <a:stretch/>
        </p:blipFill>
        <p:spPr>
          <a:xfrm>
            <a:off x="0" y="5097467"/>
            <a:ext cx="9144000" cy="45719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CFEC5741-2586-9026-BBB0-7FC530AB64E7}"/>
              </a:ext>
            </a:extLst>
          </p:cNvPr>
          <p:cNvPicPr>
            <a:picLocks noChangeAspect="1"/>
          </p:cNvPicPr>
          <p:nvPr userDrawn="1"/>
        </p:nvPicPr>
        <p:blipFill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  <a:ext uri="{96DAC541-7B7A-43D3-8B79-37D633B846F1}">
                <asvg:svgBlip xmlns:asvg="http://schemas.microsoft.com/office/drawing/2016/SVG/main" r:embed="rId9"/>
              </a:ext>
            </a:extLst>
          </a:blip>
          <a:srcRect/>
          <a:stretch/>
        </p:blipFill>
        <p:spPr>
          <a:xfrm>
            <a:off x="8067022" y="4818698"/>
            <a:ext cx="938248" cy="15501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7817400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7" r:id="rId1"/>
    <p:sldLayoutId id="2147483650" r:id="rId2"/>
    <p:sldLayoutId id="2147483652" r:id="rId3"/>
    <p:sldLayoutId id="2147483654" r:id="rId4"/>
    <p:sldLayoutId id="2147483655" r:id="rId5"/>
  </p:sldLayoutIdLst>
  <p:hf sldNum="0" hdr="0" dt="0"/>
  <p:txStyles>
    <p:titleStyle>
      <a:lvl1pPr algn="l" defTabSz="914400" rtl="0" eaLnBrk="1" latinLnBrk="0" hangingPunct="1">
        <a:spcBef>
          <a:spcPct val="0"/>
        </a:spcBef>
        <a:buNone/>
        <a:defRPr sz="3600" b="0" kern="1200">
          <a:solidFill>
            <a:srgbClr val="3B475E"/>
          </a:solidFill>
          <a:latin typeface="Sarabun" panose="00000500000000000000" pitchFamily="2" charset="-34"/>
          <a:ea typeface="+mj-ea"/>
          <a:cs typeface="Calibri" panose="020F0502020204030204" pitchFamily="34" charset="0"/>
        </a:defRPr>
      </a:lvl1pPr>
    </p:titleStyle>
    <p:bodyStyle>
      <a:lvl1pPr marL="458788" indent="-45878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2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1pPr>
      <a:lvl2pPr marL="858838" indent="-401638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lang="en-US" sz="2000" kern="1200" dirty="0" smtClean="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2pPr>
      <a:lvl3pPr marL="1257300" indent="-342900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8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3pPr>
      <a:lvl4pPr marL="1655763" indent="-284163" algn="l" defTabSz="914400" rtl="0" eaLnBrk="1" latinLnBrk="0" hangingPunct="1">
        <a:lnSpc>
          <a:spcPct val="100000"/>
        </a:lnSpc>
        <a:spcBef>
          <a:spcPts val="0"/>
        </a:spcBef>
        <a:spcAft>
          <a:spcPts val="1200"/>
        </a:spcAft>
        <a:buClr>
          <a:srgbClr val="FF6600"/>
        </a:buClr>
        <a:buSzPct val="75000"/>
        <a:buFont typeface="Wingdings 2" panose="05020102010507070707" pitchFamily="18" charset="2"/>
        <a:buChar char=""/>
        <a:defRPr sz="1400" kern="1200">
          <a:solidFill>
            <a:srgbClr val="3B475E"/>
          </a:solidFill>
          <a:latin typeface="Sarabun" panose="00000500000000000000" pitchFamily="2" charset="-34"/>
          <a:ea typeface="+mn-ea"/>
          <a:cs typeface="+mn-cs"/>
        </a:defRPr>
      </a:lvl4pPr>
      <a:lvl5pPr marL="1828800" indent="0" algn="l" defTabSz="914400" rtl="0" eaLnBrk="1" latinLnBrk="0" hangingPunct="1">
        <a:spcBef>
          <a:spcPct val="20000"/>
        </a:spcBef>
        <a:buClr>
          <a:srgbClr val="FF9421"/>
        </a:buClr>
        <a:buFont typeface="Calibri" panose="020F0502020204030204" pitchFamily="34" charset="0"/>
        <a:buNone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svg"/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BEA6417-55D0-46BB-0DFF-8D4AA0A716A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APL Bootcamp – Part 6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968C988-130F-A25A-2390-AB59A78D532C}"/>
              </a:ext>
            </a:extLst>
          </p:cNvPr>
          <p:cNvSpPr>
            <a:spLocks noGrp="1"/>
          </p:cNvSpPr>
          <p:nvPr>
            <p:ph type="body" sz="quarter" idx="10"/>
          </p:nvPr>
        </p:nvSpPr>
        <p:spPr/>
        <p:txBody>
          <a:bodyPr/>
          <a:lstStyle/>
          <a:p>
            <a:r>
              <a:rPr lang="en-GB" dirty="0"/>
              <a:t>The APL call stack; 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4559DFF-3665-0E31-55C7-92F3BEB5DA9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54888788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6EC2141-9ED2-F0F4-1CAF-854D5C9F027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Functions can call each other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CBDF573-CC89-D57F-79ED-E23487D94DD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F63F4C9B-1F43-16EF-7094-7ADAE4DBC50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92824F8-B1B6-A7E9-5C02-5D7DEBCB74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1968458" y="2175917"/>
            <a:ext cx="1609055" cy="1311999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grpSp>
        <p:nvGrpSpPr>
          <p:cNvPr id="6" name="Group 5">
            <a:extLst>
              <a:ext uri="{FF2B5EF4-FFF2-40B4-BE49-F238E27FC236}">
                <a16:creationId xmlns:a16="http://schemas.microsoft.com/office/drawing/2014/main" id="{B2DB9F5C-F496-87CF-F093-5FAF8B4C5F51}"/>
              </a:ext>
            </a:extLst>
          </p:cNvPr>
          <p:cNvGrpSpPr/>
          <p:nvPr/>
        </p:nvGrpSpPr>
        <p:grpSpPr>
          <a:xfrm>
            <a:off x="4572000" y="2798544"/>
            <a:ext cx="1814513" cy="1378744"/>
            <a:chOff x="3721993" y="4174277"/>
            <a:chExt cx="2419350" cy="1838325"/>
          </a:xfrm>
        </p:grpSpPr>
        <p:pic>
          <p:nvPicPr>
            <p:cNvPr id="7" name="Picture 3">
              <a:extLst>
                <a:ext uri="{FF2B5EF4-FFF2-40B4-BE49-F238E27FC236}">
                  <a16:creationId xmlns:a16="http://schemas.microsoft.com/office/drawing/2014/main" id="{8ED391C4-7382-9057-EED7-EBCB5E950831}"/>
                </a:ext>
              </a:extLst>
            </p:cNvPr>
            <p:cNvPicPr>
              <a:picLocks noChangeAspect="1" noChangeArrowheads="1"/>
            </p:cNvPicPr>
            <p:nvPr/>
          </p:nvPicPr>
          <p:blipFill>
            <a:blip r:embed="rId3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/>
            <a:stretch>
              <a:fillRect/>
            </a:stretch>
          </p:blipFill>
          <p:spPr bwMode="auto">
            <a:xfrm>
              <a:off x="3721993" y="4174277"/>
              <a:ext cx="2419350" cy="1838325"/>
            </a:xfrm>
            <a:prstGeom prst="rect">
              <a:avLst/>
            </a:prstGeom>
            <a:noFill/>
            <a:ln>
              <a:noFill/>
            </a:ln>
            <a:effectLst/>
            <a:extLst>
              <a:ext uri="{909E8E84-426E-40DD-AFC4-6F175D3DCCD1}">
                <a14:hiddenFill xmlns:a14="http://schemas.microsoft.com/office/drawing/2010/main">
                  <a:solidFill>
                    <a:schemeClr val="accent1"/>
                  </a:solidFill>
                </a14:hiddenFill>
              </a:ext>
              <a:ext uri="{91240B29-F687-4F45-9708-019B960494DF}">
                <a14:hiddenLine xmlns:a14="http://schemas.microsoft.com/office/drawing/2010/main" w="9525">
                  <a:solidFill>
                    <a:schemeClr val="tx1"/>
                  </a:solidFill>
                  <a:miter lim="800000"/>
                  <a:headEnd/>
                  <a:tailEnd/>
                </a14:hiddenLine>
              </a:ext>
              <a:ext uri="{AF507438-7753-43E0-B8FC-AC1667EBCBE1}">
                <a14:hiddenEffects xmlns:a14="http://schemas.microsoft.com/office/drawing/2010/main">
                  <a:effectLst>
                    <a:outerShdw dist="35921" dir="2700000" algn="ctr" rotWithShape="0">
                      <a:schemeClr val="bg2"/>
                    </a:outerShdw>
                  </a:effectLst>
                </a14:hiddenEffects>
              </a:ext>
            </a:extLst>
          </p:spPr>
        </p:pic>
        <p:sp>
          <p:nvSpPr>
            <p:cNvPr id="8" name="Oval 7">
              <a:extLst>
                <a:ext uri="{FF2B5EF4-FFF2-40B4-BE49-F238E27FC236}">
                  <a16:creationId xmlns:a16="http://schemas.microsoft.com/office/drawing/2014/main" id="{8FA8ECE1-9ACE-5907-F54C-74F7CDEAE10D}"/>
                </a:ext>
              </a:extLst>
            </p:cNvPr>
            <p:cNvSpPr/>
            <p:nvPr/>
          </p:nvSpPr>
          <p:spPr bwMode="auto">
            <a:xfrm>
              <a:off x="4572000" y="5093439"/>
              <a:ext cx="496639" cy="279777"/>
            </a:xfrm>
            <a:prstGeom prst="ellipse">
              <a:avLst/>
            </a:prstGeom>
            <a:noFill/>
            <a:ln w="28575" cap="flat" cmpd="sng" algn="ctr">
              <a:solidFill>
                <a:srgbClr val="FF0000"/>
              </a:solidFill>
              <a:prstDash val="solid"/>
              <a:round/>
              <a:headEnd type="none" w="med" len="med"/>
              <a:tailEnd type="none" w="med" len="med"/>
            </a:ln>
            <a:effectLst/>
          </p:spPr>
          <p:txBody>
            <a:bodyPr vert="horz" wrap="none" lIns="68580" tIns="34290" rIns="68580" bIns="34290" numCol="1" rtlCol="0" anchor="t" anchorCtr="0" compatLnSpc="1">
              <a:prstTxWarp prst="textNoShape">
                <a:avLst/>
              </a:prstTxWarp>
            </a:bodyPr>
            <a:lstStyle/>
            <a:p>
              <a:pPr defTabSz="685800" eaLnBrk="0" fontAlgn="base" hangingPunct="0">
                <a:spcBef>
                  <a:spcPct val="0"/>
                </a:spcBef>
                <a:spcAft>
                  <a:spcPct val="0"/>
                </a:spcAft>
              </a:pPr>
              <a:endParaRPr lang="en-GB">
                <a:latin typeface="Times" pitchFamily="18" charset="0"/>
                <a:cs typeface="Arial" charset="0"/>
              </a:endParaRPr>
            </a:p>
          </p:txBody>
        </p:sp>
      </p:grpSp>
    </p:spTree>
    <p:extLst>
      <p:ext uri="{BB962C8B-B14F-4D97-AF65-F5344CB8AC3E}">
        <p14:creationId xmlns:p14="http://schemas.microsoft.com/office/powerpoint/2010/main" val="59165133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3F068DAF-2EB1-E6C9-2DF0-9609E03BEAD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When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 is used it calls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and the </a:t>
            </a:r>
            <a:r>
              <a:rPr lang="en-GB" b="1" i="1" dirty="0">
                <a:solidFill>
                  <a:srgbClr val="FF6600"/>
                </a:solidFill>
              </a:rPr>
              <a:t>stack</a:t>
            </a:r>
            <a:r>
              <a:rPr lang="en-GB" dirty="0"/>
              <a:t> looks like this: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8574938-3BB1-9DCC-D010-2848212047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The Stack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CD41E4-E5F5-322F-4E56-76E9E388F57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8D6C4418-5BB6-EF4C-32BB-601EB697D9D1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1938667"/>
            <a:ext cx="3036094" cy="26360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6" name="Picture 3">
            <a:extLst>
              <a:ext uri="{FF2B5EF4-FFF2-40B4-BE49-F238E27FC236}">
                <a16:creationId xmlns:a16="http://schemas.microsoft.com/office/drawing/2014/main" id="{B7D9C6B6-A552-6A3B-5F83-6CDA5D4478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2052775"/>
            <a:ext cx="2578894" cy="1264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7" name="Picture 4">
            <a:extLst>
              <a:ext uri="{FF2B5EF4-FFF2-40B4-BE49-F238E27FC236}">
                <a16:creationId xmlns:a16="http://schemas.microsoft.com/office/drawing/2014/main" id="{B9AF9466-F342-61B4-D0C3-895CA690B90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211115" y="2217081"/>
            <a:ext cx="2264569" cy="1100138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8" name="Picture 5">
            <a:extLst>
              <a:ext uri="{FF2B5EF4-FFF2-40B4-BE49-F238E27FC236}">
                <a16:creationId xmlns:a16="http://schemas.microsoft.com/office/drawing/2014/main" id="{666D5B8D-E491-9097-C898-BB7C98E5181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2" y="2052775"/>
            <a:ext cx="2578894" cy="12644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9" name="Picture 6">
            <a:extLst>
              <a:ext uri="{FF2B5EF4-FFF2-40B4-BE49-F238E27FC236}">
                <a16:creationId xmlns:a16="http://schemas.microsoft.com/office/drawing/2014/main" id="{993064B0-27F7-3FB7-C351-410017A46C8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053953" y="1938074"/>
            <a:ext cx="3036094" cy="263604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051128071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5" fill="hold">
                      <p:stCondLst>
                        <p:cond delay="indefinite"/>
                      </p:stCondLst>
                      <p:childTnLst>
                        <p:par>
                          <p:cTn id="16" fill="hold">
                            <p:stCondLst>
                              <p:cond delay="0"/>
                            </p:stCondLst>
                            <p:childTnLst>
                              <p:par>
                                <p:cTn id="17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B0C0761-2879-3EA6-527F-A2D66AEA35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Except for the name of the program, all names mentioned in the header only exist while the function is running.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8871BA9-E037-FE05-37D2-EE1A5BC995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B406E00-7E84-1ECC-E659-7A38AE43985A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15810817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0E61AB-133F-EF8F-C40C-33EC32EB0AA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9B1C877-C4D9-E681-776F-922FC43ABFC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this example</a:t>
            </a:r>
            <a:br>
              <a:rPr lang="en-GB" dirty="0"/>
            </a:b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s</a:t>
            </a:r>
            <a:r>
              <a:rPr lang="en-GB" dirty="0"/>
              <a:t> and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list</a:t>
            </a:r>
            <a:r>
              <a:rPr lang="en-GB" dirty="0"/>
              <a:t> are local to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br>
              <a:rPr lang="en-GB" dirty="0"/>
            </a:br>
            <a:r>
              <a:rPr lang="en-GB" dirty="0"/>
              <a:t>they only exist while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is</a:t>
            </a:r>
            <a:br>
              <a:rPr lang="en-GB" dirty="0"/>
            </a:br>
            <a:r>
              <a:rPr lang="en-GB" dirty="0"/>
              <a:t>running.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5ABDFEB-CB14-AFE4-E6BB-8B63C60266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261EE31-5C52-AA80-C8B6-1A8D5C0219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AF8C5CE-E0B5-2255-8D18-1CCB533830C3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958323" y="1990604"/>
            <a:ext cx="2160240" cy="176142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655239099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2CDC5C6-1A30-0211-12BE-C3F6C5FB24D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952F8C3-D892-CE46-6B29-111A916CF62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buNone/>
            </a:pPr>
            <a:r>
              <a:rPr lang="en-GB" dirty="0"/>
              <a:t>Likewise, 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, </a:t>
            </a:r>
            <a:r>
              <a:rPr lang="en-GB" dirty="0" err="1">
                <a:solidFill>
                  <a:srgbClr val="00B0F0"/>
                </a:solidFill>
                <a:latin typeface="APL385 Unicode" panose="020B0709000202000203" pitchFamily="49" charset="0"/>
              </a:rPr>
              <a:t>avg</a:t>
            </a:r>
            <a:r>
              <a:rPr lang="en-GB" dirty="0"/>
              <a:t> and </a:t>
            </a:r>
            <a:r>
              <a:rPr lang="en-GB" dirty="0">
                <a:solidFill>
                  <a:srgbClr val="00B0F0"/>
                </a:solidFill>
                <a:latin typeface="APL385 Unicode" panose="020B0709000202000203" pitchFamily="49" charset="0"/>
              </a:rPr>
              <a:t>list</a:t>
            </a:r>
            <a:r>
              <a:rPr lang="en-GB" dirty="0"/>
              <a:t> are local names.</a:t>
            </a:r>
          </a:p>
          <a:p>
            <a:pPr marL="0" indent="0">
              <a:buNone/>
            </a:pP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total</a:t>
            </a:r>
            <a:r>
              <a:rPr lang="en-GB" dirty="0"/>
              <a:t> are NOT in </a:t>
            </a:r>
            <a:br>
              <a:rPr lang="en-GB" dirty="0"/>
            </a:br>
            <a:r>
              <a:rPr lang="en-GB" dirty="0"/>
              <a:t>the header and therefore are</a:t>
            </a:r>
            <a:br>
              <a:rPr lang="en-GB" dirty="0"/>
            </a:br>
            <a:r>
              <a:rPr lang="en-GB" dirty="0"/>
              <a:t>NOT localized.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en-GB" dirty="0"/>
              <a:t>Had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sum</a:t>
            </a:r>
            <a:r>
              <a:rPr lang="en-GB" dirty="0"/>
              <a:t> been localized we could not use it as an external function because it would be shadowed.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A2294EE-5A2A-4A56-5116-FC8931462A6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2D4E788-D43C-631C-8D06-82739D1E568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BF9F17E2-E1F5-4BB2-BA09-F8C23B94F0D9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/>
        </p:blipFill>
        <p:spPr bwMode="auto">
          <a:xfrm>
            <a:off x="4958323" y="2048074"/>
            <a:ext cx="2160240" cy="164648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188269820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78D43-EE9F-DA9B-6B6D-89DE36ACCBF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8FDFBC8-B9C9-0521-4F0E-24D9191846C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In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average</a:t>
            </a:r>
            <a:r>
              <a:rPr lang="en-GB" dirty="0"/>
              <a:t>,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total</a:t>
            </a:r>
            <a:r>
              <a:rPr lang="en-GB" dirty="0"/>
              <a:t> is NOT in the header and setting it on line 1 creates a </a:t>
            </a:r>
            <a:r>
              <a:rPr lang="en-GB" b="1" i="1" dirty="0"/>
              <a:t>global</a:t>
            </a:r>
            <a:r>
              <a:rPr lang="en-GB" dirty="0"/>
              <a:t> variable. </a:t>
            </a:r>
          </a:p>
          <a:p>
            <a:pPr marL="0" indent="0">
              <a:buNone/>
            </a:pPr>
            <a:r>
              <a:rPr lang="en-GB" dirty="0"/>
              <a:t>It should be </a:t>
            </a:r>
            <a:r>
              <a:rPr lang="en-GB" b="1" dirty="0"/>
              <a:t>local</a:t>
            </a:r>
            <a:r>
              <a:rPr lang="en-GB" dirty="0"/>
              <a:t>ized.</a:t>
            </a:r>
          </a:p>
          <a:p>
            <a:pPr marL="0" indent="0">
              <a:buNone/>
            </a:pPr>
            <a:r>
              <a:rPr lang="da-DK" dirty="0"/>
              <a:t>N</a:t>
            </a:r>
            <a:r>
              <a:rPr lang="en-GB" dirty="0" err="1"/>
              <a:t>otice</a:t>
            </a:r>
            <a:r>
              <a:rPr lang="en-GB" dirty="0"/>
              <a:t> that the syntax</a:t>
            </a:r>
            <a:br>
              <a:rPr lang="en-GB" dirty="0"/>
            </a:br>
            <a:r>
              <a:rPr lang="en-GB" dirty="0"/>
              <a:t>colouring changes to we</a:t>
            </a:r>
            <a:br>
              <a:rPr lang="en-GB" dirty="0"/>
            </a:br>
            <a:r>
              <a:rPr lang="en-GB" dirty="0"/>
              <a:t>can see </a:t>
            </a:r>
            <a:r>
              <a:rPr lang="en-GB" dirty="0">
                <a:solidFill>
                  <a:schemeClr val="bg1">
                    <a:lumMod val="75000"/>
                  </a:schemeClr>
                </a:solidFill>
              </a:rPr>
              <a:t>total</a:t>
            </a:r>
            <a:r>
              <a:rPr lang="en-GB" dirty="0"/>
              <a:t> is now local.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0B94F4F-4873-5D64-4242-C3D41D7315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Local Names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14D6BED-F587-74C1-680C-313EFC5473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2">
            <a:extLst>
              <a:ext uri="{FF2B5EF4-FFF2-40B4-BE49-F238E27FC236}">
                <a16:creationId xmlns:a16="http://schemas.microsoft.com/office/drawing/2014/main" id="{2A5CDEF1-C6DA-3CEF-8C96-6A224EBEC3D5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rcRect/>
          <a:stretch/>
        </p:blipFill>
        <p:spPr bwMode="auto">
          <a:xfrm>
            <a:off x="4958323" y="2253067"/>
            <a:ext cx="2160240" cy="1236501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23804613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8078641-2925-4AC6-F45D-568D325C6D8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scope of a name describes the circumstances under which it is visible to code.</a:t>
            </a:r>
          </a:p>
          <a:p>
            <a:pPr marL="0" indent="0">
              <a:buNone/>
            </a:pPr>
            <a:r>
              <a:rPr lang="en-GB" dirty="0"/>
              <a:t>When a program is called, names in the calling environment are visible, unless explicitly localised in the header.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E9F44CE-9F6B-129A-20B8-7D87044CFD0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99F0AFD-5BF6-B133-A491-76777E91F2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23002178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CFA9D0-FD4D-CF6B-65C3-92D41FFEFD6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656319E-E706-D4AB-373B-16E79A7A68F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In a </a:t>
            </a:r>
            <a:r>
              <a:rPr lang="en-GB" b="1" i="1" dirty="0" err="1"/>
              <a:t>TradFn</a:t>
            </a:r>
            <a:r>
              <a:rPr lang="en-GB" dirty="0"/>
              <a:t>, names are localized by putting them in the header, separated by semicolons.</a:t>
            </a:r>
          </a:p>
          <a:p>
            <a:pPr marL="0" indent="0">
              <a:buNone/>
            </a:pPr>
            <a:r>
              <a:rPr lang="en-GB" dirty="0"/>
              <a:t>In a </a:t>
            </a:r>
            <a:r>
              <a:rPr lang="en-GB" b="1" i="1" dirty="0" err="1"/>
              <a:t>dfn</a:t>
            </a:r>
            <a:r>
              <a:rPr lang="en-GB" dirty="0"/>
              <a:t> names are automatically localized when a new name is assigned.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747F897-FA46-6253-1071-093021211B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B33E2E-4546-DC73-DC2D-F7BD6DD9460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89169637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394F5EC-245E-9DD9-CC79-63F8916BCFE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r>
              <a:rPr lang="da-DK" dirty="0"/>
              <a:t>When possible, avoid using global variables.</a:t>
            </a:r>
          </a:p>
          <a:p>
            <a:r>
              <a:rPr lang="da-DK" dirty="0"/>
              <a:t>Pass parameters to functions as arguments unless this becomes </a:t>
            </a:r>
            <a:r>
              <a:rPr lang="da-DK" b="1" dirty="0"/>
              <a:t>very</a:t>
            </a:r>
            <a:r>
              <a:rPr lang="da-DK" dirty="0"/>
              <a:t> awkward.</a:t>
            </a:r>
          </a:p>
          <a:p>
            <a:r>
              <a:rPr lang="da-DK" dirty="0"/>
              <a:t>The use of global variables should be limited to state settings that affect the entire application, or tables containing databases that are shared globally.</a:t>
            </a:r>
          </a:p>
          <a:p>
            <a:r>
              <a:rPr lang="da-DK" dirty="0"/>
              <a:t>If you need global constants, it is a good idea to create them in a function in order to be able to use source code management / change tracking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AEBF5DC-CDB3-37A9-ECD5-BA8CF7573A8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Avoid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5C05EA-1BAC-64FB-CE29-1F3DBD4859C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7642349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B093646-7E10-1743-EC49-B2975823C57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For example, a global switch affecting the entire application: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6C8FE12-B49E-E798-96AD-7854CA7B17F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Meaningful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9F742D-A603-846D-4FE4-ED6DFABAC03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pic>
        <p:nvPicPr>
          <p:cNvPr id="5" name="Picture 3">
            <a:extLst>
              <a:ext uri="{FF2B5EF4-FFF2-40B4-BE49-F238E27FC236}">
                <a16:creationId xmlns:a16="http://schemas.microsoft.com/office/drawing/2014/main" id="{A923D613-2C63-5162-4CAA-A465AB37B8A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560808" y="1965004"/>
            <a:ext cx="3618402" cy="2541960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</p:spTree>
    <p:extLst>
      <p:ext uri="{BB962C8B-B14F-4D97-AF65-F5344CB8AC3E}">
        <p14:creationId xmlns:p14="http://schemas.microsoft.com/office/powerpoint/2010/main" val="28000095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A690C514-717A-35C4-2E2C-4124AA772D9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da-DK" dirty="0"/>
              <a:t>In recent years, a new reason is emerging to avoid globals:</a:t>
            </a:r>
          </a:p>
          <a:p>
            <a:pPr marL="0" indent="0" algn="ctr">
              <a:buNone/>
            </a:pPr>
            <a:r>
              <a:rPr lang="da-DK" i="1" dirty="0"/>
              <a:t>A function which uses globals is difficult, if not impossible, to run in parallel.</a:t>
            </a:r>
          </a:p>
          <a:p>
            <a:r>
              <a:rPr lang="da-DK" dirty="0"/>
              <a:t>If two copies of the function run in parallel and they update the global data, some kind of locking is required.</a:t>
            </a:r>
          </a:p>
          <a:p>
            <a:r>
              <a:rPr lang="da-DK" dirty="0"/>
              <a:t>Locking often defeats the potential benefits of parallel execution.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EFE320C-965F-64C1-625F-490A25470C8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Avoiding </a:t>
            </a:r>
            <a:r>
              <a:rPr lang="en-GB" dirty="0" err="1"/>
              <a:t>Globals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543C44E-8264-8C1F-72B9-7939EA54E7B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16238198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9195A5F-847E-3791-7784-7B0327BC71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When one program calls another, APL maintains a stack to it can find its way back and continue execution when a called function completes</a:t>
            </a:r>
          </a:p>
          <a:p>
            <a:pPr>
              <a:defRPr/>
            </a:pPr>
            <a:r>
              <a:rPr lang="en-GB" dirty="0"/>
              <a:t>Local names only exist while the function they are local to is on the stack.</a:t>
            </a:r>
          </a:p>
          <a:p>
            <a:pPr>
              <a:defRPr/>
            </a:pPr>
            <a:r>
              <a:rPr lang="en-GB" dirty="0"/>
              <a:t>Names should be localized unless they really </a:t>
            </a:r>
            <a:r>
              <a:rPr lang="en-GB" dirty="0" err="1"/>
              <a:t>really</a:t>
            </a:r>
            <a:r>
              <a:rPr lang="en-GB" dirty="0"/>
              <a:t>, really, really need to be global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7AFA699-999C-F2CF-0E1A-6E1D512E81E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Name Scope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9A9F09F-D1D7-A5B4-2FAC-9FA600ADCCF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26135466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0F44F97-B185-893A-0937-673EB98C930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a-DK" dirty="0"/>
              <a:t>Trace execution</a:t>
            </a:r>
          </a:p>
          <a:p>
            <a:r>
              <a:rPr lang="da-DK" dirty="0"/>
              <a:t>Set breakpoints</a:t>
            </a:r>
          </a:p>
          <a:p>
            <a:r>
              <a:rPr lang="da-DK" dirty="0"/>
              <a:t>Modify variables</a:t>
            </a:r>
          </a:p>
          <a:p>
            <a:r>
              <a:rPr lang="da-DK" dirty="0"/>
              <a:t>Edit &amp; continue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A3F60B6-2E80-16D2-8222-D8477A66280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Tracer Demo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371B9E30-B898-1C15-69A3-387A3D42190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20074033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7D61A0D-08D5-B879-33B3-ECC7C86036F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lnSpcReduction="10000"/>
          </a:bodyPr>
          <a:lstStyle/>
          <a:p>
            <a:r>
              <a:rPr lang="da-DK" dirty="0"/>
              <a:t>Edit</a:t>
            </a:r>
          </a:p>
          <a:p>
            <a:pPr lvl="1"/>
            <a:r>
              <a:rPr lang="da-DK" dirty="0"/>
              <a:t>Edit name		Shift+Enter</a:t>
            </a:r>
          </a:p>
          <a:p>
            <a:pPr lvl="1"/>
            <a:r>
              <a:rPr lang="da-DK" dirty="0"/>
              <a:t>Save and close		Esc</a:t>
            </a:r>
          </a:p>
          <a:p>
            <a:r>
              <a:rPr lang="da-DK" dirty="0"/>
              <a:t>Trace</a:t>
            </a:r>
          </a:p>
          <a:p>
            <a:pPr lvl="1"/>
            <a:r>
              <a:rPr lang="da-DK" dirty="0"/>
              <a:t>Trace / step into		Ctrl+Enter</a:t>
            </a:r>
          </a:p>
          <a:p>
            <a:pPr lvl="1"/>
            <a:r>
              <a:rPr lang="da-DK" dirty="0"/>
              <a:t>Skip line			Ctrl+Shift+Enter</a:t>
            </a:r>
          </a:p>
          <a:p>
            <a:pPr lvl="1"/>
            <a:r>
              <a:rPr lang="da-DK" dirty="0"/>
              <a:t>Step backwards		Ctrl+Shift+Backspace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14BD9C4-9736-C31D-630D-2FE67D4C11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Keyboard Shortcuts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7DD6EF1-785B-BB32-FA62-C2B44E1A85E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Rectangle: Rounded Corners 4">
            <a:extLst>
              <a:ext uri="{FF2B5EF4-FFF2-40B4-BE49-F238E27FC236}">
                <a16:creationId xmlns:a16="http://schemas.microsoft.com/office/drawing/2014/main" id="{9DA526B2-1401-2E1B-048A-019FE9AFE136}"/>
              </a:ext>
            </a:extLst>
          </p:cNvPr>
          <p:cNvSpPr/>
          <p:nvPr/>
        </p:nvSpPr>
        <p:spPr>
          <a:xfrm>
            <a:off x="6428300" y="2241311"/>
            <a:ext cx="2090057" cy="1134406"/>
          </a:xfrm>
          <a:prstGeom prst="roundRect">
            <a:avLst/>
          </a:prstGeom>
          <a:solidFill>
            <a:schemeClr val="tx1"/>
          </a:solidFill>
          <a:ln w="38100">
            <a:solidFill>
              <a:schemeClr val="accent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Search "Dyalog tips" online</a:t>
            </a:r>
          </a:p>
        </p:txBody>
      </p:sp>
    </p:spTree>
    <p:extLst>
      <p:ext uri="{BB962C8B-B14F-4D97-AF65-F5344CB8AC3E}">
        <p14:creationId xmlns:p14="http://schemas.microsoft.com/office/powerpoint/2010/main" val="24264919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5" grpId="0" animBg="1"/>
    </p:bld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960AFB6-DCBC-58E4-E162-DFB65B1DE20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en-GB" dirty="0"/>
              <a:t>By default, programs execute sequentially from top to bottom.</a:t>
            </a:r>
          </a:p>
          <a:p>
            <a:pPr marL="0" indent="0">
              <a:buNone/>
            </a:pPr>
            <a:r>
              <a:rPr lang="en-GB" dirty="0"/>
              <a:t>It is possible to alter the sequential execution of lines in a program.</a:t>
            </a:r>
          </a:p>
          <a:p>
            <a:pPr marL="0" indent="0">
              <a:buNone/>
            </a:pPr>
            <a:r>
              <a:rPr lang="en-GB" dirty="0"/>
              <a:t>In a </a:t>
            </a:r>
            <a:r>
              <a:rPr lang="en-GB" dirty="0" err="1"/>
              <a:t>TradFn</a:t>
            </a:r>
            <a:r>
              <a:rPr lang="en-GB" dirty="0"/>
              <a:t>, the best way to achieve this is to use </a:t>
            </a:r>
            <a:r>
              <a:rPr lang="en-GB" b="1" i="1" dirty="0">
                <a:solidFill>
                  <a:srgbClr val="FF6600"/>
                </a:solidFill>
              </a:rPr>
              <a:t>control structures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Control Structures are blocks of code in which the execution of APL statements follows certain rules and conditions. 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E188CD5-EB7F-7D56-6B27-03AA3F460C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6D7CD60-5CC8-4135-D885-DE8327F05CC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4628238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02420F7-E0EB-BC51-34E2-EFF614E47DF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0E298E1-8D10-49C0-0755-8D61BE5FD97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/>
              <a:t>Control structures are implemented using a set of </a:t>
            </a:r>
            <a:r>
              <a:rPr lang="en-GB" i="1" dirty="0"/>
              <a:t>control words</a:t>
            </a:r>
            <a:r>
              <a:rPr lang="en-GB" dirty="0"/>
              <a:t> which all start with the colon symbol (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/>
              <a:t>). </a:t>
            </a:r>
          </a:p>
          <a:p>
            <a:pPr marL="0" indent="0">
              <a:buNone/>
            </a:pPr>
            <a:r>
              <a:rPr lang="da-DK" dirty="0"/>
              <a:t>Control words do not obey the normal rules of APL syntax (monadic, dyadic, etc) – each one has it’s own syntax</a:t>
            </a:r>
            <a:endParaRPr lang="en-GB" dirty="0"/>
          </a:p>
          <a:p>
            <a:pPr marL="0" indent="0">
              <a:buNone/>
            </a:pPr>
            <a:r>
              <a:rPr lang="en-GB" dirty="0"/>
              <a:t>Control Words are case-insensitive, but we recommend that you use CamelCase:</a:t>
            </a:r>
            <a:br>
              <a:rPr lang="en-GB" dirty="0"/>
            </a:br>
            <a:endParaRPr lang="en-GB" dirty="0"/>
          </a:p>
          <a:p>
            <a:pPr marL="0" indent="0">
              <a:buNone/>
            </a:pP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     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If </a:t>
            </a:r>
            <a:r>
              <a:rPr lang="en-GB" dirty="0">
                <a:latin typeface="APL385 Unicode" panose="020B0709000202000203" pitchFamily="49" charset="0"/>
              </a:rPr>
              <a:t>condition  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   do this</a:t>
            </a:r>
          </a:p>
          <a:p>
            <a:pPr marL="0" indent="0">
              <a:buNone/>
            </a:pPr>
            <a:r>
              <a:rPr lang="en-GB" dirty="0">
                <a:latin typeface="APL385 Unicode" panose="020B0709000202000203" pitchFamily="49" charset="0"/>
              </a:rPr>
              <a:t>      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A4CC4C9-0A74-5A25-DA37-30FCCEAAB78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C13B7FC-9AD4-E630-7E02-0E7D7B37D8C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7409005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E0C4D9-1255-CF68-E37D-5EC6E76A3EF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2AA3851-1093-C3FF-3A66-3876C541D3E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Some of the available control structures: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CFB9D64-8D48-BD6D-23AE-0CD736A8732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Control Flow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EF61015-BB60-0876-C44F-44A7A13AFA4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B1BFB1-9EC7-5F39-D841-A6F362881437}"/>
              </a:ext>
            </a:extLst>
          </p:cNvPr>
          <p:cNvSpPr txBox="1"/>
          <p:nvPr/>
        </p:nvSpPr>
        <p:spPr>
          <a:xfrm>
            <a:off x="2377066" y="2139702"/>
            <a:ext cx="4289615" cy="1938992"/>
          </a:xfrm>
          <a:prstGeom prst="rect">
            <a:avLst/>
          </a:prstGeom>
          <a:noFill/>
        </p:spPr>
        <p:txBody>
          <a:bodyPr wrap="square" numCol="2" rtlCol="0">
            <a:spAutoFit/>
          </a:bodyPr>
          <a:lstStyle/>
          <a:p>
            <a:r>
              <a:rPr lang="en-GB" sz="2400" dirty="0">
                <a:latin typeface="APL385 Unicode" panose="020B0709000202000203" pitchFamily="49" charset="0"/>
              </a:rPr>
              <a:t>:If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:Select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:While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:Repeat</a:t>
            </a:r>
          </a:p>
          <a:p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:For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:Trap</a:t>
            </a:r>
          </a:p>
          <a:p>
            <a:r>
              <a:rPr lang="en-GB" sz="2400" dirty="0">
                <a:solidFill>
                  <a:schemeClr val="bg1">
                    <a:lumMod val="50000"/>
                  </a:schemeClr>
                </a:solidFill>
                <a:latin typeface="APL385 Unicode" panose="020B0709000202000203" pitchFamily="49" charset="0"/>
              </a:rPr>
              <a:t>:With</a:t>
            </a:r>
          </a:p>
          <a:p>
            <a:r>
              <a:rPr lang="en-GB" sz="2400" dirty="0">
                <a:solidFill>
                  <a:schemeClr val="bg1">
                    <a:lumMod val="50000"/>
                  </a:schemeClr>
                </a:solidFill>
                <a:latin typeface="APL385 Unicode" panose="020B0709000202000203" pitchFamily="49" charset="0"/>
              </a:rPr>
              <a:t>:Hold</a:t>
            </a:r>
          </a:p>
        </p:txBody>
      </p:sp>
      <p:sp>
        <p:nvSpPr>
          <p:cNvPr id="6" name="Rectangle 5">
            <a:extLst>
              <a:ext uri="{FF2B5EF4-FFF2-40B4-BE49-F238E27FC236}">
                <a16:creationId xmlns:a16="http://schemas.microsoft.com/office/drawing/2014/main" id="{73A709FC-D834-9597-31B2-8C6AC71C82AF}"/>
              </a:ext>
            </a:extLst>
          </p:cNvPr>
          <p:cNvSpPr/>
          <p:nvPr/>
        </p:nvSpPr>
        <p:spPr>
          <a:xfrm>
            <a:off x="6562928" y="2692693"/>
            <a:ext cx="1258111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Press F1</a:t>
            </a:r>
          </a:p>
        </p:txBody>
      </p:sp>
    </p:spTree>
    <p:extLst>
      <p:ext uri="{BB962C8B-B14F-4D97-AF65-F5344CB8AC3E}">
        <p14:creationId xmlns:p14="http://schemas.microsoft.com/office/powerpoint/2010/main" val="40738396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6" grpId="0" animBg="1"/>
    </p:bld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D6B841-127D-809C-34D3-EE036144BB6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end up in an infinite loop, use:</a:t>
            </a:r>
          </a:p>
          <a:p>
            <a:r>
              <a:rPr lang="en-GB" b="1" dirty="0" err="1">
                <a:solidFill>
                  <a:srgbClr val="FF6600"/>
                </a:solidFill>
              </a:rPr>
              <a:t>Ctrl+Break</a:t>
            </a:r>
            <a:r>
              <a:rPr lang="en-GB" dirty="0"/>
              <a:t> key</a:t>
            </a:r>
          </a:p>
          <a:p>
            <a:r>
              <a:rPr lang="en-GB" b="1" dirty="0">
                <a:solidFill>
                  <a:srgbClr val="FF6600"/>
                </a:solidFill>
              </a:rPr>
              <a:t>Action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b="1" dirty="0">
                <a:solidFill>
                  <a:srgbClr val="FF6600"/>
                </a:solidFill>
              </a:rPr>
              <a:t>Right Click</a:t>
            </a:r>
            <a:r>
              <a:rPr lang="en-GB" b="1" dirty="0">
                <a:solidFill>
                  <a:schemeClr val="tx1"/>
                </a:solidFill>
              </a:rPr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dirty="0"/>
              <a:t>Click system tray icon and select </a:t>
            </a:r>
            <a:r>
              <a:rPr lang="en-GB" b="1" dirty="0">
                <a:solidFill>
                  <a:srgbClr val="FF6600"/>
                </a:solidFill>
              </a:rPr>
              <a:t>Strong Interrupt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7EFD791-1AED-D10C-9790-B4FEBDD7C7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223AA0B-F110-E118-7282-761774A4C6D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48543118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1B48CD1-E8EF-BFFF-55F1-7AC8D466A3C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of statements if a condition is fulfilled.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B2B6245E-C4FB-BA4F-ACEE-1FA946064E8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E5BEA9E-B291-4995-1BC9-B22B90DC2ED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2A3AA607-EC5D-2F72-067C-8F53C5F925C9}"/>
              </a:ext>
            </a:extLst>
          </p:cNvPr>
          <p:cNvSpPr txBox="1"/>
          <p:nvPr/>
        </p:nvSpPr>
        <p:spPr>
          <a:xfrm>
            <a:off x="1439652" y="2510848"/>
            <a:ext cx="2322258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ADFBEB5-9E87-C00F-023E-B4C2C764284B}"/>
              </a:ext>
            </a:extLst>
          </p:cNvPr>
          <p:cNvSpPr txBox="1"/>
          <p:nvPr/>
        </p:nvSpPr>
        <p:spPr>
          <a:xfrm>
            <a:off x="4409982" y="2527878"/>
            <a:ext cx="2808312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    ⎕←'n is &gt;0'</a:t>
            </a:r>
          </a:p>
          <a:p>
            <a:r>
              <a:rPr lang="en-GB" sz="2100" dirty="0">
                <a:solidFill>
                  <a:srgbClr val="00B05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00B050"/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rgbClr val="00B050"/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70108242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90C561C-085D-E840-CE58-DEE0AEED97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B7B45-FED5-7DDB-1860-4EDA4C357E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of statements if a condition is fulfilled.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C4F129D-4BA5-A489-8465-4E52F2EB677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:Else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1A92110-521E-D015-2D2C-F9F114300F3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15BCD779-6E95-FEAD-FD1C-AF553945EB7D}"/>
              </a:ext>
            </a:extLst>
          </p:cNvPr>
          <p:cNvSpPr txBox="1"/>
          <p:nvPr/>
        </p:nvSpPr>
        <p:spPr>
          <a:xfrm>
            <a:off x="1363253" y="2510847"/>
            <a:ext cx="2814885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3C88055-4C1E-01B9-2281-9439BEE142ED}"/>
              </a:ext>
            </a:extLst>
          </p:cNvPr>
          <p:cNvSpPr txBox="1"/>
          <p:nvPr/>
        </p:nvSpPr>
        <p:spPr>
          <a:xfrm>
            <a:off x="4355976" y="2510848"/>
            <a:ext cx="356439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&gt;0'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&lt; or =0’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95241379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B97E6C-121A-9C3B-3608-82F31FFCDCD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6CF499E4-C0A5-C3FE-6CFD-86209F6AF0F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:If … :</a:t>
            </a:r>
            <a:r>
              <a:rPr lang="en-GB" dirty="0" err="1"/>
              <a:t>ElseIf</a:t>
            </a:r>
            <a:r>
              <a:rPr lang="en-GB" dirty="0"/>
              <a:t> … :Else … :</a:t>
            </a:r>
            <a:r>
              <a:rPr lang="en-GB" dirty="0" err="1"/>
              <a:t>EndIf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6DF156C-9E5B-0F31-D9C1-69ADC8D0F71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3B4A9FA6-0577-D94A-0DD9-43C1FC22327A}"/>
              </a:ext>
            </a:extLst>
          </p:cNvPr>
          <p:cNvSpPr txBox="1"/>
          <p:nvPr/>
        </p:nvSpPr>
        <p:spPr>
          <a:xfrm>
            <a:off x="1283868" y="1830575"/>
            <a:ext cx="3065372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</a:t>
            </a:r>
            <a:r>
              <a:rPr lang="en-GB" sz="2100" dirty="0">
                <a:latin typeface="APL385 Unicode" panose="020B0709000202000203" pitchFamily="49" charset="0"/>
              </a:rPr>
              <a:t>condition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ElseIf</a:t>
            </a:r>
            <a:r>
              <a:rPr lang="en-GB" sz="2100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other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latin typeface="APL385 Unicode" panose="020B0709000202000203" pitchFamily="49" charset="0"/>
              </a:rPr>
              <a:t>whats</a:t>
            </a:r>
            <a:r>
              <a:rPr lang="en-GB" sz="2100" dirty="0">
                <a:latin typeface="APL385 Unicode" panose="020B0709000202000203" pitchFamily="49" charset="0"/>
              </a:rPr>
              <a:t> left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2C3AF32-7DF7-7C30-07C2-5C7F4AFFA5A2}"/>
              </a:ext>
            </a:extLst>
          </p:cNvPr>
          <p:cNvSpPr txBox="1"/>
          <p:nvPr/>
        </p:nvSpPr>
        <p:spPr>
          <a:xfrm>
            <a:off x="4371619" y="1830575"/>
            <a:ext cx="3726414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:If n&gt;0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⎕←'positive'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ElseIf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n=0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 is 0'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⎕←'negative'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178198629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452D02-208E-3F08-23F8-A2F2D8E8D3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40445829-A847-3FE1-0567-BE3FFBFF2F9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2800" dirty="0"/>
              <a:t>:Select … :Case … :</a:t>
            </a:r>
            <a:r>
              <a:rPr lang="en-GB" sz="2800" dirty="0" err="1"/>
              <a:t>CaseList</a:t>
            </a:r>
            <a:r>
              <a:rPr lang="en-GB" sz="2800" dirty="0"/>
              <a:t> … :</a:t>
            </a:r>
            <a:r>
              <a:rPr lang="en-GB" sz="2800" dirty="0" err="1"/>
              <a:t>EndSelect</a:t>
            </a:r>
            <a:endParaRPr lang="en-GB" sz="28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6F479E8-89D7-F1BA-29C3-1DDA31A4B45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CF737EAC-A296-ABF9-A967-B3389C6419C8}"/>
              </a:ext>
            </a:extLst>
          </p:cNvPr>
          <p:cNvSpPr txBox="1"/>
          <p:nvPr/>
        </p:nvSpPr>
        <p:spPr>
          <a:xfrm>
            <a:off x="1385646" y="1609509"/>
            <a:ext cx="2754306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:Select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array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>
                <a:latin typeface="APL385 Unicode" panose="020B0709000202000203" pitchFamily="49" charset="0"/>
              </a:rPr>
              <a:t>c1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CaseList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  </a:t>
            </a:r>
            <a:r>
              <a:rPr lang="en-GB" sz="2100" dirty="0">
                <a:latin typeface="APL385 Unicode" panose="020B0709000202000203" pitchFamily="49" charset="0"/>
              </a:rPr>
              <a:t>c2 </a:t>
            </a:r>
            <a:r>
              <a:rPr lang="en-GB" sz="2100" dirty="0" err="1">
                <a:latin typeface="APL385 Unicode" panose="020B0709000202000203" pitchFamily="49" charset="0"/>
              </a:rPr>
              <a:t>c2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	the rest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EndSelect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499E4EC-C483-0A0F-D89D-0F45DA001E28}"/>
              </a:ext>
            </a:extLst>
          </p:cNvPr>
          <p:cNvSpPr txBox="1"/>
          <p:nvPr/>
        </p:nvSpPr>
        <p:spPr>
          <a:xfrm>
            <a:off x="4572000" y="1609509"/>
            <a:ext cx="3842184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:Select ×N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¯1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⎕←'negative'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CaseList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0 1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⎕←'non-negative'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⎕←'impossible'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EndSelect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78058114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5FD3FB-EFC6-8F55-BF37-ECF9A420658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Loop 0 or more times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85DEBE0-06C1-7A1C-0B43-2D33862B81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A277D0C-139F-A8DE-90C8-0E9860BF370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65007849-339D-0858-FDA5-603993224448}"/>
              </a:ext>
            </a:extLst>
          </p:cNvPr>
          <p:cNvSpPr txBox="1"/>
          <p:nvPr/>
        </p:nvSpPr>
        <p:spPr>
          <a:xfrm>
            <a:off x="745789" y="1818058"/>
            <a:ext cx="3280223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rgbClr val="FF6600"/>
                </a:solidFill>
                <a:latin typeface="APL385 Unicode" panose="020B0709000202000203" pitchFamily="49" charset="0"/>
              </a:rPr>
              <a:t>:While </a:t>
            </a:r>
            <a:r>
              <a:rPr lang="en-GB" sz="24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condition</a:t>
            </a:r>
            <a:endParaRPr lang="en-GB" sz="2400" dirty="0">
              <a:latin typeface="APL385 Unicode" panose="020B0709000202000203" pitchFamily="49" charset="0"/>
            </a:endParaRPr>
          </a:p>
          <a:p>
            <a:r>
              <a:rPr lang="en-GB" sz="24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4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4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4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EndWhile</a:t>
            </a:r>
            <a:endParaRPr lang="en-GB" sz="24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1BAAA5B9-4230-320F-6F9F-4ED9927936C2}"/>
              </a:ext>
            </a:extLst>
          </p:cNvPr>
          <p:cNvSpPr txBox="1"/>
          <p:nvPr/>
        </p:nvSpPr>
        <p:spPr>
          <a:xfrm>
            <a:off x="4429766" y="1818058"/>
            <a:ext cx="3834426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:While Snow</a:t>
            </a:r>
          </a:p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⎕←'go skiing'</a:t>
            </a:r>
          </a:p>
          <a:p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Snow←1≠?6</a:t>
            </a:r>
            <a:b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4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4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489368274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2027B0F3-5FDE-E350-2DA5-9653A21851E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671D7F6-C6F4-E2B2-9D3B-ADCD59469DC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4ADB8565-4411-A64B-EF57-B959AB443CCD}"/>
              </a:ext>
            </a:extLst>
          </p:cNvPr>
          <p:cNvSpPr txBox="1"/>
          <p:nvPr/>
        </p:nvSpPr>
        <p:spPr>
          <a:xfrm>
            <a:off x="739302" y="1599642"/>
            <a:ext cx="3454656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condition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OrIf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 </a:t>
            </a:r>
            <a:r>
              <a:rPr lang="en-GB" sz="2100" dirty="0">
                <a:latin typeface="APL385 Unicode" panose="020B0709000202000203" pitchFamily="49" charset="0"/>
              </a:rPr>
              <a:t>condition2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793BD0FA-7482-9A8D-0E6B-B22A7E53D910}"/>
              </a:ext>
            </a:extLst>
          </p:cNvPr>
          <p:cNvSpPr txBox="1"/>
          <p:nvPr/>
        </p:nvSpPr>
        <p:spPr>
          <a:xfrm>
            <a:off x="3923928" y="1599642"/>
            <a:ext cx="3888432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:While Temp&gt;50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OrIf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Temp&lt;¯15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⎕←'stay inside'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EndWhile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67397819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40E25F5-FE63-C84D-6250-87991A3A4C4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419B45F-9708-2053-897C-FD78CF98280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B117B60D-532B-6CE4-D91B-993B679188B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5F25304-4432-6CD5-F3AC-601AB10BCBE9}"/>
              </a:ext>
            </a:extLst>
          </p:cNvPr>
          <p:cNvSpPr txBox="1"/>
          <p:nvPr/>
        </p:nvSpPr>
        <p:spPr>
          <a:xfrm>
            <a:off x="2185481" y="1803195"/>
            <a:ext cx="3454656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Sarabun" panose="00000500000000000000" pitchFamily="2" charset="-34"/>
              </a:rPr>
              <a:t> 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8" name="Rectangle 7">
            <a:extLst>
              <a:ext uri="{FF2B5EF4-FFF2-40B4-BE49-F238E27FC236}">
                <a16:creationId xmlns:a16="http://schemas.microsoft.com/office/drawing/2014/main" id="{B392237A-089C-AD4B-F2AC-4781B7A090C3}"/>
              </a:ext>
            </a:extLst>
          </p:cNvPr>
          <p:cNvSpPr/>
          <p:nvPr/>
        </p:nvSpPr>
        <p:spPr>
          <a:xfrm>
            <a:off x="5251983" y="2153682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Only runs if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is true</a:t>
            </a:r>
          </a:p>
        </p:txBody>
      </p:sp>
      <p:sp>
        <p:nvSpPr>
          <p:cNvPr id="9" name="Content Placeholder 1">
            <a:extLst>
              <a:ext uri="{FF2B5EF4-FFF2-40B4-BE49-F238E27FC236}">
                <a16:creationId xmlns:a16="http://schemas.microsoft.com/office/drawing/2014/main" id="{8BBD5E05-3E42-6EDF-6503-A09C87750D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323527" y="1377777"/>
            <a:ext cx="8462127" cy="3129187"/>
          </a:xfrm>
        </p:spPr>
        <p:txBody>
          <a:bodyPr/>
          <a:lstStyle/>
          <a:p>
            <a:pPr marL="0" indent="0">
              <a:buNone/>
            </a:pPr>
            <a:r>
              <a:rPr lang="en-GB" dirty="0"/>
              <a:t>Normally:</a:t>
            </a:r>
          </a:p>
        </p:txBody>
      </p:sp>
    </p:spTree>
    <p:extLst>
      <p:ext uri="{BB962C8B-B14F-4D97-AF65-F5344CB8AC3E}">
        <p14:creationId xmlns:p14="http://schemas.microsoft.com/office/powerpoint/2010/main" val="197061911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8" grpId="0" animBg="1"/>
    </p:bld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4319C5E-9696-F6F2-31C2-553C0B68C6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C749EE1C-3258-C76F-E1B2-9C135ECB799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A4037B-6245-8AEF-0E0E-CA9EC15B80F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DBA7C3EA-5BD8-3CBB-1D72-44B814F87078}"/>
              </a:ext>
            </a:extLst>
          </p:cNvPr>
          <p:cNvSpPr txBox="1"/>
          <p:nvPr/>
        </p:nvSpPr>
        <p:spPr>
          <a:xfrm>
            <a:off x="2185481" y="1803195"/>
            <a:ext cx="3454656" cy="193899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:OrIf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</a:t>
            </a:r>
            <a:r>
              <a:rPr lang="en-US" altLang="en-US" sz="2400" dirty="0">
                <a:solidFill>
                  <a:srgbClr val="808080"/>
                </a:solidFill>
                <a:latin typeface="APL385 Unicode" panose="020B0709000202000203" pitchFamily="49" charset="0"/>
              </a:rPr>
              <a:t>b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'b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Sarabun" panose="00000500000000000000" pitchFamily="2" charset="-34"/>
              </a:rPr>
              <a:t> </a:t>
            </a:r>
            <a:endParaRPr lang="en-US" altLang="en-US" sz="4800" dirty="0">
              <a:latin typeface="Arial" panose="020B0604020202020204" pitchFamily="34" charset="0"/>
            </a:endParaRPr>
          </a:p>
        </p:txBody>
      </p:sp>
      <p:sp>
        <p:nvSpPr>
          <p:cNvPr id="2" name="Rectangle 1">
            <a:extLst>
              <a:ext uri="{FF2B5EF4-FFF2-40B4-BE49-F238E27FC236}">
                <a16:creationId xmlns:a16="http://schemas.microsoft.com/office/drawing/2014/main" id="{0858CC10-246B-AFD1-B05D-A568F8BDA389}"/>
              </a:ext>
            </a:extLst>
          </p:cNvPr>
          <p:cNvSpPr/>
          <p:nvPr/>
        </p:nvSpPr>
        <p:spPr>
          <a:xfrm>
            <a:off x="585949" y="3853527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Rich does not like :OrIf with :If</a:t>
            </a:r>
          </a:p>
        </p:txBody>
      </p:sp>
      <p:sp>
        <p:nvSpPr>
          <p:cNvPr id="7" name="Rectangle 6">
            <a:extLst>
              <a:ext uri="{FF2B5EF4-FFF2-40B4-BE49-F238E27FC236}">
                <a16:creationId xmlns:a16="http://schemas.microsoft.com/office/drawing/2014/main" id="{6EE5B2F0-3DEC-BCE3-B5A2-254C92447A31}"/>
              </a:ext>
            </a:extLst>
          </p:cNvPr>
          <p:cNvSpPr/>
          <p:nvPr/>
        </p:nvSpPr>
        <p:spPr>
          <a:xfrm>
            <a:off x="5251983" y="2153682"/>
            <a:ext cx="3761362" cy="499354"/>
          </a:xfrm>
          <a:prstGeom prst="rect">
            <a:avLst/>
          </a:prstGeom>
          <a:solidFill>
            <a:srgbClr val="FF66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Only runs if </a:t>
            </a:r>
            <a:r>
              <a:rPr lang="en-GB" dirty="0">
                <a:latin typeface="APL385 Unicode" panose="020B0709000202000203" pitchFamily="49" charset="0"/>
              </a:rPr>
              <a:t>a</a:t>
            </a:r>
            <a:r>
              <a:rPr lang="en-GB" dirty="0"/>
              <a:t> is false!</a:t>
            </a:r>
          </a:p>
        </p:txBody>
      </p:sp>
    </p:spTree>
    <p:extLst>
      <p:ext uri="{BB962C8B-B14F-4D97-AF65-F5344CB8AC3E}">
        <p14:creationId xmlns:p14="http://schemas.microsoft.com/office/powerpoint/2010/main" val="204458078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 animBg="1"/>
      <p:bldP spid="7" grpId="0" animBg="1"/>
    </p:bld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5271846-F85F-008E-97D3-2634B4E375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AC74478-AE5A-35F8-50EE-76094DB730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:While … :OrIf … :</a:t>
            </a:r>
            <a:r>
              <a:rPr lang="en-GB" dirty="0" err="1"/>
              <a:t>EndWhile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08F3E80-1744-9705-28C7-753E0D40F3F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E41C75FE-C623-75D8-BBD2-F46CCDB84367}"/>
              </a:ext>
            </a:extLst>
          </p:cNvPr>
          <p:cNvSpPr txBox="1"/>
          <p:nvPr/>
        </p:nvSpPr>
        <p:spPr>
          <a:xfrm>
            <a:off x="51887" y="1569732"/>
            <a:ext cx="3454656" cy="1938992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:Else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false'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APL385 Unicode" panose="020B0709000202000203" pitchFamily="49" charset="0"/>
              </a:rPr>
              <a:t> </a:t>
            </a:r>
            <a:endParaRPr lang="en-US" altLang="en-US" sz="4800" dirty="0">
              <a:latin typeface="APL385 Unicode" panose="020B0709000202000203" pitchFamily="49" charset="0"/>
            </a:endParaRPr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936F5D97-2B65-7DF2-0DAF-1BE833B84303}"/>
              </a:ext>
            </a:extLst>
          </p:cNvPr>
          <p:cNvSpPr txBox="1"/>
          <p:nvPr/>
        </p:nvSpPr>
        <p:spPr>
          <a:xfrm>
            <a:off x="914405" y="1102469"/>
            <a:ext cx="116249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Normally: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1D432D93-3F82-98D5-D16C-849D4832F85B}"/>
              </a:ext>
            </a:extLst>
          </p:cNvPr>
          <p:cNvSpPr txBox="1"/>
          <p:nvPr/>
        </p:nvSpPr>
        <p:spPr>
          <a:xfrm>
            <a:off x="3761362" y="1569732"/>
            <a:ext cx="5337241" cy="2677656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pPr lvl="0"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a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false'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:OrIf</a:t>
            </a:r>
            <a:r>
              <a:rPr lang="en-US" altLang="en-US" sz="2400" dirty="0">
                <a:solidFill>
                  <a:srgbClr val="000000"/>
                </a:solidFill>
                <a:latin typeface="APL385 Unicode" panose="020B0709000202000203" pitchFamily="49" charset="0"/>
              </a:rPr>
              <a:t> b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'a is true or b is true'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:Else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latin typeface="APL385 Unicode" panose="020B0709000202000203" pitchFamily="49" charset="0"/>
              </a:rPr>
              <a:t>    </a:t>
            </a:r>
            <a:r>
              <a:rPr lang="en-US" altLang="en-US" sz="2400" dirty="0">
                <a:solidFill>
                  <a:srgbClr val="008080"/>
                </a:solidFill>
                <a:latin typeface="APL385 Unicode" panose="020B0709000202000203" pitchFamily="49" charset="0"/>
              </a:rPr>
              <a:t>'neither a nor b'</a:t>
            </a:r>
            <a:br>
              <a:rPr lang="en-US" altLang="en-US" sz="2400" dirty="0">
                <a:latin typeface="APL385 Unicode" panose="020B0709000202000203" pitchFamily="49" charset="0"/>
              </a:rPr>
            </a:br>
            <a:r>
              <a:rPr lang="en-US" altLang="en-US" sz="2400" dirty="0">
                <a:solidFill>
                  <a:srgbClr val="800000"/>
                </a:solidFill>
                <a:latin typeface="APL385 Unicode" panose="020B0709000202000203" pitchFamily="49" charset="0"/>
              </a:rPr>
              <a:t>:</a:t>
            </a:r>
            <a:r>
              <a:rPr lang="en-US" altLang="en-US" sz="2400" dirty="0" err="1">
                <a:solidFill>
                  <a:srgbClr val="800000"/>
                </a:solidFill>
                <a:latin typeface="APL385 Unicode" panose="020B0709000202000203" pitchFamily="49" charset="0"/>
              </a:rPr>
              <a:t>EndIf</a:t>
            </a:r>
            <a:r>
              <a:rPr lang="en-US" altLang="en-US" sz="2400" dirty="0">
                <a:latin typeface="APL385 Unicode" panose="020B0709000202000203" pitchFamily="49" charset="0"/>
              </a:rPr>
              <a:t> </a:t>
            </a:r>
            <a:endParaRPr lang="en-US" altLang="en-US" sz="4800" dirty="0">
              <a:latin typeface="APL385 Unicode" panose="020B0709000202000203" pitchFamily="49" charset="0"/>
            </a:endParaRP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35DAE61-E24D-91C6-647D-770F15E80103}"/>
              </a:ext>
            </a:extLst>
          </p:cNvPr>
          <p:cNvSpPr txBox="1"/>
          <p:nvPr/>
        </p:nvSpPr>
        <p:spPr>
          <a:xfrm>
            <a:off x="5066775" y="1102469"/>
            <a:ext cx="1486304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GB" dirty="0"/>
              <a:t>Using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:OrIf</a:t>
            </a:r>
          </a:p>
        </p:txBody>
      </p:sp>
    </p:spTree>
    <p:extLst>
      <p:ext uri="{BB962C8B-B14F-4D97-AF65-F5344CB8AC3E}">
        <p14:creationId xmlns:p14="http://schemas.microsoft.com/office/powerpoint/2010/main" val="122007497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7" presetID="1" presetClass="entr" presetSubtype="0" fill="hold" grpId="0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0" grpId="0"/>
      <p:bldP spid="11" grpId="0"/>
    </p:bld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D6A2370-E9A2-64F2-93D7-72EBB9E5CDA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Think!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A5455B9B-46E7-F936-BE24-E73A0D803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Optimisation :While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601A0DF-B5EC-65B2-3F99-B1470E2407F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B534EF02-7838-6CC7-F6A6-1BF990B6C4B4}"/>
              </a:ext>
            </a:extLst>
          </p:cNvPr>
          <p:cNvSpPr txBox="1"/>
          <p:nvPr/>
        </p:nvSpPr>
        <p:spPr>
          <a:xfrm>
            <a:off x="1763688" y="2085696"/>
            <a:ext cx="5832648" cy="15696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LikelyToBeFalse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AndIf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expensiveTest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  <a:p>
            <a:endParaRPr lang="en-GB" dirty="0"/>
          </a:p>
          <a:p>
            <a:r>
              <a:rPr lang="en-GB" sz="2400" dirty="0"/>
              <a:t>Is probably better than: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BF7F48A3-65FC-6C1B-A3C4-C887477430C5}"/>
              </a:ext>
            </a:extLst>
          </p:cNvPr>
          <p:cNvSpPr txBox="1"/>
          <p:nvPr/>
        </p:nvSpPr>
        <p:spPr>
          <a:xfrm>
            <a:off x="1709682" y="3865390"/>
            <a:ext cx="5832648" cy="64633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LikelyToBeFalse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∧ </a:t>
            </a:r>
            <a:r>
              <a:rPr lang="en-GB" dirty="0" err="1">
                <a:latin typeface="APL385 Unicode" panose="020B0709000202000203" pitchFamily="49" charset="0"/>
              </a:rPr>
              <a:t>expensiveTest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</p:txBody>
      </p:sp>
    </p:spTree>
    <p:extLst>
      <p:ext uri="{BB962C8B-B14F-4D97-AF65-F5344CB8AC3E}">
        <p14:creationId xmlns:p14="http://schemas.microsoft.com/office/powerpoint/2010/main" val="2113042019"/>
      </p:ext>
    </p:extLst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0FB8215-FA73-8D1D-E0CA-6A7E6511FA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3772D0F-58A7-D56A-85F4-07479422833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You will often see: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157F060-7D6E-6CEF-0BE0-2D33DBEE61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Optimisation :While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8F2A7402-BCCE-5F71-346F-81CCCC81CAF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EFABD77B-100F-ADCA-7C2C-49F003C698ED}"/>
              </a:ext>
            </a:extLst>
          </p:cNvPr>
          <p:cNvSpPr txBox="1"/>
          <p:nvPr/>
        </p:nvSpPr>
        <p:spPr>
          <a:xfrm>
            <a:off x="1763688" y="2085696"/>
            <a:ext cx="5832648" cy="12003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:While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PreCondition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AndIf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dirty="0" err="1">
                <a:latin typeface="APL385 Unicode" panose="020B0709000202000203" pitchFamily="49" charset="0"/>
              </a:rPr>
              <a:t>onlyComputableIfPreCondition</a:t>
            </a:r>
            <a:endParaRPr lang="en-GB" dirty="0">
              <a:latin typeface="APL385 Unicode" panose="020B0709000202000203" pitchFamily="49" charset="0"/>
            </a:endParaRPr>
          </a:p>
          <a:p>
            <a:r>
              <a:rPr lang="en-GB" dirty="0"/>
              <a:t>     …</a:t>
            </a:r>
          </a:p>
          <a:p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2831176310"/>
      </p:ext>
    </p:extLst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72209A7-22F5-A654-3612-C81B7CA2330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Loop at least once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0A4B958-791F-91C0-8D13-C9A8A38FD55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:Repeat … :Until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A0F971C-8622-6DCE-6A5E-59C39470F9F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8F96F694-5303-B1FC-F0C3-41C67D728FC0}"/>
              </a:ext>
            </a:extLst>
          </p:cNvPr>
          <p:cNvSpPr txBox="1"/>
          <p:nvPr/>
        </p:nvSpPr>
        <p:spPr>
          <a:xfrm>
            <a:off x="1385646" y="1977684"/>
            <a:ext cx="2754306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:Until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condition</a:t>
            </a:r>
            <a:r>
              <a:rPr lang="en-GB" sz="2100" dirty="0">
                <a:solidFill>
                  <a:srgbClr val="FF0000"/>
                </a:solidFill>
                <a:latin typeface="APL385 Unicode" panose="020B0709000202000203" pitchFamily="49" charset="0"/>
              </a:rPr>
              <a:t> 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EB829716-FE21-FD1D-E28F-C8AEE3DB8419}"/>
              </a:ext>
            </a:extLst>
          </p:cNvPr>
          <p:cNvSpPr txBox="1"/>
          <p:nvPr/>
        </p:nvSpPr>
        <p:spPr>
          <a:xfrm>
            <a:off x="4405196" y="1977684"/>
            <a:ext cx="3996444" cy="138499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⎕←'go skiing'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:Until Temp&gt;0</a:t>
            </a:r>
          </a:p>
        </p:txBody>
      </p:sp>
    </p:spTree>
    <p:extLst>
      <p:ext uri="{BB962C8B-B14F-4D97-AF65-F5344CB8AC3E}">
        <p14:creationId xmlns:p14="http://schemas.microsoft.com/office/powerpoint/2010/main" val="1887727614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EE41AFFE-C009-1F31-EF9F-B19BA05FEB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For example, using </a:t>
            </a:r>
            <a:r>
              <a:rPr lang="da-DK" dirty="0">
                <a:latin typeface="APL385 Unicode" panose="020B0709000202000203" pitchFamily="49" charset="0"/>
              </a:rPr>
              <a:t>:Repeat</a:t>
            </a:r>
            <a:endParaRPr lang="en-GB" dirty="0"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F9FFE67-054A-A4A5-7F38-5219ED25724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:Leave (any control structure)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F804A70-6CE3-9B0E-4536-220B7F3D184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87E9375-3C26-2394-BF04-07C523CEE8C5}"/>
              </a:ext>
            </a:extLst>
          </p:cNvPr>
          <p:cNvSpPr txBox="1"/>
          <p:nvPr/>
        </p:nvSpPr>
        <p:spPr>
          <a:xfrm>
            <a:off x="1493658" y="1887395"/>
            <a:ext cx="2754306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:Repeat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:Leave</a:t>
            </a:r>
          </a:p>
          <a:p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that?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EndRepeat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B05AB39-1943-F187-FBCC-699F8B0124F8}"/>
              </a:ext>
            </a:extLst>
          </p:cNvPr>
          <p:cNvSpPr txBox="1"/>
          <p:nvPr/>
        </p:nvSpPr>
        <p:spPr>
          <a:xfrm>
            <a:off x="4247964" y="1864871"/>
            <a:ext cx="394243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:Repeat</a:t>
            </a:r>
            <a:b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</a:b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Temp←ReadThermo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:If Temp&gt;0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   :Leave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'go skiing'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EndRepeat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33060428"/>
      </p:ext>
    </p:extLst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FF3C369-0682-4286-7ACB-13FBFD38F7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repeatedly for a series of values: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DD6A154-7779-9999-4876-1545F980A1F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:For … :</a:t>
            </a:r>
            <a:r>
              <a:rPr lang="en-GB" dirty="0" err="1"/>
              <a:t>EndFor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39296C3-2883-A7E1-E110-68417E8B355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214B446-DA96-45F8-12D3-D8DAF0E42F0F}"/>
              </a:ext>
            </a:extLst>
          </p:cNvPr>
          <p:cNvSpPr txBox="1"/>
          <p:nvPr/>
        </p:nvSpPr>
        <p:spPr>
          <a:xfrm>
            <a:off x="1266614" y="2390134"/>
            <a:ext cx="3610811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:For 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v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:In </a:t>
            </a:r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values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47E156F-1061-1D99-D7E9-C6ED9F93E212}"/>
              </a:ext>
            </a:extLst>
          </p:cNvPr>
          <p:cNvSpPr txBox="1"/>
          <p:nvPr/>
        </p:nvSpPr>
        <p:spPr>
          <a:xfrm>
            <a:off x="4797327" y="2390134"/>
            <a:ext cx="3834426" cy="1061829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:For n :In ⍳10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n,n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*2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49145131"/>
      </p:ext>
    </p:extLst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0C89577-5248-2BC5-9A15-79AEFEAF13B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Execute a block repeatedly for respective items within a series of values: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7C81D77C-A8ED-D2D8-51D6-B769862F5C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:For … :</a:t>
            </a:r>
            <a:r>
              <a:rPr lang="en-GB" dirty="0" err="1"/>
              <a:t>InEach</a:t>
            </a:r>
            <a:r>
              <a:rPr lang="en-GB" dirty="0"/>
              <a:t> … :</a:t>
            </a:r>
            <a:r>
              <a:rPr lang="en-GB" dirty="0" err="1"/>
              <a:t>EndFor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16753FF1-A72A-1273-0C60-16E35972ABA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0E9B879D-1CF8-476A-C831-3237AE9831D0}"/>
              </a:ext>
            </a:extLst>
          </p:cNvPr>
          <p:cNvSpPr txBox="1"/>
          <p:nvPr/>
        </p:nvSpPr>
        <p:spPr>
          <a:xfrm>
            <a:off x="64447" y="2163228"/>
            <a:ext cx="4195133" cy="1938992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:For v :In 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1 2 3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)(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4 5 6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⎕←v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1 2 3</a:t>
            </a:r>
          </a:p>
          <a:p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4 5 6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8D8B4CD-3EA9-2631-47C8-212402471693}"/>
              </a:ext>
            </a:extLst>
          </p:cNvPr>
          <p:cNvSpPr txBox="1"/>
          <p:nvPr/>
        </p:nvSpPr>
        <p:spPr>
          <a:xfrm>
            <a:off x="4259580" y="2163228"/>
            <a:ext cx="4819973" cy="2246769"/>
          </a:xfrm>
          <a:prstGeom prst="rect">
            <a:avLst/>
          </a:prstGeom>
          <a:noFill/>
          <a:ln w="12700">
            <a:solidFill>
              <a:schemeClr val="tx1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:For v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InEach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2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3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)(</a:t>
            </a:r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4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5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</a:t>
            </a:r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6</a:t>
            </a:r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)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⎕←v</a:t>
            </a:r>
          </a:p>
          <a:p>
            <a:r>
              <a:rPr lang="en-GB" sz="20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:</a:t>
            </a:r>
            <a:r>
              <a:rPr lang="en-GB" sz="20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endParaRPr lang="en-GB" sz="20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000" dirty="0">
                <a:solidFill>
                  <a:srgbClr val="00B050"/>
                </a:solidFill>
                <a:latin typeface="APL385 Unicode" panose="020B0709000202000203" pitchFamily="49" charset="0"/>
              </a:rPr>
              <a:t>1 4</a:t>
            </a:r>
          </a:p>
          <a:p>
            <a:r>
              <a:rPr lang="en-GB" sz="2000" dirty="0">
                <a:solidFill>
                  <a:srgbClr val="00B0F0"/>
                </a:solidFill>
                <a:latin typeface="APL385 Unicode" panose="020B0709000202000203" pitchFamily="49" charset="0"/>
              </a:rPr>
              <a:t>2 5</a:t>
            </a:r>
          </a:p>
          <a:p>
            <a:r>
              <a:rPr lang="en-GB" sz="2000" dirty="0">
                <a:solidFill>
                  <a:srgbClr val="FF0000"/>
                </a:solidFill>
                <a:latin typeface="APL385 Unicode" panose="020B0709000202000203" pitchFamily="49" charset="0"/>
              </a:rPr>
              <a:t>3 6</a:t>
            </a:r>
          </a:p>
        </p:txBody>
      </p:sp>
    </p:spTree>
    <p:extLst>
      <p:ext uri="{BB962C8B-B14F-4D97-AF65-F5344CB8AC3E}">
        <p14:creationId xmlns:p14="http://schemas.microsoft.com/office/powerpoint/2010/main" val="4118497592"/>
      </p:ext>
    </p:extLst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AA56090-75B2-BF7D-2119-7238F5D46AA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Skip the rest of the block.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E957F6B9-FD3D-FA61-07FA-95DC963E03F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:Continue (within a loop)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493EDCB-EBBB-22AE-7BC2-A3966D689EF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1B9A2A3D-99C4-F9DB-6B88-AD309228D183}"/>
              </a:ext>
            </a:extLst>
          </p:cNvPr>
          <p:cNvSpPr txBox="1"/>
          <p:nvPr/>
        </p:nvSpPr>
        <p:spPr>
          <a:xfrm>
            <a:off x="853440" y="1969657"/>
            <a:ext cx="3308039" cy="203132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:For v :In values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…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</a:t>
            </a:r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:Continue</a:t>
            </a: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 do this</a:t>
            </a:r>
          </a:p>
          <a:p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CF0F85AB-5AEF-7797-6A1F-8ABBC7FAD95A}"/>
              </a:ext>
            </a:extLst>
          </p:cNvPr>
          <p:cNvSpPr txBox="1"/>
          <p:nvPr/>
        </p:nvSpPr>
        <p:spPr>
          <a:xfrm>
            <a:off x="4445474" y="1969657"/>
            <a:ext cx="3942438" cy="2031325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:For n :In ⍳10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:If n∊4 6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	   :Continue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n,n</a:t>
            </a:r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*2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EndFor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853638245"/>
      </p:ext>
    </p:extLst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34B8C1C-29E7-5B08-F7BD-6C285DAD352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TradFns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end when the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last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line is executed. You can exit earlier using: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→0    </a:t>
            </a:r>
          </a:p>
          <a:p>
            <a:pPr marL="0" indent="0"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 :Return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2296BBB8-F323-02F3-95F8-476C73D1DC6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:Leave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B75383F-22F2-17F5-D908-CCB5296487E1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47987532"/>
      </p:ext>
    </p:extLst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99F89D6-DBE4-95F3-83C9-21C511E9BB2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20000"/>
          </a:bodyPr>
          <a:lstStyle/>
          <a:p>
            <a:pPr marL="0" indent="0">
              <a:buNone/>
            </a:pPr>
            <a:r>
              <a:rPr lang="en-GB" b="1" dirty="0"/>
              <a:t>Historical note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In the early days, the only way to alter the flow of execution was the branch arrow (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) or </a:t>
            </a:r>
            <a:r>
              <a:rPr lang="en-GB" b="1" dirty="0" err="1">
                <a:solidFill>
                  <a:schemeClr val="tx1">
                    <a:lumMod val="95000"/>
                    <a:lumOff val="5000"/>
                  </a:schemeClr>
                </a:solidFill>
              </a:rPr>
              <a:t>goto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.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go to a specific line number one would write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lineNo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. If 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lineNo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was NOT one of the lines in the program, the program would exit.</a:t>
            </a:r>
            <a:endParaRPr lang="da-DK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Use of branching risks spaghettification, in which function calls form a confusing labyrinth. Do not use </a:t>
            </a:r>
            <a:r>
              <a:rPr lang="da-DK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:Goto</a:t>
            </a:r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either!</a:t>
            </a:r>
          </a:p>
          <a:p>
            <a:r>
              <a:rPr lang="da-DK" dirty="0">
                <a:solidFill>
                  <a:schemeClr val="tx1">
                    <a:lumMod val="95000"/>
                    <a:lumOff val="5000"/>
                  </a:schemeClr>
                </a:solidFill>
              </a:rPr>
              <a:t>Goto may be used with strict sequence-based enumeration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F74483C2-AAEB-ED7B-7BEA-8712A7745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329A1AC-4ECB-A700-1298-C22BA5E8F6F5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2066315"/>
      </p:ext>
    </p:extLst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48880F7-C564-D4FF-481B-AC4D24A3C47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951219EB-734B-B51D-3816-CC6DFF767266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Note every possible input for your system</a:t>
            </a: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Determine the correct response to that input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5F7ACDF-CF73-1DB5-D66B-B8993317811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Sequence-based Enumeration</a:t>
            </a:r>
            <a:endParaRPr lang="en-GB" sz="20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6E9627A1-541C-31D0-C081-F7399F98E6A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33137171"/>
      </p:ext>
    </p:extLst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780E66F0-EE0E-FCE4-1A47-A88C6016A51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itchFamily="49" charset="0"/>
              </a:rPr>
              <a:t>→⍳0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would continue to the next line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conditionally branch to line 10 one would write </a:t>
            </a: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</a:t>
            </a:r>
            <a:r>
              <a:rPr lang="en-GB" b="1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→Condition/10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To avoid renumbering the statements when the program would change LABELS were used.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1CC6AE-8831-2173-DE88-8786B8F634C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89AF891-6470-A4ED-BDE9-75317A17950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13052345"/>
      </p:ext>
    </p:extLst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71C2299-48BF-B9CC-E254-A6D40DC778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CC8ECDA8-A321-8080-0583-EA23D0248FE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→(condition)/1+⎕LC ⋄ expression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 conditionally branches to the next line (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⎕LC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the line counter). This is equivalent to …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~condition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expression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NOT remove the diamond, you will BREAK the code!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33F36ED-92F7-AA30-E9BA-9D090F297D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96DCEB9B-0668-ED9A-F07E-6896304FC2B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860118664"/>
      </p:ext>
    </p:extLst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B2E1011-E279-4D58-9100-E5F2FF26D32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D8572A4E-4C36-4735-996A-14E331140E3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70000" lnSpcReduction="20000"/>
          </a:bodyPr>
          <a:lstStyle/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→(condition)/1+⎕LC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⋄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expression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    </a:t>
            </a:r>
          </a:p>
          <a:p>
            <a:pPr marL="0" indent="0">
              <a:buNone/>
            </a:pP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… conditionally branches to the next line (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⎕LC 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is the line counter). This is equivalent to …</a:t>
            </a: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:If ~condition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    expression</a:t>
            </a:r>
            <a:b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</a:b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EndIf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endParaRPr lang="en-GB" dirty="0">
              <a:solidFill>
                <a:schemeClr val="tx1">
                  <a:lumMod val="95000"/>
                  <a:lumOff val="5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DO NOT remove </a:t>
            </a:r>
            <a:r>
              <a:rPr lang="en-GB" dirty="0">
                <a:solidFill>
                  <a:srgbClr val="FF6600"/>
                </a:solidFill>
              </a:rPr>
              <a:t>the diamond</a:t>
            </a: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, you will BREAK the code!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54D29426-30D5-CE1B-851C-B6EB35D64E3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90A04F8-0C44-DDBE-A9DB-FEFA4D56FDF4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674134416"/>
      </p:ext>
    </p:extLst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4C4AC2A-5FC8-C5A6-E83E-0B8705E3C84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A label appears at the start of a line, followed by a colon: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→Condition/Lab1</a:t>
            </a:r>
          </a:p>
          <a:p>
            <a:pPr marL="0" indent="0">
              <a:buNone/>
            </a:pPr>
            <a:r>
              <a:rPr lang="en-GB" b="1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…</a:t>
            </a:r>
          </a:p>
          <a:p>
            <a:pPr marL="0" indent="0">
              <a:buNone/>
            </a:pPr>
            <a:r>
              <a:rPr lang="en-GB" b="1" dirty="0">
                <a:solidFill>
                  <a:srgbClr val="C00000"/>
                </a:solidFill>
                <a:latin typeface="APL385 Unicode" panose="020B0709000202000203" pitchFamily="49" charset="0"/>
              </a:rPr>
              <a:t> Lab1:</a:t>
            </a:r>
            <a:endParaRPr lang="en-GB" dirty="0">
              <a:solidFill>
                <a:schemeClr val="tx1">
                  <a:lumMod val="95000"/>
                  <a:lumOff val="5000"/>
                </a:schemeClr>
              </a:solidFill>
            </a:endParaRPr>
          </a:p>
          <a:p>
            <a:pPr marL="0" indent="0">
              <a:buNone/>
            </a:pPr>
            <a:r>
              <a:rPr lang="en-GB" dirty="0">
                <a:solidFill>
                  <a:schemeClr val="tx1">
                    <a:lumMod val="95000"/>
                    <a:lumOff val="5000"/>
                  </a:schemeClr>
                </a:solidFill>
              </a:rPr>
              <a:t>A label is a local variable which is automatically assigned the value of the line it appears on.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84A4E6B-2419-AA5C-F2D3-4D58405A820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Branching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DEC375DD-9219-3C4D-C6F3-AB3B0B6AE89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167795311"/>
      </p:ext>
    </p:extLst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8615B0C-2041-AFC2-36B8-A6A2066424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D250AEF-CBE5-85BC-4608-E0689E0FBE5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end up in an infinite loop, use:</a:t>
            </a:r>
          </a:p>
          <a:p>
            <a:r>
              <a:rPr lang="en-GB" b="1" dirty="0" err="1">
                <a:solidFill>
                  <a:srgbClr val="FF6600"/>
                </a:solidFill>
              </a:rPr>
              <a:t>Ctrl+Break</a:t>
            </a:r>
            <a:r>
              <a:rPr lang="en-GB" dirty="0"/>
              <a:t> key</a:t>
            </a:r>
          </a:p>
          <a:p>
            <a:r>
              <a:rPr lang="en-GB" b="1" dirty="0">
                <a:solidFill>
                  <a:srgbClr val="FF6600"/>
                </a:solidFill>
              </a:rPr>
              <a:t>Action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b="1" dirty="0">
                <a:solidFill>
                  <a:srgbClr val="FF6600"/>
                </a:solidFill>
              </a:rPr>
              <a:t>Right Click</a:t>
            </a:r>
            <a:r>
              <a:rPr lang="en-GB" dirty="0"/>
              <a:t> → </a:t>
            </a:r>
            <a:r>
              <a:rPr lang="en-GB" b="1" dirty="0">
                <a:solidFill>
                  <a:srgbClr val="FF6600"/>
                </a:solidFill>
              </a:rPr>
              <a:t>Interrupt</a:t>
            </a:r>
          </a:p>
          <a:p>
            <a:r>
              <a:rPr lang="en-GB" dirty="0"/>
              <a:t>Click system tray icon and select </a:t>
            </a:r>
            <a:r>
              <a:rPr lang="en-GB" b="1" dirty="0">
                <a:solidFill>
                  <a:srgbClr val="FF6600"/>
                </a:solidFill>
              </a:rPr>
              <a:t>Strong Interrupt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08E8F728-F46C-AC5D-7349-1264C28AB42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Interrupt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FDECCA1-9A26-DF27-856A-BD920A2BA42D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912372741"/>
      </p:ext>
    </p:extLst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2CE173A4-1F8D-204B-6502-43602BCECEC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You can "trap" errors and handle them: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46D73B48-A7DE-9317-D4C1-A5C55AD3958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:Trap … :Case … :Else … :</a:t>
            </a:r>
            <a:r>
              <a:rPr lang="en-GB" sz="3200" dirty="0" err="1"/>
              <a:t>EndTrap</a:t>
            </a:r>
            <a:endParaRPr lang="en-GB" sz="32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D2EC7DD-6EDC-C221-13AD-E2C0CA3F8FD7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AAFEB883-0240-CF06-E094-39E9E250C09A}"/>
              </a:ext>
            </a:extLst>
          </p:cNvPr>
          <p:cNvSpPr txBox="1"/>
          <p:nvPr/>
        </p:nvSpPr>
        <p:spPr>
          <a:xfrm>
            <a:off x="823207" y="1856116"/>
            <a:ext cx="275430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:Trap  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errorCode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 err="1">
                <a:latin typeface="APL385 Unicode" panose="020B0709000202000203" pitchFamily="49" charset="0"/>
              </a:rPr>
              <a:t>errorX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55CBA791-AA69-7C1F-4CA4-E931D0A5257B}"/>
              </a:ext>
            </a:extLst>
          </p:cNvPr>
          <p:cNvSpPr txBox="1"/>
          <p:nvPr/>
        </p:nvSpPr>
        <p:spPr>
          <a:xfrm>
            <a:off x="4323736" y="1856116"/>
            <a:ext cx="413107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:Trap 0 ⍝ all errors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a←b÷c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11 ⍝ DOMAIN ERROR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⎕←'divide by zero?'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⎕←'oops!'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857713694"/>
      </p:ext>
    </p:extLst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1518653-E29A-D901-AF8E-B72DD3F2925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804A3A16-2B95-56C1-F46A-D9E98B9D53AB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da-DK" dirty="0"/>
              <a:t>You can "trap" errors and handle them:</a:t>
            </a: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0D13E4D-14D6-3E5C-6291-B38D9EDD3D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sz="3200" dirty="0"/>
              <a:t>:Trap … :Case … :Else … :</a:t>
            </a:r>
            <a:r>
              <a:rPr lang="en-GB" sz="3200" dirty="0" err="1"/>
              <a:t>EndTrap</a:t>
            </a:r>
            <a:endParaRPr lang="en-GB" sz="3200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514C311-D29F-1E1E-CFBD-09067B849FA2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0B46732-EA1C-B04A-1951-3C611AB28978}"/>
              </a:ext>
            </a:extLst>
          </p:cNvPr>
          <p:cNvSpPr txBox="1"/>
          <p:nvPr/>
        </p:nvSpPr>
        <p:spPr>
          <a:xfrm>
            <a:off x="823207" y="1856116"/>
            <a:ext cx="2754306" cy="1708160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:Trap  </a:t>
            </a:r>
            <a:r>
              <a:rPr lang="en-GB" sz="2100" dirty="0" err="1">
                <a:solidFill>
                  <a:schemeClr val="tx1">
                    <a:lumMod val="95000"/>
                    <a:lumOff val="5000"/>
                  </a:schemeClr>
                </a:solidFill>
                <a:latin typeface="APL385 Unicode" panose="020B0709000202000203" pitchFamily="49" charset="0"/>
              </a:rPr>
              <a:t>errorCode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this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:Case  </a:t>
            </a:r>
            <a:r>
              <a:rPr lang="en-GB" sz="2100" dirty="0" err="1">
                <a:latin typeface="APL385 Unicode" panose="020B0709000202000203" pitchFamily="49" charset="0"/>
              </a:rPr>
              <a:t>errorX</a:t>
            </a:r>
            <a:endParaRPr lang="en-GB" sz="2100" dirty="0">
              <a:latin typeface="APL385 Unicode" panose="020B0709000202000203" pitchFamily="49" charset="0"/>
            </a:endParaRPr>
          </a:p>
          <a:p>
            <a:r>
              <a:rPr lang="en-GB" sz="2100" dirty="0">
                <a:latin typeface="APL385 Unicode" panose="020B0709000202000203" pitchFamily="49" charset="0"/>
              </a:rPr>
              <a:t>     do that</a:t>
            </a:r>
          </a:p>
          <a:p>
            <a:r>
              <a:rPr lang="en-GB" sz="2100" dirty="0">
                <a:solidFill>
                  <a:srgbClr val="FF6600"/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rgbClr val="FF6600"/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rgbClr val="FF6600"/>
              </a:solidFill>
              <a:latin typeface="APL385 Unicode" panose="020B0709000202000203" pitchFamily="49" charset="0"/>
            </a:endParaRP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DFB4569C-6F9F-1787-49AB-11A8CDA0324B}"/>
              </a:ext>
            </a:extLst>
          </p:cNvPr>
          <p:cNvSpPr txBox="1"/>
          <p:nvPr/>
        </p:nvSpPr>
        <p:spPr>
          <a:xfrm>
            <a:off x="4323736" y="1856116"/>
            <a:ext cx="4131078" cy="2354491"/>
          </a:xfrm>
          <a:prstGeom prst="rect">
            <a:avLst/>
          </a:prstGeom>
          <a:noFill/>
        </p:spPr>
        <p:txBody>
          <a:bodyPr wrap="square" numCol="1" rtlCol="0">
            <a:spAutoFit/>
          </a:bodyPr>
          <a:lstStyle/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:Trap 0 ⍝ all errors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a←b÷c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:Case 11 ⍝ DOMAIN ERROR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⎕←'divide by zero?'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:Else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⎕←'oops!'</a:t>
            </a:r>
          </a:p>
          <a:p>
            <a:r>
              <a:rPr lang="en-GB" sz="2100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:</a:t>
            </a:r>
            <a:r>
              <a:rPr lang="en-GB" sz="2100" dirty="0" err="1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EndTrap</a:t>
            </a:r>
            <a:endParaRPr lang="en-GB" sz="2100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</p:txBody>
      </p:sp>
      <p:sp>
        <p:nvSpPr>
          <p:cNvPr id="7" name="Rectangle: Rounded Corners 6">
            <a:extLst>
              <a:ext uri="{FF2B5EF4-FFF2-40B4-BE49-F238E27FC236}">
                <a16:creationId xmlns:a16="http://schemas.microsoft.com/office/drawing/2014/main" id="{A43A016B-FDDD-B034-6838-819DC20B2645}"/>
              </a:ext>
            </a:extLst>
          </p:cNvPr>
          <p:cNvSpPr/>
          <p:nvPr/>
        </p:nvSpPr>
        <p:spPr>
          <a:xfrm>
            <a:off x="2230811" y="1810787"/>
            <a:ext cx="3604260" cy="1661160"/>
          </a:xfrm>
          <a:prstGeom prst="round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See our Error Handling webinar series on Dyalog.TV!</a:t>
            </a:r>
          </a:p>
        </p:txBody>
      </p:sp>
    </p:spTree>
    <p:extLst>
      <p:ext uri="{BB962C8B-B14F-4D97-AF65-F5344CB8AC3E}">
        <p14:creationId xmlns:p14="http://schemas.microsoft.com/office/powerpoint/2010/main" val="118961694"/>
      </p:ext>
    </p:extLst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CCAA18E-E850-AD1D-74AC-DB958B06491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/>
          </a:bodyPr>
          <a:lstStyle/>
          <a:p>
            <a:pPr marL="0" indent="0">
              <a:buNone/>
            </a:pPr>
            <a:r>
              <a:rPr lang="da-DK" dirty="0"/>
              <a:t>dfns intend to support declarative programming, without loops.</a:t>
            </a:r>
            <a:endParaRPr lang="en-GB" dirty="0"/>
          </a:p>
          <a:p>
            <a:pPr marL="0" indent="0">
              <a:buNone/>
            </a:pPr>
            <a:r>
              <a:rPr lang="da-DK" dirty="0"/>
              <a:t>A dfn terminates when a condition is met.</a:t>
            </a:r>
          </a:p>
          <a:p>
            <a:pPr marL="0" indent="0">
              <a:buNone/>
            </a:pPr>
            <a:r>
              <a:rPr lang="da-DK" dirty="0"/>
              <a:t>The only loop construct allowed is recursion.</a:t>
            </a:r>
          </a:p>
          <a:p>
            <a:pPr marL="0" indent="0">
              <a:buNone/>
            </a:pPr>
            <a:endParaRPr lang="en-GB" dirty="0"/>
          </a:p>
          <a:p>
            <a:pPr marL="0" indent="0">
              <a:buNone/>
            </a:pPr>
            <a:r>
              <a:rPr lang="da-DK" dirty="0"/>
              <a:t>F</a:t>
            </a:r>
            <a:r>
              <a:rPr lang="en-GB" dirty="0"/>
              <a:t>or geeks in the room: </a:t>
            </a:r>
          </a:p>
          <a:p>
            <a:pPr marL="0" indent="0">
              <a:buNone/>
            </a:pPr>
            <a:r>
              <a:rPr lang="en-GB" dirty="0"/>
              <a:t>	Tail recursion *is* optimised.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3B5E1F0-27B3-3A6A-4434-96A8DA7EC8E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Flow in </a:t>
            </a:r>
            <a:r>
              <a:rPr lang="en-GB" dirty="0" err="1"/>
              <a:t>dfns</a:t>
            </a:r>
            <a:endParaRPr lang="en-GB" dirty="0"/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2FEF5900-B894-6F00-7159-650F4AE8425F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24822881"/>
      </p:ext>
    </p:extLst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4E0A04A4-3166-D692-3626-13B7D4BC1D3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 </a:t>
            </a:r>
            <a:r>
              <a:rPr lang="en-GB" dirty="0" err="1"/>
              <a:t>dfn</a:t>
            </a:r>
            <a:r>
              <a:rPr lang="en-GB" dirty="0"/>
              <a:t> line containing a colon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  <a:sym typeface="Wingdings" panose="05000000000000000000" pitchFamily="2" charset="2"/>
              </a:rPr>
              <a:t>:</a:t>
            </a:r>
            <a:r>
              <a:rPr lang="en-GB" dirty="0">
                <a:sym typeface="Wingdings" panose="05000000000000000000" pitchFamily="2" charset="2"/>
              </a:rPr>
              <a:t>)</a:t>
            </a:r>
            <a:r>
              <a:rPr lang="en-GB" dirty="0"/>
              <a:t> is a </a:t>
            </a:r>
            <a:r>
              <a:rPr lang="en-GB" b="1" i="1" dirty="0"/>
              <a:t>guard</a:t>
            </a:r>
            <a:r>
              <a:rPr lang="en-GB" dirty="0"/>
              <a:t>.</a:t>
            </a:r>
          </a:p>
          <a:p>
            <a:pPr marL="0" indent="0">
              <a:buNone/>
            </a:pPr>
            <a:r>
              <a:rPr lang="en-GB" dirty="0"/>
              <a:t>On the left is a condition, like </a:t>
            </a: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⍵&gt;0</a:t>
            </a:r>
          </a:p>
          <a:p>
            <a:pPr marL="0" indent="0">
              <a:buNone/>
            </a:pPr>
            <a:r>
              <a:rPr lang="da-DK" dirty="0"/>
              <a:t>If satisfied, the result of the function is computed using the expression on the right.</a:t>
            </a:r>
          </a:p>
          <a:p>
            <a:pPr marL="0" indent="0">
              <a:buNone/>
            </a:pPr>
            <a:endParaRPr lang="da-DK" dirty="0"/>
          </a:p>
          <a:p>
            <a:pPr marL="0" indent="0">
              <a:buNone/>
            </a:pPr>
            <a:r>
              <a:rPr lang="da-DK" dirty="0"/>
              <a:t>Otherwise, the first line</a:t>
            </a:r>
            <a:br>
              <a:rPr lang="da-DK" dirty="0"/>
            </a:br>
            <a:r>
              <a:rPr lang="da-DK" dirty="0"/>
              <a:t>which does not do an </a:t>
            </a:r>
            <a:br>
              <a:rPr lang="da-DK" dirty="0"/>
            </a:br>
            <a:r>
              <a:rPr lang="da-DK" dirty="0"/>
              <a:t>assignment provides </a:t>
            </a:r>
            <a:br>
              <a:rPr lang="da-DK" dirty="0"/>
            </a:br>
            <a:r>
              <a:rPr lang="da-DK" dirty="0"/>
              <a:t>the result.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673FB924-52A3-0468-25B5-A55063EA5D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guards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51EDD8FC-EF59-7208-434E-D9F2E5837B6C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F8092963-59EE-0F97-87C0-CEF570ADB115}"/>
              </a:ext>
            </a:extLst>
          </p:cNvPr>
          <p:cNvSpPr txBox="1"/>
          <p:nvPr/>
        </p:nvSpPr>
        <p:spPr>
          <a:xfrm>
            <a:off x="4547005" y="2625757"/>
            <a:ext cx="3265356" cy="1938992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{ </a:t>
            </a:r>
            <a:b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⍵&gt;0:'positive'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⍵&lt;0:'negative'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'Zero'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420728603"/>
      </p:ext>
    </p:extLst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F4C9FABD-80DD-3A50-088F-2A10DDD381D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The only possible loop is recursion. The </a:t>
            </a:r>
            <a:r>
              <a:rPr lang="en-GB" dirty="0">
                <a:latin typeface="APL385 Unicode" panose="020B0709000202000203" pitchFamily="49" charset="0"/>
              </a:rPr>
              <a:t>∇</a:t>
            </a:r>
            <a:r>
              <a:rPr lang="en-GB" dirty="0"/>
              <a:t> symbol is a self-reference. </a:t>
            </a:r>
          </a:p>
          <a:p>
            <a:pPr marL="0" indent="0">
              <a:buNone/>
            </a:pPr>
            <a:r>
              <a:rPr lang="en-GB" sz="1500" dirty="0"/>
              <a:t>(Thus, a </a:t>
            </a:r>
            <a:r>
              <a:rPr lang="en-GB" sz="1500" dirty="0" err="1"/>
              <a:t>dfn</a:t>
            </a:r>
            <a:r>
              <a:rPr lang="en-GB" sz="1500" dirty="0"/>
              <a:t> never needs to </a:t>
            </a:r>
            <a:r>
              <a:rPr lang="en-GB" sz="1500"/>
              <a:t>know its </a:t>
            </a:r>
            <a:r>
              <a:rPr lang="en-GB" sz="1500" dirty="0"/>
              <a:t>own name – or even have a name)</a:t>
            </a:r>
          </a:p>
          <a:p>
            <a:pPr marL="0" indent="0">
              <a:buNone/>
            </a:pPr>
            <a:endParaRPr lang="en-GB" dirty="0"/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734B68D-0F44-797E-A37E-66BFE4EEAE3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recursion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8F67E54-9723-DD60-42F3-718AB505C2D6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5B0A0CCD-2124-871E-DC4D-A54E8234E5EB}"/>
              </a:ext>
            </a:extLst>
          </p:cNvPr>
          <p:cNvSpPr txBox="1"/>
          <p:nvPr/>
        </p:nvSpPr>
        <p:spPr>
          <a:xfrm>
            <a:off x="1709682" y="2733768"/>
            <a:ext cx="5849358" cy="1569660"/>
          </a:xfrm>
          <a:prstGeom prst="rect">
            <a:avLst/>
          </a:prstGeom>
          <a:solidFill>
            <a:schemeClr val="tx1"/>
          </a:solidFill>
          <a:ln w="38100">
            <a:solidFill>
              <a:srgbClr val="FF6600"/>
            </a:solidFill>
          </a:ln>
        </p:spPr>
        <p:txBody>
          <a:bodyPr wrap="square" numCol="1" rtlCol="0">
            <a:spAutoFit/>
          </a:bodyPr>
          <a:lstStyle/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factorial←{</a:t>
            </a:r>
            <a:b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</a:br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 ⍵=0: 1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  ⍵ × ∇ ⍵-1   ⍝ call self(⍵-1)</a:t>
            </a:r>
          </a:p>
          <a:p>
            <a:r>
              <a:rPr lang="en-GB" sz="2400" dirty="0">
                <a:solidFill>
                  <a:schemeClr val="bg1"/>
                </a:solidFill>
                <a:latin typeface="APL385 Unicode" panose="020B0709000202000203" pitchFamily="49" charset="0"/>
              </a:rPr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237066938"/>
      </p:ext>
    </p:extLst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15A8F58E-0B00-45AA-8356-66D63077C1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85000" lnSpcReduction="20000"/>
          </a:bodyPr>
          <a:lstStyle/>
          <a:p>
            <a:pPr marL="0" indent="0">
              <a:buNone/>
            </a:pPr>
            <a:r>
              <a:rPr lang="en-GB" dirty="0"/>
              <a:t>An error guard is an error number followed by </a:t>
            </a:r>
            <a:r>
              <a:rPr lang="en-GB" b="1" dirty="0">
                <a:solidFill>
                  <a:srgbClr val="FF0000"/>
                </a:solidFill>
                <a:latin typeface="APL385 Unicode" panose="020B0709000202000203" pitchFamily="49" charset="0"/>
              </a:rPr>
              <a:t>::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Div←{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11</a:t>
            </a:r>
            <a:r>
              <a:rPr lang="en-GB" b="1" dirty="0">
                <a:solidFill>
                  <a:srgbClr val="FF6600"/>
                </a:solidFill>
                <a:latin typeface="APL385 Unicode" panose="020B0709000202000203" pitchFamily="49" charset="0"/>
              </a:rPr>
              <a:t>::</a:t>
            </a:r>
            <a:r>
              <a:rPr lang="en-GB" b="1" dirty="0">
                <a:solidFill>
                  <a:srgbClr val="00B050"/>
                </a:solidFill>
                <a:latin typeface="APL385 Unicode" panose="020B0709000202000203" pitchFamily="49" charset="0"/>
              </a:rPr>
              <a:t>'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Division by zero'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    ⍺÷⍵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    }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Div 2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2</a:t>
            </a:r>
          </a:p>
          <a:p>
            <a:pPr marL="0" indent="0">
              <a:spcAft>
                <a:spcPts val="0"/>
              </a:spcAft>
              <a:buNone/>
            </a:pPr>
            <a:endParaRPr lang="en-GB" dirty="0">
              <a:solidFill>
                <a:schemeClr val="accent3">
                  <a:lumMod val="50000"/>
                </a:schemeClr>
              </a:solidFill>
              <a:latin typeface="APL385 Unicode" panose="020B0709000202000203" pitchFamily="49" charset="0"/>
            </a:endParaRP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    </a:t>
            </a:r>
            <a:r>
              <a:rPr lang="en-GB" dirty="0">
                <a:solidFill>
                  <a:srgbClr val="00B050"/>
                </a:solidFill>
                <a:latin typeface="APL385 Unicode" panose="020B0709000202000203" pitchFamily="49" charset="0"/>
              </a:rPr>
              <a:t>4 Div 0</a:t>
            </a:r>
          </a:p>
          <a:p>
            <a:pPr marL="0" indent="0">
              <a:spcAft>
                <a:spcPts val="0"/>
              </a:spcAft>
              <a:buNone/>
            </a:pPr>
            <a:r>
              <a:rPr lang="en-GB" dirty="0">
                <a:solidFill>
                  <a:schemeClr val="accent3">
                    <a:lumMod val="50000"/>
                  </a:schemeClr>
                </a:solidFill>
                <a:latin typeface="APL385 Unicode" panose="020B0709000202000203" pitchFamily="49" charset="0"/>
              </a:rPr>
              <a:t>Division by zero</a:t>
            </a:r>
            <a:endParaRPr lang="en-GB" b="1" dirty="0">
              <a:solidFill>
                <a:srgbClr val="FF0000"/>
              </a:solidFill>
              <a:latin typeface="APL385 Unicode" panose="020B0709000202000203" pitchFamily="49" charset="0"/>
            </a:endParaRP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927CCA16-3B19-C8C3-F400-CA50168E61D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 err="1"/>
              <a:t>dfn</a:t>
            </a:r>
            <a:r>
              <a:rPr lang="en-GB" dirty="0"/>
              <a:t> </a:t>
            </a:r>
            <a:r>
              <a:rPr lang="en-GB" b="1" i="1" dirty="0">
                <a:solidFill>
                  <a:srgbClr val="FF6600"/>
                </a:solidFill>
              </a:rPr>
              <a:t>error guards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A0579A24-A886-E343-AFA2-05196C81FF8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51763254"/>
      </p:ext>
    </p:extLst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F7E1C02-FA42-4686-064B-7B86FD1825C3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marL="0" indent="0">
              <a:buNone/>
            </a:pPr>
            <a:r>
              <a:rPr lang="en-GB" dirty="0"/>
              <a:t>If you want to clear the last call from the stack you can use "naked" branch (no line number) as in</a:t>
            </a:r>
          </a:p>
          <a:p>
            <a:pPr marL="0" indent="0">
              <a:buNone/>
            </a:pPr>
            <a:r>
              <a:rPr lang="en-GB" dirty="0"/>
              <a:t>You can use the system </a:t>
            </a:r>
            <a:br>
              <a:rPr lang="en-GB" dirty="0"/>
            </a:br>
            <a:r>
              <a:rPr lang="en-GB" dirty="0"/>
              <a:t>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)SI</a:t>
            </a:r>
          </a:p>
          <a:p>
            <a:pPr marL="0" indent="0">
              <a:buNone/>
            </a:pPr>
            <a:r>
              <a:rPr lang="en-GB" dirty="0"/>
              <a:t>to view the stack: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99F1493-2CBB-0083-0B18-CAE658B681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Naked Branch (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→</a:t>
            </a:r>
            <a:r>
              <a:rPr lang="en-GB" dirty="0"/>
              <a:t>)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7615996E-CFA3-FBCC-1D78-7B5A9DBB7348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65630061"/>
      </p:ext>
    </p:extLst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57102688-5B94-289C-F615-1A19C194E3C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en-GB" dirty="0"/>
              <a:t>If you need to clear the stack completely you can use the system command </a:t>
            </a:r>
            <a:r>
              <a:rPr lang="en-GB" dirty="0">
                <a:solidFill>
                  <a:srgbClr val="FF6600"/>
                </a:solidFill>
                <a:latin typeface="APL385 Unicode" panose="020B0709000202000203" pitchFamily="49" charset="0"/>
              </a:rPr>
              <a:t>)RESET</a:t>
            </a:r>
            <a:r>
              <a:rPr lang="en-GB" dirty="0"/>
              <a:t>:</a:t>
            </a:r>
            <a:br>
              <a:rPr lang="en-GB" dirty="0"/>
            </a:br>
            <a:br>
              <a:rPr lang="en-GB" dirty="0"/>
            </a:br>
            <a:br>
              <a:rPr lang="en-GB" dirty="0"/>
            </a:br>
            <a:r>
              <a:rPr lang="en-GB" dirty="0">
                <a:latin typeface="APL385 Unicode" panose="020B0709000202000203" pitchFamily="49" charset="0"/>
              </a:rPr>
              <a:t>)RESET</a:t>
            </a:r>
            <a:r>
              <a:rPr lang="en-GB" dirty="0"/>
              <a:t> takes an argument of how many lines to remove (+</a:t>
            </a:r>
            <a:r>
              <a:rPr lang="en-GB" dirty="0" err="1"/>
              <a:t>ve</a:t>
            </a:r>
            <a:r>
              <a:rPr lang="en-GB" dirty="0"/>
              <a:t>) or keep (-</a:t>
            </a:r>
            <a:r>
              <a:rPr lang="en-GB" dirty="0" err="1"/>
              <a:t>ve</a:t>
            </a:r>
            <a:r>
              <a:rPr lang="en-GB" dirty="0"/>
              <a:t>)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8EEFA175-4B7F-444B-B473-586D3C0F0F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)RESET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0D4F55AC-BE7F-BB75-D827-81D16D3794DB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2044949"/>
      </p:ext>
    </p:extLst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FB41419-38C4-39DC-953E-2693F8CF368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Control structures are :Keywords that alter the flow of execution</a:t>
            </a:r>
          </a:p>
          <a:p>
            <a:r>
              <a:rPr lang="en-GB" dirty="0" err="1"/>
              <a:t>Dfns</a:t>
            </a:r>
            <a:r>
              <a:rPr lang="en-GB" dirty="0"/>
              <a:t> use guards to control flow and trap errors</a:t>
            </a:r>
          </a:p>
          <a:p>
            <a:r>
              <a:rPr lang="en-GB" dirty="0"/>
              <a:t>To early exit a </a:t>
            </a:r>
            <a:r>
              <a:rPr lang="en-GB" dirty="0" err="1"/>
              <a:t>tradfn</a:t>
            </a:r>
            <a:r>
              <a:rPr lang="en-GB" dirty="0"/>
              <a:t> use →0 or :Return</a:t>
            </a:r>
          </a:p>
          <a:p>
            <a:r>
              <a:rPr lang="en-GB" dirty="0"/>
              <a:t>Prefer control structures over branching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3EC5CCBD-C69E-4270-7C0C-AC57FF84C94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E0940E5C-CD41-35F5-F30F-43F6EE872819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698491217"/>
      </p:ext>
    </p:extLst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5F60999-918D-D50D-F900-5BED0C2701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6EF868D3-C099-B4D3-1F06-B0FAD749F9A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/>
            </a:pPr>
            <a:r>
              <a:rPr lang="en-GB" dirty="0"/>
              <a:t>The system command </a:t>
            </a:r>
            <a:r>
              <a:rPr lang="en-GB" dirty="0">
                <a:latin typeface="APL385 Unicode" panose="020B0709000202000203" pitchFamily="49" charset="0"/>
              </a:rPr>
              <a:t>)SI</a:t>
            </a:r>
            <a:r>
              <a:rPr lang="en-GB" dirty="0"/>
              <a:t> shows the call stack</a:t>
            </a:r>
          </a:p>
          <a:p>
            <a:pPr>
              <a:defRPr/>
            </a:pPr>
            <a:r>
              <a:rPr lang="en-GB" dirty="0"/>
              <a:t>A naked branch (</a:t>
            </a:r>
            <a:r>
              <a:rPr lang="en-GB" dirty="0">
                <a:latin typeface="APL385 Unicode" panose="020B0709000202000203" pitchFamily="49" charset="0"/>
              </a:rPr>
              <a:t>→</a:t>
            </a:r>
            <a:r>
              <a:rPr lang="en-GB" dirty="0"/>
              <a:t> no line number) clears the last pending call</a:t>
            </a:r>
          </a:p>
          <a:p>
            <a:pPr>
              <a:defRPr/>
            </a:pPr>
            <a:r>
              <a:rPr lang="en-GB" dirty="0"/>
              <a:t>The system command </a:t>
            </a:r>
            <a:r>
              <a:rPr lang="en-GB" dirty="0">
                <a:latin typeface="APL385 Unicode" panose="020B0709000202000203" pitchFamily="49" charset="0"/>
              </a:rPr>
              <a:t>)RESET</a:t>
            </a:r>
            <a:r>
              <a:rPr lang="en-GB" dirty="0"/>
              <a:t> clears the stack completely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D01A3627-8C3C-6B51-C5FD-28365CA76D8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Review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CA596F7C-002D-E7CA-D79D-CF70A63616F3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23012865"/>
      </p:ext>
    </p:extLst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itle 2">
            <a:extLst>
              <a:ext uri="{FF2B5EF4-FFF2-40B4-BE49-F238E27FC236}">
                <a16:creationId xmlns:a16="http://schemas.microsoft.com/office/drawing/2014/main" id="{835F18F5-9CE5-66F0-2BF8-8845E51878F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Questions?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DF9C59B-E59D-CF5A-DF21-32A1656692A0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Content Placeholder 1">
            <a:extLst>
              <a:ext uri="{FF2B5EF4-FFF2-40B4-BE49-F238E27FC236}">
                <a16:creationId xmlns:a16="http://schemas.microsoft.com/office/drawing/2014/main" id="{07C43096-6B63-E463-5F57-662CECD5598E}"/>
              </a:ext>
            </a:extLst>
          </p:cNvPr>
          <p:cNvSpPr>
            <a:spLocks noGrp="1"/>
          </p:cNvSpPr>
          <p:nvPr>
            <p:ph idx="1"/>
          </p:nvPr>
        </p:nvSpPr>
        <p:spPr>
          <a:xfrm rot="3695416">
            <a:off x="323527" y="1365421"/>
            <a:ext cx="8443592" cy="3141543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en-GB" sz="15000" dirty="0"/>
              <a:t>🤔</a:t>
            </a:r>
          </a:p>
        </p:txBody>
      </p:sp>
    </p:spTree>
    <p:extLst>
      <p:ext uri="{BB962C8B-B14F-4D97-AF65-F5344CB8AC3E}">
        <p14:creationId xmlns:p14="http://schemas.microsoft.com/office/powerpoint/2010/main" val="1657149518"/>
      </p:ext>
    </p:extLst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Content Placeholder 1">
            <a:extLst>
              <a:ext uri="{FF2B5EF4-FFF2-40B4-BE49-F238E27FC236}">
                <a16:creationId xmlns:a16="http://schemas.microsoft.com/office/drawing/2014/main" id="{BDE7831C-47CC-EF78-5E9A-63487CAFE61F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that prints the integers ascending from the left argument to the right argument, one at a time</a:t>
            </a:r>
          </a:p>
          <a:p>
            <a:r>
              <a:rPr lang="en-GB" dirty="0"/>
              <a:t>Write a </a:t>
            </a:r>
            <a:r>
              <a:rPr lang="en-GB" dirty="0" err="1"/>
              <a:t>Tradfn</a:t>
            </a:r>
            <a:r>
              <a:rPr lang="en-GB" dirty="0"/>
              <a:t> to compute the factorial (</a:t>
            </a:r>
            <a:r>
              <a:rPr lang="en-GB" dirty="0">
                <a:latin typeface="APL385 Unicode" panose="020B0709000202000203" pitchFamily="49" charset="0"/>
              </a:rPr>
              <a:t>!⍵</a:t>
            </a:r>
            <a:r>
              <a:rPr lang="en-GB" dirty="0"/>
              <a:t>) of the right argument, using recursion</a:t>
            </a:r>
          </a:p>
          <a:p>
            <a:r>
              <a:rPr lang="en-GB" dirty="0"/>
              <a:t>Write a </a:t>
            </a:r>
            <a:r>
              <a:rPr lang="en-GB" dirty="0" err="1"/>
              <a:t>dfn</a:t>
            </a:r>
            <a:r>
              <a:rPr lang="en-GB" dirty="0"/>
              <a:t> to display the numbers from </a:t>
            </a:r>
            <a:r>
              <a:rPr lang="en-GB" dirty="0">
                <a:latin typeface="APL385 Unicode" panose="020B0709000202000203" pitchFamily="49" charset="0"/>
              </a:rPr>
              <a:t>⍺</a:t>
            </a:r>
            <a:r>
              <a:rPr lang="en-GB" dirty="0"/>
              <a:t> to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, one by one</a:t>
            </a:r>
          </a:p>
          <a:p>
            <a:r>
              <a:rPr lang="en-GB" dirty="0"/>
              <a:t>Write a </a:t>
            </a:r>
            <a:r>
              <a:rPr lang="en-GB" dirty="0" err="1"/>
              <a:t>dfn</a:t>
            </a:r>
            <a:r>
              <a:rPr lang="en-GB" dirty="0"/>
              <a:t> to compute the factorial of </a:t>
            </a:r>
            <a:r>
              <a:rPr lang="en-GB" dirty="0">
                <a:latin typeface="APL385 Unicode" panose="020B0709000202000203" pitchFamily="49" charset="0"/>
              </a:rPr>
              <a:t>⍵</a:t>
            </a:r>
            <a:r>
              <a:rPr lang="en-GB" dirty="0"/>
              <a:t> using recursion</a:t>
            </a:r>
          </a:p>
        </p:txBody>
      </p:sp>
      <p:sp>
        <p:nvSpPr>
          <p:cNvPr id="3" name="Title 2">
            <a:extLst>
              <a:ext uri="{FF2B5EF4-FFF2-40B4-BE49-F238E27FC236}">
                <a16:creationId xmlns:a16="http://schemas.microsoft.com/office/drawing/2014/main" id="{CC0A40B2-DA7D-B788-1157-43A83F27382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Exercises</a:t>
            </a:r>
          </a:p>
        </p:txBody>
      </p:sp>
      <p:sp>
        <p:nvSpPr>
          <p:cNvPr id="4" name="Media Placeholder 3">
            <a:extLst>
              <a:ext uri="{FF2B5EF4-FFF2-40B4-BE49-F238E27FC236}">
                <a16:creationId xmlns:a16="http://schemas.microsoft.com/office/drawing/2014/main" id="{40337087-6E24-FF3F-DB4B-91FB838783EE}"/>
              </a:ext>
            </a:extLst>
          </p:cNvPr>
          <p:cNvSpPr>
            <a:spLocks noGrp="1"/>
          </p:cNvSpPr>
          <p:nvPr>
            <p:ph type="media" sz="quarter" idx="11"/>
          </p:nvPr>
        </p:nvSpPr>
        <p:spPr/>
        <p:txBody>
          <a:bodyPr/>
          <a:lstStyle/>
          <a:p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747995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Dyalog">
      <a:dk1>
        <a:srgbClr val="3B475E"/>
      </a:dk1>
      <a:lt1>
        <a:sysClr val="window" lastClr="FFFFFF"/>
      </a:lt1>
      <a:dk2>
        <a:srgbClr val="5A6D8F"/>
      </a:dk2>
      <a:lt2>
        <a:srgbClr val="F6F6D9"/>
      </a:lt2>
      <a:accent1>
        <a:srgbClr val="ED7F00"/>
      </a:accent1>
      <a:accent2>
        <a:srgbClr val="928ABD"/>
      </a:accent2>
      <a:accent3>
        <a:srgbClr val="2C5656"/>
      </a:accent3>
      <a:accent4>
        <a:srgbClr val="FFA336"/>
      </a:accent4>
      <a:accent5>
        <a:srgbClr val="BBB5D6"/>
      </a:accent5>
      <a:accent6>
        <a:srgbClr val="231F20"/>
      </a:accent6>
      <a:hlink>
        <a:srgbClr val="5A6D8F"/>
      </a:hlink>
      <a:folHlink>
        <a:srgbClr val="928ABD"/>
      </a:folHlink>
    </a:clrScheme>
    <a:fontScheme name="Sarabun">
      <a:majorFont>
        <a:latin typeface="Sarabun"/>
        <a:ea typeface=""/>
        <a:cs typeface=""/>
      </a:majorFont>
      <a:minorFont>
        <a:latin typeface="Sarabun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yalog19_template_bold_calibri.potx" id="{F0C38D23-3AC9-47E9-8D0D-BEDB5EAFCAD2}" vid="{35320D08-F00A-4224-9D94-CDC48BBB4D0D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3147</TotalTime>
  <Words>2408</Words>
  <Application>Microsoft Office PowerPoint</Application>
  <PresentationFormat>On-screen Show (16:9)</PresentationFormat>
  <Paragraphs>376</Paragraphs>
  <Slides>55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55</vt:i4>
      </vt:variant>
    </vt:vector>
  </HeadingPairs>
  <TitlesOfParts>
    <vt:vector size="63" baseType="lpstr">
      <vt:lpstr>Times</vt:lpstr>
      <vt:lpstr>Wingdings 2</vt:lpstr>
      <vt:lpstr>Arial</vt:lpstr>
      <vt:lpstr>APL385 Unicode</vt:lpstr>
      <vt:lpstr>Wingdings</vt:lpstr>
      <vt:lpstr>Sarabun</vt:lpstr>
      <vt:lpstr>Calibri</vt:lpstr>
      <vt:lpstr>Office Theme</vt:lpstr>
      <vt:lpstr>APL Bootcamp – Part 6</vt:lpstr>
      <vt:lpstr>The Stack</vt:lpstr>
      <vt:lpstr>The Stack</vt:lpstr>
      <vt:lpstr>Local Names</vt:lpstr>
      <vt:lpstr>Local Names</vt:lpstr>
      <vt:lpstr>Local Names</vt:lpstr>
      <vt:lpstr>Local Names</vt:lpstr>
      <vt:lpstr>Name Scope</vt:lpstr>
      <vt:lpstr>Name Scope</vt:lpstr>
      <vt:lpstr>Avoid Globals</vt:lpstr>
      <vt:lpstr>Meaningful Globals</vt:lpstr>
      <vt:lpstr>Avoiding Globals</vt:lpstr>
      <vt:lpstr>Name Scope</vt:lpstr>
      <vt:lpstr>Tracer Demo</vt:lpstr>
      <vt:lpstr>Keyboard Shortcuts</vt:lpstr>
      <vt:lpstr>Control Flow</vt:lpstr>
      <vt:lpstr>Control Flow</vt:lpstr>
      <vt:lpstr>Control Flow</vt:lpstr>
      <vt:lpstr>Interrupt</vt:lpstr>
      <vt:lpstr>:If … :EndIf</vt:lpstr>
      <vt:lpstr>:If … :Else … :EndIf</vt:lpstr>
      <vt:lpstr>:If … :ElseIf … :Else … :EndIf</vt:lpstr>
      <vt:lpstr>:Select … :Case … :CaseList … :EndSelect</vt:lpstr>
      <vt:lpstr>:While … :EndWhile</vt:lpstr>
      <vt:lpstr>:While … :OrIf … :EndWhile</vt:lpstr>
      <vt:lpstr>:While … :OrIf … :EndWhile</vt:lpstr>
      <vt:lpstr>:While … :OrIf … :EndWhile</vt:lpstr>
      <vt:lpstr>:While … :OrIf … :EndWhile</vt:lpstr>
      <vt:lpstr>Optimisation :While</vt:lpstr>
      <vt:lpstr>Optimisation :While</vt:lpstr>
      <vt:lpstr>:Repeat … :Until</vt:lpstr>
      <vt:lpstr>:Leave (any control structure)</vt:lpstr>
      <vt:lpstr>:For … :EndFor</vt:lpstr>
      <vt:lpstr>:For … :InEach … :EndFor</vt:lpstr>
      <vt:lpstr>:Continue (within a loop)</vt:lpstr>
      <vt:lpstr>:Leave</vt:lpstr>
      <vt:lpstr>Branching</vt:lpstr>
      <vt:lpstr>Sequence-based Enumeration</vt:lpstr>
      <vt:lpstr>Branching</vt:lpstr>
      <vt:lpstr>Branching</vt:lpstr>
      <vt:lpstr>Branching</vt:lpstr>
      <vt:lpstr>Branching</vt:lpstr>
      <vt:lpstr>Interrupt</vt:lpstr>
      <vt:lpstr>:Trap … :Case … :Else … :EndTrap</vt:lpstr>
      <vt:lpstr>:Trap … :Case … :Else … :EndTrap</vt:lpstr>
      <vt:lpstr>Flow in dfns</vt:lpstr>
      <vt:lpstr>dfn guards</vt:lpstr>
      <vt:lpstr>dfn recursion</vt:lpstr>
      <vt:lpstr>dfn error guards</vt:lpstr>
      <vt:lpstr>Naked Branch (→)</vt:lpstr>
      <vt:lpstr>)RESET</vt:lpstr>
      <vt:lpstr>Review</vt:lpstr>
      <vt:lpstr>Review</vt:lpstr>
      <vt:lpstr>Questions?</vt:lpstr>
      <vt:lpstr>Exercises</vt:lpstr>
    </vt:vector>
  </TitlesOfParts>
  <Company>Microsoft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Fiona Smith</dc:creator>
  <cp:lastModifiedBy>Rich Park</cp:lastModifiedBy>
  <cp:revision>289</cp:revision>
  <dcterms:created xsi:type="dcterms:W3CDTF">2019-07-25T11:46:05Z</dcterms:created>
  <dcterms:modified xsi:type="dcterms:W3CDTF">2025-09-04T13:30:22Z</dcterms:modified>
</cp:coreProperties>
</file>