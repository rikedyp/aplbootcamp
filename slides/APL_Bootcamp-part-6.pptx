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7" r:id="rId2"/>
    <p:sldId id="259" r:id="rId3"/>
    <p:sldId id="260" r:id="rId4"/>
    <p:sldId id="261" r:id="rId5"/>
    <p:sldId id="263" r:id="rId6"/>
    <p:sldId id="264" r:id="rId7"/>
    <p:sldId id="265" r:id="rId8"/>
    <p:sldId id="262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1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78" r:id="rId25"/>
    <p:sldId id="282" r:id="rId26"/>
    <p:sldId id="283" r:id="rId27"/>
    <p:sldId id="284" r:id="rId28"/>
    <p:sldId id="312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304" r:id="rId37"/>
    <p:sldId id="292" r:id="rId38"/>
    <p:sldId id="293" r:id="rId39"/>
    <p:sldId id="294" r:id="rId40"/>
    <p:sldId id="297" r:id="rId41"/>
    <p:sldId id="296" r:id="rId42"/>
    <p:sldId id="298" r:id="rId43"/>
    <p:sldId id="299" r:id="rId44"/>
    <p:sldId id="311" r:id="rId45"/>
    <p:sldId id="300" r:id="rId46"/>
    <p:sldId id="301" r:id="rId47"/>
    <p:sldId id="302" r:id="rId48"/>
    <p:sldId id="303" r:id="rId49"/>
    <p:sldId id="305" r:id="rId50"/>
    <p:sldId id="306" r:id="rId51"/>
    <p:sldId id="307" r:id="rId52"/>
    <p:sldId id="308" r:id="rId53"/>
    <p:sldId id="309" r:id="rId54"/>
    <p:sldId id="310" r:id="rId55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58"/>
    </p:embeddedFont>
    <p:embeddedFont>
      <p:font typeface="Sarabun" panose="00000500000000000000" pitchFamily="2" charset="-34"/>
      <p:regular r:id="rId59"/>
      <p:bold r:id="rId60"/>
      <p:italic r:id="rId61"/>
      <p:boldItalic r:id="rId62"/>
    </p:embeddedFont>
    <p:embeddedFont>
      <p:font typeface="Times" panose="02020603050405020304" pitchFamily="18" charset="0"/>
      <p:regular r:id="rId63"/>
      <p:bold r:id="rId64"/>
      <p:italic r:id="rId65"/>
      <p:boldItalic r:id="rId66"/>
    </p:embeddedFont>
    <p:embeddedFont>
      <p:font typeface="Wingdings 2" panose="05020102010507070707" pitchFamily="18" charset="2"/>
      <p:regular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A6D8F"/>
    <a:srgbClr val="3B475E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3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7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NUL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04/09/2025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04/09/2025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View &gt; Master Views &gt; Slide Master : edit title in top slide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– Part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The APL call stack; control flow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EC2141-9ED2-F0F4-1CAF-854D5C9F0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Functions can call each other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BDF573-CC89-D57F-79ED-E23487D9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Stack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63F4C9B-1F43-16EF-7094-7ADAE4DBC50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92824F8-B1B6-A7E9-5C02-5D7DEBCB7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58" y="2175917"/>
            <a:ext cx="1609055" cy="1311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2DB9F5C-F496-87CF-F093-5FAF8B4C5F51}"/>
              </a:ext>
            </a:extLst>
          </p:cNvPr>
          <p:cNvGrpSpPr/>
          <p:nvPr/>
        </p:nvGrpSpPr>
        <p:grpSpPr>
          <a:xfrm>
            <a:off x="4572000" y="2798544"/>
            <a:ext cx="1814513" cy="1378744"/>
            <a:chOff x="3721993" y="4174277"/>
            <a:chExt cx="2419350" cy="1838325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ED391C4-7382-9057-EED7-EBCB5E9508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1993" y="4174277"/>
              <a:ext cx="2419350" cy="1838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FA8ECE1-9ACE-5907-F54C-74F7CDEAE10D}"/>
                </a:ext>
              </a:extLst>
            </p:cNvPr>
            <p:cNvSpPr/>
            <p:nvPr/>
          </p:nvSpPr>
          <p:spPr bwMode="auto">
            <a:xfrm>
              <a:off x="4572000" y="5093439"/>
              <a:ext cx="496639" cy="279777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latin typeface="Times" pitchFamily="18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165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068DAF-2EB1-E6C9-2DF0-9609E03BE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When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average</a:t>
            </a:r>
            <a:r>
              <a:rPr lang="en-GB" dirty="0"/>
              <a:t> is used it calls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sum</a:t>
            </a:r>
            <a:r>
              <a:rPr lang="en-GB" dirty="0"/>
              <a:t> and the </a:t>
            </a:r>
            <a:r>
              <a:rPr lang="en-GB" b="1" i="1" dirty="0">
                <a:solidFill>
                  <a:srgbClr val="FF6600"/>
                </a:solidFill>
              </a:rPr>
              <a:t>stack</a:t>
            </a:r>
            <a:r>
              <a:rPr lang="en-GB" dirty="0"/>
              <a:t> looks like this: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574938-3BB1-9DCC-D010-28482120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Stack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2CD41E4-E5F5-322F-4E56-76E9E388F57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D6C4418-5BB6-EF4C-32BB-601EB697D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953" y="1938667"/>
            <a:ext cx="3036094" cy="263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B7D9C6B6-A552-6A3B-5F83-6CDA5D447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953" y="2052775"/>
            <a:ext cx="2578894" cy="1264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9AF9466-F342-61B4-D0C3-895CA690B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115" y="2217081"/>
            <a:ext cx="2264569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666D5B8D-E491-9097-C898-BB7C98E51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952" y="2052775"/>
            <a:ext cx="2578894" cy="1264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93064B0-27F7-3FB7-C351-410017A46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953" y="1938074"/>
            <a:ext cx="3036094" cy="263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12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0C0761-2879-3EA6-527F-A2D66AEA3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Except for the name of the program, all names mentioned in the header only exist while the function is running.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871BA9-E037-FE05-37D2-EE1A5BC9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Names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B406E00-7E84-1ECC-E659-7A38AE43985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81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E61AB-133F-EF8F-C40C-33EC32EB0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B1C877-C4D9-E681-776F-922FC43AB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this example</a:t>
            </a:r>
            <a:br>
              <a:rPr lang="en-GB" dirty="0"/>
            </a:b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s</a:t>
            </a:r>
            <a:r>
              <a:rPr lang="en-GB" dirty="0"/>
              <a:t> and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list</a:t>
            </a:r>
            <a:r>
              <a:rPr lang="en-GB" dirty="0"/>
              <a:t> are local to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sum</a:t>
            </a:r>
            <a:br>
              <a:rPr lang="en-GB" dirty="0"/>
            </a:br>
            <a:r>
              <a:rPr lang="en-GB" dirty="0"/>
              <a:t>they only exist while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sum</a:t>
            </a:r>
            <a:r>
              <a:rPr lang="en-GB" dirty="0"/>
              <a:t> is</a:t>
            </a:r>
            <a:br>
              <a:rPr lang="en-GB" dirty="0"/>
            </a:br>
            <a:r>
              <a:rPr lang="en-GB" dirty="0"/>
              <a:t>running.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ABDFEB-CB14-AFE4-E6BB-8B63C602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Names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261EE31-5C52-AA80-C8B6-1A8D5C0219C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AF8C5CE-E0B5-2255-8D18-1CCB53383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323" y="1990604"/>
            <a:ext cx="2160240" cy="1761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23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C5C6-1A30-0211-12BE-C3F6C5FB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52F8C3-D892-CE46-6B29-111A916CF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Likewise, in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average</a:t>
            </a:r>
            <a:r>
              <a:rPr lang="en-GB" dirty="0"/>
              <a:t>, </a:t>
            </a:r>
            <a:r>
              <a:rPr lang="en-GB" dirty="0" err="1">
                <a:solidFill>
                  <a:srgbClr val="00B0F0"/>
                </a:solidFill>
                <a:latin typeface="APL385 Unicode" panose="020B0709000202000203" pitchFamily="49" charset="0"/>
              </a:rPr>
              <a:t>avg</a:t>
            </a:r>
            <a:r>
              <a:rPr lang="en-GB" dirty="0"/>
              <a:t> and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list</a:t>
            </a:r>
            <a:r>
              <a:rPr lang="en-GB" dirty="0"/>
              <a:t> are local names.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sum</a:t>
            </a:r>
            <a:r>
              <a:rPr lang="en-GB" dirty="0"/>
              <a:t> 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total</a:t>
            </a:r>
            <a:r>
              <a:rPr lang="en-GB" dirty="0"/>
              <a:t> are NOT in </a:t>
            </a:r>
            <a:br>
              <a:rPr lang="en-GB" dirty="0"/>
            </a:br>
            <a:r>
              <a:rPr lang="en-GB" dirty="0"/>
              <a:t>the header and therefore are</a:t>
            </a:r>
            <a:br>
              <a:rPr lang="en-GB" dirty="0"/>
            </a:br>
            <a:r>
              <a:rPr lang="en-GB" dirty="0"/>
              <a:t>NOT localized.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sum</a:t>
            </a:r>
            <a:r>
              <a:rPr lang="en-GB" dirty="0"/>
              <a:t> been localized we could not use it as an external function because it would be shadowed.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2294EE-5A2A-4A56-5116-FC893146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Names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2D4E788-D43C-631C-8D06-82739D1E568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9F17E2-E1F5-4BB2-BA09-F8C23B94F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58323" y="2048074"/>
            <a:ext cx="2160240" cy="164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269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8D43-EE9F-DA9B-6B6D-89DE36AC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FDFBC8-B9C9-0521-4F0E-24D91918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average</a:t>
            </a:r>
            <a:r>
              <a:rPr lang="en-GB" dirty="0"/>
              <a:t>,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total</a:t>
            </a:r>
            <a:r>
              <a:rPr lang="en-GB" dirty="0"/>
              <a:t> is NOT in the header and setting it on line 1 creates a </a:t>
            </a:r>
            <a:r>
              <a:rPr lang="en-GB" b="1" i="1" dirty="0"/>
              <a:t>global</a:t>
            </a:r>
            <a:r>
              <a:rPr lang="en-GB" dirty="0"/>
              <a:t> variable. </a:t>
            </a:r>
          </a:p>
          <a:p>
            <a:pPr marL="0" indent="0">
              <a:buNone/>
            </a:pPr>
            <a:r>
              <a:rPr lang="en-GB" dirty="0"/>
              <a:t>It should be </a:t>
            </a:r>
            <a:r>
              <a:rPr lang="en-GB" b="1" dirty="0"/>
              <a:t>local</a:t>
            </a:r>
            <a:r>
              <a:rPr lang="en-GB" dirty="0"/>
              <a:t>ized.</a:t>
            </a:r>
          </a:p>
          <a:p>
            <a:pPr marL="0" indent="0">
              <a:buNone/>
            </a:pPr>
            <a:r>
              <a:rPr lang="da-DK" dirty="0"/>
              <a:t>N</a:t>
            </a:r>
            <a:r>
              <a:rPr lang="en-GB" dirty="0" err="1"/>
              <a:t>otice</a:t>
            </a:r>
            <a:r>
              <a:rPr lang="en-GB" dirty="0"/>
              <a:t> that the syntax</a:t>
            </a:r>
            <a:br>
              <a:rPr lang="en-GB" dirty="0"/>
            </a:br>
            <a:r>
              <a:rPr lang="en-GB" dirty="0"/>
              <a:t>colouring changes to we</a:t>
            </a:r>
            <a:br>
              <a:rPr lang="en-GB" dirty="0"/>
            </a:br>
            <a:r>
              <a:rPr lang="en-GB" dirty="0"/>
              <a:t>can see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total</a:t>
            </a:r>
            <a:r>
              <a:rPr lang="en-GB" dirty="0"/>
              <a:t> is now local.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B94F4F-4873-5D64-4242-C3D41D73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Names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14D6BED-F587-74C1-680C-313EFC5473F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A5CDEF1-C6DA-3CEF-8C96-6A224EBEC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958323" y="2253067"/>
            <a:ext cx="2160240" cy="1236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38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078641-2925-4AC6-F45D-568D325C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scope of a name describes the circumstances under which it is visible to code.</a:t>
            </a:r>
          </a:p>
          <a:p>
            <a:pPr marL="0" indent="0">
              <a:buNone/>
            </a:pPr>
            <a:r>
              <a:rPr lang="en-GB" dirty="0"/>
              <a:t>When a program is called, names in the calling environment are visible, unless explicitly localised in the header.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9F44CE-9F6B-129A-20B8-7D87044C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Scope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99F0AFD-5BF6-B133-A491-76777E91F2E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002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A9D0-FD4D-CF6B-65C3-92D41FFE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56319E-E706-D4AB-373B-16E79A7A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a </a:t>
            </a:r>
            <a:r>
              <a:rPr lang="en-GB" b="1" i="1" dirty="0" err="1"/>
              <a:t>TradFn</a:t>
            </a:r>
            <a:r>
              <a:rPr lang="en-GB" dirty="0"/>
              <a:t>, names are localized by putting them in the header, separated by semicolons.</a:t>
            </a:r>
          </a:p>
          <a:p>
            <a:pPr marL="0" indent="0">
              <a:buNone/>
            </a:pPr>
            <a:r>
              <a:rPr lang="en-GB" dirty="0"/>
              <a:t>In a </a:t>
            </a:r>
            <a:r>
              <a:rPr lang="en-GB" b="1" i="1" dirty="0" err="1"/>
              <a:t>dfn</a:t>
            </a:r>
            <a:r>
              <a:rPr lang="en-GB" dirty="0"/>
              <a:t> names are automatically localized when a new name is assigned.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47F897-FA46-6253-1071-09302121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Scope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FB33E2E-4546-DC73-DC2D-F7BD6DD9460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96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94F5EC-245E-9DD9-CC79-63F8916B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dirty="0"/>
              <a:t>When possible, avoid using global variables.</a:t>
            </a:r>
          </a:p>
          <a:p>
            <a:r>
              <a:rPr lang="da-DK" dirty="0"/>
              <a:t>Pass parameters to functions as arguments unless this becomes </a:t>
            </a:r>
            <a:r>
              <a:rPr lang="da-DK" b="1" dirty="0"/>
              <a:t>very</a:t>
            </a:r>
            <a:r>
              <a:rPr lang="da-DK" dirty="0"/>
              <a:t> awkward.</a:t>
            </a:r>
          </a:p>
          <a:p>
            <a:r>
              <a:rPr lang="da-DK" dirty="0"/>
              <a:t>The use of global variables should be limited to state settings that affect the entire application, or tables containing databases that are shared globally.</a:t>
            </a:r>
          </a:p>
          <a:p>
            <a:r>
              <a:rPr lang="da-DK" dirty="0"/>
              <a:t>If you need global constants, it is a good idea to create them in a function in order to be able to use source code management / change tracking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EBF5DC-CDB3-37A9-ECD5-BA8CF757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Avoid </a:t>
            </a:r>
            <a:r>
              <a:rPr lang="en-GB" dirty="0" err="1"/>
              <a:t>Globals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75C05EA-1BAC-64FB-CE29-1F3DBD4859C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423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093646-7E10-1743-EC49-B2975823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For example, a global switch affecting the entire application: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C8FE12-B49E-E798-96AD-7854CA7B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Meaningful </a:t>
            </a:r>
            <a:r>
              <a:rPr lang="en-GB" dirty="0" err="1"/>
              <a:t>Globals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89F742D-A603-846D-4FE4-ED6DFABAC03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923D613-2C63-5162-4CAA-A465AB37B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808" y="1965004"/>
            <a:ext cx="3618402" cy="25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009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90C514-717A-35C4-2E2C-4124AA772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In recent years, a new reason is emerging to avoid globals:</a:t>
            </a:r>
          </a:p>
          <a:p>
            <a:pPr marL="0" indent="0" algn="ctr">
              <a:buNone/>
            </a:pPr>
            <a:r>
              <a:rPr lang="da-DK" i="1" dirty="0"/>
              <a:t>A function which uses globals is difficult, if not impossible, to run in parallel.</a:t>
            </a:r>
          </a:p>
          <a:p>
            <a:r>
              <a:rPr lang="da-DK" dirty="0"/>
              <a:t>If two copies of the function run in parallel and they update the global data, some kind of locking is required.</a:t>
            </a:r>
          </a:p>
          <a:p>
            <a:r>
              <a:rPr lang="da-DK" dirty="0"/>
              <a:t>Locking often defeats the potential benefits of parallel execution.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FE320C-965F-64C1-625F-490A2547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Avoiding </a:t>
            </a:r>
            <a:r>
              <a:rPr lang="en-GB" dirty="0" err="1"/>
              <a:t>Globals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543C44E-8264-8C1F-72B9-7939EA54E7B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381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195A5F-847E-3791-7784-7B0327BC7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When one program calls another, APL maintains a stack to it can find its way back and continue execution when a called function completes</a:t>
            </a:r>
          </a:p>
          <a:p>
            <a:pPr>
              <a:defRPr/>
            </a:pPr>
            <a:r>
              <a:rPr lang="en-GB" dirty="0"/>
              <a:t>Local names only exist while the function they are local to is on the stack.</a:t>
            </a:r>
          </a:p>
          <a:p>
            <a:pPr>
              <a:defRPr/>
            </a:pPr>
            <a:r>
              <a:rPr lang="en-GB" dirty="0"/>
              <a:t>Names should be localized unless they really </a:t>
            </a:r>
            <a:r>
              <a:rPr lang="en-GB" dirty="0" err="1"/>
              <a:t>really</a:t>
            </a:r>
            <a:r>
              <a:rPr lang="en-GB" dirty="0"/>
              <a:t>, really, really need to be global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AFA699-999C-F2CF-0E1A-6E1D512E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Scope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9A9F09F-D1D7-A5B4-2FAC-9FA600ADCCF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135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F44F97-B185-893A-0937-673EB98C9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Trace execution</a:t>
            </a:r>
          </a:p>
          <a:p>
            <a:r>
              <a:rPr lang="da-DK" dirty="0"/>
              <a:t>Set breakpoints</a:t>
            </a:r>
          </a:p>
          <a:p>
            <a:r>
              <a:rPr lang="da-DK" dirty="0"/>
              <a:t>Modify variables</a:t>
            </a:r>
          </a:p>
          <a:p>
            <a:r>
              <a:rPr lang="da-DK" dirty="0"/>
              <a:t>Edit &amp; continue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F60B6-2E80-16D2-8222-D8477A66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Tracer Demo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71B9E30-B898-1C15-69A3-387A3D42190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074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61A0D-08D5-B879-33B3-ECC7C8603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Edit</a:t>
            </a:r>
          </a:p>
          <a:p>
            <a:pPr lvl="1"/>
            <a:r>
              <a:rPr lang="da-DK" dirty="0"/>
              <a:t>Edit name		Shift+Enter</a:t>
            </a:r>
          </a:p>
          <a:p>
            <a:pPr lvl="1"/>
            <a:r>
              <a:rPr lang="da-DK" dirty="0"/>
              <a:t>Save and close		Esc</a:t>
            </a:r>
          </a:p>
          <a:p>
            <a:r>
              <a:rPr lang="da-DK" dirty="0"/>
              <a:t>Trace</a:t>
            </a:r>
          </a:p>
          <a:p>
            <a:pPr lvl="1"/>
            <a:r>
              <a:rPr lang="da-DK" dirty="0"/>
              <a:t>Trace / step into		Ctrl+Enter</a:t>
            </a:r>
          </a:p>
          <a:p>
            <a:pPr lvl="1"/>
            <a:r>
              <a:rPr lang="da-DK" dirty="0"/>
              <a:t>Skip line			Ctrl+Shift+Enter</a:t>
            </a:r>
          </a:p>
          <a:p>
            <a:pPr lvl="1"/>
            <a:r>
              <a:rPr lang="da-DK" dirty="0"/>
              <a:t>Step backwards		Ctrl+Shift+Backspace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4BD9C4-9736-C31D-630D-2FE67D4C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Keyboard Shortcuts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7DD6EF1-785B-BB32-FA62-C2B44E1A85E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A526B2-1401-2E1B-048A-019FE9AFE136}"/>
              </a:ext>
            </a:extLst>
          </p:cNvPr>
          <p:cNvSpPr/>
          <p:nvPr/>
        </p:nvSpPr>
        <p:spPr>
          <a:xfrm>
            <a:off x="6428300" y="2241311"/>
            <a:ext cx="2090057" cy="1134406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 "Dyalog tips" online</a:t>
            </a:r>
          </a:p>
        </p:txBody>
      </p:sp>
    </p:spTree>
    <p:extLst>
      <p:ext uri="{BB962C8B-B14F-4D97-AF65-F5344CB8AC3E}">
        <p14:creationId xmlns:p14="http://schemas.microsoft.com/office/powerpoint/2010/main" val="242649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60AFB6-DCBC-58E4-E162-DFB65B1DE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By default, programs execute sequentially from top to bottom.</a:t>
            </a:r>
          </a:p>
          <a:p>
            <a:pPr marL="0" indent="0">
              <a:buNone/>
            </a:pPr>
            <a:r>
              <a:rPr lang="en-GB" dirty="0"/>
              <a:t>It is possible to alter the sequential execution of lines in a program.</a:t>
            </a:r>
          </a:p>
          <a:p>
            <a:pPr marL="0" indent="0">
              <a:buNone/>
            </a:pPr>
            <a:r>
              <a:rPr lang="en-GB" dirty="0"/>
              <a:t>In a </a:t>
            </a:r>
            <a:r>
              <a:rPr lang="en-GB" dirty="0" err="1"/>
              <a:t>TradFn</a:t>
            </a:r>
            <a:r>
              <a:rPr lang="en-GB" dirty="0"/>
              <a:t>, the best way to achieve this is to use </a:t>
            </a:r>
            <a:r>
              <a:rPr lang="en-GB" b="1" i="1" dirty="0">
                <a:solidFill>
                  <a:srgbClr val="FF6600"/>
                </a:solidFill>
              </a:rPr>
              <a:t>control structures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Control Structures are blocks of code in which the execution of APL statements follows certain rules and conditions.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188CD5-EB7F-7D56-6B27-03AA3F46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Flow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6D7CD60-5CC8-4135-D885-DE8327F05CC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282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20F7-E0EB-BC51-34E2-EFF614E4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E298E1-8D10-49C0-0755-8D61BE5FD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Control structures are implemented using a set of </a:t>
            </a:r>
            <a:r>
              <a:rPr lang="en-GB" i="1" dirty="0"/>
              <a:t>control words</a:t>
            </a:r>
            <a:r>
              <a:rPr lang="en-GB" dirty="0"/>
              <a:t> which all start with the colon symbol (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dirty="0"/>
              <a:t>). </a:t>
            </a:r>
          </a:p>
          <a:p>
            <a:pPr marL="0" indent="0">
              <a:buNone/>
            </a:pPr>
            <a:r>
              <a:rPr lang="da-DK" dirty="0"/>
              <a:t>Control words do not obey the normal rules of APL syntax (monadic, dyadic, etc) – each one has it’s own syntax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Control Words are case-insensitive, but we recommend that you use CamelCase: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APL385 Unicode" panose="020B0709000202000203" pitchFamily="49" charset="0"/>
              </a:rPr>
              <a:t>     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If </a:t>
            </a:r>
            <a:r>
              <a:rPr lang="en-GB" dirty="0">
                <a:latin typeface="APL385 Unicode" panose="020B0709000202000203" pitchFamily="49" charset="0"/>
              </a:rPr>
              <a:t>condition  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   do this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EndIf</a:t>
            </a:r>
            <a:endParaRPr lang="en-GB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4CC4C9-0A74-5A25-DA37-30FCCEAA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Flow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C13B7FC-9AD4-E630-7E02-0E7D7B37D8C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09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C4D9-1255-CF68-E37D-5EC6E76A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AA3851-1093-C3FF-3A66-3876C541D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of the available control structures: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FB9D64-8D48-BD6D-23AE-0CD736A8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Flow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EF61015-BB60-0876-C44F-44A7A13AFA4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1BFB1-9EC7-5F39-D841-A6F362881437}"/>
              </a:ext>
            </a:extLst>
          </p:cNvPr>
          <p:cNvSpPr txBox="1"/>
          <p:nvPr/>
        </p:nvSpPr>
        <p:spPr>
          <a:xfrm>
            <a:off x="2377066" y="2139702"/>
            <a:ext cx="4289615" cy="193899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:If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:Select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:While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:Repeat</a:t>
            </a:r>
          </a:p>
          <a:p>
            <a:endParaRPr lang="en-GB" sz="2400" dirty="0">
              <a:latin typeface="APL385 Unicode" panose="020B0709000202000203" pitchFamily="49" charset="0"/>
            </a:endParaRPr>
          </a:p>
          <a:p>
            <a:r>
              <a:rPr lang="en-GB" sz="2400" dirty="0">
                <a:latin typeface="APL385 Unicode" panose="020B0709000202000203" pitchFamily="49" charset="0"/>
              </a:rPr>
              <a:t>:For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:Trap</a:t>
            </a:r>
          </a:p>
          <a:p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APL385 Unicode" panose="020B0709000202000203" pitchFamily="49" charset="0"/>
              </a:rPr>
              <a:t>:With</a:t>
            </a:r>
          </a:p>
          <a:p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APL385 Unicode" panose="020B0709000202000203" pitchFamily="49" charset="0"/>
              </a:rPr>
              <a:t>:Hold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A709FC-D834-9597-31B2-8C6AC71C82AF}"/>
              </a:ext>
            </a:extLst>
          </p:cNvPr>
          <p:cNvSpPr/>
          <p:nvPr/>
        </p:nvSpPr>
        <p:spPr>
          <a:xfrm>
            <a:off x="6562928" y="2692693"/>
            <a:ext cx="1258111" cy="499354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F1</a:t>
            </a:r>
          </a:p>
        </p:txBody>
      </p:sp>
    </p:spTree>
    <p:extLst>
      <p:ext uri="{BB962C8B-B14F-4D97-AF65-F5344CB8AC3E}">
        <p14:creationId xmlns:p14="http://schemas.microsoft.com/office/powerpoint/2010/main" val="407383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D6B841-127D-809C-34D3-EE036144B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If you end up in an infinite loop, use:</a:t>
            </a:r>
          </a:p>
          <a:p>
            <a:r>
              <a:rPr lang="en-GB" b="1" dirty="0" err="1">
                <a:solidFill>
                  <a:srgbClr val="FF6600"/>
                </a:solidFill>
              </a:rPr>
              <a:t>Ctrl+Break</a:t>
            </a:r>
            <a:r>
              <a:rPr lang="en-GB" dirty="0"/>
              <a:t> key</a:t>
            </a:r>
          </a:p>
          <a:p>
            <a:r>
              <a:rPr lang="en-GB" b="1" dirty="0">
                <a:solidFill>
                  <a:srgbClr val="FF6600"/>
                </a:solidFill>
              </a:rPr>
              <a:t>Action</a:t>
            </a:r>
            <a:r>
              <a:rPr lang="en-GB" dirty="0"/>
              <a:t> → </a:t>
            </a:r>
            <a:r>
              <a:rPr lang="en-GB" b="1" dirty="0">
                <a:solidFill>
                  <a:srgbClr val="FF6600"/>
                </a:solidFill>
              </a:rPr>
              <a:t>Interrupt</a:t>
            </a:r>
          </a:p>
          <a:p>
            <a:r>
              <a:rPr lang="en-GB" b="1" dirty="0">
                <a:solidFill>
                  <a:srgbClr val="FF6600"/>
                </a:solidFill>
              </a:rPr>
              <a:t>Right Click</a:t>
            </a:r>
            <a:r>
              <a:rPr lang="en-GB" b="1" dirty="0">
                <a:solidFill>
                  <a:schemeClr val="tx1"/>
                </a:solidFill>
              </a:rPr>
              <a:t> → </a:t>
            </a:r>
            <a:r>
              <a:rPr lang="en-GB" b="1" dirty="0">
                <a:solidFill>
                  <a:srgbClr val="FF6600"/>
                </a:solidFill>
              </a:rPr>
              <a:t>Interrupt</a:t>
            </a:r>
          </a:p>
          <a:p>
            <a:r>
              <a:rPr lang="en-GB" dirty="0"/>
              <a:t>Click system tray icon and select </a:t>
            </a:r>
            <a:r>
              <a:rPr lang="en-GB" b="1" dirty="0">
                <a:solidFill>
                  <a:srgbClr val="FF6600"/>
                </a:solidFill>
              </a:rPr>
              <a:t>Strong Interrupt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EFD791-1AED-D10C-9790-B4FEBDD7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Interrupt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223AA0B-F110-E118-7282-761774A4C6D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431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B48CD1-E8EF-BFFF-55F1-7AC8D466A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Execute a block of statements if a condition is fulfilled.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B6245E-C4FB-BA4F-ACEE-1FA94606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:If … :</a:t>
            </a:r>
            <a:r>
              <a:rPr lang="en-GB" dirty="0" err="1"/>
              <a:t>EndIf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E5BEA9E-B291-4995-1BC9-B22B90DC2ED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AA607-EC5D-2F72-067C-8F53C5F925C9}"/>
              </a:ext>
            </a:extLst>
          </p:cNvPr>
          <p:cNvSpPr txBox="1"/>
          <p:nvPr/>
        </p:nvSpPr>
        <p:spPr>
          <a:xfrm>
            <a:off x="1439652" y="2510848"/>
            <a:ext cx="2322258" cy="10618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:If </a:t>
            </a:r>
            <a:r>
              <a:rPr lang="en-GB" sz="2100" dirty="0">
                <a:latin typeface="APL385 Unicode" panose="020B0709000202000203" pitchFamily="49" charset="0"/>
              </a:rPr>
              <a:t>condition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FBEB5-9E87-C00F-023E-B4C2C764284B}"/>
              </a:ext>
            </a:extLst>
          </p:cNvPr>
          <p:cNvSpPr txBox="1"/>
          <p:nvPr/>
        </p:nvSpPr>
        <p:spPr>
          <a:xfrm>
            <a:off x="4409982" y="2527878"/>
            <a:ext cx="2808312" cy="10618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:If n&gt;0</a:t>
            </a:r>
          </a:p>
          <a:p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    ⎕←'n is &gt;0'</a:t>
            </a:r>
          </a:p>
          <a:p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rgbClr val="00B050"/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082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561C-085D-E840-CE58-DEE0AEED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1B7B45-FED5-7DDB-1860-4EDA4C357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Execute a block of statements if a condition is fulfilled.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4F129D-4BA5-A489-8465-4E52F2EB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:If … :Else … :</a:t>
            </a:r>
            <a:r>
              <a:rPr lang="en-GB" dirty="0" err="1"/>
              <a:t>EndIf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1A92110-521E-D015-2D2C-F9F114300F3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CD779-6E95-FEAD-FD1C-AF553945EB7D}"/>
              </a:ext>
            </a:extLst>
          </p:cNvPr>
          <p:cNvSpPr txBox="1"/>
          <p:nvPr/>
        </p:nvSpPr>
        <p:spPr>
          <a:xfrm>
            <a:off x="1363253" y="2510847"/>
            <a:ext cx="2814885" cy="17081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:If </a:t>
            </a:r>
            <a:r>
              <a:rPr lang="en-GB" sz="2100" dirty="0">
                <a:latin typeface="APL385 Unicode" panose="020B0709000202000203" pitchFamily="49" charset="0"/>
              </a:rPr>
              <a:t>condition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:Else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88055-4C1E-01B9-2281-9439BEE142ED}"/>
              </a:ext>
            </a:extLst>
          </p:cNvPr>
          <p:cNvSpPr txBox="1"/>
          <p:nvPr/>
        </p:nvSpPr>
        <p:spPr>
          <a:xfrm>
            <a:off x="4355976" y="2510848"/>
            <a:ext cx="3564396" cy="17081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:If n&gt;0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⎕←'n is &gt;0'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:Else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⎕←'n is &lt; or =0’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413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7E6C-121A-9C3B-3608-82F31FFC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F499E4-C0A5-C3FE-6CFD-86209F6A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:If … :</a:t>
            </a:r>
            <a:r>
              <a:rPr lang="en-GB" dirty="0" err="1"/>
              <a:t>ElseIf</a:t>
            </a:r>
            <a:r>
              <a:rPr lang="en-GB" dirty="0"/>
              <a:t> … :Else … :</a:t>
            </a:r>
            <a:r>
              <a:rPr lang="en-GB" dirty="0" err="1"/>
              <a:t>EndIf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6DF156C-9E5B-0F31-D9C1-69ADC8D0F71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A9FA6-0577-D94A-0DD9-43C1FC22327A}"/>
              </a:ext>
            </a:extLst>
          </p:cNvPr>
          <p:cNvSpPr txBox="1"/>
          <p:nvPr/>
        </p:nvSpPr>
        <p:spPr>
          <a:xfrm>
            <a:off x="1283868" y="1830575"/>
            <a:ext cx="3065372" cy="23544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:If </a:t>
            </a:r>
            <a:r>
              <a:rPr lang="en-GB" sz="2100" dirty="0">
                <a:latin typeface="APL385 Unicode" panose="020B0709000202000203" pitchFamily="49" charset="0"/>
              </a:rPr>
              <a:t>condition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ElseIf</a:t>
            </a:r>
            <a:r>
              <a:rPr lang="en-GB" sz="2100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other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:Else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</a:t>
            </a:r>
            <a:r>
              <a:rPr lang="en-GB" sz="2100" dirty="0" err="1">
                <a:latin typeface="APL385 Unicode" panose="020B0709000202000203" pitchFamily="49" charset="0"/>
              </a:rPr>
              <a:t>whats</a:t>
            </a:r>
            <a:r>
              <a:rPr lang="en-GB" sz="2100" dirty="0">
                <a:latin typeface="APL385 Unicode" panose="020B0709000202000203" pitchFamily="49" charset="0"/>
              </a:rPr>
              <a:t> left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3AF32-7DF7-7C30-07C2-5C7F4AFFA5A2}"/>
              </a:ext>
            </a:extLst>
          </p:cNvPr>
          <p:cNvSpPr txBox="1"/>
          <p:nvPr/>
        </p:nvSpPr>
        <p:spPr>
          <a:xfrm>
            <a:off x="4371619" y="1830575"/>
            <a:ext cx="3726414" cy="23544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:If n&gt;0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⎕←'positive'</a:t>
            </a:r>
            <a:b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ElseIf</a:t>
            </a: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n=0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⎕←'n is 0'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:Else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⎕←'negative'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198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2D02-208E-3F08-23F8-A2F2D8E8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445829-A847-3FE1-0567-BE3FFBFF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:Select … :Case … :</a:t>
            </a:r>
            <a:r>
              <a:rPr lang="en-GB" sz="2800" dirty="0" err="1"/>
              <a:t>CaseList</a:t>
            </a:r>
            <a:r>
              <a:rPr lang="en-GB" sz="2800" dirty="0"/>
              <a:t> … :</a:t>
            </a:r>
            <a:r>
              <a:rPr lang="en-GB" sz="2800" dirty="0" err="1"/>
              <a:t>EndSelect</a:t>
            </a:r>
            <a:endParaRPr lang="en-GB" sz="2800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6F479E8-89D7-F1BA-29C3-1DDA31A4B45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37EAC-A296-ABF9-A967-B3389C6419C8}"/>
              </a:ext>
            </a:extLst>
          </p:cNvPr>
          <p:cNvSpPr txBox="1"/>
          <p:nvPr/>
        </p:nvSpPr>
        <p:spPr>
          <a:xfrm>
            <a:off x="1385646" y="1609509"/>
            <a:ext cx="2754306" cy="267765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:Select </a:t>
            </a:r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array</a:t>
            </a:r>
            <a:endParaRPr lang="en-GB" sz="2100" dirty="0"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:Case  </a:t>
            </a:r>
            <a:r>
              <a:rPr lang="en-GB" sz="2100" dirty="0">
                <a:latin typeface="APL385 Unicode" panose="020B0709000202000203" pitchFamily="49" charset="0"/>
              </a:rPr>
              <a:t>c1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CaseList</a:t>
            </a:r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  </a:t>
            </a:r>
            <a:r>
              <a:rPr lang="en-GB" sz="2100" dirty="0">
                <a:latin typeface="APL385 Unicode" panose="020B0709000202000203" pitchFamily="49" charset="0"/>
              </a:rPr>
              <a:t>c2 </a:t>
            </a:r>
            <a:r>
              <a:rPr lang="en-GB" sz="2100" dirty="0" err="1">
                <a:latin typeface="APL385 Unicode" panose="020B0709000202000203" pitchFamily="49" charset="0"/>
              </a:rPr>
              <a:t>c2</a:t>
            </a:r>
            <a:endParaRPr lang="en-GB" sz="2100" dirty="0">
              <a:latin typeface="APL385 Unicode" panose="020B0709000202000203" pitchFamily="49" charset="0"/>
            </a:endParaRPr>
          </a:p>
          <a:p>
            <a:r>
              <a:rPr lang="en-GB" sz="21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:Else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	the rest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EndSelect</a:t>
            </a:r>
            <a:endParaRPr lang="en-GB" sz="2100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9E4EC-C483-0A0F-D89D-0F45DA001E28}"/>
              </a:ext>
            </a:extLst>
          </p:cNvPr>
          <p:cNvSpPr txBox="1"/>
          <p:nvPr/>
        </p:nvSpPr>
        <p:spPr>
          <a:xfrm>
            <a:off x="4572000" y="1609509"/>
            <a:ext cx="3842184" cy="267765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:Select ×N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:Case ¯1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⎕←'negative'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CaseList</a:t>
            </a: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0 1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⎕←'non-negative'</a:t>
            </a:r>
            <a:b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:Else</a:t>
            </a:r>
            <a:b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⎕←'impossible'</a:t>
            </a:r>
            <a:b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EndSelect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058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5FD3FB-EFC6-8F55-BF37-ECF9A4206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Loop 0 or more times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5DEBE0-06C1-7A1C-0B43-2D33862B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:While … :</a:t>
            </a:r>
            <a:r>
              <a:rPr lang="en-GB" dirty="0" err="1"/>
              <a:t>EndWhile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A277D0C-139F-A8DE-90C8-0E9860BF370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007849-339D-0858-FDA5-603993224448}"/>
              </a:ext>
            </a:extLst>
          </p:cNvPr>
          <p:cNvSpPr txBox="1"/>
          <p:nvPr/>
        </p:nvSpPr>
        <p:spPr>
          <a:xfrm>
            <a:off x="745789" y="1818058"/>
            <a:ext cx="3280223" cy="15696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400" dirty="0">
                <a:solidFill>
                  <a:srgbClr val="FF6600"/>
                </a:solidFill>
                <a:latin typeface="APL385 Unicode" panose="020B0709000202000203" pitchFamily="49" charset="0"/>
              </a:rPr>
              <a:t>:While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condition</a:t>
            </a:r>
            <a:endParaRPr lang="en-GB" sz="2400" dirty="0">
              <a:latin typeface="APL385 Unicode" panose="020B0709000202000203" pitchFamily="49" charset="0"/>
            </a:endParaRPr>
          </a:p>
          <a:p>
            <a:r>
              <a:rPr lang="en-GB" sz="24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4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4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EndWhile</a:t>
            </a:r>
            <a:endParaRPr lang="en-GB" sz="2400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AA5B9-4230-320F-6F9F-4ED9927936C2}"/>
              </a:ext>
            </a:extLst>
          </p:cNvPr>
          <p:cNvSpPr txBox="1"/>
          <p:nvPr/>
        </p:nvSpPr>
        <p:spPr>
          <a:xfrm>
            <a:off x="4429766" y="1818058"/>
            <a:ext cx="3834426" cy="15696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:While Snow</a:t>
            </a:r>
          </a:p>
          <a:p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⎕←'go skiing'</a:t>
            </a:r>
          </a:p>
          <a:p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Snow←1≠?6</a:t>
            </a:r>
            <a:br>
              <a:rPr lang="en-GB" sz="24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4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EndWhile</a:t>
            </a:r>
            <a:endParaRPr lang="en-GB" sz="24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368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27B0F3-5FDE-E350-2DA5-9653A218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:While … :OrIf … :</a:t>
            </a:r>
            <a:r>
              <a:rPr lang="en-GB" dirty="0" err="1"/>
              <a:t>EndWhile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671D7F6-C6F4-E2B2-9D3B-ADCD59469DC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B8565-4411-A64B-EF57-B959AB443CCD}"/>
              </a:ext>
            </a:extLst>
          </p:cNvPr>
          <p:cNvSpPr txBox="1"/>
          <p:nvPr/>
        </p:nvSpPr>
        <p:spPr>
          <a:xfrm>
            <a:off x="739302" y="1599642"/>
            <a:ext cx="3454656" cy="138499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:While condition</a:t>
            </a:r>
            <a:endParaRPr lang="en-GB" sz="2100" dirty="0"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OrIf</a:t>
            </a:r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 </a:t>
            </a:r>
            <a:r>
              <a:rPr lang="en-GB" sz="2100" dirty="0">
                <a:latin typeface="APL385 Unicode" panose="020B0709000202000203" pitchFamily="49" charset="0"/>
              </a:rPr>
              <a:t>condition2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EndWhile</a:t>
            </a:r>
            <a:endParaRPr lang="en-GB" sz="2100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BD0FA-7482-9A8D-0E6B-B22A7E53D910}"/>
              </a:ext>
            </a:extLst>
          </p:cNvPr>
          <p:cNvSpPr txBox="1"/>
          <p:nvPr/>
        </p:nvSpPr>
        <p:spPr>
          <a:xfrm>
            <a:off x="3923928" y="1599642"/>
            <a:ext cx="3888432" cy="17081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:While Temp&gt;50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OrIf</a:t>
            </a: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Temp&lt;¯15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⎕←'stay inside'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Temp←ReadThermo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EndWhile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78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25F5-FE63-C84D-6250-87991A3A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19B45F-9708-2053-897C-FD78CF98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:While … :OrIf … :</a:t>
            </a:r>
            <a:r>
              <a:rPr lang="en-GB" dirty="0" err="1"/>
              <a:t>EndWhile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117B60D-532B-6CE4-D91B-993B679188B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25304-4432-6CD5-F3AC-601AB10BCBE9}"/>
              </a:ext>
            </a:extLst>
          </p:cNvPr>
          <p:cNvSpPr txBox="1"/>
          <p:nvPr/>
        </p:nvSpPr>
        <p:spPr>
          <a:xfrm>
            <a:off x="2185481" y="1803195"/>
            <a:ext cx="3454656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:If</a:t>
            </a:r>
            <a:r>
              <a:rPr lang="en-US" altLang="en-US" sz="24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400" dirty="0">
                <a:solidFill>
                  <a:srgbClr val="808080"/>
                </a:solidFill>
                <a:latin typeface="APL385 Unicode" panose="020B0709000202000203" pitchFamily="49" charset="0"/>
              </a:rPr>
              <a:t>a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'a is true'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</a:t>
            </a:r>
            <a:r>
              <a:rPr lang="en-US" altLang="en-US" sz="2400" dirty="0" err="1">
                <a:solidFill>
                  <a:srgbClr val="800000"/>
                </a:solidFill>
                <a:latin typeface="APL385 Unicode" panose="020B0709000202000203" pitchFamily="49" charset="0"/>
              </a:rPr>
              <a:t>EndIf</a:t>
            </a:r>
            <a:r>
              <a:rPr lang="en-US" altLang="en-US" sz="2400" dirty="0">
                <a:latin typeface="Sarabun" panose="00000500000000000000" pitchFamily="2" charset="-34"/>
              </a:rPr>
              <a:t> 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92237A-089C-AD4B-F2AC-4781B7A090C3}"/>
              </a:ext>
            </a:extLst>
          </p:cNvPr>
          <p:cNvSpPr/>
          <p:nvPr/>
        </p:nvSpPr>
        <p:spPr>
          <a:xfrm>
            <a:off x="5251983" y="2153682"/>
            <a:ext cx="3761362" cy="499354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Only runs if </a:t>
            </a:r>
            <a:r>
              <a:rPr lang="en-GB" dirty="0">
                <a:latin typeface="APL385 Unicode" panose="020B0709000202000203" pitchFamily="49" charset="0"/>
              </a:rPr>
              <a:t>a</a:t>
            </a:r>
            <a:r>
              <a:rPr lang="en-GB" dirty="0"/>
              <a:t> is true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BBD5E05-3E42-6EDF-6503-A09C87750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Normally:</a:t>
            </a:r>
          </a:p>
        </p:txBody>
      </p:sp>
    </p:spTree>
    <p:extLst>
      <p:ext uri="{BB962C8B-B14F-4D97-AF65-F5344CB8AC3E}">
        <p14:creationId xmlns:p14="http://schemas.microsoft.com/office/powerpoint/2010/main" val="197061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19C5E-9696-F6F2-31C2-553C0B68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49EE1C-3258-C76F-E1B2-9C135ECB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:While … :OrIf … :</a:t>
            </a:r>
            <a:r>
              <a:rPr lang="en-GB" dirty="0" err="1"/>
              <a:t>EndWhile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FA4037B-6245-8AEF-0E0E-CA9EC15B80F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7C3EA-5BD8-3CBB-1D72-44B814F87078}"/>
              </a:ext>
            </a:extLst>
          </p:cNvPr>
          <p:cNvSpPr txBox="1"/>
          <p:nvPr/>
        </p:nvSpPr>
        <p:spPr>
          <a:xfrm>
            <a:off x="2185481" y="1803195"/>
            <a:ext cx="3454656" cy="19389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:If</a:t>
            </a:r>
            <a:r>
              <a:rPr lang="en-US" altLang="en-US" sz="24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400" dirty="0">
                <a:solidFill>
                  <a:srgbClr val="808080"/>
                </a:solidFill>
                <a:latin typeface="APL385 Unicode" panose="020B0709000202000203" pitchFamily="49" charset="0"/>
              </a:rPr>
              <a:t>a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'a is true'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:OrIf</a:t>
            </a:r>
            <a:r>
              <a:rPr lang="en-US" altLang="en-US" sz="24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400" dirty="0">
                <a:solidFill>
                  <a:srgbClr val="808080"/>
                </a:solidFill>
                <a:latin typeface="APL385 Unicode" panose="020B0709000202000203" pitchFamily="49" charset="0"/>
              </a:rPr>
              <a:t>b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'b is true'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</a:t>
            </a:r>
            <a:r>
              <a:rPr lang="en-US" altLang="en-US" sz="2400" dirty="0" err="1">
                <a:solidFill>
                  <a:srgbClr val="800000"/>
                </a:solidFill>
                <a:latin typeface="APL385 Unicode" panose="020B0709000202000203" pitchFamily="49" charset="0"/>
              </a:rPr>
              <a:t>EndIf</a:t>
            </a:r>
            <a:r>
              <a:rPr lang="en-US" altLang="en-US" sz="2400" dirty="0">
                <a:latin typeface="Sarabun" panose="00000500000000000000" pitchFamily="2" charset="-34"/>
              </a:rPr>
              <a:t> 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8CC10-246B-AFD1-B05D-A568F8BDA389}"/>
              </a:ext>
            </a:extLst>
          </p:cNvPr>
          <p:cNvSpPr/>
          <p:nvPr/>
        </p:nvSpPr>
        <p:spPr>
          <a:xfrm>
            <a:off x="585949" y="3853527"/>
            <a:ext cx="3761362" cy="499354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Rich does not like :OrIf with :If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E5B2F0-3DEC-BCE3-B5A2-254C92447A31}"/>
              </a:ext>
            </a:extLst>
          </p:cNvPr>
          <p:cNvSpPr/>
          <p:nvPr/>
        </p:nvSpPr>
        <p:spPr>
          <a:xfrm>
            <a:off x="5251983" y="2153682"/>
            <a:ext cx="3761362" cy="499354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Only runs if </a:t>
            </a:r>
            <a:r>
              <a:rPr lang="en-GB" dirty="0">
                <a:latin typeface="APL385 Unicode" panose="020B0709000202000203" pitchFamily="49" charset="0"/>
              </a:rPr>
              <a:t>a</a:t>
            </a:r>
            <a:r>
              <a:rPr lang="en-GB" dirty="0"/>
              <a:t> is false!</a:t>
            </a:r>
          </a:p>
        </p:txBody>
      </p:sp>
    </p:spTree>
    <p:extLst>
      <p:ext uri="{BB962C8B-B14F-4D97-AF65-F5344CB8AC3E}">
        <p14:creationId xmlns:p14="http://schemas.microsoft.com/office/powerpoint/2010/main" val="204458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1846-F85F-008E-97D3-2634B4E3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C74478-AE5A-35F8-50EE-76094DB7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:While … :OrIf … :</a:t>
            </a:r>
            <a:r>
              <a:rPr lang="en-GB" dirty="0" err="1"/>
              <a:t>EndWhile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08F3E80-1744-9705-28C7-753E0D40F3F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C75FE-C623-75D8-BBD2-F46CCDB84367}"/>
              </a:ext>
            </a:extLst>
          </p:cNvPr>
          <p:cNvSpPr txBox="1"/>
          <p:nvPr/>
        </p:nvSpPr>
        <p:spPr>
          <a:xfrm>
            <a:off x="51887" y="1569732"/>
            <a:ext cx="3454656" cy="19389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:If</a:t>
            </a:r>
            <a:r>
              <a:rPr lang="en-US" altLang="en-US" sz="2400" dirty="0">
                <a:solidFill>
                  <a:srgbClr val="000000"/>
                </a:solidFill>
                <a:latin typeface="APL385 Unicode" panose="020B0709000202000203" pitchFamily="49" charset="0"/>
              </a:rPr>
              <a:t> a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'a is true'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:Else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'a is false'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</a:t>
            </a:r>
            <a:r>
              <a:rPr lang="en-US" altLang="en-US" sz="2400" dirty="0" err="1">
                <a:solidFill>
                  <a:srgbClr val="800000"/>
                </a:solidFill>
                <a:latin typeface="APL385 Unicode" panose="020B0709000202000203" pitchFamily="49" charset="0"/>
              </a:rPr>
              <a:t>EndIf</a:t>
            </a:r>
            <a:r>
              <a:rPr lang="en-US" altLang="en-US" sz="2400" dirty="0">
                <a:latin typeface="APL385 Unicode" panose="020B0709000202000203" pitchFamily="49" charset="0"/>
              </a:rPr>
              <a:t> </a:t>
            </a:r>
            <a:endParaRPr lang="en-US" altLang="en-US" sz="4800" dirty="0">
              <a:latin typeface="APL385 Unicode" panose="020B0709000202000203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F5D97-2B65-7DF2-0DAF-1BE833B84303}"/>
              </a:ext>
            </a:extLst>
          </p:cNvPr>
          <p:cNvSpPr txBox="1"/>
          <p:nvPr/>
        </p:nvSpPr>
        <p:spPr>
          <a:xfrm>
            <a:off x="914405" y="1102469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Normally: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32D93-3F82-98D5-D16C-849D4832F85B}"/>
              </a:ext>
            </a:extLst>
          </p:cNvPr>
          <p:cNvSpPr txBox="1"/>
          <p:nvPr/>
        </p:nvSpPr>
        <p:spPr>
          <a:xfrm>
            <a:off x="3761362" y="1569732"/>
            <a:ext cx="5337241" cy="267765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:If</a:t>
            </a:r>
            <a:r>
              <a:rPr lang="en-US" altLang="en-US" sz="2400" dirty="0">
                <a:solidFill>
                  <a:srgbClr val="000000"/>
                </a:solidFill>
                <a:latin typeface="APL385 Unicode" panose="020B0709000202000203" pitchFamily="49" charset="0"/>
              </a:rPr>
              <a:t> a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'a is false'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:OrIf</a:t>
            </a:r>
            <a:r>
              <a:rPr lang="en-US" altLang="en-US" sz="2400" dirty="0">
                <a:solidFill>
                  <a:srgbClr val="000000"/>
                </a:solidFill>
                <a:latin typeface="APL385 Unicode" panose="020B0709000202000203" pitchFamily="49" charset="0"/>
              </a:rPr>
              <a:t> b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'a is true or b is true'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:Else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latin typeface="APL385 Unicode" panose="020B0709000202000203" pitchFamily="49" charset="0"/>
              </a:rPr>
              <a:t>    </a:t>
            </a:r>
            <a:r>
              <a:rPr lang="en-US" altLang="en-US" sz="2400" dirty="0">
                <a:solidFill>
                  <a:srgbClr val="008080"/>
                </a:solidFill>
                <a:latin typeface="APL385 Unicode" panose="020B0709000202000203" pitchFamily="49" charset="0"/>
              </a:rPr>
              <a:t>'neither a nor b'</a:t>
            </a:r>
            <a:br>
              <a:rPr lang="en-US" altLang="en-US" sz="2400" dirty="0">
                <a:latin typeface="APL385 Unicode" panose="020B0709000202000203" pitchFamily="49" charset="0"/>
              </a:rPr>
            </a:br>
            <a:r>
              <a:rPr lang="en-US" altLang="en-US" sz="2400" dirty="0">
                <a:solidFill>
                  <a:srgbClr val="800000"/>
                </a:solidFill>
                <a:latin typeface="APL385 Unicode" panose="020B0709000202000203" pitchFamily="49" charset="0"/>
              </a:rPr>
              <a:t>:</a:t>
            </a:r>
            <a:r>
              <a:rPr lang="en-US" altLang="en-US" sz="2400" dirty="0" err="1">
                <a:solidFill>
                  <a:srgbClr val="800000"/>
                </a:solidFill>
                <a:latin typeface="APL385 Unicode" panose="020B0709000202000203" pitchFamily="49" charset="0"/>
              </a:rPr>
              <a:t>EndIf</a:t>
            </a:r>
            <a:r>
              <a:rPr lang="en-US" altLang="en-US" sz="2400" dirty="0">
                <a:latin typeface="APL385 Unicode" panose="020B0709000202000203" pitchFamily="49" charset="0"/>
              </a:rPr>
              <a:t> </a:t>
            </a:r>
            <a:endParaRPr lang="en-US" altLang="en-US" sz="4800" dirty="0">
              <a:latin typeface="APL385 Unicode" panose="020B0709000202000203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DAE61-E24D-91C6-647D-770F15E80103}"/>
              </a:ext>
            </a:extLst>
          </p:cNvPr>
          <p:cNvSpPr txBox="1"/>
          <p:nvPr/>
        </p:nvSpPr>
        <p:spPr>
          <a:xfrm>
            <a:off x="5066775" y="1102469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:OrIf</a:t>
            </a:r>
          </a:p>
        </p:txBody>
      </p:sp>
    </p:spTree>
    <p:extLst>
      <p:ext uri="{BB962C8B-B14F-4D97-AF65-F5344CB8AC3E}">
        <p14:creationId xmlns:p14="http://schemas.microsoft.com/office/powerpoint/2010/main" val="122007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6A2370-E9A2-64F2-93D7-72EBB9E5C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Think!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455B9B-46E7-F936-BE24-E73A0D80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Optimisation :While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601A0DF-B5EC-65B2-3F99-B1470E2407F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4EF02-7838-6CC7-F6A6-1BF990B6C4B4}"/>
              </a:ext>
            </a:extLst>
          </p:cNvPr>
          <p:cNvSpPr txBox="1"/>
          <p:nvPr/>
        </p:nvSpPr>
        <p:spPr>
          <a:xfrm>
            <a:off x="1763688" y="2085696"/>
            <a:ext cx="5832648" cy="15696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:While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LikelyToBeFalse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AndIf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expensiveTest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/>
              <a:t>     …</a:t>
            </a:r>
          </a:p>
          <a:p>
            <a:endParaRPr lang="en-GB" dirty="0"/>
          </a:p>
          <a:p>
            <a:r>
              <a:rPr lang="en-GB" sz="2400" dirty="0"/>
              <a:t>Is probably better than: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F48A3-65FC-6C1B-A3C4-C887477430C5}"/>
              </a:ext>
            </a:extLst>
          </p:cNvPr>
          <p:cNvSpPr txBox="1"/>
          <p:nvPr/>
        </p:nvSpPr>
        <p:spPr>
          <a:xfrm>
            <a:off x="1709682" y="3865390"/>
            <a:ext cx="5832648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:While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LikelyToBeFalse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∧ </a:t>
            </a:r>
            <a:r>
              <a:rPr lang="en-GB" dirty="0" err="1">
                <a:latin typeface="APL385 Unicode" panose="020B0709000202000203" pitchFamily="49" charset="0"/>
              </a:rPr>
              <a:t>expensiveTest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/>
              <a:t>     …</a:t>
            </a:r>
          </a:p>
        </p:txBody>
      </p:sp>
    </p:spTree>
    <p:extLst>
      <p:ext uri="{BB962C8B-B14F-4D97-AF65-F5344CB8AC3E}">
        <p14:creationId xmlns:p14="http://schemas.microsoft.com/office/powerpoint/2010/main" val="2113042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B8215-FA73-8D1D-E0CA-6A7E6511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772D0F-58A7-D56A-85F4-074794228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You will often see: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57F060-7D6E-6CEF-0BE0-2D33DBEE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Optimisation :While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2A7402-BCCE-5F71-346F-81CCCC81CAF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BD77B-100F-ADCA-7C2C-49F003C698ED}"/>
              </a:ext>
            </a:extLst>
          </p:cNvPr>
          <p:cNvSpPr txBox="1"/>
          <p:nvPr/>
        </p:nvSpPr>
        <p:spPr>
          <a:xfrm>
            <a:off x="1763688" y="2085696"/>
            <a:ext cx="5832648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:While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PreCondition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AndIf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latin typeface="APL385 Unicode" panose="020B0709000202000203" pitchFamily="49" charset="0"/>
              </a:rPr>
              <a:t>onlyComputableIfPreCondition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/>
              <a:t>     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1176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2209A7-22F5-A654-3612-C81B7CA23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Loop at least once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A4B958-791F-91C0-8D13-C9A8A38FD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:Repeat … :Until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A0F971C-8622-6DCE-6A5E-59C39470F9F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6F694-5303-B1FC-F0C3-41C67D728FC0}"/>
              </a:ext>
            </a:extLst>
          </p:cNvPr>
          <p:cNvSpPr txBox="1"/>
          <p:nvPr/>
        </p:nvSpPr>
        <p:spPr>
          <a:xfrm>
            <a:off x="1385646" y="1977684"/>
            <a:ext cx="2754306" cy="138499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:Repeat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:Until </a:t>
            </a:r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condition</a:t>
            </a:r>
            <a:r>
              <a:rPr lang="en-GB" sz="2100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29716-FE21-FD1D-E28F-C8AEE3DB8419}"/>
              </a:ext>
            </a:extLst>
          </p:cNvPr>
          <p:cNvSpPr txBox="1"/>
          <p:nvPr/>
        </p:nvSpPr>
        <p:spPr>
          <a:xfrm>
            <a:off x="4405196" y="1977684"/>
            <a:ext cx="3996444" cy="138499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:Repeat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⎕←'go skiing'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Temp←ReadThermo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:Until Temp&gt;0</a:t>
            </a:r>
          </a:p>
        </p:txBody>
      </p:sp>
    </p:spTree>
    <p:extLst>
      <p:ext uri="{BB962C8B-B14F-4D97-AF65-F5344CB8AC3E}">
        <p14:creationId xmlns:p14="http://schemas.microsoft.com/office/powerpoint/2010/main" val="1887727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41AFFE-C009-1F31-EF9F-B19BA05FE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For example, using </a:t>
            </a:r>
            <a:r>
              <a:rPr lang="da-DK" dirty="0">
                <a:latin typeface="APL385 Unicode" panose="020B0709000202000203" pitchFamily="49" charset="0"/>
              </a:rPr>
              <a:t>:Repeat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9FFE67-054A-A4A5-7F38-5219ED25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:Leave (any control structure)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F804A70-6CE3-9B0E-4536-220B7F3D184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E9375-3C26-2394-BF04-07C523CEE8C5}"/>
              </a:ext>
            </a:extLst>
          </p:cNvPr>
          <p:cNvSpPr txBox="1"/>
          <p:nvPr/>
        </p:nvSpPr>
        <p:spPr>
          <a:xfrm>
            <a:off x="1493658" y="1887395"/>
            <a:ext cx="2754306" cy="23544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:Repeat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 do this</a:t>
            </a:r>
          </a:p>
          <a:p>
            <a:endParaRPr lang="en-GB" sz="2100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:Leave</a:t>
            </a:r>
          </a:p>
          <a:p>
            <a:endParaRPr lang="en-GB" sz="2100" dirty="0">
              <a:solidFill>
                <a:srgbClr val="FF6600"/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 do that?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EndRepeat</a:t>
            </a:r>
            <a:endParaRPr lang="en-GB" sz="2100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AB39-1943-F187-FBCC-699F8B0124F8}"/>
              </a:ext>
            </a:extLst>
          </p:cNvPr>
          <p:cNvSpPr txBox="1"/>
          <p:nvPr/>
        </p:nvSpPr>
        <p:spPr>
          <a:xfrm>
            <a:off x="4247964" y="1864871"/>
            <a:ext cx="3942438" cy="23544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:Repeat</a:t>
            </a:r>
            <a:b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Temp←ReadThermo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:If Temp&gt;0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  :Leave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'go skiing'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EndRepeat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60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F3C369-0682-4286-7ACB-13FBFD38F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Execute a block repeatedly for a series of values: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D6A154-7779-9999-4876-1545F980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:For … :</a:t>
            </a:r>
            <a:r>
              <a:rPr lang="en-GB" dirty="0" err="1"/>
              <a:t>EndFor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39296C3-2883-A7E1-E110-68417E8B355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4B446-DA96-45F8-12D3-D8DAF0E42F0F}"/>
              </a:ext>
            </a:extLst>
          </p:cNvPr>
          <p:cNvSpPr txBox="1"/>
          <p:nvPr/>
        </p:nvSpPr>
        <p:spPr>
          <a:xfrm>
            <a:off x="1266614" y="2390134"/>
            <a:ext cx="3610811" cy="10618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:For  </a:t>
            </a:r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v </a:t>
            </a:r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:In </a:t>
            </a:r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values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EndFor</a:t>
            </a:r>
            <a:endParaRPr lang="en-GB" sz="2100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E156F-1061-1D99-D7E9-C6ED9F93E212}"/>
              </a:ext>
            </a:extLst>
          </p:cNvPr>
          <p:cNvSpPr txBox="1"/>
          <p:nvPr/>
        </p:nvSpPr>
        <p:spPr>
          <a:xfrm>
            <a:off x="4797327" y="2390134"/>
            <a:ext cx="3834426" cy="10618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:For n :In ⍳10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n,n</a:t>
            </a: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*2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EndFor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145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C89577-5248-2BC5-9A15-79AEFEAF1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Execute a block repeatedly for respective items within a series of values: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81D77C-A8ED-D2D8-51D6-B769862F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:For … :</a:t>
            </a:r>
            <a:r>
              <a:rPr lang="en-GB" dirty="0" err="1"/>
              <a:t>InEach</a:t>
            </a:r>
            <a:r>
              <a:rPr lang="en-GB" dirty="0"/>
              <a:t> … :</a:t>
            </a:r>
            <a:r>
              <a:rPr lang="en-GB" dirty="0" err="1"/>
              <a:t>EndFor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6753FF1-A72A-1273-0C60-16E35972ABA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B879D-1CF8-476A-C831-3237AE9831D0}"/>
              </a:ext>
            </a:extLst>
          </p:cNvPr>
          <p:cNvSpPr txBox="1"/>
          <p:nvPr/>
        </p:nvSpPr>
        <p:spPr>
          <a:xfrm>
            <a:off x="64447" y="2163228"/>
            <a:ext cx="4195133" cy="1938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:For v :In (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1 2 3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)(</a:t>
            </a:r>
            <a:r>
              <a:rPr lang="en-GB" sz="2000" dirty="0">
                <a:solidFill>
                  <a:srgbClr val="00B0F0"/>
                </a:solidFill>
                <a:latin typeface="APL385 Unicode" panose="020B0709000202000203" pitchFamily="49" charset="0"/>
              </a:rPr>
              <a:t>4 5 6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)</a:t>
            </a:r>
          </a:p>
          <a:p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⎕←v</a:t>
            </a:r>
          </a:p>
          <a:p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:</a:t>
            </a:r>
            <a:r>
              <a:rPr lang="en-GB" sz="20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EndFor</a:t>
            </a:r>
            <a:endParaRPr lang="en-GB" sz="20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endParaRPr lang="en-GB" sz="20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1 2 3</a:t>
            </a:r>
          </a:p>
          <a:p>
            <a:r>
              <a:rPr lang="en-GB" sz="2000" dirty="0">
                <a:solidFill>
                  <a:srgbClr val="00B0F0"/>
                </a:solidFill>
                <a:latin typeface="APL385 Unicode" panose="020B0709000202000203" pitchFamily="49" charset="0"/>
              </a:rPr>
              <a:t>4 5 6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8B4CD-3EA9-2631-47C8-212402471693}"/>
              </a:ext>
            </a:extLst>
          </p:cNvPr>
          <p:cNvSpPr txBox="1"/>
          <p:nvPr/>
        </p:nvSpPr>
        <p:spPr>
          <a:xfrm>
            <a:off x="4259580" y="2163228"/>
            <a:ext cx="4819973" cy="224676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:For v :</a:t>
            </a:r>
            <a:r>
              <a:rPr lang="en-GB" sz="20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InEach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(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1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B0F0"/>
                </a:solidFill>
                <a:latin typeface="APL385 Unicode" panose="020B0709000202000203" pitchFamily="49" charset="0"/>
              </a:rPr>
              <a:t>2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APL385 Unicode" panose="020B0709000202000203" pitchFamily="49" charset="0"/>
              </a:rPr>
              <a:t>3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)(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4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B0F0"/>
                </a:solidFill>
                <a:latin typeface="APL385 Unicode" panose="020B0709000202000203" pitchFamily="49" charset="0"/>
              </a:rPr>
              <a:t>5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APL385 Unicode" panose="020B0709000202000203" pitchFamily="49" charset="0"/>
              </a:rPr>
              <a:t>6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)</a:t>
            </a:r>
          </a:p>
          <a:p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⎕←v</a:t>
            </a:r>
          </a:p>
          <a:p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:</a:t>
            </a:r>
            <a:r>
              <a:rPr lang="en-GB" sz="20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EndFor</a:t>
            </a:r>
            <a:endParaRPr lang="en-GB" sz="20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endParaRPr lang="en-GB" sz="20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1 4</a:t>
            </a:r>
          </a:p>
          <a:p>
            <a:r>
              <a:rPr lang="en-GB" sz="2000" dirty="0">
                <a:solidFill>
                  <a:srgbClr val="00B0F0"/>
                </a:solidFill>
                <a:latin typeface="APL385 Unicode" panose="020B0709000202000203" pitchFamily="49" charset="0"/>
              </a:rPr>
              <a:t>2 5</a:t>
            </a:r>
          </a:p>
          <a:p>
            <a:r>
              <a:rPr lang="en-GB" sz="2000" dirty="0">
                <a:solidFill>
                  <a:srgbClr val="FF0000"/>
                </a:solidFill>
                <a:latin typeface="APL385 Unicode" panose="020B0709000202000203" pitchFamily="49" charset="0"/>
              </a:rPr>
              <a:t>3 6</a:t>
            </a:r>
          </a:p>
        </p:txBody>
      </p:sp>
    </p:spTree>
    <p:extLst>
      <p:ext uri="{BB962C8B-B14F-4D97-AF65-F5344CB8AC3E}">
        <p14:creationId xmlns:p14="http://schemas.microsoft.com/office/powerpoint/2010/main" val="4118497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A56090-75B2-BF7D-2119-7238F5D46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Skip the rest of the block.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57F6B9-FD3D-FA61-07FA-95DC963E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:Continue (within a loop)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493EDCB-EBBB-22AE-7BC2-A3966D689EF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A2A3D-99C4-F9DB-6B88-AD309228D183}"/>
              </a:ext>
            </a:extLst>
          </p:cNvPr>
          <p:cNvSpPr txBox="1"/>
          <p:nvPr/>
        </p:nvSpPr>
        <p:spPr>
          <a:xfrm>
            <a:off x="853440" y="1969657"/>
            <a:ext cx="3308039" cy="20313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:For v :In values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 …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:Continue</a:t>
            </a: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 do this</a:t>
            </a:r>
          </a:p>
          <a:p>
            <a:endParaRPr lang="en-GB" sz="2100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EndFor</a:t>
            </a:r>
            <a:endParaRPr lang="en-GB" sz="2100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F85AB-5AEF-7797-6A1F-8ABBC7FAD95A}"/>
              </a:ext>
            </a:extLst>
          </p:cNvPr>
          <p:cNvSpPr txBox="1"/>
          <p:nvPr/>
        </p:nvSpPr>
        <p:spPr>
          <a:xfrm>
            <a:off x="4445474" y="1969657"/>
            <a:ext cx="3942438" cy="20313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:For n :In ⍳10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:If n∊4 6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   :Continue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EndIf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n,n</a:t>
            </a: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*2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EndFor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638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B8C1C-29E7-5B08-F7BD-6C285DAD3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TradFns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end when the </a:t>
            </a: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last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line is executed. You can exit earlier using: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→0   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:Return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96BBB8-F323-02F3-95F8-476C73D1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:Leave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B75383F-22F2-17F5-D908-CCB5296487E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987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9F89D6-DBE4-95F3-83C9-21C511E9B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Historical note</a:t>
            </a: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the early days, the only way to alter the flow of execution was the branch arrow (</a:t>
            </a: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→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or </a:t>
            </a:r>
            <a:r>
              <a:rPr lang="en-GB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goto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go to a specific line number one would write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→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lineNo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If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lineNo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was NOT one of the lines in the program, the program would exit.</a:t>
            </a:r>
            <a:endParaRPr lang="da-DK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da-DK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of branching risks spaghettification, in which function calls form a confusing labyrinth. Do not use </a:t>
            </a:r>
            <a:r>
              <a:rPr lang="da-DK" b="1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:Goto</a:t>
            </a:r>
            <a:r>
              <a:rPr lang="da-DK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either!</a:t>
            </a:r>
          </a:p>
          <a:p>
            <a:r>
              <a:rPr lang="da-DK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Goto may be used with strict sequence-based enumeration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4483C2-AAEB-ED7B-7BEA-8712A774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329A1AC-4ECB-A700-1298-C22BA5E8F6F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066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80F7-C564-D4FF-481B-AC4D24A3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1219EB-734B-B51D-3816-CC6DFF767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 every possible input for your system</a:t>
            </a: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Determine the correct response to that input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F7ACDF-CF73-1DB5-D66B-B89933178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Sequence-based Enumeration</a:t>
            </a:r>
            <a:endParaRPr lang="en-GB" sz="2000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E9627A1-541C-31D0-C081-F7399F98E6A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37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0E66F0-EE0E-FCE4-1A47-A88C6016A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</a:t>
            </a: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itchFamily="49" charset="0"/>
              </a:rPr>
              <a:t>→⍳0 </a:t>
            </a: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would continue to the next line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conditionally branch to line 10 one would write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</a:t>
            </a: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→Condition/10</a:t>
            </a:r>
          </a:p>
          <a:p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avoid renumbering the statements when the program would change LABELS were used.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1CC6AE-8831-2173-DE88-8786B8F6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89AF891-6470-A4ED-BDE9-75317A17950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052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C4AC2A-5FC8-C5A6-E83E-0B8705E3C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label appears at the start of a line, followed by a colon: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→Condition/Lab1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…</a:t>
            </a:r>
          </a:p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  <a:latin typeface="APL385 Unicode" panose="020B0709000202000203" pitchFamily="49" charset="0"/>
              </a:rPr>
              <a:t> Lab1: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label is a local variable which is automatically assigned the value of the line it appears on.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4A4E6B-2419-AA5C-F2D3-4D58405A8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EC375DD-9219-3C4D-C6F3-AB3B0B6AE89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795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E1011-E279-4D58-9100-E5F2FF26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572A4E-4C36-4735-996A-14E331140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→(condition)/1+⎕LC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⋄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expression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… conditionally branches to the next line (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⎕LC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the line counter). This is equivalent to …</a:t>
            </a:r>
          </a:p>
          <a:p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:If ~condition</a:t>
            </a:r>
            <a:b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    expression</a:t>
            </a:r>
            <a:b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EndIf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  <a:p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NOT remove </a:t>
            </a:r>
            <a:r>
              <a:rPr lang="en-GB" dirty="0">
                <a:solidFill>
                  <a:srgbClr val="FF6600"/>
                </a:solidFill>
              </a:rPr>
              <a:t>the diamond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you will BREAK the code!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D29426-30D5-CE1B-851C-B6EB35D6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90A04F8-0C44-DDBE-A9DB-FEFA4D56FDF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134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5B0C-2041-AFC2-36B8-A6A20664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50AEF-CBE5-85BC-4608-E0689E0FB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If you end up in an infinite loop, use:</a:t>
            </a:r>
          </a:p>
          <a:p>
            <a:r>
              <a:rPr lang="en-GB" b="1" dirty="0" err="1">
                <a:solidFill>
                  <a:srgbClr val="FF6600"/>
                </a:solidFill>
              </a:rPr>
              <a:t>Ctrl+Break</a:t>
            </a:r>
            <a:r>
              <a:rPr lang="en-GB" dirty="0"/>
              <a:t> key</a:t>
            </a:r>
          </a:p>
          <a:p>
            <a:r>
              <a:rPr lang="en-GB" b="1" dirty="0">
                <a:solidFill>
                  <a:srgbClr val="FF6600"/>
                </a:solidFill>
              </a:rPr>
              <a:t>Action</a:t>
            </a:r>
            <a:r>
              <a:rPr lang="en-GB" dirty="0"/>
              <a:t> → </a:t>
            </a:r>
            <a:r>
              <a:rPr lang="en-GB" b="1" dirty="0">
                <a:solidFill>
                  <a:srgbClr val="FF6600"/>
                </a:solidFill>
              </a:rPr>
              <a:t>Interrupt</a:t>
            </a:r>
          </a:p>
          <a:p>
            <a:r>
              <a:rPr lang="en-GB" b="1" dirty="0">
                <a:solidFill>
                  <a:srgbClr val="FF6600"/>
                </a:solidFill>
              </a:rPr>
              <a:t>Right Click</a:t>
            </a:r>
            <a:r>
              <a:rPr lang="en-GB" dirty="0"/>
              <a:t> → </a:t>
            </a:r>
            <a:r>
              <a:rPr lang="en-GB" b="1" dirty="0">
                <a:solidFill>
                  <a:srgbClr val="FF6600"/>
                </a:solidFill>
              </a:rPr>
              <a:t>Interrupt</a:t>
            </a:r>
          </a:p>
          <a:p>
            <a:r>
              <a:rPr lang="en-GB" dirty="0"/>
              <a:t>Click system tray icon and select </a:t>
            </a:r>
            <a:r>
              <a:rPr lang="en-GB" b="1" dirty="0">
                <a:solidFill>
                  <a:srgbClr val="FF6600"/>
                </a:solidFill>
              </a:rPr>
              <a:t>Strong Interrupt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E8F728-F46C-AC5D-7349-1264C28A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Interrupt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FDECCA1-9A26-DF27-856A-BD920A2BA42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3727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E173A4-1F8D-204B-6502-43602BCE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You can "trap" errors and handle them: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D73B48-A7DE-9317-D4C1-A5C55AD39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:Trap … :Case … :Else … :</a:t>
            </a:r>
            <a:r>
              <a:rPr lang="en-GB" sz="3200" dirty="0" err="1"/>
              <a:t>EndTrap</a:t>
            </a:r>
            <a:endParaRPr lang="en-GB" sz="3200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D2EC7DD-6EDC-C221-13AD-E2C0CA3F8FD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EB883-0240-CF06-E094-39E9E250C09A}"/>
              </a:ext>
            </a:extLst>
          </p:cNvPr>
          <p:cNvSpPr txBox="1"/>
          <p:nvPr/>
        </p:nvSpPr>
        <p:spPr>
          <a:xfrm>
            <a:off x="823207" y="1856116"/>
            <a:ext cx="2754306" cy="17081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:Trap  </a:t>
            </a:r>
            <a:r>
              <a:rPr lang="en-GB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errorCode</a:t>
            </a:r>
            <a:endParaRPr lang="en-GB" sz="2100" dirty="0">
              <a:latin typeface="APL385 Unicode" panose="020B0709000202000203" pitchFamily="49" charset="0"/>
            </a:endParaRPr>
          </a:p>
          <a:p>
            <a:r>
              <a:rPr lang="en-GB" sz="21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:Case  </a:t>
            </a:r>
            <a:r>
              <a:rPr lang="en-GB" sz="2100" dirty="0" err="1">
                <a:latin typeface="APL385 Unicode" panose="020B0709000202000203" pitchFamily="49" charset="0"/>
              </a:rPr>
              <a:t>errorX</a:t>
            </a:r>
            <a:endParaRPr lang="en-GB" sz="2100" dirty="0">
              <a:latin typeface="APL385 Unicode" panose="020B0709000202000203" pitchFamily="49" charset="0"/>
            </a:endParaRPr>
          </a:p>
          <a:p>
            <a:r>
              <a:rPr lang="en-GB" sz="21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EndTrap</a:t>
            </a:r>
            <a:endParaRPr lang="en-GB" sz="2100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BA791-AA69-7C1F-4CA4-E931D0A5257B}"/>
              </a:ext>
            </a:extLst>
          </p:cNvPr>
          <p:cNvSpPr txBox="1"/>
          <p:nvPr/>
        </p:nvSpPr>
        <p:spPr>
          <a:xfrm>
            <a:off x="4323736" y="1856116"/>
            <a:ext cx="4131078" cy="23544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:Trap 0 ⍝ all errors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a←b÷c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:Case 11 ⍝ DOMAIN ERROR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⎕←'divide by zero?'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:Else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⎕←'oops!'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EndTrap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136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18653-E29A-D901-AF8E-B72DD3F2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4A3A16-2B95-56C1-F46A-D9E98B9D5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You can "trap" errors and handle them: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D13E4D-14D6-3E5C-6291-B38D9EDD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:Trap … :Case … :Else … :</a:t>
            </a:r>
            <a:r>
              <a:rPr lang="en-GB" sz="3200" dirty="0" err="1"/>
              <a:t>EndTrap</a:t>
            </a:r>
            <a:endParaRPr lang="en-GB" sz="3200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14C311-D29F-1E1E-CFBD-09067B849FA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46732-EA1C-B04A-1951-3C611AB28978}"/>
              </a:ext>
            </a:extLst>
          </p:cNvPr>
          <p:cNvSpPr txBox="1"/>
          <p:nvPr/>
        </p:nvSpPr>
        <p:spPr>
          <a:xfrm>
            <a:off x="823207" y="1856116"/>
            <a:ext cx="2754306" cy="17081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:Trap  </a:t>
            </a:r>
            <a:r>
              <a:rPr lang="en-GB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errorCode</a:t>
            </a:r>
            <a:endParaRPr lang="en-GB" sz="2100" dirty="0">
              <a:latin typeface="APL385 Unicode" panose="020B0709000202000203" pitchFamily="49" charset="0"/>
            </a:endParaRPr>
          </a:p>
          <a:p>
            <a:r>
              <a:rPr lang="en-GB" sz="2100" dirty="0">
                <a:latin typeface="APL385 Unicode" panose="020B0709000202000203" pitchFamily="49" charset="0"/>
              </a:rPr>
              <a:t>     do this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:Case  </a:t>
            </a:r>
            <a:r>
              <a:rPr lang="en-GB" sz="2100" dirty="0" err="1">
                <a:latin typeface="APL385 Unicode" panose="020B0709000202000203" pitchFamily="49" charset="0"/>
              </a:rPr>
              <a:t>errorX</a:t>
            </a:r>
            <a:endParaRPr lang="en-GB" sz="2100" dirty="0">
              <a:latin typeface="APL385 Unicode" panose="020B0709000202000203" pitchFamily="49" charset="0"/>
            </a:endParaRPr>
          </a:p>
          <a:p>
            <a:r>
              <a:rPr lang="en-GB" sz="2100" dirty="0">
                <a:latin typeface="APL385 Unicode" panose="020B0709000202000203" pitchFamily="49" charset="0"/>
              </a:rPr>
              <a:t>     do that</a:t>
            </a:r>
          </a:p>
          <a:p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EndTrap</a:t>
            </a:r>
            <a:endParaRPr lang="en-GB" sz="2100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4569C-6F9F-1787-49AB-11A8CDA0324B}"/>
              </a:ext>
            </a:extLst>
          </p:cNvPr>
          <p:cNvSpPr txBox="1"/>
          <p:nvPr/>
        </p:nvSpPr>
        <p:spPr>
          <a:xfrm>
            <a:off x="4323736" y="1856116"/>
            <a:ext cx="4131078" cy="23544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:Trap 0 ⍝ all errors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a←b÷c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:Case 11 ⍝ DOMAIN ERROR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⎕←'divide by zero?'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:Else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⎕←'oops!'</a:t>
            </a:r>
          </a:p>
          <a:p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:</a:t>
            </a:r>
            <a:r>
              <a:rPr lang="en-GB" sz="2100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EndTrap</a:t>
            </a:r>
            <a:endParaRPr lang="en-GB" sz="21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3A016B-FDDD-B034-6838-819DC20B2645}"/>
              </a:ext>
            </a:extLst>
          </p:cNvPr>
          <p:cNvSpPr/>
          <p:nvPr/>
        </p:nvSpPr>
        <p:spPr>
          <a:xfrm>
            <a:off x="2230811" y="1810787"/>
            <a:ext cx="3604260" cy="1661160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See our Error Handling webinar series on Dyalog.TV!</a:t>
            </a:r>
          </a:p>
        </p:txBody>
      </p:sp>
    </p:spTree>
    <p:extLst>
      <p:ext uri="{BB962C8B-B14F-4D97-AF65-F5344CB8AC3E}">
        <p14:creationId xmlns:p14="http://schemas.microsoft.com/office/powerpoint/2010/main" val="118961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CAA18E-E850-AD1D-74AC-DB958B06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dirty="0"/>
              <a:t>dfns intend to support declarative programming, without loops.</a:t>
            </a:r>
            <a:endParaRPr lang="en-GB" dirty="0"/>
          </a:p>
          <a:p>
            <a:pPr marL="0" indent="0">
              <a:buNone/>
            </a:pPr>
            <a:r>
              <a:rPr lang="da-DK" dirty="0"/>
              <a:t>A dfn terminates when a condition is met.</a:t>
            </a:r>
          </a:p>
          <a:p>
            <a:pPr marL="0" indent="0">
              <a:buNone/>
            </a:pPr>
            <a:r>
              <a:rPr lang="da-DK" dirty="0"/>
              <a:t>The only loop construct allowed is recursion.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da-DK" dirty="0"/>
              <a:t>F</a:t>
            </a:r>
            <a:r>
              <a:rPr lang="en-GB" dirty="0"/>
              <a:t>or geeks in the room: </a:t>
            </a:r>
          </a:p>
          <a:p>
            <a:pPr marL="0" indent="0">
              <a:buNone/>
            </a:pPr>
            <a:r>
              <a:rPr lang="en-GB" dirty="0"/>
              <a:t>	Tail recursion *is* optimised.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B5E1F0-27B3-3A6A-4434-96A8DA7E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Flow in </a:t>
            </a:r>
            <a:r>
              <a:rPr lang="en-GB" dirty="0" err="1"/>
              <a:t>dfns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FEF5900-B894-6F00-7159-650F4AE8425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8228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0A04A4-3166-D692-3626-13B7D4BC1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A </a:t>
            </a:r>
            <a:r>
              <a:rPr lang="en-GB" dirty="0" err="1"/>
              <a:t>dfn</a:t>
            </a:r>
            <a:r>
              <a:rPr lang="en-GB" dirty="0"/>
              <a:t> line containing a colon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  <a:sym typeface="Wingdings" panose="05000000000000000000" pitchFamily="2" charset="2"/>
              </a:rPr>
              <a:t>:</a:t>
            </a:r>
            <a:r>
              <a:rPr lang="en-GB" dirty="0">
                <a:sym typeface="Wingdings" panose="05000000000000000000" pitchFamily="2" charset="2"/>
              </a:rPr>
              <a:t>)</a:t>
            </a:r>
            <a:r>
              <a:rPr lang="en-GB" dirty="0"/>
              <a:t> is a </a:t>
            </a:r>
            <a:r>
              <a:rPr lang="en-GB" b="1" i="1" dirty="0"/>
              <a:t>guard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On the left is a condition, like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⍵&gt;0</a:t>
            </a:r>
          </a:p>
          <a:p>
            <a:pPr marL="0" indent="0">
              <a:buNone/>
            </a:pPr>
            <a:r>
              <a:rPr lang="da-DK" dirty="0"/>
              <a:t>If satisfied, the result of the function is computed using the expression on the right.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Otherwise, the first line</a:t>
            </a:r>
            <a:br>
              <a:rPr lang="da-DK" dirty="0"/>
            </a:br>
            <a:r>
              <a:rPr lang="da-DK" dirty="0"/>
              <a:t>which does not do an </a:t>
            </a:r>
            <a:br>
              <a:rPr lang="da-DK" dirty="0"/>
            </a:br>
            <a:r>
              <a:rPr lang="da-DK" dirty="0"/>
              <a:t>assignment provides </a:t>
            </a:r>
            <a:br>
              <a:rPr lang="da-DK" dirty="0"/>
            </a:br>
            <a:r>
              <a:rPr lang="da-DK" dirty="0"/>
              <a:t>the result.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3FB924-52A3-0468-25B5-A55063EA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dfn</a:t>
            </a:r>
            <a:r>
              <a:rPr lang="en-GB" dirty="0"/>
              <a:t> </a:t>
            </a:r>
            <a:r>
              <a:rPr lang="en-GB" b="1" i="1" dirty="0">
                <a:solidFill>
                  <a:srgbClr val="FF6600"/>
                </a:solidFill>
              </a:rPr>
              <a:t>guards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1EDD8FC-EF59-7208-434E-D9F2E5837B6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92963-59EE-0F97-87C0-CEF570ADB115}"/>
              </a:ext>
            </a:extLst>
          </p:cNvPr>
          <p:cNvSpPr txBox="1"/>
          <p:nvPr/>
        </p:nvSpPr>
        <p:spPr>
          <a:xfrm>
            <a:off x="4547005" y="2625757"/>
            <a:ext cx="3265356" cy="1938992"/>
          </a:xfrm>
          <a:prstGeom prst="rect">
            <a:avLst/>
          </a:prstGeom>
          <a:solidFill>
            <a:schemeClr val="tx1"/>
          </a:solidFill>
          <a:ln w="38100">
            <a:solidFill>
              <a:srgbClr val="FF6600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{ </a:t>
            </a:r>
            <a:b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</a:br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 ⍵&gt;0:'positive'</a:t>
            </a:r>
          </a:p>
          <a:p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 ⍵&lt;0:'negative'</a:t>
            </a:r>
          </a:p>
          <a:p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 'Zero'</a:t>
            </a:r>
          </a:p>
          <a:p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07286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C9FABD-80DD-3A50-088F-2A10DDD38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only possible loop is recursion. The </a:t>
            </a:r>
            <a:r>
              <a:rPr lang="en-GB" dirty="0">
                <a:latin typeface="APL385 Unicode" panose="020B0709000202000203" pitchFamily="49" charset="0"/>
              </a:rPr>
              <a:t>∇</a:t>
            </a:r>
            <a:r>
              <a:rPr lang="en-GB" dirty="0"/>
              <a:t> symbol is a self-reference. </a:t>
            </a:r>
          </a:p>
          <a:p>
            <a:pPr marL="0" indent="0">
              <a:buNone/>
            </a:pPr>
            <a:r>
              <a:rPr lang="en-GB" sz="1500" dirty="0"/>
              <a:t>(Thus, a </a:t>
            </a:r>
            <a:r>
              <a:rPr lang="en-GB" sz="1500" dirty="0" err="1"/>
              <a:t>dfn</a:t>
            </a:r>
            <a:r>
              <a:rPr lang="en-GB" sz="1500" dirty="0"/>
              <a:t> never needs to </a:t>
            </a:r>
            <a:r>
              <a:rPr lang="en-GB" sz="1500"/>
              <a:t>know its </a:t>
            </a:r>
            <a:r>
              <a:rPr lang="en-GB" sz="1500" dirty="0"/>
              <a:t>own name – or even have a name)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34B68D-0F44-797E-A37E-66BFE4EEA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dfn</a:t>
            </a:r>
            <a:r>
              <a:rPr lang="en-GB" dirty="0"/>
              <a:t> </a:t>
            </a:r>
            <a:r>
              <a:rPr lang="en-GB" b="1" i="1" dirty="0">
                <a:solidFill>
                  <a:srgbClr val="FF6600"/>
                </a:solidFill>
              </a:rPr>
              <a:t>recursion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8F67E54-9723-DD60-42F3-718AB505C2D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A0CCD-2124-871E-DC4D-A54E8234E5EB}"/>
              </a:ext>
            </a:extLst>
          </p:cNvPr>
          <p:cNvSpPr txBox="1"/>
          <p:nvPr/>
        </p:nvSpPr>
        <p:spPr>
          <a:xfrm>
            <a:off x="1709682" y="2733768"/>
            <a:ext cx="5849358" cy="1569660"/>
          </a:xfrm>
          <a:prstGeom prst="rect">
            <a:avLst/>
          </a:prstGeom>
          <a:solidFill>
            <a:schemeClr val="tx1"/>
          </a:solidFill>
          <a:ln w="38100">
            <a:solidFill>
              <a:srgbClr val="FF6600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factorial←{</a:t>
            </a:r>
            <a:b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</a:br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  ⍵=0: 1</a:t>
            </a:r>
          </a:p>
          <a:p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  ⍵ × ∇ ⍵-1   ⍝ call self(⍵-1)</a:t>
            </a:r>
          </a:p>
          <a:p>
            <a:r>
              <a:rPr lang="en-GB" sz="2400" dirty="0">
                <a:solidFill>
                  <a:schemeClr val="bg1"/>
                </a:solidFill>
                <a:latin typeface="APL385 Unicode" panose="020B0709000202000203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70669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A8F58E-0B00-45AA-8356-66D63077C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An error guard is an error number followed by </a:t>
            </a:r>
            <a:r>
              <a:rPr lang="en-GB" b="1" dirty="0">
                <a:solidFill>
                  <a:srgbClr val="FF0000"/>
                </a:solidFill>
                <a:latin typeface="APL385 Unicode" panose="020B0709000202000203" pitchFamily="49" charset="0"/>
              </a:rPr>
              <a:t>::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Div←{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11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::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Division by zero'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⍺÷⍵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}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 Div 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 Div 0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Division by zero</a:t>
            </a:r>
            <a:endParaRPr lang="en-GB" b="1" dirty="0">
              <a:solidFill>
                <a:srgbClr val="FF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7CCA16-3B19-C8C3-F400-CA50168E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dfn</a:t>
            </a:r>
            <a:r>
              <a:rPr lang="en-GB" dirty="0"/>
              <a:t> </a:t>
            </a:r>
            <a:r>
              <a:rPr lang="en-GB" b="1" i="1" dirty="0">
                <a:solidFill>
                  <a:srgbClr val="FF6600"/>
                </a:solidFill>
              </a:rPr>
              <a:t>error guards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0579A24-A886-E343-AFA2-05196C81FF8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7632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7E1C02-FA42-4686-064B-7B86FD18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If you want to clear the last call from the stack you can use "naked" branch (no line number) as in</a:t>
            </a:r>
          </a:p>
          <a:p>
            <a:pPr marL="0" indent="0">
              <a:buNone/>
            </a:pPr>
            <a:r>
              <a:rPr lang="en-GB" dirty="0"/>
              <a:t>You can use the system </a:t>
            </a:r>
            <a:br>
              <a:rPr lang="en-GB" dirty="0"/>
            </a:br>
            <a:r>
              <a:rPr lang="en-GB" dirty="0"/>
              <a:t>command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)SI</a:t>
            </a:r>
          </a:p>
          <a:p>
            <a:pPr marL="0" indent="0">
              <a:buNone/>
            </a:pPr>
            <a:r>
              <a:rPr lang="en-GB" dirty="0"/>
              <a:t>to view the stack: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9F1493-2CBB-0083-0B18-CAE658B6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Naked Branch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→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615996E-CFA3-FBCC-1D78-7B5A9DBB734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6300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02688-5B94-289C-F615-1A19C194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If you need to clear the stack completely you can use the system command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)RESET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)RESET</a:t>
            </a:r>
            <a:r>
              <a:rPr lang="en-GB" dirty="0"/>
              <a:t> takes an argument of how many lines to remove (+</a:t>
            </a:r>
            <a:r>
              <a:rPr lang="en-GB" dirty="0" err="1"/>
              <a:t>ve</a:t>
            </a:r>
            <a:r>
              <a:rPr lang="en-GB" dirty="0"/>
              <a:t>) or keep (-</a:t>
            </a:r>
            <a:r>
              <a:rPr lang="en-GB" dirty="0" err="1"/>
              <a:t>ve</a:t>
            </a:r>
            <a:r>
              <a:rPr lang="en-GB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EFA175-4B7F-444B-B473-586D3C0F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)RESET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D4F55AC-BE7F-BB75-D827-81D16D3794D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0449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B41419-38C4-39DC-953E-2693F8CF3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Control structures are :Keywords that alter the flow of execution</a:t>
            </a:r>
          </a:p>
          <a:p>
            <a:r>
              <a:rPr lang="en-GB" dirty="0" err="1"/>
              <a:t>Dfns</a:t>
            </a:r>
            <a:r>
              <a:rPr lang="en-GB" dirty="0"/>
              <a:t> use guards to control flow and trap errors</a:t>
            </a:r>
          </a:p>
          <a:p>
            <a:r>
              <a:rPr lang="en-GB" dirty="0"/>
              <a:t>To early exit a </a:t>
            </a:r>
            <a:r>
              <a:rPr lang="en-GB" dirty="0" err="1"/>
              <a:t>tradfn</a:t>
            </a:r>
            <a:r>
              <a:rPr lang="en-GB" dirty="0"/>
              <a:t> use →0 or :Return</a:t>
            </a:r>
          </a:p>
          <a:p>
            <a:r>
              <a:rPr lang="en-GB" dirty="0"/>
              <a:t>Prefer control structures over branching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C5CCBD-C69E-4270-7C0C-AC57FF84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0940E5C-CD41-35F5-F30F-43F6EE87281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912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0999-918D-D50D-F900-5BED0C27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F868D3-C099-B4D3-1F06-B0FAD749F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The system command </a:t>
            </a:r>
            <a:r>
              <a:rPr lang="en-GB" dirty="0">
                <a:latin typeface="APL385 Unicode" panose="020B0709000202000203" pitchFamily="49" charset="0"/>
              </a:rPr>
              <a:t>)SI</a:t>
            </a:r>
            <a:r>
              <a:rPr lang="en-GB" dirty="0"/>
              <a:t> shows the call stack</a:t>
            </a:r>
          </a:p>
          <a:p>
            <a:pPr>
              <a:defRPr/>
            </a:pPr>
            <a:r>
              <a:rPr lang="en-GB" dirty="0"/>
              <a:t>A naked branch (</a:t>
            </a:r>
            <a:r>
              <a:rPr lang="en-GB" dirty="0">
                <a:latin typeface="APL385 Unicode" panose="020B0709000202000203" pitchFamily="49" charset="0"/>
              </a:rPr>
              <a:t>→</a:t>
            </a:r>
            <a:r>
              <a:rPr lang="en-GB" dirty="0"/>
              <a:t> no line number) clears the last pending call</a:t>
            </a:r>
          </a:p>
          <a:p>
            <a:pPr>
              <a:defRPr/>
            </a:pPr>
            <a:r>
              <a:rPr lang="en-GB" dirty="0"/>
              <a:t>The system command </a:t>
            </a:r>
            <a:r>
              <a:rPr lang="en-GB" dirty="0">
                <a:latin typeface="APL385 Unicode" panose="020B0709000202000203" pitchFamily="49" charset="0"/>
              </a:rPr>
              <a:t>)RESET</a:t>
            </a:r>
            <a:r>
              <a:rPr lang="en-GB" dirty="0"/>
              <a:t> clears the stack completely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1A3627-8C3C-6B51-C5FD-28365CA7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A596F7C-002D-E7CA-D79D-CF70A63616F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012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5F18F5-9CE5-66F0-2BF8-8845E518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DF9C59B-E59D-CF5A-DF21-32A1656692A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7C43096-6B63-E463-5F57-662CECD5598E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3695416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16571495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E7831C-47CC-EF78-5E9A-63487CAFE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/>
              <a:t>Write a </a:t>
            </a:r>
            <a:r>
              <a:rPr lang="en-GB" dirty="0" err="1"/>
              <a:t>Tradfn</a:t>
            </a:r>
            <a:r>
              <a:rPr lang="en-GB" dirty="0"/>
              <a:t> that prints the integers ascending from the left argument to the right argument, one at a time</a:t>
            </a:r>
          </a:p>
          <a:p>
            <a:pPr>
              <a:buFont typeface="+mj-lt"/>
              <a:buAutoNum type="arabicPeriod"/>
            </a:pPr>
            <a:r>
              <a:rPr lang="en-GB" dirty="0"/>
              <a:t>Write a </a:t>
            </a:r>
            <a:r>
              <a:rPr lang="en-GB" dirty="0" err="1"/>
              <a:t>Tradfn</a:t>
            </a:r>
            <a:r>
              <a:rPr lang="en-GB" dirty="0"/>
              <a:t> to compute the factorial (</a:t>
            </a:r>
            <a:r>
              <a:rPr lang="en-GB" dirty="0">
                <a:latin typeface="APL385 Unicode" panose="020B0709000202000203" pitchFamily="49" charset="0"/>
              </a:rPr>
              <a:t>!⍵</a:t>
            </a:r>
            <a:r>
              <a:rPr lang="en-GB" dirty="0"/>
              <a:t>) of the right argument, using recursion</a:t>
            </a:r>
          </a:p>
          <a:p>
            <a:pPr>
              <a:buFont typeface="+mj-lt"/>
              <a:buAutoNum type="arabicPeriod"/>
            </a:pPr>
            <a:r>
              <a:rPr lang="en-GB" dirty="0"/>
              <a:t>Write a </a:t>
            </a:r>
            <a:r>
              <a:rPr lang="en-GB" dirty="0" err="1"/>
              <a:t>dfn</a:t>
            </a:r>
            <a:r>
              <a:rPr lang="en-GB" dirty="0"/>
              <a:t> to display the numbers from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/>
              <a:t> to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, one by one</a:t>
            </a:r>
          </a:p>
          <a:p>
            <a:pPr>
              <a:buFont typeface="+mj-lt"/>
              <a:buAutoNum type="arabicPeriod"/>
            </a:pPr>
            <a:r>
              <a:rPr lang="en-GB" dirty="0"/>
              <a:t>Write a </a:t>
            </a:r>
            <a:r>
              <a:rPr lang="en-GB" dirty="0" err="1"/>
              <a:t>dfn</a:t>
            </a:r>
            <a:r>
              <a:rPr lang="en-GB" dirty="0"/>
              <a:t> to compute the factorial of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 using recursion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A40B2-DA7D-B788-1157-43A83F27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0337087-6E24-FF3F-DB4B-91FB838783E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9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3147</TotalTime>
  <Words>2354</Words>
  <Application>Microsoft Office PowerPoint</Application>
  <PresentationFormat>On-screen Show (16:9)</PresentationFormat>
  <Paragraphs>368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Calibri</vt:lpstr>
      <vt:lpstr>Times</vt:lpstr>
      <vt:lpstr>Wingdings 2</vt:lpstr>
      <vt:lpstr>Arial</vt:lpstr>
      <vt:lpstr>Wingdings</vt:lpstr>
      <vt:lpstr>APL385 Unicode</vt:lpstr>
      <vt:lpstr>Sarabun</vt:lpstr>
      <vt:lpstr>Office Theme</vt:lpstr>
      <vt:lpstr>APL Bootcamp – Part 6</vt:lpstr>
      <vt:lpstr>The Stack</vt:lpstr>
      <vt:lpstr>The Stack</vt:lpstr>
      <vt:lpstr>Local Names</vt:lpstr>
      <vt:lpstr>Local Names</vt:lpstr>
      <vt:lpstr>Local Names</vt:lpstr>
      <vt:lpstr>Local Names</vt:lpstr>
      <vt:lpstr>Name Scope</vt:lpstr>
      <vt:lpstr>Name Scope</vt:lpstr>
      <vt:lpstr>Avoid Globals</vt:lpstr>
      <vt:lpstr>Meaningful Globals</vt:lpstr>
      <vt:lpstr>Avoiding Globals</vt:lpstr>
      <vt:lpstr>Name Scope</vt:lpstr>
      <vt:lpstr>Tracer Demo</vt:lpstr>
      <vt:lpstr>Keyboard Shortcuts</vt:lpstr>
      <vt:lpstr>Control Flow</vt:lpstr>
      <vt:lpstr>Control Flow</vt:lpstr>
      <vt:lpstr>Control Flow</vt:lpstr>
      <vt:lpstr>Interrupt</vt:lpstr>
      <vt:lpstr>:If … :EndIf</vt:lpstr>
      <vt:lpstr>:If … :Else … :EndIf</vt:lpstr>
      <vt:lpstr>:If … :ElseIf … :Else … :EndIf</vt:lpstr>
      <vt:lpstr>:Select … :Case … :CaseList … :EndSelect</vt:lpstr>
      <vt:lpstr>:While … :EndWhile</vt:lpstr>
      <vt:lpstr>:While … :OrIf … :EndWhile</vt:lpstr>
      <vt:lpstr>:While … :OrIf … :EndWhile</vt:lpstr>
      <vt:lpstr>:While … :OrIf … :EndWhile</vt:lpstr>
      <vt:lpstr>:While … :OrIf … :EndWhile</vt:lpstr>
      <vt:lpstr>Optimisation :While</vt:lpstr>
      <vt:lpstr>Optimisation :While</vt:lpstr>
      <vt:lpstr>:Repeat … :Until</vt:lpstr>
      <vt:lpstr>:Leave (any control structure)</vt:lpstr>
      <vt:lpstr>:For … :EndFor</vt:lpstr>
      <vt:lpstr>:For … :InEach … :EndFor</vt:lpstr>
      <vt:lpstr>:Continue (within a loop)</vt:lpstr>
      <vt:lpstr>:Leave</vt:lpstr>
      <vt:lpstr>Branching</vt:lpstr>
      <vt:lpstr>Sequence-based Enumeration</vt:lpstr>
      <vt:lpstr>Branching</vt:lpstr>
      <vt:lpstr>Branching</vt:lpstr>
      <vt:lpstr>Branching</vt:lpstr>
      <vt:lpstr>Interrupt</vt:lpstr>
      <vt:lpstr>:Trap … :Case … :Else … :EndTrap</vt:lpstr>
      <vt:lpstr>:Trap … :Case … :Else … :EndTrap</vt:lpstr>
      <vt:lpstr>Flow in dfns</vt:lpstr>
      <vt:lpstr>dfn guards</vt:lpstr>
      <vt:lpstr>dfn recursion</vt:lpstr>
      <vt:lpstr>dfn error guards</vt:lpstr>
      <vt:lpstr>Naked Branch (→)</vt:lpstr>
      <vt:lpstr>)RESET</vt:lpstr>
      <vt:lpstr>Review</vt:lpstr>
      <vt:lpstr>Review</vt:lpstr>
      <vt:lpstr>Questions?</vt:lpstr>
      <vt:lpstr>Exercises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292</cp:revision>
  <dcterms:created xsi:type="dcterms:W3CDTF">2019-07-25T11:46:05Z</dcterms:created>
  <dcterms:modified xsi:type="dcterms:W3CDTF">2025-09-04T14:25:22Z</dcterms:modified>
</cp:coreProperties>
</file>