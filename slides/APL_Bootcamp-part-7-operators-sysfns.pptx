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133"/>
  </p:notesMasterIdLst>
  <p:handoutMasterIdLst>
    <p:handoutMasterId r:id="rId134"/>
  </p:handoutMasterIdLst>
  <p:sldIdLst>
    <p:sldId id="257" r:id="rId2"/>
    <p:sldId id="258" r:id="rId3"/>
    <p:sldId id="259" r:id="rId4"/>
    <p:sldId id="337" r:id="rId5"/>
    <p:sldId id="338" r:id="rId6"/>
    <p:sldId id="339" r:id="rId7"/>
    <p:sldId id="340" r:id="rId8"/>
    <p:sldId id="341" r:id="rId9"/>
    <p:sldId id="344" r:id="rId10"/>
    <p:sldId id="345" r:id="rId11"/>
    <p:sldId id="904" r:id="rId12"/>
    <p:sldId id="905" r:id="rId13"/>
    <p:sldId id="906" r:id="rId14"/>
    <p:sldId id="353" r:id="rId15"/>
    <p:sldId id="354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8" r:id="rId42"/>
    <p:sldId id="379" r:id="rId43"/>
    <p:sldId id="387" r:id="rId44"/>
    <p:sldId id="388" r:id="rId45"/>
    <p:sldId id="389" r:id="rId46"/>
    <p:sldId id="390" r:id="rId47"/>
    <p:sldId id="391" r:id="rId48"/>
    <p:sldId id="380" r:id="rId49"/>
    <p:sldId id="381" r:id="rId50"/>
    <p:sldId id="382" r:id="rId51"/>
    <p:sldId id="383" r:id="rId52"/>
    <p:sldId id="384" r:id="rId53"/>
    <p:sldId id="385" r:id="rId54"/>
    <p:sldId id="355" r:id="rId55"/>
    <p:sldId id="392" r:id="rId56"/>
    <p:sldId id="260" r:id="rId57"/>
    <p:sldId id="261" r:id="rId58"/>
    <p:sldId id="262" r:id="rId59"/>
    <p:sldId id="263" r:id="rId60"/>
    <p:sldId id="264" r:id="rId61"/>
    <p:sldId id="265" r:id="rId62"/>
    <p:sldId id="267" r:id="rId63"/>
    <p:sldId id="268" r:id="rId64"/>
    <p:sldId id="269" r:id="rId65"/>
    <p:sldId id="270" r:id="rId66"/>
    <p:sldId id="271" r:id="rId67"/>
    <p:sldId id="272" r:id="rId68"/>
    <p:sldId id="273" r:id="rId69"/>
    <p:sldId id="274" r:id="rId70"/>
    <p:sldId id="275" r:id="rId71"/>
    <p:sldId id="276" r:id="rId72"/>
    <p:sldId id="277" r:id="rId73"/>
    <p:sldId id="278" r:id="rId74"/>
    <p:sldId id="279" r:id="rId75"/>
    <p:sldId id="280" r:id="rId76"/>
    <p:sldId id="281" r:id="rId77"/>
    <p:sldId id="282" r:id="rId78"/>
    <p:sldId id="283" r:id="rId79"/>
    <p:sldId id="284" r:id="rId80"/>
    <p:sldId id="285" r:id="rId81"/>
    <p:sldId id="287" r:id="rId82"/>
    <p:sldId id="288" r:id="rId83"/>
    <p:sldId id="286" r:id="rId84"/>
    <p:sldId id="289" r:id="rId85"/>
    <p:sldId id="290" r:id="rId86"/>
    <p:sldId id="291" r:id="rId87"/>
    <p:sldId id="292" r:id="rId88"/>
    <p:sldId id="293" r:id="rId89"/>
    <p:sldId id="294" r:id="rId90"/>
    <p:sldId id="295" r:id="rId91"/>
    <p:sldId id="296" r:id="rId92"/>
    <p:sldId id="297" r:id="rId93"/>
    <p:sldId id="298" r:id="rId94"/>
    <p:sldId id="299" r:id="rId95"/>
    <p:sldId id="300" r:id="rId96"/>
    <p:sldId id="301" r:id="rId97"/>
    <p:sldId id="302" r:id="rId98"/>
    <p:sldId id="303" r:id="rId99"/>
    <p:sldId id="304" r:id="rId100"/>
    <p:sldId id="305" r:id="rId101"/>
    <p:sldId id="306" r:id="rId102"/>
    <p:sldId id="307" r:id="rId103"/>
    <p:sldId id="308" r:id="rId104"/>
    <p:sldId id="309" r:id="rId105"/>
    <p:sldId id="310" r:id="rId106"/>
    <p:sldId id="311" r:id="rId107"/>
    <p:sldId id="312" r:id="rId108"/>
    <p:sldId id="313" r:id="rId109"/>
    <p:sldId id="314" r:id="rId110"/>
    <p:sldId id="315" r:id="rId111"/>
    <p:sldId id="316" r:id="rId112"/>
    <p:sldId id="907" r:id="rId113"/>
    <p:sldId id="319" r:id="rId114"/>
    <p:sldId id="321" r:id="rId115"/>
    <p:sldId id="322" r:id="rId116"/>
    <p:sldId id="320" r:id="rId117"/>
    <p:sldId id="323" r:id="rId118"/>
    <p:sldId id="324" r:id="rId119"/>
    <p:sldId id="325" r:id="rId120"/>
    <p:sldId id="326" r:id="rId121"/>
    <p:sldId id="386" r:id="rId122"/>
    <p:sldId id="327" r:id="rId123"/>
    <p:sldId id="328" r:id="rId124"/>
    <p:sldId id="329" r:id="rId125"/>
    <p:sldId id="330" r:id="rId126"/>
    <p:sldId id="331" r:id="rId127"/>
    <p:sldId id="332" r:id="rId128"/>
    <p:sldId id="333" r:id="rId129"/>
    <p:sldId id="334" r:id="rId130"/>
    <p:sldId id="335" r:id="rId131"/>
    <p:sldId id="336" r:id="rId132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135"/>
    </p:embeddedFont>
    <p:embeddedFont>
      <p:font typeface="Cambria Math" panose="02040503050406030204" pitchFamily="18" charset="0"/>
      <p:regular r:id="rId136"/>
    </p:embeddedFont>
    <p:embeddedFont>
      <p:font typeface="Sarabun" panose="00000500000000000000" pitchFamily="2" charset="-34"/>
      <p:regular r:id="rId137"/>
      <p:bold r:id="rId138"/>
      <p:italic r:id="rId139"/>
      <p:boldItalic r:id="rId140"/>
    </p:embeddedFont>
    <p:embeddedFont>
      <p:font typeface="Times" panose="02020603050405020304" pitchFamily="18" charset="0"/>
      <p:regular r:id="rId141"/>
      <p:bold r:id="rId142"/>
      <p:italic r:id="rId143"/>
      <p:boldItalic r:id="rId144"/>
    </p:embeddedFont>
    <p:embeddedFont>
      <p:font typeface="Wingdings 2" panose="05020102010507070707" pitchFamily="18" charset="2"/>
      <p:regular r:id="rId1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719" autoAdjust="0"/>
    <p:restoredTop sz="95508" autoAdjust="0"/>
  </p:normalViewPr>
  <p:slideViewPr>
    <p:cSldViewPr snapToGrid="0">
      <p:cViewPr varScale="1">
        <p:scale>
          <a:sx n="147" d="100"/>
          <a:sy n="147" d="100"/>
        </p:scale>
        <p:origin x="504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4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handoutMaster" Target="handoutMasters/handoutMaster1.xml"/><Relationship Id="rId139" Type="http://schemas.openxmlformats.org/officeDocument/2006/relationships/font" Target="fonts/font5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6.fntdata"/><Relationship Id="rId145" Type="http://schemas.openxmlformats.org/officeDocument/2006/relationships/font" Target="NUL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font" Target="fonts/font1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7.fntdata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9.fntdata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10.fntdata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Dyadic applies between corresponding pairs of scalars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85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CC88-CB0F-E723-2D62-F15AB4D3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3E475-F7C8-8332-20D3-114DF86B2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5850-5D4A-BE50-7875-02B6F291A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Dyadic applies between corresponding pairs of scalars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64A89-31CE-0E11-44C6-6EC457B6D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992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9ACF-4A39-44BF-0226-689DE51B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774DB-5D8E-08ED-6551-E4E4760F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AF274-BA4D-B2FB-672A-392EA9B98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Dyadic applies between corresponding pairs of scalars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BA516-D711-B55B-4EEB-BEF93ACA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475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 ⎕PATH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105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83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077201" y="51066"/>
            <a:ext cx="958965" cy="273844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fld id="{4D6A1F21-6DDA-4D75-917B-3675E7404BBE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5576" y="519522"/>
            <a:ext cx="7632849" cy="64025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55576" y="1275160"/>
            <a:ext cx="7632849" cy="32408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411760" y="4767263"/>
            <a:ext cx="432048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Dyalog Intro Part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2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56618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7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alog.com/blog/2020/12/enhanced-debugging-with-function-keys-evaluate-selection/" TargetMode="External"/><Relationship Id="rId2" Type="http://schemas.openxmlformats.org/officeDocument/2006/relationships/hyperlink" Target="https://www.dyalog.com/blog/2018/09/enhanced-debugging-with-function-keys/" TargetMode="Externa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8491A8-0F3B-8CB0-1354-DEC7813AC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80025"/>
            <a:ext cx="6386656" cy="3626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i="1" dirty="0"/>
              <a:t>Operators</a:t>
            </a:r>
            <a:r>
              <a:rPr lang="en-GB" sz="2200" dirty="0"/>
              <a:t> take functions as arguments and return derived functions. In mathematics, derivation and integration are operators: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EFE1C-91F5-A6A3-16C3-897465B8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D17721E-C3A2-DAAC-B7AE-AA383971208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E030D-7376-9FD5-0522-873EC68B2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51" y="2212708"/>
            <a:ext cx="3897635" cy="2120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9FD53E-B920-911D-E831-EF57A55D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52" y="1889182"/>
            <a:ext cx="3897635" cy="27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6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666BE1-6BE5-CDEB-FD12-9A66101B8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There are several primitive </a:t>
            </a:r>
            <a:r>
              <a:rPr lang="en-GB" b="1" i="1" dirty="0">
                <a:solidFill>
                  <a:srgbClr val="FF6600"/>
                </a:solidFill>
              </a:rPr>
              <a:t>operators</a:t>
            </a:r>
            <a:r>
              <a:rPr lang="en-GB" dirty="0"/>
              <a:t> in APL</a:t>
            </a:r>
          </a:p>
          <a:p>
            <a:pPr marL="0" indent="0">
              <a:buNone/>
            </a:pPr>
            <a:r>
              <a:rPr lang="en-GB" dirty="0"/>
              <a:t>The arguments of an operator are called </a:t>
            </a:r>
            <a:r>
              <a:rPr lang="en-GB" b="1" i="1" dirty="0">
                <a:solidFill>
                  <a:srgbClr val="FF6600"/>
                </a:solidFill>
              </a:rPr>
              <a:t>operands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Monadic operators take an operand </a:t>
            </a:r>
            <a:r>
              <a:rPr lang="en-GB" dirty="0">
                <a:solidFill>
                  <a:srgbClr val="FF6600"/>
                </a:solidFill>
              </a:rPr>
              <a:t>on the left</a:t>
            </a:r>
            <a:r>
              <a:rPr lang="en-GB" dirty="0"/>
              <a:t>. For example, 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+/</a:t>
            </a:r>
            <a:r>
              <a:rPr lang="en-GB" b="1" dirty="0"/>
              <a:t> </a:t>
            </a:r>
            <a:r>
              <a:rPr lang="en-GB" dirty="0"/>
              <a:t>(except for 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∘.f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Dyadic operators take an operand on each side.</a:t>
            </a:r>
            <a:br>
              <a:rPr lang="en-GB" dirty="0"/>
            </a:br>
            <a:r>
              <a:rPr lang="en-GB" dirty="0"/>
              <a:t>For example,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+.×</a:t>
            </a:r>
            <a:endParaRPr lang="en-GB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dirty="0"/>
              <a:t>Operators return a </a:t>
            </a:r>
            <a:r>
              <a:rPr lang="en-GB" b="1" i="1" dirty="0">
                <a:solidFill>
                  <a:srgbClr val="FF6600"/>
                </a:solidFill>
              </a:rPr>
              <a:t>derived</a:t>
            </a:r>
            <a:r>
              <a:rPr lang="en-GB" dirty="0"/>
              <a:t> function which may be used like any other function.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1BC035-2439-A829-8295-824DE20F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735C771-1CAF-D803-1D40-BCE52B88353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33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056F72-61EC-2B3C-D535-FF3407C3E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3200" dirty="0">
                <a:solidFill>
                  <a:schemeClr val="tx1"/>
                </a:solidFill>
              </a:rPr>
              <a:t>Derived functions (as well as primitive functions) can be assigned a name, just like variables and </a:t>
            </a:r>
            <a:r>
              <a:rPr lang="en-GB" sz="3200" dirty="0" err="1">
                <a:solidFill>
                  <a:schemeClr val="tx1"/>
                </a:solidFill>
              </a:rPr>
              <a:t>dfns</a:t>
            </a:r>
            <a:r>
              <a:rPr lang="en-GB" sz="32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GB" dirty="0">
              <a:solidFill>
                <a:schemeClr val="accent4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sz="3200" dirty="0">
                <a:solidFill>
                  <a:srgbClr val="00B050"/>
                </a:solidFill>
                <a:latin typeface="APL385 Unicode" panose="020B0709000202000203" pitchFamily="49" charset="0"/>
              </a:rPr>
              <a:t>plus← +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B050"/>
                </a:solidFill>
                <a:latin typeface="APL385 Unicode" panose="020B0709000202000203" pitchFamily="49" charset="0"/>
              </a:rPr>
              <a:t>	sum← +/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B050"/>
                </a:solidFill>
                <a:latin typeface="APL385 Unicode" panose="020B0709000202000203" pitchFamily="49" charset="0"/>
              </a:rPr>
              <a:t>	sum</a:t>
            </a:r>
          </a:p>
          <a:p>
            <a:pPr marL="0" indent="0">
              <a:buNone/>
            </a:pPr>
            <a:r>
              <a:rPr lang="en-GB" sz="3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+/</a:t>
            </a:r>
          </a:p>
          <a:p>
            <a:pPr marL="0" indent="0">
              <a:buNone/>
            </a:pPr>
            <a:endParaRPr lang="en-GB" sz="2700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This is known as "tacit" programming (opposite of explicit)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E71334-B5DA-6AAA-E48D-85197043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Tacit Programming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CF5A2F7-B8EF-EBCB-33C1-E90EDFCC86C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09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DD747F-3BB4-9743-2718-4E87578BD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/ ⌿ \ ⍀ </a:t>
            </a:r>
            <a:r>
              <a:rPr lang="en-GB" dirty="0"/>
              <a:t>: </a:t>
            </a:r>
            <a:r>
              <a:rPr lang="en-GB" i="1" dirty="0">
                <a:solidFill>
                  <a:srgbClr val="E19205"/>
                </a:solidFill>
              </a:rPr>
              <a:t>insert</a:t>
            </a:r>
            <a:r>
              <a:rPr lang="en-GB" dirty="0"/>
              <a:t>, </a:t>
            </a:r>
            <a:r>
              <a:rPr lang="en-GB" i="1" dirty="0">
                <a:solidFill>
                  <a:srgbClr val="E19205"/>
                </a:solidFill>
              </a:rPr>
              <a:t>scan.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We’ve seen these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¨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each</a:t>
            </a:r>
            <a:r>
              <a:rPr lang="en-GB" dirty="0"/>
              <a:t>. Apply any function to elements (scalars) of an array</a:t>
            </a:r>
            <a:endParaRPr lang="en-GB" dirty="0">
              <a:solidFill>
                <a:srgbClr val="0070C0"/>
              </a:solidFill>
              <a:latin typeface="APL385 Unicode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⍣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power</a:t>
            </a:r>
            <a:r>
              <a:rPr lang="en-GB" dirty="0"/>
              <a:t>. Run a function a number of times or until a condition is met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b="1" dirty="0">
                <a:solidFill>
                  <a:srgbClr val="0070C0"/>
                </a:solidFill>
                <a:latin typeface="APL385 Unicode" pitchFamily="49" charset="0"/>
              </a:rPr>
              <a:t>∘</a:t>
            </a:r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dirty="0"/>
              <a:t>: </a:t>
            </a:r>
            <a:r>
              <a:rPr lang="en-GB" i="1" dirty="0">
                <a:solidFill>
                  <a:srgbClr val="E19205"/>
                </a:solidFill>
              </a:rPr>
              <a:t>compose</a:t>
            </a:r>
            <a:r>
              <a:rPr lang="en-GB" dirty="0"/>
              <a:t>. Glue 2 functions together</a:t>
            </a:r>
            <a:br>
              <a:rPr lang="en-GB" dirty="0"/>
            </a:br>
            <a:r>
              <a:rPr lang="en-GB" sz="3000" b="1" dirty="0">
                <a:solidFill>
                  <a:srgbClr val="0070C0"/>
                </a:solidFill>
              </a:rPr>
              <a:t>. </a:t>
            </a:r>
            <a:r>
              <a:rPr lang="en-GB" dirty="0"/>
              <a:t>: </a:t>
            </a:r>
            <a:r>
              <a:rPr lang="en-GB" i="1" dirty="0">
                <a:solidFill>
                  <a:srgbClr val="E19205"/>
                </a:solidFill>
              </a:rPr>
              <a:t>inner</a:t>
            </a:r>
            <a:r>
              <a:rPr lang="en-GB" dirty="0">
                <a:solidFill>
                  <a:srgbClr val="E19205"/>
                </a:solidFill>
              </a:rPr>
              <a:t> </a:t>
            </a:r>
            <a:r>
              <a:rPr lang="en-GB" i="1" dirty="0">
                <a:solidFill>
                  <a:srgbClr val="E19205"/>
                </a:solidFill>
              </a:rPr>
              <a:t>product</a:t>
            </a:r>
            <a:r>
              <a:rPr lang="en-GB" dirty="0"/>
              <a:t>. Matrix product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⍠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: </a:t>
            </a:r>
            <a:r>
              <a:rPr lang="en-GB" i="1" dirty="0">
                <a:solidFill>
                  <a:srgbClr val="E19205"/>
                </a:solidFill>
              </a:rPr>
              <a:t>variant</a:t>
            </a:r>
            <a:r>
              <a:rPr lang="en-GB" dirty="0"/>
              <a:t>. Select a variation of a function (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⎕OPT</a:t>
            </a:r>
            <a:r>
              <a:rPr lang="en-GB" dirty="0">
                <a:solidFill>
                  <a:srgbClr val="FF0000"/>
                </a:solidFill>
              </a:rPr>
              <a:t> in Classic</a:t>
            </a:r>
            <a:r>
              <a:rPr lang="en-GB"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⍤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rank</a:t>
            </a:r>
            <a:r>
              <a:rPr lang="en-GB" dirty="0"/>
              <a:t>. Apply function to "cells" of arrays (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⎕U2364</a:t>
            </a:r>
            <a:r>
              <a:rPr lang="en-GB" dirty="0">
                <a:solidFill>
                  <a:srgbClr val="FF0000"/>
                </a:solidFill>
              </a:rPr>
              <a:t> in Classic</a:t>
            </a:r>
            <a:r>
              <a:rPr lang="en-GB"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⍨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commute</a:t>
            </a:r>
            <a:r>
              <a:rPr lang="en-GB" dirty="0"/>
              <a:t>. Swap the arguments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⌸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GB" i="1" dirty="0">
                <a:solidFill>
                  <a:srgbClr val="E19205"/>
                </a:solidFill>
              </a:rPr>
              <a:t> key.</a:t>
            </a:r>
            <a:r>
              <a:rPr lang="en-GB" dirty="0"/>
              <a:t> Apply function to partitioned data (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⎕U2338</a:t>
            </a:r>
            <a:r>
              <a:rPr lang="en-GB" dirty="0">
                <a:solidFill>
                  <a:srgbClr val="FF0000"/>
                </a:solidFill>
              </a:rPr>
              <a:t> in Classic</a:t>
            </a:r>
            <a:r>
              <a:rPr lang="en-GB"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</a:rPr>
              <a:t>&amp;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spawn</a:t>
            </a:r>
            <a:r>
              <a:rPr lang="en-GB" dirty="0"/>
              <a:t>. Start the function in a new thread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⌶</a:t>
            </a:r>
            <a:r>
              <a:rPr lang="en-GB" dirty="0"/>
              <a:t> : </a:t>
            </a:r>
            <a:r>
              <a:rPr lang="en-GB" i="1" dirty="0">
                <a:solidFill>
                  <a:srgbClr val="E19205"/>
                </a:solidFill>
              </a:rPr>
              <a:t>special functions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1869C7-86A8-992F-57CD-5DD85517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Primitive Operators Overview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2851C47-62C3-646C-1286-773DC0C0EC7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57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9C7887-76BE-E901-DED9-3E23B2934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Applies to arrays </a:t>
            </a:r>
            <a:r>
              <a:rPr lang="en-GB" b="1" i="1" dirty="0"/>
              <a:t>within each</a:t>
            </a:r>
            <a:r>
              <a:rPr lang="en-GB" dirty="0"/>
              <a:t> scalar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+/(1 2 3)(4 5 6)(7 8 9)    </a:t>
            </a:r>
            <a:r>
              <a:rPr lang="en-GB" dirty="0">
                <a:latin typeface="APL385 Unicode" panose="020B0709000202000203" pitchFamily="49" charset="0"/>
              </a:rPr>
              <a:t>⍝ Sum a vector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│12 15 18│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└────────┘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¨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(1 2 3)(4 5 6)(7 8 9)   </a:t>
            </a:r>
            <a:r>
              <a:rPr lang="en-GB" dirty="0">
                <a:latin typeface="APL385 Unicode" panose="020B0709000202000203" pitchFamily="49" charset="0"/>
              </a:rPr>
              <a:t>⍝ Sum EACH vector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6 15 24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2 3⍴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¨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4 5 6               </a:t>
            </a:r>
            <a:r>
              <a:rPr lang="en-GB" dirty="0">
                <a:latin typeface="APL385 Unicode" panose="020B0709000202000203" pitchFamily="49" charset="0"/>
              </a:rPr>
              <a:t>⍝ Dyadic applies between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┌─┬───┬─────┐                    ⍝ corresponding pairs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│4│5 5│6 6 6│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└─┴───┴─────┘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479475-B73A-59EC-41D7-939FFADF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F¨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F0C0490-C54E-2948-10FF-0B75E3A6067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778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BF6E-318D-133C-C793-B6F181BE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AD56A7-CD42-FA6A-138D-9E39F436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you have a complex array structure, you can use the each operator to drill down until you feel you have a better understanding.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E9F39F-D219-6366-E9D2-0C1B3A50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F¨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7588EB-7D84-0176-33CD-AE9C949F6B7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424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0DB0-525E-7B7D-32E7-C7C459D8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705204-1B6D-1D9B-CF25-86751414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F¨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A0D3C40-D9CC-4D4B-6403-0C732EB9F00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9626B69-C527-F006-B1B8-632CD2E0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2230897"/>
          </a:xfrm>
        </p:spPr>
        <p:txBody>
          <a:bodyPr>
            <a:normAutofit fontScale="850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← (1 2)(3 4 (4 5))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┌───┬─────────┐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│1 2│┌─┬─┬───┐│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   ││3│4│4 5││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   │└─┴─┴───┘│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└───┴─────────┘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4759B-438F-E9E5-2B34-BA1F0BDD4CD6}"/>
              </a:ext>
            </a:extLst>
          </p:cNvPr>
          <p:cNvSpPr txBox="1"/>
          <p:nvPr/>
        </p:nvSpPr>
        <p:spPr>
          <a:xfrm>
            <a:off x="323527" y="3191505"/>
            <a:ext cx="5412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⍴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</a:t>
            </a:r>
            <a:r>
              <a:rPr lang="en-GB" sz="2000" dirty="0">
                <a:latin typeface="APL385 Unicode" panose="020B0709000202000203" pitchFamily="49" charset="0"/>
              </a:rPr>
              <a:t>⍝ 2-element vector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≡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</a:t>
            </a:r>
            <a:r>
              <a:rPr lang="en-GB" sz="2000" dirty="0">
                <a:latin typeface="APL385 Unicode" panose="020B0709000202000203" pitchFamily="49" charset="0"/>
              </a:rPr>
              <a:t>⍝ Unevenly nested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¯3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732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D6A55C-1105-EA70-6BED-1E30EAE85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      </a:t>
            </a:r>
            <a:r>
              <a:rPr lang="en-GB" sz="1700" dirty="0">
                <a:solidFill>
                  <a:srgbClr val="00B050"/>
                </a:solidFill>
                <a:latin typeface="APL385 Unicode" panose="020B0709000202000203" pitchFamily="49" charset="0"/>
              </a:rPr>
              <a:t>⍴¨</a:t>
            </a:r>
            <a:r>
              <a:rPr lang="en-GB" sz="17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1700" dirty="0">
                <a:solidFill>
                  <a:srgbClr val="00B050"/>
                </a:solidFill>
                <a:latin typeface="APL385 Unicode" panose="020B0709000202000203" pitchFamily="49" charset="0"/>
              </a:rPr>
              <a:t>    </a:t>
            </a:r>
            <a:r>
              <a:rPr lang="en-GB" sz="1700" dirty="0">
                <a:latin typeface="APL385 Unicode" panose="020B0709000202000203" pitchFamily="49" charset="0"/>
              </a:rPr>
              <a:t>⍝ 2 vectors of lengths 2 and 3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┌─┬─┐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│2│3│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└─┴─┘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      </a:t>
            </a:r>
            <a:r>
              <a:rPr lang="en-GB" sz="1700" dirty="0">
                <a:solidFill>
                  <a:srgbClr val="00B050"/>
                </a:solidFill>
                <a:latin typeface="APL385 Unicode" panose="020B0709000202000203" pitchFamily="49" charset="0"/>
              </a:rPr>
              <a:t>≡¨</a:t>
            </a:r>
            <a:r>
              <a:rPr lang="en-GB" sz="17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1700" dirty="0">
                <a:solidFill>
                  <a:srgbClr val="00B050"/>
                </a:solidFill>
                <a:latin typeface="APL385 Unicode" panose="020B0709000202000203" pitchFamily="49" charset="0"/>
              </a:rPr>
              <a:t>    </a:t>
            </a:r>
            <a:r>
              <a:rPr lang="en-GB" sz="1700" dirty="0">
                <a:latin typeface="APL385 Unicode" panose="020B0709000202000203" pitchFamily="49" charset="0"/>
              </a:rPr>
              <a:t>⍝ 1st element is simple, 2nd is unevenly nested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700" dirty="0">
                <a:latin typeface="APL385 Unicode" panose="020B0709000202000203" pitchFamily="49" charset="0"/>
              </a:rPr>
              <a:t>1 ¯2</a:t>
            </a:r>
            <a:endParaRPr lang="en-GB" sz="17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49566BD-CE35-BFC8-1F6E-05B66371818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1536C32-6CB9-6827-C0D9-A59F6E84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</p:spPr>
        <p:txBody>
          <a:bodyPr/>
          <a:lstStyle/>
          <a:p>
            <a:r>
              <a:rPr lang="en-GB" dirty="0"/>
              <a:t>Each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F¨</a:t>
            </a:r>
            <a:r>
              <a:rPr lang="en-GB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7F1EB-944C-3B74-5167-CC0A06B6A0FA}"/>
              </a:ext>
            </a:extLst>
          </p:cNvPr>
          <p:cNvSpPr txBox="1">
            <a:spLocks/>
          </p:cNvSpPr>
          <p:nvPr/>
        </p:nvSpPr>
        <p:spPr>
          <a:xfrm>
            <a:off x="3829139" y="60668"/>
            <a:ext cx="2792154" cy="12512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      </a:t>
            </a:r>
            <a:r>
              <a:rPr lang="en-GB" sz="1600">
                <a:solidFill>
                  <a:srgbClr val="00B050"/>
                </a:solidFill>
                <a:latin typeface="APL385 Unicode" panose="020B0709000202000203" pitchFamily="49" charset="0"/>
              </a:rPr>
              <a:t>nv ← (1 2)(3 4 (4 5))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      </a:t>
            </a:r>
            <a:r>
              <a:rPr lang="en-GB" sz="1600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┌───┬─────────┐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│1 2│┌─┬─┬───┐│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   ││3│4│4 5││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   │└─┴─┴───┘│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└───┴─────────┘</a:t>
            </a:r>
            <a:endParaRPr lang="en-GB" sz="1600" dirty="0"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9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92C3-4EDD-36C5-7560-44AD3E00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BB9F4C-DB1D-88EC-CF48-24A34579A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⍴¨¨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</a:t>
            </a:r>
            <a:r>
              <a:rPr lang="en-GB" sz="1800" dirty="0">
                <a:latin typeface="APL385 Unicode" panose="020B0709000202000203" pitchFamily="49" charset="0"/>
              </a:rPr>
              <a:t>⍝ 2nd element appears to be 2 scalars followed by a vector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┌───┬─────┐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│┌┬┐│┌┬┬─┐│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││││││││2││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│└┴┘│└┴┴─┘│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└───┴─────┘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≡¨¨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</a:t>
            </a:r>
            <a:r>
              <a:rPr lang="en-GB" sz="1800" dirty="0">
                <a:latin typeface="APL385 Unicode" panose="020B0709000202000203" pitchFamily="49" charset="0"/>
              </a:rPr>
              <a:t>⍝ 2nd element is 2 simple scalars and a non-nested array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┌───┬─────┐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│0 0│0 0 1│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└───┴─────┘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/>
              <a:t>So we can tell we have a 2 element nested vector. The 1st element is a simple 2-element vector. The 2nd element contains 2 simple scalars and a simple vector of length 2.</a:t>
            </a:r>
            <a:endParaRPr lang="en-GB" sz="1700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512B2A4-A1DC-7F1D-A784-A3D828303F0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524A412-D112-A16F-CB18-4CAE5D40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</p:spPr>
        <p:txBody>
          <a:bodyPr/>
          <a:lstStyle/>
          <a:p>
            <a:r>
              <a:rPr lang="en-GB" dirty="0"/>
              <a:t>Each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F¨</a:t>
            </a:r>
            <a:r>
              <a:rPr lang="en-GB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3C5A0-37BD-2D89-2BAB-A68714D70F57}"/>
              </a:ext>
            </a:extLst>
          </p:cNvPr>
          <p:cNvSpPr txBox="1">
            <a:spLocks/>
          </p:cNvSpPr>
          <p:nvPr/>
        </p:nvSpPr>
        <p:spPr>
          <a:xfrm>
            <a:off x="3829139" y="60668"/>
            <a:ext cx="2792154" cy="12512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      </a:t>
            </a:r>
            <a:r>
              <a:rPr lang="en-GB" sz="1600">
                <a:solidFill>
                  <a:srgbClr val="00B050"/>
                </a:solidFill>
                <a:latin typeface="APL385 Unicode" panose="020B0709000202000203" pitchFamily="49" charset="0"/>
              </a:rPr>
              <a:t>nv ← (1 2)(3 4 (4 5))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      </a:t>
            </a:r>
            <a:r>
              <a:rPr lang="en-GB" sz="1600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┌───┬─────────┐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│1 2│┌─┬─┬───┐│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   ││3│4│4 5││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│   │└─┴─┴───┘│</a:t>
            </a:r>
          </a:p>
          <a:p>
            <a:pPr marL="0" indent="0"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n-GB" sz="1600">
                <a:latin typeface="APL385 Unicode" panose="020B0709000202000203" pitchFamily="49" charset="0"/>
              </a:rPr>
              <a:t>└───┴─────────┘</a:t>
            </a:r>
            <a:endParaRPr lang="en-GB" sz="1600" dirty="0"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3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A025CF-5850-72D0-8321-435B8EC0F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Functions often take "one or more" items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1AAB84-3E22-A304-0553-BC0E68BF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Enclose-if-simple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⊆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83CA6D-3A1A-D134-C074-41F405768A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46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25F0-FED3-2A70-76D2-3770E460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79D57-170B-C5F2-F681-83DAA6B45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/>
              <a:t>Functions often take "one or more" items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'count' 'word' 'length'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┌─────┬────┬──────┐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count│word│length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└─────┴────┴──────┘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'count'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count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⊂'count'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│count│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⊂'count' 'word' 'length'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┌───────────────────┐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│┌─────┬────┬──────┐│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││</a:t>
            </a:r>
            <a:r>
              <a:rPr lang="en-GB" dirty="0" err="1">
                <a:latin typeface="APL385 Unicode" panose="020B0709000202000203" pitchFamily="49" charset="0"/>
              </a:rPr>
              <a:t>count│word│length</a:t>
            </a:r>
            <a:r>
              <a:rPr lang="en-GB" dirty="0">
                <a:latin typeface="APL385 Unicode" panose="020B0709000202000203" pitchFamily="49" charset="0"/>
              </a:rPr>
              <a:t>││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│└─────┴────┴──────┘│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└───────────────────┘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02716C-D8C7-7834-F073-9945A4A1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Enclose-if-simple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⊆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D10FEE2-620A-F6DC-6FB5-B15D422DBCD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0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3898-DBE5-B465-FB8E-A44746F7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4378F2-6DA9-3BEE-E130-11D42D99D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Functions often take "one or more" items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{≢¨⍵} 'count' 'word' 'length'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5 4 6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{≢¨⍵} 'count'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1 1 1 1 1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{≢¨⊆⍵} 'count'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5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{≢¨⊆⍵} 'count' 'word' 'length'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5 4 6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F9DAC8-2DC1-BAF3-4C1D-DB38E742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Enclose-if-simple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⊆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26F3B89-CFF4-800E-AB7E-5A2ECCAC6AD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45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EB1B-80E2-4A4A-EA00-595888B7E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b="1" dirty="0"/>
              <a:t>Scalar primitive </a:t>
            </a:r>
            <a:r>
              <a:rPr lang="en-GB" dirty="0"/>
              <a:t>functions are </a:t>
            </a:r>
            <a:r>
              <a:rPr lang="en-GB" b="1" i="1" dirty="0">
                <a:solidFill>
                  <a:srgbClr val="FF6600"/>
                </a:solidFill>
              </a:rPr>
              <a:t>pervasive</a:t>
            </a:r>
            <a:r>
              <a:rPr lang="en-GB" dirty="0"/>
              <a:t>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/>
              <a:t>They map to each item of an array, and continue down through a nested array to the leaves: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]box 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Was OFF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+ (2 3 4) (5 (6 7 (8 9)))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┌─────┬──────────────┐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│3 4 5│┌─┬──────────┐│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 ││6│┌─┬─┬────┐││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 ││ ││7│8│9 10│││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 ││ │└─┴─┴────┘││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     │└─┴──────────┘│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└─────┴──────────────┘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42A288-F74D-4ACB-C05B-DF48A6B7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Pervasive Functions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CC59DB3-9A34-F50A-9E49-5BB2ADE8498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95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EB56-A085-008A-700C-AC19F8C9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2B1AF1-50C9-CDC1-8403-BFCB41199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dirty="0"/>
              <a:t>Non-scalar primitive functions are NOT pervasive.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dirty="0"/>
              <a:t>They apply to items at the top level, or the array as a whole.</a:t>
            </a:r>
          </a:p>
          <a:p>
            <a:pPr marL="0" indent="0">
              <a:spcAft>
                <a:spcPts val="800"/>
              </a:spcAft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VTV← 'def' 'as'</a:t>
            </a:r>
            <a:b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VTV ⍳ 'as'</a:t>
            </a:r>
            <a:b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3 3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VTV ⍳ ⊂'as'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'as' ∊ VTV </a:t>
            </a:r>
            <a:b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0 0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(⊂'as') ∊ VTV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58BFB3-7A00-C0A2-27C0-E3949429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Pervasive Functions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556C4CB-50D5-5773-463F-7DE73FA6CAE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68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66C952-F293-C34D-279B-BF9E6265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]</a:t>
            </a:r>
            <a:r>
              <a:rPr lang="en-GB" dirty="0" err="1"/>
              <a:t>Repr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B433076-E0DC-E357-50C6-D2C639F0F5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6D30457-FABB-8F2D-3E05-D97FC8629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11965"/>
            <a:ext cx="8528373" cy="3195000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800" dirty="0"/>
              <a:t>The </a:t>
            </a:r>
            <a:r>
              <a:rPr lang="en-GB" sz="1800" dirty="0"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latin typeface="APL385 Unicode" panose="020B0709000202000203" pitchFamily="49" charset="0"/>
              </a:rPr>
              <a:t>repr</a:t>
            </a:r>
            <a:r>
              <a:rPr lang="en-GB" sz="1800" dirty="0"/>
              <a:t> user command can be used to see the true nature of an array.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x1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a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x2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a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x1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a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disp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x2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6956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E11E-188C-62C8-43F6-BDE3E535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0B1238-0CBA-4547-6F51-246F985E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]</a:t>
            </a:r>
            <a:r>
              <a:rPr lang="en-GB" dirty="0" err="1"/>
              <a:t>Repr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C257E37-31D9-DBB8-8CA6-1CCCC74F860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317E774-0E44-FD9D-8C4C-2E2E6D5ED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11965"/>
            <a:ext cx="8528373" cy="3375182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600" dirty="0"/>
              <a:t>The </a:t>
            </a:r>
            <a:r>
              <a:rPr lang="en-GB" sz="1600" dirty="0">
                <a:latin typeface="APL385 Unicode" panose="020B0709000202000203" pitchFamily="49" charset="0"/>
              </a:rPr>
              <a:t>]</a:t>
            </a:r>
            <a:r>
              <a:rPr lang="en-GB" sz="1600" dirty="0" err="1">
                <a:latin typeface="APL385 Unicode" panose="020B0709000202000203" pitchFamily="49" charset="0"/>
              </a:rPr>
              <a:t>repr</a:t>
            </a:r>
            <a:r>
              <a:rPr lang="en-GB" sz="1600" dirty="0"/>
              <a:t> user command can be used to see the true nature of an array.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]display x1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-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]display x2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┌→┐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│a│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└─┘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6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x1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'a'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6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x2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600" dirty="0">
                <a:latin typeface="APL385 Unicode" panose="020B0709000202000203" pitchFamily="49" charset="0"/>
              </a:rPr>
              <a:t>,'a'</a:t>
            </a:r>
          </a:p>
        </p:txBody>
      </p:sp>
    </p:spTree>
    <p:extLst>
      <p:ext uri="{BB962C8B-B14F-4D97-AF65-F5344CB8AC3E}">
        <p14:creationId xmlns:p14="http://schemas.microsoft.com/office/powerpoint/2010/main" val="169455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0A1E4B-BB4F-2520-963C-68C0574A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s-ES" dirty="0">
                <a:latin typeface="APL385 Unicode" panose="020B0709000202000203" pitchFamily="49" charset="0"/>
              </a:rPr>
              <a:t>      </a:t>
            </a:r>
            <a:r>
              <a:rPr lang="es-ES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s-ES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s-ES" dirty="0">
                <a:solidFill>
                  <a:srgbClr val="00B050"/>
                </a:solidFill>
                <a:latin typeface="APL385 Unicode" panose="020B0709000202000203" pitchFamily="49" charset="0"/>
              </a:rPr>
              <a:t> -f=</a:t>
            </a:r>
            <a:r>
              <a:rPr lang="es-ES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aplan</a:t>
            </a:r>
            <a:r>
              <a:rPr lang="es-ES" dirty="0">
                <a:solidFill>
                  <a:srgbClr val="00B050"/>
                </a:solidFill>
                <a:latin typeface="APL385 Unicode" panose="020B0709000202000203" pitchFamily="49" charset="0"/>
              </a:rPr>
              <a:t> 2 2⍴⍳4</a:t>
            </a:r>
          </a:p>
          <a:p>
            <a:pPr marL="0" indent="0">
              <a:spcAft>
                <a:spcPts val="0"/>
              </a:spcAft>
              <a:buNone/>
            </a:pPr>
            <a:r>
              <a:rPr lang="es-ES" dirty="0">
                <a:latin typeface="APL385 Unicode" panose="020B0709000202000203" pitchFamily="49" charset="0"/>
              </a:rPr>
              <a:t>[</a:t>
            </a:r>
          </a:p>
          <a:p>
            <a:pPr marL="0" indent="0">
              <a:spcAft>
                <a:spcPts val="0"/>
              </a:spcAft>
              <a:buNone/>
            </a:pPr>
            <a:r>
              <a:rPr lang="es-ES" dirty="0">
                <a:latin typeface="APL385 Unicode" panose="020B0709000202000203" pitchFamily="49" charset="0"/>
              </a:rPr>
              <a:t> 1 2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s-ES" dirty="0">
                <a:latin typeface="APL385 Unicode" panose="020B0709000202000203" pitchFamily="49" charset="0"/>
              </a:rPr>
              <a:t> 3 4</a:t>
            </a:r>
          </a:p>
          <a:p>
            <a:pPr marL="0" indent="0">
              <a:spcAft>
                <a:spcPts val="0"/>
              </a:spcAft>
              <a:buNone/>
            </a:pPr>
            <a:r>
              <a:rPr lang="es-ES" dirty="0">
                <a:latin typeface="APL385 Unicode" panose="020B0709000202000203" pitchFamily="49" charset="0"/>
              </a:rPr>
              <a:t>]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22CAB6-7B0C-3C01-216D-03BCF15B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Notation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6225B68-A208-6B77-1ED9-CA1432DB72C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098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EDD6-C0E8-1170-55BE-A3471FAF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536C5-0D9B-EAF7-BEBF-5C24EC9CA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-f=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aplan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0⎕JSON'{"name":"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dave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", "height": 42}'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(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height:42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name:'</a:t>
            </a:r>
            <a:r>
              <a:rPr lang="en-GB" sz="1800" dirty="0" err="1">
                <a:latin typeface="APL385 Unicode" panose="020B0709000202000203" pitchFamily="49" charset="0"/>
              </a:rPr>
              <a:t>dave</a:t>
            </a:r>
            <a:r>
              <a:rPr lang="en-GB" sz="1800" dirty="0">
                <a:latin typeface="APL385 Unicode" panose="020B0709000202000203" pitchFamily="49" charset="0"/>
              </a:rPr>
              <a:t>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016AD2-3BAC-3072-0A02-E2393C13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Notation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3BAC35D-1634-61F7-0ACC-96C94ED9113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527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2721-1CF0-0615-49FC-528E8162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0158CF-9740-75AE-2657-A9875A5B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-f=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aplan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0⎕JSON'{"name":"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dave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", "height": 42}'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(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height:42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name:'</a:t>
            </a:r>
            <a:r>
              <a:rPr lang="en-GB" sz="1800" dirty="0" err="1">
                <a:latin typeface="APL385 Unicode" panose="020B0709000202000203" pitchFamily="49" charset="0"/>
              </a:rPr>
              <a:t>dave</a:t>
            </a:r>
            <a:r>
              <a:rPr lang="en-GB" sz="1800" dirty="0">
                <a:latin typeface="APL385 Unicode" panose="020B0709000202000203" pitchFamily="49" charset="0"/>
              </a:rPr>
              <a:t>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-f=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js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0⎕JSON'{"name":"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dave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", "height": 42}'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height: 42,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name: "</a:t>
            </a:r>
            <a:r>
              <a:rPr lang="en-GB" sz="1800" dirty="0" err="1">
                <a:latin typeface="APL385 Unicode" panose="020B0709000202000203" pitchFamily="49" charset="0"/>
              </a:rPr>
              <a:t>dave</a:t>
            </a:r>
            <a:r>
              <a:rPr lang="en-GB" sz="1800" dirty="0">
                <a:latin typeface="APL385 Unicode" panose="020B0709000202000203" pitchFamily="49" charset="0"/>
              </a:rPr>
              <a:t>",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F1E8A7-5A2B-69F7-0777-B79F21FF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Notation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D62A62D-9A77-DEEB-1156-A1FB4E4CC2B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645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F19C-77F1-EC52-13F0-CDCB4D64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89136F-9151-A97E-076F-F258BAC35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]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repr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-f=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js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(name:'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dave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' ⋄ height: 42)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height: 42,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name: "</a:t>
            </a:r>
            <a:r>
              <a:rPr lang="en-GB" sz="1800" dirty="0" err="1">
                <a:latin typeface="APL385 Unicode" panose="020B0709000202000203" pitchFamily="49" charset="0"/>
              </a:rPr>
              <a:t>dave</a:t>
            </a:r>
            <a:r>
              <a:rPr lang="en-GB" sz="1800" dirty="0">
                <a:latin typeface="APL385 Unicode" panose="020B0709000202000203" pitchFamily="49" charset="0"/>
              </a:rPr>
              <a:t>",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D3D1C-DAA0-0E3F-E421-5299B66F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Notation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3CC56B2-F27B-391B-C328-B5686CFC253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34864189-D37D-A35F-CCC9-5973ADDEA528}"/>
              </a:ext>
            </a:extLst>
          </p:cNvPr>
          <p:cNvSpPr/>
          <p:nvPr/>
        </p:nvSpPr>
        <p:spPr>
          <a:xfrm>
            <a:off x="4172373" y="2506132"/>
            <a:ext cx="2248747" cy="1354667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v20.0</a:t>
            </a:r>
          </a:p>
        </p:txBody>
      </p:sp>
    </p:spTree>
    <p:extLst>
      <p:ext uri="{BB962C8B-B14F-4D97-AF65-F5344CB8AC3E}">
        <p14:creationId xmlns:p14="http://schemas.microsoft.com/office/powerpoint/2010/main" val="134140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212EB3-E0B9-BEEA-6099-1010E2D5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]</a:t>
            </a:r>
            <a:r>
              <a:rPr lang="en-GB" dirty="0" err="1">
                <a:latin typeface="APL385 Unicode" panose="020B0709000202000203" pitchFamily="49" charset="0"/>
              </a:rPr>
              <a:t>Repr</a:t>
            </a:r>
            <a:r>
              <a:rPr lang="en-GB" dirty="0"/>
              <a:t> is a thin cover over </a:t>
            </a:r>
            <a:r>
              <a:rPr lang="en-GB" dirty="0">
                <a:latin typeface="APL385 Unicode" panose="020B0709000202000203" pitchFamily="49" charset="0"/>
              </a:rPr>
              <a:t>⎕</a:t>
            </a:r>
            <a:r>
              <a:rPr lang="en-GB" dirty="0" err="1">
                <a:latin typeface="APL385 Unicode" panose="020B0709000202000203" pitchFamily="49" charset="0"/>
              </a:rPr>
              <a:t>SE.Dyalog.Utils.repObj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/>
              <a:t>This is for learning, debugging and development – </a:t>
            </a:r>
            <a:r>
              <a:rPr lang="en-GB" dirty="0">
                <a:solidFill>
                  <a:srgbClr val="FF0000"/>
                </a:solidFill>
              </a:rPr>
              <a:t>do NOT write code that relies on </a:t>
            </a:r>
            <a:r>
              <a:rPr lang="en-GB" dirty="0" err="1">
                <a:solidFill>
                  <a:srgbClr val="FF0000"/>
                </a:solidFill>
                <a:latin typeface="APL385 Unicode" panose="020B0709000202000203" pitchFamily="49" charset="0"/>
              </a:rPr>
              <a:t>repObj</a:t>
            </a:r>
            <a:endParaRPr lang="en-GB" dirty="0">
              <a:solidFill>
                <a:srgbClr val="FF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EDF1C6-5825-A52F-A349-20BB19CC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repObj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CC28CF4-B209-0C66-2D63-7A15F2AFE2F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016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3BA934-8787-277F-4E83-6176CE246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operator will apply its left operand function a number of times as indicated by the right operand: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Catenate the string 'APL' 5 times:</a:t>
            </a:r>
            <a:b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</a:rPr>
            </a:br>
            <a:endParaRPr lang="en-GB" dirty="0">
              <a:solidFill>
                <a:schemeClr val="accent4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4">
                    <a:lumMod val="85000"/>
                    <a:lumOff val="15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'APL '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(,⍣5)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'is great'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APL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is great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F3545D-55E5-D350-FB9A-DC89E8A7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(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F⍣g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2BFA438-F30C-8B91-EA48-B54218989F5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916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AE34-5830-7BD4-42D4-EF985BB4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4C652D-FACA-C2BC-A11B-81A1CE1D19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If the right operand is a function, the left operand is applied until the right operand returns 1.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until convergence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      ({⎕←3÷⍨⍵+1}⍣5)1000   ⍝ Run 5 times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333.6666667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111.5555556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37.51851852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12.83950617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4.613168724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endParaRPr lang="en-GB" dirty="0">
                  <a:latin typeface="APL385 Unicode" panose="020B0709000202000203" pitchFamily="49" charset="0"/>
                </a:endParaRP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      {3÷⍨⍵+1}⍣≡1000       ⍝ Run until previous matches next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GB" dirty="0">
                    <a:latin typeface="APL385 Unicode" panose="020B0709000202000203" pitchFamily="49" charset="0"/>
                  </a:rPr>
                  <a:t>0.5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4C652D-FACA-C2BC-A11B-81A1CE1D1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8" t="-1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4703A8-C1A7-3C45-6794-BCE87C42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(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F⍣g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09FFF0C-CA7B-290E-1D98-219977D623C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16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68D589-921E-42AB-BF0D-A81C85F8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F.G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E565B0-73F0-4E07-02C2-46EFE78362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99E05-04C3-96EF-B8AB-B5283EEE7C91}"/>
              </a:ext>
            </a:extLst>
          </p:cNvPr>
          <p:cNvSpPr txBox="1"/>
          <p:nvPr/>
        </p:nvSpPr>
        <p:spPr>
          <a:xfrm>
            <a:off x="471358" y="1340695"/>
            <a:ext cx="8201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F/ row G col</a:t>
            </a:r>
            <a:r>
              <a:rPr lang="en-GB" sz="2400" dirty="0"/>
              <a:t> for all combinations of rows left, cols right.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A97281-9D1C-5DD5-F2C7-A139C3B13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17744"/>
              </p:ext>
            </p:extLst>
          </p:nvPr>
        </p:nvGraphicFramePr>
        <p:xfrm>
          <a:off x="2343053" y="2326296"/>
          <a:ext cx="1543050" cy="563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50947548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6C5723-647B-D751-2AD5-5920F7D37850}"/>
              </a:ext>
            </a:extLst>
          </p:cNvPr>
          <p:cNvSpPr txBox="1"/>
          <p:nvPr/>
        </p:nvSpPr>
        <p:spPr>
          <a:xfrm>
            <a:off x="5570062" y="1904053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m2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5CFD1-1ADE-DD52-F72E-A68E6992E9C3}"/>
              </a:ext>
            </a:extLst>
          </p:cNvPr>
          <p:cNvSpPr txBox="1"/>
          <p:nvPr/>
        </p:nvSpPr>
        <p:spPr>
          <a:xfrm>
            <a:off x="1744737" y="3723629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m1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sz="1600" dirty="0">
                <a:latin typeface="APL385 Unicode" panose="020B0709000202000203" pitchFamily="49" charset="0"/>
              </a:rPr>
              <a:t>.</a:t>
            </a:r>
            <a:r>
              <a:rPr lang="en-GB" sz="1600" dirty="0">
                <a:solidFill>
                  <a:srgbClr val="0070C0"/>
                </a:solidFill>
                <a:latin typeface="APL385 Unicode" panose="020B0709000202000203" pitchFamily="49" charset="0"/>
              </a:rPr>
              <a:t>×</a:t>
            </a:r>
            <a:r>
              <a:rPr lang="en-GB" sz="1600" dirty="0">
                <a:latin typeface="APL385 Unicode" panose="020B0709000202000203" pitchFamily="49" charset="0"/>
              </a:rPr>
              <a:t> m2</a:t>
            </a:r>
            <a:endParaRPr lang="en-GB" sz="16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2D8A41-67FF-DB40-5678-3FAEBAC88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69286"/>
              </p:ext>
            </p:extLst>
          </p:nvPr>
        </p:nvGraphicFramePr>
        <p:xfrm>
          <a:off x="5581073" y="2312256"/>
          <a:ext cx="1085850" cy="8458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8394628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B99BE9-46AC-D748-BDE7-619CAD9CE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435544"/>
              </p:ext>
            </p:extLst>
          </p:nvPr>
        </p:nvGraphicFramePr>
        <p:xfrm>
          <a:off x="1824008" y="4109280"/>
          <a:ext cx="1085850" cy="563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26031F5-95F2-BE5E-6C8C-478AD44625DA}"/>
              </a:ext>
            </a:extLst>
          </p:cNvPr>
          <p:cNvSpPr txBox="1"/>
          <p:nvPr/>
        </p:nvSpPr>
        <p:spPr>
          <a:xfrm>
            <a:off x="2333602" y="1904053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m1</a:t>
            </a: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F714F9-169D-F41C-FCB0-A94C4020F668}"/>
              </a:ext>
            </a:extLst>
          </p:cNvPr>
          <p:cNvSpPr/>
          <p:nvPr/>
        </p:nvSpPr>
        <p:spPr bwMode="auto">
          <a:xfrm>
            <a:off x="2343053" y="2326296"/>
            <a:ext cx="1543050" cy="266906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DB486-BBB3-CD3D-5194-0C5B910B872F}"/>
              </a:ext>
            </a:extLst>
          </p:cNvPr>
          <p:cNvSpPr/>
          <p:nvPr/>
        </p:nvSpPr>
        <p:spPr bwMode="auto">
          <a:xfrm>
            <a:off x="6148552" y="2312256"/>
            <a:ext cx="532439" cy="842535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04E3B-8B77-E4C7-A396-0F01349166A8}"/>
              </a:ext>
            </a:extLst>
          </p:cNvPr>
          <p:cNvSpPr txBox="1"/>
          <p:nvPr/>
        </p:nvSpPr>
        <p:spPr>
          <a:xfrm>
            <a:off x="4141313" y="3723629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sz="1600" dirty="0">
                <a:latin typeface="APL385 Unicode" panose="020B0709000202000203" pitchFamily="49" charset="0"/>
              </a:rPr>
              <a:t>/ 1 2 0 </a:t>
            </a:r>
            <a:r>
              <a:rPr lang="en-GB" sz="1600" dirty="0">
                <a:solidFill>
                  <a:srgbClr val="0070C0"/>
                </a:solidFill>
                <a:latin typeface="APL385 Unicode" panose="020B0709000202000203" pitchFamily="49" charset="0"/>
              </a:rPr>
              <a:t>×</a:t>
            </a:r>
            <a:r>
              <a:rPr lang="en-GB" sz="1600" dirty="0">
                <a:latin typeface="APL385 Unicode" panose="020B0709000202000203" pitchFamily="49" charset="0"/>
              </a:rPr>
              <a:t> 1 2 0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F7AE1-0E74-B3CF-5F33-40DF7AFDA652}"/>
              </a:ext>
            </a:extLst>
          </p:cNvPr>
          <p:cNvSpPr/>
          <p:nvPr/>
        </p:nvSpPr>
        <p:spPr bwMode="auto">
          <a:xfrm>
            <a:off x="2388553" y="4118501"/>
            <a:ext cx="532439" cy="281769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3F5EDE-3215-0D9B-1C71-C618BADA4C84}"/>
              </a:ext>
            </a:extLst>
          </p:cNvPr>
          <p:cNvCxnSpPr/>
          <p:nvPr/>
        </p:nvCxnSpPr>
        <p:spPr bwMode="auto">
          <a:xfrm>
            <a:off x="3886104" y="2459749"/>
            <a:ext cx="1055309" cy="126388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524C46-2EE3-20AB-2564-FDA81003C73B}"/>
              </a:ext>
            </a:extLst>
          </p:cNvPr>
          <p:cNvCxnSpPr>
            <a:stCxn id="13" idx="2"/>
          </p:cNvCxnSpPr>
          <p:nvPr/>
        </p:nvCxnSpPr>
        <p:spPr bwMode="auto">
          <a:xfrm flipH="1">
            <a:off x="6041331" y="3154791"/>
            <a:ext cx="373441" cy="56883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22C83C-2073-9A51-3785-CC3B441406F2}"/>
              </a:ext>
            </a:extLst>
          </p:cNvPr>
          <p:cNvCxnSpPr/>
          <p:nvPr/>
        </p:nvCxnSpPr>
        <p:spPr bwMode="auto">
          <a:xfrm flipH="1">
            <a:off x="2940051" y="4052282"/>
            <a:ext cx="1280018" cy="19038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2F721A-4DE5-A0F7-4315-A28060C32617}"/>
              </a:ext>
            </a:extLst>
          </p:cNvPr>
          <p:cNvSpPr txBox="1"/>
          <p:nvPr/>
        </p:nvSpPr>
        <p:spPr>
          <a:xfrm>
            <a:off x="3429000" y="4275905"/>
            <a:ext cx="3259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+mj-lt"/>
              </a:rPr>
              <a:t>(</a:t>
            </a:r>
            <a:r>
              <a:rPr lang="en-GB" sz="1600" dirty="0">
                <a:latin typeface="APL385 Unicode" panose="020B0709000202000203" pitchFamily="49" charset="0"/>
              </a:rPr>
              <a:t>+.× </a:t>
            </a:r>
            <a:r>
              <a:rPr lang="en-GB" sz="1600" dirty="0">
                <a:latin typeface="+mj-lt"/>
              </a:rPr>
              <a:t>is the regular "dot product")</a:t>
            </a:r>
          </a:p>
        </p:txBody>
      </p:sp>
    </p:spTree>
    <p:extLst>
      <p:ext uri="{BB962C8B-B14F-4D97-AF65-F5344CB8AC3E}">
        <p14:creationId xmlns:p14="http://schemas.microsoft.com/office/powerpoint/2010/main" val="205624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  <p:bldP spid="14" grpId="0"/>
      <p:bldP spid="15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E8DA-045B-842A-531C-D9B11E2F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BC6719-2853-5604-602D-151AD597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F.G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332120B-C04D-8023-52BF-DCEA78FF4C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FA1D0-A743-600B-3CA1-2D2F77CC8EEE}"/>
              </a:ext>
            </a:extLst>
          </p:cNvPr>
          <p:cNvSpPr txBox="1"/>
          <p:nvPr/>
        </p:nvSpPr>
        <p:spPr>
          <a:xfrm>
            <a:off x="471358" y="1340695"/>
            <a:ext cx="838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F/ row G col</a:t>
            </a:r>
            <a:r>
              <a:rPr lang="en-GB" sz="2400" dirty="0"/>
              <a:t> for all combinations of rows left, cols right.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8C496-10FF-1865-F7D2-CC7243E77DAB}"/>
              </a:ext>
            </a:extLst>
          </p:cNvPr>
          <p:cNvGraphicFramePr>
            <a:graphicFrameLocks noGrp="1"/>
          </p:cNvGraphicFramePr>
          <p:nvPr/>
        </p:nvGraphicFramePr>
        <p:xfrm>
          <a:off x="2343053" y="2326296"/>
          <a:ext cx="1543050" cy="563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50947548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B8A90E-46EE-1F73-714E-EE927C754199}"/>
              </a:ext>
            </a:extLst>
          </p:cNvPr>
          <p:cNvSpPr txBox="1"/>
          <p:nvPr/>
        </p:nvSpPr>
        <p:spPr>
          <a:xfrm>
            <a:off x="5570062" y="1904053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m2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81DCF-5DFB-B5C0-A21D-B10D82873337}"/>
              </a:ext>
            </a:extLst>
          </p:cNvPr>
          <p:cNvSpPr txBox="1"/>
          <p:nvPr/>
        </p:nvSpPr>
        <p:spPr>
          <a:xfrm>
            <a:off x="1744737" y="3723629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m1 </a:t>
            </a:r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sz="1600" dirty="0">
                <a:latin typeface="APL385 Unicode" panose="020B0709000202000203" pitchFamily="49" charset="0"/>
              </a:rPr>
              <a:t>.</a:t>
            </a:r>
            <a:r>
              <a:rPr lang="en-GB" sz="1600" dirty="0">
                <a:solidFill>
                  <a:srgbClr val="0070C0"/>
                </a:solidFill>
                <a:latin typeface="APL385 Unicode" panose="020B0709000202000203" pitchFamily="49" charset="0"/>
              </a:rPr>
              <a:t>×</a:t>
            </a:r>
            <a:r>
              <a:rPr lang="en-GB" sz="1600" dirty="0">
                <a:latin typeface="APL385 Unicode" panose="020B0709000202000203" pitchFamily="49" charset="0"/>
              </a:rPr>
              <a:t> m2</a:t>
            </a:r>
            <a:endParaRPr lang="en-GB" sz="16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CFCEED-8689-DAE4-8EA9-71ED536BF325}"/>
              </a:ext>
            </a:extLst>
          </p:cNvPr>
          <p:cNvGraphicFramePr>
            <a:graphicFrameLocks noGrp="1"/>
          </p:cNvGraphicFramePr>
          <p:nvPr/>
        </p:nvGraphicFramePr>
        <p:xfrm>
          <a:off x="5581073" y="2312256"/>
          <a:ext cx="1085850" cy="8458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8394628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F7C0B9-E683-3E83-1F18-C57497FCFF7F}"/>
              </a:ext>
            </a:extLst>
          </p:cNvPr>
          <p:cNvGraphicFramePr>
            <a:graphicFrameLocks noGrp="1"/>
          </p:cNvGraphicFramePr>
          <p:nvPr/>
        </p:nvGraphicFramePr>
        <p:xfrm>
          <a:off x="1824008" y="4109280"/>
          <a:ext cx="1085850" cy="563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59227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1688101003"/>
                    </a:ext>
                  </a:extLst>
                </a:gridCol>
              </a:tblGrid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12846963"/>
                  </a:ext>
                </a:extLst>
              </a:tr>
              <a:tr h="280845"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dirty="0"/>
                        <a:t>¯1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04770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457DEEF-C7DF-2176-24FB-83F07AA11114}"/>
              </a:ext>
            </a:extLst>
          </p:cNvPr>
          <p:cNvSpPr txBox="1"/>
          <p:nvPr/>
        </p:nvSpPr>
        <p:spPr>
          <a:xfrm>
            <a:off x="2333602" y="1904053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PL385 Unicode" panose="020B0709000202000203" pitchFamily="49" charset="0"/>
              </a:rPr>
              <a:t>m1</a:t>
            </a: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DAAAAF-4D98-BCF7-89B7-F271C36F626F}"/>
              </a:ext>
            </a:extLst>
          </p:cNvPr>
          <p:cNvSpPr/>
          <p:nvPr/>
        </p:nvSpPr>
        <p:spPr bwMode="auto">
          <a:xfrm>
            <a:off x="2343053" y="2326296"/>
            <a:ext cx="1543050" cy="266906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E8F62-ECEB-A3A1-2AF4-C7DCE79E664E}"/>
              </a:ext>
            </a:extLst>
          </p:cNvPr>
          <p:cNvSpPr/>
          <p:nvPr/>
        </p:nvSpPr>
        <p:spPr bwMode="auto">
          <a:xfrm>
            <a:off x="6148552" y="2312256"/>
            <a:ext cx="532439" cy="842535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77C660-A227-086F-B191-7618C98503BD}"/>
              </a:ext>
            </a:extLst>
          </p:cNvPr>
          <p:cNvSpPr txBox="1"/>
          <p:nvPr/>
        </p:nvSpPr>
        <p:spPr>
          <a:xfrm>
            <a:off x="4141313" y="3723629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sz="1600" dirty="0">
                <a:latin typeface="APL385 Unicode" panose="020B0709000202000203" pitchFamily="49" charset="0"/>
              </a:rPr>
              <a:t>/ 1 2 0 </a:t>
            </a:r>
            <a:r>
              <a:rPr lang="en-GB" sz="1600" dirty="0">
                <a:solidFill>
                  <a:srgbClr val="0070C0"/>
                </a:solidFill>
                <a:latin typeface="APL385 Unicode" panose="020B0709000202000203" pitchFamily="49" charset="0"/>
              </a:rPr>
              <a:t>×</a:t>
            </a:r>
            <a:r>
              <a:rPr lang="en-GB" sz="1600" dirty="0">
                <a:latin typeface="APL385 Unicode" panose="020B0709000202000203" pitchFamily="49" charset="0"/>
              </a:rPr>
              <a:t> 1 2 0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F53F0-085D-A1AC-7BF8-F3D65DCEB88A}"/>
              </a:ext>
            </a:extLst>
          </p:cNvPr>
          <p:cNvSpPr/>
          <p:nvPr/>
        </p:nvSpPr>
        <p:spPr bwMode="auto">
          <a:xfrm>
            <a:off x="2388553" y="4118501"/>
            <a:ext cx="532439" cy="281769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>
              <a:latin typeface="Times" pitchFamily="18" charset="0"/>
              <a:cs typeface="Arial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532B93-78B4-0109-8627-3388042E5D16}"/>
              </a:ext>
            </a:extLst>
          </p:cNvPr>
          <p:cNvCxnSpPr/>
          <p:nvPr/>
        </p:nvCxnSpPr>
        <p:spPr bwMode="auto">
          <a:xfrm>
            <a:off x="3886104" y="2459749"/>
            <a:ext cx="1055309" cy="126388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42F4A7-4A6F-9608-3915-EA949100EB13}"/>
              </a:ext>
            </a:extLst>
          </p:cNvPr>
          <p:cNvCxnSpPr>
            <a:stCxn id="13" idx="2"/>
          </p:cNvCxnSpPr>
          <p:nvPr/>
        </p:nvCxnSpPr>
        <p:spPr bwMode="auto">
          <a:xfrm flipH="1">
            <a:off x="6041331" y="3154791"/>
            <a:ext cx="373441" cy="56883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B26F67-37AE-CB3A-756A-28203AFC93F8}"/>
              </a:ext>
            </a:extLst>
          </p:cNvPr>
          <p:cNvCxnSpPr/>
          <p:nvPr/>
        </p:nvCxnSpPr>
        <p:spPr bwMode="auto">
          <a:xfrm flipH="1">
            <a:off x="2940051" y="4052282"/>
            <a:ext cx="1280018" cy="19038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C72021D-2968-4387-9583-EDD2BC328626}"/>
              </a:ext>
            </a:extLst>
          </p:cNvPr>
          <p:cNvSpPr txBox="1"/>
          <p:nvPr/>
        </p:nvSpPr>
        <p:spPr>
          <a:xfrm>
            <a:off x="3429000" y="4275905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+mj-lt"/>
              </a:rPr>
              <a:t>(</a:t>
            </a:r>
            <a:r>
              <a:rPr lang="en-GB" sz="1600" dirty="0">
                <a:latin typeface="APL385 Unicode" panose="020B0709000202000203" pitchFamily="49" charset="0"/>
              </a:rPr>
              <a:t>∧.= </a:t>
            </a:r>
            <a:r>
              <a:rPr lang="en-GB" sz="1600" dirty="0">
                <a:latin typeface="+mj-lt"/>
              </a:rPr>
              <a:t>is "are any identical?")</a:t>
            </a:r>
          </a:p>
        </p:txBody>
      </p:sp>
    </p:spTree>
    <p:extLst>
      <p:ext uri="{BB962C8B-B14F-4D97-AF65-F5344CB8AC3E}">
        <p14:creationId xmlns:p14="http://schemas.microsoft.com/office/powerpoint/2010/main" val="164812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  <p:bldP spid="14" grpId="0"/>
      <p:bldP spid="15" grpId="0" animBg="1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2001E6-D6C5-3761-7648-8FEA659B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Commonly used with vectors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 2 3 +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.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× 4 5 6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32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+/ 1 2 3 × 4 5 6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32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055C8E-4527-31FA-5BFD-8F400888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F.G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F6CFB7-BBFA-671D-9E6A-3F77AB84874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730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97CC43-CB3B-EEA7-6870-45D8EBF9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Any functions can be used, and a vector on the right conforms with rows on the left: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names←3 5⍴'Paul Mary Peter'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names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+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.= 'Mary 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2  5  0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E38F30-DEA0-6343-3B7B-D40D4247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Inner Product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F.G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2B0004-CB15-AC53-01CD-FF665DE623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6E1433-D3F0-750D-8E13-90B055E3D6DD}"/>
              </a:ext>
            </a:extLst>
          </p:cNvPr>
          <p:cNvGrpSpPr/>
          <p:nvPr/>
        </p:nvGrpSpPr>
        <p:grpSpPr>
          <a:xfrm>
            <a:off x="2904978" y="3478488"/>
            <a:ext cx="4498964" cy="719531"/>
            <a:chOff x="3225248" y="4312866"/>
            <a:chExt cx="4253682" cy="95937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540DC3-D8EF-C32E-3248-6AF5275B8911}"/>
                </a:ext>
              </a:extLst>
            </p:cNvPr>
            <p:cNvSpPr txBox="1"/>
            <p:nvPr/>
          </p:nvSpPr>
          <p:spPr>
            <a:xfrm>
              <a:off x="6516216" y="4312867"/>
              <a:ext cx="96271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50" dirty="0">
                  <a:latin typeface="APL385 Unicode" panose="020B0709000202000203" pitchFamily="49" charset="0"/>
                </a:rPr>
                <a:t>= M</a:t>
              </a:r>
              <a:r>
                <a:rPr lang="en-GB" sz="1350" dirty="0">
                  <a:solidFill>
                    <a:srgbClr val="FF6600"/>
                  </a:solidFill>
                  <a:latin typeface="APL385 Unicode" panose="020B0709000202000203" pitchFamily="49" charset="0"/>
                </a:rPr>
                <a:t>a</a:t>
              </a:r>
              <a:r>
                <a:rPr lang="en-GB" sz="1350" dirty="0">
                  <a:latin typeface="APL385 Unicode" panose="020B0709000202000203" pitchFamily="49" charset="0"/>
                </a:rPr>
                <a:t>ry</a:t>
              </a:r>
              <a:r>
                <a:rPr lang="en-GB" sz="1350" dirty="0">
                  <a:solidFill>
                    <a:srgbClr val="FF6600"/>
                  </a:solidFill>
                  <a:latin typeface="APL385 Unicode" panose="020B0709000202000203" pitchFamily="49" charset="0"/>
                </a:rPr>
                <a:t>⎕</a:t>
              </a:r>
            </a:p>
            <a:p>
              <a:r>
                <a:rPr lang="en-GB" sz="1350" dirty="0">
                  <a:latin typeface="APL385 Unicode" panose="020B0709000202000203" pitchFamily="49" charset="0"/>
                </a:rPr>
                <a:t>= </a:t>
              </a:r>
              <a:r>
                <a:rPr lang="en-GB" sz="1350" dirty="0">
                  <a:solidFill>
                    <a:srgbClr val="FF6600"/>
                  </a:solidFill>
                  <a:latin typeface="APL385 Unicode" panose="020B0709000202000203" pitchFamily="49" charset="0"/>
                </a:rPr>
                <a:t>Mary⎕</a:t>
              </a:r>
              <a:r>
                <a:rPr lang="en-GB" sz="1350" dirty="0">
                  <a:latin typeface="APL385 Unicode" panose="020B0709000202000203" pitchFamily="49" charset="0"/>
                </a:rPr>
                <a:t> </a:t>
              </a:r>
            </a:p>
            <a:p>
              <a:r>
                <a:rPr lang="en-GB" sz="1350" dirty="0">
                  <a:latin typeface="APL385 Unicode" panose="020B0709000202000203" pitchFamily="49" charset="0"/>
                </a:rPr>
                <a:t>= Mary⎕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E50963-1FCF-C968-A56C-5C16E42633BC}"/>
                </a:ext>
              </a:extLst>
            </p:cNvPr>
            <p:cNvGrpSpPr/>
            <p:nvPr/>
          </p:nvGrpSpPr>
          <p:grpSpPr>
            <a:xfrm>
              <a:off x="3225248" y="4312866"/>
              <a:ext cx="3265318" cy="959374"/>
              <a:chOff x="3225248" y="4312866"/>
              <a:chExt cx="3265318" cy="95937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B1A966-8EA6-567D-CB14-C92BE695C67A}"/>
                  </a:ext>
                </a:extLst>
              </p:cNvPr>
              <p:cNvSpPr txBox="1"/>
              <p:nvPr/>
            </p:nvSpPr>
            <p:spPr>
              <a:xfrm>
                <a:off x="5410783" y="4312866"/>
                <a:ext cx="1079783" cy="954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350" dirty="0">
                    <a:latin typeface="APL385 Unicode" pitchFamily="49" charset="0"/>
                  </a:rPr>
                  <a:t>Paul⎕ </a:t>
                </a:r>
              </a:p>
              <a:p>
                <a:r>
                  <a:rPr lang="en-GB" sz="1350" dirty="0">
                    <a:latin typeface="APL385 Unicode" pitchFamily="49" charset="0"/>
                  </a:rPr>
                  <a:t>Mary⎕ </a:t>
                </a:r>
              </a:p>
              <a:p>
                <a:r>
                  <a:rPr lang="en-GB" sz="1350" dirty="0">
                    <a:latin typeface="APL385 Unicode" pitchFamily="49" charset="0"/>
                  </a:rPr>
                  <a:t>Peter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BCCAE9-0AC3-A55D-BB21-22A874209935}"/>
                  </a:ext>
                </a:extLst>
              </p:cNvPr>
              <p:cNvSpPr txBox="1"/>
              <p:nvPr/>
            </p:nvSpPr>
            <p:spPr>
              <a:xfrm>
                <a:off x="4148898" y="4316902"/>
                <a:ext cx="1496564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350" dirty="0">
                    <a:latin typeface="APL385 Unicode" panose="020B0709000202000203" pitchFamily="49" charset="0"/>
                  </a:rPr>
                  <a:t>0 1 0 0 1</a:t>
                </a:r>
              </a:p>
              <a:p>
                <a:r>
                  <a:rPr lang="en-GB" sz="1350" dirty="0">
                    <a:latin typeface="APL385 Unicode" panose="020B0709000202000203" pitchFamily="49" charset="0"/>
                  </a:rPr>
                  <a:t>1 1 1 1 1</a:t>
                </a:r>
              </a:p>
              <a:p>
                <a:r>
                  <a:rPr lang="en-GB" sz="1350" dirty="0">
                    <a:latin typeface="APL385 Unicode" panose="020B0709000202000203" pitchFamily="49" charset="0"/>
                  </a:rPr>
                  <a:t>0 0 0 0 0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D2621B-B457-99C4-19EA-9FBAC875F547}"/>
                  </a:ext>
                </a:extLst>
              </p:cNvPr>
              <p:cNvSpPr txBox="1"/>
              <p:nvPr/>
            </p:nvSpPr>
            <p:spPr>
              <a:xfrm>
                <a:off x="3225248" y="4318133"/>
                <a:ext cx="107978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350" dirty="0">
                    <a:latin typeface="APL385 Unicode" panose="020B0709000202000203" pitchFamily="49" charset="0"/>
                  </a:rPr>
                  <a:t>2 = +/</a:t>
                </a:r>
              </a:p>
              <a:p>
                <a:r>
                  <a:rPr lang="en-GB" sz="1350" dirty="0">
                    <a:latin typeface="APL385 Unicode" panose="020B0709000202000203" pitchFamily="49" charset="0"/>
                  </a:rPr>
                  <a:t>5 = +/</a:t>
                </a:r>
              </a:p>
              <a:p>
                <a:r>
                  <a:rPr lang="en-GB" sz="1350" dirty="0">
                    <a:latin typeface="APL385 Unicode" panose="020B0709000202000203" pitchFamily="49" charset="0"/>
                  </a:rPr>
                  <a:t>0 = +/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533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73587-A94E-2BDC-3C96-0CC83ADE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This operator swaps the arguments.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÷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⍨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6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6÷3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/>
              <a:t>Monadic application uses argument twice ("selfie" operator):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×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⍨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10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10x10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9D3A5C-130C-F91B-22EE-FFA25ECF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F⍨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2D35223-E344-9B55-AEEB-0CF734D51EC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896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E13E-11AE-8691-4633-13F2EC40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DD2272-F6B4-2206-5A40-44B5625D6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Produce the addition table for 1 to 5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∘.+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⍨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⍳5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2 3 4 5  6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3 4 5 6  7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4 5 6 7  8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5 6 7 8  9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6 7 8 9 10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18030B-5079-96FE-EC29-F4826A37A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F⍨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9A54C7C-DC4D-B93C-833B-92A0D425DE3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355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APL…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3428" y="1226920"/>
            <a:ext cx="9140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(2×a)÷⍨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3428" y="2171348"/>
            <a:ext cx="18517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(-b)(+,-)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3352" y="1533555"/>
            <a:ext cx="1829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times a divided into…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681" y="3760307"/>
            <a:ext cx="35189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(2×a)÷⍨(-b)(+,-)0.5*⍨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(b*2)-4×a×c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3035" y="2471551"/>
            <a:ext cx="17091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-b plus or minus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299366"/>
            <a:ext cx="18020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the square root of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682" y="2993671"/>
            <a:ext cx="23727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(2×a)÷⍨(-b)(+,-)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0.5*⍨</a:t>
            </a:r>
            <a:endParaRPr lang="en-GB" sz="1350" dirty="0">
              <a:latin typeface="APL385 Unicode" panose="020B0709000202000203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53859" y="4038790"/>
            <a:ext cx="214994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350" i="1" dirty="0"/>
              <a:t>… b squared minus 4 a c ...</a:t>
            </a:r>
            <a:endParaRPr lang="en-GB" sz="13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b="1089"/>
          <a:stretch/>
        </p:blipFill>
        <p:spPr>
          <a:xfrm>
            <a:off x="5165993" y="1226920"/>
            <a:ext cx="2191544" cy="8876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CF48C5-1332-45D5-AF98-C82A38775CDC}"/>
              </a:ext>
            </a:extLst>
          </p:cNvPr>
          <p:cNvSpPr/>
          <p:nvPr/>
        </p:nvSpPr>
        <p:spPr>
          <a:xfrm>
            <a:off x="5165993" y="1743150"/>
            <a:ext cx="2191544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B1A36-9532-4B71-AE78-880AC382A7D3}"/>
              </a:ext>
            </a:extLst>
          </p:cNvPr>
          <p:cNvSpPr/>
          <p:nvPr/>
        </p:nvSpPr>
        <p:spPr>
          <a:xfrm>
            <a:off x="5165994" y="1240432"/>
            <a:ext cx="729508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A07BE-3C93-4761-B0C0-037770186CA6}"/>
              </a:ext>
            </a:extLst>
          </p:cNvPr>
          <p:cNvSpPr/>
          <p:nvPr/>
        </p:nvSpPr>
        <p:spPr>
          <a:xfrm>
            <a:off x="5895502" y="1240432"/>
            <a:ext cx="202817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FB6FD4-8861-451F-8C95-979954D8338A}"/>
              </a:ext>
            </a:extLst>
          </p:cNvPr>
          <p:cNvSpPr/>
          <p:nvPr/>
        </p:nvSpPr>
        <p:spPr>
          <a:xfrm>
            <a:off x="6098319" y="1322093"/>
            <a:ext cx="1134126" cy="379241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</p:spTree>
    <p:extLst>
      <p:ext uri="{BB962C8B-B14F-4D97-AF65-F5344CB8AC3E}">
        <p14:creationId xmlns:p14="http://schemas.microsoft.com/office/powerpoint/2010/main" val="354843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" grpId="0" animBg="1"/>
      <p:bldP spid="2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939F30-E87F-E07B-4D29-9E0A6105E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Variant is used to modify a function by supplying extra parameters.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define function to replace '</a:t>
            </a:r>
            <a:r>
              <a:rPr lang="en-GB" dirty="0" err="1">
                <a:solidFill>
                  <a:srgbClr val="DD6DCD"/>
                </a:solidFill>
                <a:latin typeface="APL385 Unicode" panose="020B0709000202000203" pitchFamily="49" charset="0"/>
              </a:rPr>
              <a:t>abc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' by 'XX'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←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abc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⎕R 'XX' 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derive a case-insensitive variant of </a:t>
            </a:r>
            <a:r>
              <a:rPr lang="en-GB" dirty="0" err="1">
                <a:solidFill>
                  <a:srgbClr val="DD6DCD"/>
                </a:solidFill>
                <a:latin typeface="APL385 Unicode" panose="020B0709000202000203" pitchFamily="49" charset="0"/>
              </a:rPr>
              <a:t>repl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cirepl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←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repl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⍠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('IC' 1)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cirepl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abC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012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AbC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XX012XX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9950C4-EAF0-975F-5662-E98860C4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</a:t>
            </a:r>
            <a:r>
              <a:rPr lang="en-GB" dirty="0">
                <a:latin typeface="+mj-lt"/>
              </a:rPr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⍠</a:t>
            </a:r>
            <a:r>
              <a:rPr lang="en-GB" dirty="0">
                <a:latin typeface="+mj-lt"/>
              </a:rPr>
              <a:t> or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⎕OPT</a:t>
            </a:r>
            <a:r>
              <a:rPr lang="en-GB" dirty="0">
                <a:latin typeface="+mj-lt"/>
              </a:rPr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D20E709-A381-2D5B-FE65-D76A0904B0C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592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BA8A54-1275-88DF-95C3-AA3BA9FE0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[n]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or Axis operator, has anomalous syntax.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When applied to a function it specifies the axis on which the operation is performed.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+/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[2]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Array </a:t>
            </a:r>
          </a:p>
          <a:p>
            <a:pPr marL="0" indent="0">
              <a:buNone/>
            </a:pPr>
            <a:r>
              <a:rPr lang="en-GB" dirty="0"/>
              <a:t>tells APL to perform function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+/</a:t>
            </a:r>
            <a:r>
              <a:rPr lang="en-GB" dirty="0"/>
              <a:t> on the 2</a:t>
            </a:r>
            <a:r>
              <a:rPr lang="en-GB" baseline="30000" dirty="0"/>
              <a:t>nd</a:t>
            </a:r>
            <a:r>
              <a:rPr lang="en-GB" dirty="0"/>
              <a:t> axis.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9B498C-BDBE-1849-D024-FCC5368A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Axis "operator"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[n]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59AE32-DCEC-954B-AF8C-F875F3AA284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299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7DE3-A49E-5797-6C5F-33515ADD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2484D-83FC-7E15-620F-EAAE8F97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[n]</a:t>
            </a:r>
            <a:r>
              <a:rPr lang="en-GB" dirty="0"/>
              <a:t> following a scalar function specifies the axis on which the operation is performed: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1 2 3 +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[2]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2 3⍴10 20 30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11 22 33 </a:t>
            </a:r>
            <a:b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11 22 33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1 ¯1 ×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[1]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2 3⍴10 20 30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10  20  30 </a:t>
            </a:r>
            <a:b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¯10 ¯20 ¯30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AC5F4C-D857-C0C2-095E-D93F6BCC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Axis "operator"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[n]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63A1CE8-7DB9-97FB-BB8C-87D6E4B642A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999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52879-530A-D875-BA89-420530B56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Normally the Bracket Axis operator accepts only integers to specify the applied axis.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There is an exception however with </a:t>
            </a:r>
            <a:r>
              <a:rPr lang="en-GB" b="1" dirty="0">
                <a:solidFill>
                  <a:srgbClr val="FF6600"/>
                </a:solidFill>
              </a:rPr>
              <a:t>,</a:t>
            </a:r>
            <a:r>
              <a:rPr lang="en-GB" dirty="0"/>
              <a:t> which defines function </a:t>
            </a:r>
            <a:r>
              <a:rPr lang="en-GB" b="1" i="1" dirty="0">
                <a:solidFill>
                  <a:srgbClr val="FF6600"/>
                </a:solidFill>
              </a:rPr>
              <a:t>laminate</a:t>
            </a:r>
            <a:r>
              <a:rPr lang="en-GB" dirty="0"/>
              <a:t>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⍴⎕←A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,[0.5]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A←⍳5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6F8561-F6B3-41A0-0E74-394D08C8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Laminate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n.m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]</a:t>
            </a:r>
            <a:r>
              <a:rPr lang="en-GB" dirty="0"/>
              <a:t>)</a:t>
            </a:r>
            <a:endParaRPr lang="en-GB" dirty="0">
              <a:solidFill>
                <a:srgbClr val="FF6600"/>
              </a:solidFill>
            </a:endParaRP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34C2C1E-8143-A098-65F2-D80241609D4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976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1AD4A-A867-0A61-CA2F-53991EEC6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Laminate joins two arrays, adding a dimension in the process. The number indicates where to add it: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</a:t>
            </a:r>
            <a:r>
              <a:rPr lang="en-GB" b="1" dirty="0">
                <a:solidFill>
                  <a:srgbClr val="00B050"/>
                </a:solidFill>
                <a:latin typeface="APL385 Unicode" panose="020B0709000202000203" pitchFamily="49" charset="0"/>
              </a:rPr>
              <a:t>¨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A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B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3 4   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3 4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⍴A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[0.5]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   ⍝ before 1</a:t>
            </a:r>
            <a:r>
              <a:rPr lang="en-GB" baseline="30000" dirty="0">
                <a:solidFill>
                  <a:srgbClr val="00B050"/>
                </a:solidFill>
                <a:latin typeface="APL385 Unicode" panose="020B0709000202000203" pitchFamily="49" charset="0"/>
              </a:rPr>
              <a:t>st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dim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3 4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⍴A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[1.5]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   ⍝ between 1 and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⍴A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,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[2.5]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B   ⍝ after 2</a:t>
            </a:r>
            <a:r>
              <a:rPr lang="en-GB" baseline="30000" dirty="0">
                <a:solidFill>
                  <a:srgbClr val="00B050"/>
                </a:solidFill>
                <a:latin typeface="APL385 Unicode" panose="020B0709000202000203" pitchFamily="49" charset="0"/>
              </a:rPr>
              <a:t>nd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dim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3 4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71D4CF-33E6-A866-E84F-6071C8EE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Laminate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</a:t>
            </a:r>
            <a:r>
              <a:rPr lang="en-GB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n.m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8D9F284-2E6A-B653-2794-298F3094054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29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3E6712-840F-3281-F198-D708B37ED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Monadic ravel with consecutive axes can be used to merge those axes: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a←2 3 4⍴⎕A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ABCD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EFGH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IJKL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MNOP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QRST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UVWX</a:t>
            </a:r>
            <a:endParaRPr lang="en-GB" dirty="0">
              <a:solidFill>
                <a:srgbClr val="FF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522F9F-B1C2-6EB0-1B0D-7C4FD732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 Axes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,[j k]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8EB3D88-C8A4-D49A-CF8C-86E7038CF5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102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C037-73D2-C3C9-2F32-00E04865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F213C-081F-FBD7-3DAE-245C31E9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Monadic ravel with consecutive axes can be used to merge those axes: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a←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2 3</a:t>
            </a:r>
            <a:r>
              <a:rPr lang="en-GB" dirty="0">
                <a:latin typeface="APL385 Unicode" panose="020B0709000202000203" pitchFamily="49" charset="0"/>
              </a:rPr>
              <a:t> 4⍴⎕A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ABCD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EFGH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IJKL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MNOP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QRST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UVWX</a:t>
            </a:r>
            <a:endParaRPr lang="en-GB" dirty="0">
              <a:solidFill>
                <a:srgbClr val="FF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88322D-7E5E-DD02-AA65-595410B5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 Axes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,[j k]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2809823-E083-4FB8-3EA0-B35FBC5C6F7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868CF-8049-E818-AEC7-EACDE2EC9E8E}"/>
              </a:ext>
            </a:extLst>
          </p:cNvPr>
          <p:cNvSpPr txBox="1"/>
          <p:nvPr/>
        </p:nvSpPr>
        <p:spPr>
          <a:xfrm>
            <a:off x="4128873" y="1744393"/>
            <a:ext cx="40022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,[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1 2</a:t>
            </a:r>
            <a:r>
              <a:rPr lang="en-GB" dirty="0">
                <a:latin typeface="APL385 Unicode" panose="020B0709000202000203" pitchFamily="49" charset="0"/>
              </a:rPr>
              <a:t>]a</a:t>
            </a:r>
          </a:p>
          <a:p>
            <a:r>
              <a:rPr lang="en-GB" dirty="0">
                <a:latin typeface="APL385 Unicode" panose="020B0709000202000203" pitchFamily="49" charset="0"/>
              </a:rPr>
              <a:t>ABCD</a:t>
            </a:r>
          </a:p>
          <a:p>
            <a:r>
              <a:rPr lang="en-GB" dirty="0">
                <a:latin typeface="APL385 Unicode" panose="020B0709000202000203" pitchFamily="49" charset="0"/>
              </a:rPr>
              <a:t>EFGH</a:t>
            </a:r>
          </a:p>
          <a:p>
            <a:r>
              <a:rPr lang="en-GB" dirty="0">
                <a:latin typeface="APL385 Unicode" panose="020B0709000202000203" pitchFamily="49" charset="0"/>
              </a:rPr>
              <a:t>IJKL</a:t>
            </a:r>
          </a:p>
          <a:p>
            <a:r>
              <a:rPr lang="en-GB" dirty="0">
                <a:latin typeface="APL385 Unicode" panose="020B0709000202000203" pitchFamily="49" charset="0"/>
              </a:rPr>
              <a:t>MNOP</a:t>
            </a:r>
          </a:p>
          <a:p>
            <a:r>
              <a:rPr lang="en-GB" dirty="0">
                <a:latin typeface="APL385 Unicode" panose="020B0709000202000203" pitchFamily="49" charset="0"/>
              </a:rPr>
              <a:t>QRST</a:t>
            </a:r>
          </a:p>
          <a:p>
            <a:r>
              <a:rPr lang="en-GB" dirty="0">
                <a:latin typeface="APL385 Unicode" panose="020B0709000202000203" pitchFamily="49" charset="0"/>
              </a:rPr>
              <a:t>UVWX</a:t>
            </a:r>
          </a:p>
        </p:txBody>
      </p:sp>
    </p:spTree>
    <p:extLst>
      <p:ext uri="{BB962C8B-B14F-4D97-AF65-F5344CB8AC3E}">
        <p14:creationId xmlns:p14="http://schemas.microsoft.com/office/powerpoint/2010/main" val="2397058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D6869-90AB-D929-17B2-96168E51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262FE4-8CBB-AC83-EF8D-691DAB7D6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Monadic ravel with consecutive axes can be used to merge those axes: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a←2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3 4</a:t>
            </a:r>
            <a:r>
              <a:rPr lang="en-GB" dirty="0">
                <a:latin typeface="APL385 Unicode" panose="020B0709000202000203" pitchFamily="49" charset="0"/>
              </a:rPr>
              <a:t>⍴⎕A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ABCD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EFGH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IJKL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MNOP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QRST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UVWX</a:t>
            </a:r>
            <a:endParaRPr lang="en-GB" dirty="0">
              <a:solidFill>
                <a:srgbClr val="FF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0FF407-8EF6-0D51-FBC0-B9C9A9E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Merge Axes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,[j k]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69D3E43-38CF-0EAD-FE50-386F180408D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9EDF0-618A-9D93-F028-B2FB12A96458}"/>
              </a:ext>
            </a:extLst>
          </p:cNvPr>
          <p:cNvSpPr txBox="1"/>
          <p:nvPr/>
        </p:nvSpPr>
        <p:spPr>
          <a:xfrm>
            <a:off x="4128873" y="1744393"/>
            <a:ext cx="400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      ,[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2 3</a:t>
            </a:r>
            <a:r>
              <a:rPr lang="en-GB" dirty="0">
                <a:latin typeface="APL385 Unicode" panose="020B0709000202000203" pitchFamily="49" charset="0"/>
              </a:rPr>
              <a:t>]a</a:t>
            </a:r>
          </a:p>
          <a:p>
            <a:r>
              <a:rPr lang="en-GB" dirty="0">
                <a:latin typeface="APL385 Unicode" panose="020B0709000202000203" pitchFamily="49" charset="0"/>
              </a:rPr>
              <a:t>ABCDEFGHIJKL</a:t>
            </a:r>
          </a:p>
          <a:p>
            <a:r>
              <a:rPr lang="en-GB" dirty="0">
                <a:latin typeface="APL385 Unicode" panose="020B0709000202000203" pitchFamily="49" charset="0"/>
              </a:rPr>
              <a:t>MNOPQRSTUVWX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B98B84-D3BB-4062-3878-88AA08C137F1}"/>
              </a:ext>
            </a:extLst>
          </p:cNvPr>
          <p:cNvSpPr/>
          <p:nvPr/>
        </p:nvSpPr>
        <p:spPr>
          <a:xfrm>
            <a:off x="3685735" y="2975317"/>
            <a:ext cx="3305908" cy="1244991"/>
          </a:xfrm>
          <a:prstGeom prst="roundRect">
            <a:avLst/>
          </a:prstGeom>
          <a:solidFill>
            <a:schemeClr val="tx1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Remember the Table function?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latin typeface="APL385 Unicode" panose="020B0709000202000203" pitchFamily="49" charset="0"/>
              </a:rPr>
              <a:t>⍪⍵ ←→ ,[1↓⍳≢⍴⍵]</a:t>
            </a:r>
          </a:p>
        </p:txBody>
      </p:sp>
    </p:spTree>
    <p:extLst>
      <p:ext uri="{BB962C8B-B14F-4D97-AF65-F5344CB8AC3E}">
        <p14:creationId xmlns:p14="http://schemas.microsoft.com/office/powerpoint/2010/main" val="4644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78F6D-7A3C-745F-22DA-85F95785D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Apply a function to grouped sub-arrays.</a:t>
            </a:r>
          </a:p>
          <a:p>
            <a:pPr marL="0" indent="0">
              <a:buNone/>
            </a:pPr>
            <a:r>
              <a:rPr lang="da-DK" dirty="0"/>
              <a:t>The most common example is to sum, or count the items corresponding to a key: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'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R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BB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R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B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G' </a:t>
            </a:r>
            <a:r>
              <a:rPr lang="da-DK" dirty="0">
                <a:latin typeface="APL385 Unicode" panose="020B0709000202000203" pitchFamily="49" charset="0"/>
              </a:rPr>
              <a:t>{⍺,+/⍵}⌸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1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70C0"/>
                </a:solidFill>
                <a:latin typeface="APL385 Unicode" panose="020B0709000202000203" pitchFamily="49" charset="0"/>
              </a:rPr>
              <a:t>2 3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4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70C0"/>
                </a:solidFill>
                <a:latin typeface="APL385 Unicode" panose="020B0709000202000203" pitchFamily="49" charset="0"/>
              </a:rPr>
              <a:t>5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6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R  5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 10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G  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009E5E-2331-0637-7C4F-D5782C01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en-GB" dirty="0"/>
              <a:t>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⎕U2338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in classic)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5A9B38D-C6CC-01CD-9FEF-515115BB18D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57E16-3EEC-C2A9-A3F3-3E0E4950A981}"/>
              </a:ext>
            </a:extLst>
          </p:cNvPr>
          <p:cNvSpPr txBox="1"/>
          <p:nvPr/>
        </p:nvSpPr>
        <p:spPr>
          <a:xfrm>
            <a:off x="2799472" y="3214470"/>
            <a:ext cx="583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,∘+/⌸       ⍝ Tacit with compose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6BDAA-6E9F-E981-E9F8-D9718EED1A26}"/>
              </a:ext>
            </a:extLst>
          </p:cNvPr>
          <p:cNvSpPr txBox="1"/>
          <p:nvPr/>
        </p:nvSpPr>
        <p:spPr>
          <a:xfrm>
            <a:off x="2747890" y="3782991"/>
            <a:ext cx="4596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latin typeface="APL385 Unicode" panose="020B0709000202000203" pitchFamily="49" charset="0"/>
              </a:rPr>
              <a:t>_K←⎕U2338</a:t>
            </a:r>
          </a:p>
          <a:p>
            <a:r>
              <a:rPr lang="da-DK" dirty="0">
                <a:latin typeface="APL385 Unicode" panose="020B0709000202000203" pitchFamily="49" charset="0"/>
              </a:rPr>
              <a:t>{⍺,+/⍵}_K   ⍝ in Classic edition</a:t>
            </a:r>
            <a:endParaRPr lang="en-GB" dirty="0"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B475D8-DB11-84B2-229B-5A6569CA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⍴⎕←'RBBRBG' {⍺ ⍵}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1 2 3 4 5 6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┌─┬─────┐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│R│1 4  │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├─┼─────┤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│B│2 3 5│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├─┼─────┤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│G│6    │</a:t>
            </a:r>
            <a:br>
              <a:rPr lang="fr-FR" dirty="0">
                <a:latin typeface="APL385 Unicode" panose="020B0709000202000203" pitchFamily="49" charset="0"/>
              </a:rPr>
            </a:br>
            <a:r>
              <a:rPr lang="fr-FR" dirty="0">
                <a:latin typeface="APL385 Unicode" panose="020B0709000202000203" pitchFamily="49" charset="0"/>
              </a:rPr>
              <a:t>└─┴─────┘</a:t>
            </a:r>
          </a:p>
          <a:p>
            <a:pPr marL="0" indent="0">
              <a:buNone/>
            </a:pPr>
            <a:r>
              <a:rPr lang="fr-FR" dirty="0">
                <a:latin typeface="APL385 Unicode" panose="020B0709000202000203" pitchFamily="49" charset="0"/>
              </a:rPr>
              <a:t>3 2 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52C99-0965-943B-E493-F50CB381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151C206-206F-EE0C-1050-216B6AFAD39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3098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AA52-3851-9577-F15E-8D7C91B5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B3908F-94F7-FD8C-E308-870B4CCA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dirty="0"/>
              <a:t>Keys can be ANY array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/>
              <a:t>Data is partitioned on the leading dimension:</a:t>
            </a:r>
          </a:p>
          <a:p>
            <a:pPr marL="0" indent="0">
              <a:spcAft>
                <a:spcPts val="600"/>
              </a:spcAft>
              <a:buNone/>
            </a:pPr>
            <a:endParaRPr lang="da-DK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dates data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┌────────┬──────┐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│2017 6 5│100 10│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│2017 6 5│  5 25│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│2017 6 6│ 50 75│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└────────┴──────┘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dates {⍺,+⌿⍵}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data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2017 6 5 105 35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2017 6 6  50 75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612FEC-8757-ABA1-68A5-7B919914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8293153-7CF0-13AB-09E1-54BFC8AA940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963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40B0-BB9C-B235-3E86-3C9AB85B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CA5E97-CBD5-2686-EB73-35595594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dirty="0"/>
              <a:t>Interval Index groups values into buckets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0 10 30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12 50 9 10 11 15 8 31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2 3 1 2 2 2 1 3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49C518-696E-4B90-E1E2-512F7A4A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and Interval Index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9E48191-319B-B425-E031-4068A6607A4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7349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E09D5-3FDF-B91A-08B7-6298BABE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57A18-8483-5CFE-7EDD-A67B38E29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dirty="0"/>
              <a:t>Interval Index groups values into buckets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0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10 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30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12 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50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9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10 11 15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8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31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2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3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1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2 2 2 </a:t>
            </a:r>
            <a:r>
              <a:rPr lang="da-DK" dirty="0">
                <a:solidFill>
                  <a:srgbClr val="FF0000"/>
                </a:solidFill>
                <a:latin typeface="APL385 Unicode" panose="020B0709000202000203" pitchFamily="49" charset="0"/>
              </a:rPr>
              <a:t>1</a:t>
            </a: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400D6F-2BA8-0BD6-884B-38682487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and Interval Index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E08C551-8AA2-0EE5-0DC3-948FAD72C6F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567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1BE5-7AE1-E29F-4A7C-57D241C3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AE9357-B65C-38AB-9F19-301D075D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a-DK" dirty="0"/>
              <a:t>Interval Index groups values into buckets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0 10 30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12 50 9 10 11 15 8 31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tx1"/>
                </a:solidFill>
                <a:latin typeface="APL385 Unicode" panose="020B0709000202000203" pitchFamily="49" charset="0"/>
              </a:rPr>
              <a:t>2 3 1 2 2 2 1 3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tx1"/>
                </a:solidFill>
                <a:latin typeface="+mj-lt"/>
              </a:rPr>
              <a:t>Works with any data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rgbClr val="00B0F0"/>
                </a:solidFill>
                <a:latin typeface="APL385 Unicode" panose="020B0709000202000203" pitchFamily="49" charset="0"/>
              </a:rPr>
              <a:t>      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'ADK'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'DYALOG'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a-DK" dirty="0">
                <a:solidFill>
                  <a:schemeClr val="tx1"/>
                </a:solidFill>
                <a:latin typeface="APL385 Unicode" panose="020B0709000202000203" pitchFamily="49" charset="0"/>
              </a:rPr>
              <a:t>2 3 1 3 3 2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2652B2-87AD-977E-68DE-F50A2E63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and Interval Index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B1101F8-2F62-EDFE-2300-A3BA52E79F6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828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1084-9F0F-FBCF-07EE-5FF7AE11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EB94D5-A055-38A9-D8F1-9E5B6929B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      </a:t>
            </a: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,∘≢</a:t>
            </a:r>
            <a:r>
              <a:rPr lang="da-DK" sz="1600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'small' 'medium' 'large'[0 10 30 </a:t>
            </a:r>
            <a:r>
              <a:rPr lang="da-DK" sz="1600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12 50 9 10 11 15 8 31]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┌──────┬─┐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│medium│4│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├──────┼─┤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│large │2│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├──────┼─┤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│small │2│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└──────┴─┘</a:t>
            </a:r>
            <a:endParaRPr lang="da-DK" sz="1600" dirty="0">
              <a:solidFill>
                <a:schemeClr val="tx1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69126D-E445-3956-16C2-F1D54D18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and Interval Index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A1A921D-1F32-3D2A-3193-E7D040D1C33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39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9737-8FE2-5C17-1387-DC3CF677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9303B6-1085-8261-E950-9EC6C14A7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(size count)←↓⍉,∘≢</a:t>
            </a:r>
            <a:r>
              <a:rPr lang="da-DK" sz="1600" dirty="0">
                <a:solidFill>
                  <a:srgbClr val="FF6600"/>
                </a:solidFill>
                <a:latin typeface="APL385 Unicode" panose="020B0709000202000203" pitchFamily="49" charset="0"/>
              </a:rPr>
              <a:t>⌸</a:t>
            </a: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0 10 30 </a:t>
            </a:r>
            <a:r>
              <a:rPr lang="da-DK" sz="1600" dirty="0">
                <a:solidFill>
                  <a:srgbClr val="FF6600"/>
                </a:solidFill>
                <a:latin typeface="APL385 Unicode" panose="020B0709000202000203" pitchFamily="49" charset="0"/>
              </a:rPr>
              <a:t>⍸</a:t>
            </a: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12 50 9 10 11 15 8 31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'small' 'medium' 'large'[size],⍪count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┌──────┬─┐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│medium│4│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├──────┼─┤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│large │2│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├──────┼─┤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│small │2│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da-DK" sz="1600" dirty="0">
                <a:latin typeface="APL385 Unicode" panose="020B0709000202000203" pitchFamily="49" charset="0"/>
              </a:rPr>
              <a:t>└──────┴─┘</a:t>
            </a:r>
            <a:endParaRPr lang="da-DK" sz="1600" dirty="0">
              <a:solidFill>
                <a:schemeClr val="tx1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815A64-BA09-4D12-8408-544DC5BA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and Interval Index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⌸⍸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0530610-0923-53C9-4B11-6F3D03BDC40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2A10F-D3A0-EF3E-4370-114120CEB4C9}"/>
              </a:ext>
            </a:extLst>
          </p:cNvPr>
          <p:cNvSpPr/>
          <p:nvPr/>
        </p:nvSpPr>
        <p:spPr>
          <a:xfrm>
            <a:off x="3942944" y="2833991"/>
            <a:ext cx="2678349" cy="914400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Perform computations on smaller data types for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02313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5007B-8153-94BB-BC27-5FD82082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This operator is used to run a function in a separate APL thread (not a separate OS thread).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example, start program </a:t>
            </a:r>
            <a:r>
              <a:rPr lang="en-GB" dirty="0" err="1">
                <a:solidFill>
                  <a:srgbClr val="00B050"/>
                </a:solidFill>
              </a:rPr>
              <a:t>bigTask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on each of the items in </a:t>
            </a:r>
            <a:r>
              <a:rPr lang="en-GB" dirty="0" err="1">
                <a:solidFill>
                  <a:srgbClr val="00B050"/>
                </a:solidFill>
              </a:rPr>
              <a:t>manyArgs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independently: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bigTask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&amp;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¨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manyArgs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</a:t>
            </a:r>
            <a:r>
              <a:rPr lang="en-GB" dirty="0" err="1"/>
              <a:t>seful</a:t>
            </a:r>
            <a:r>
              <a:rPr lang="en-GB" dirty="0"/>
              <a:t> for I/O bound tasks or monitor processes.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A4F727-7E66-E88C-8EA0-E3B9BEE8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Spawn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F&amp;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817725C-7895-5D86-9522-F8963210C51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9021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E49D-D2AA-22D4-57CB-D87B031BD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F42AF0-2928-2525-6B06-466323248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you have compute-heavy tasks that can be run in parallel, see the Isolate workspace.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)load isolate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F0D3A3-833F-2090-2BE1-6C7F82B9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Spawn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F&amp;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3BDD373-777A-AD4F-6DDE-C255C918C84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935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3A6020-ADB9-7A29-EC08-2E72110E7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/>
              <a:t>This operator is used to call special functions which may (or may not </a:t>
            </a:r>
            <a:r>
              <a:rPr lang="en-GB" dirty="0">
                <a:sym typeface="Wingdings" panose="05000000000000000000" pitchFamily="2" charset="2"/>
              </a:rPr>
              <a:t>)</a:t>
            </a:r>
            <a:r>
              <a:rPr lang="en-GB" dirty="0"/>
              <a:t> be candidates for future primitives or system functions.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/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'It is ',⊃'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Dddd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Doo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Mmmm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1200⌶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)1⎕DT⊂⎕TS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It is Wednesday 30th July</a:t>
            </a:r>
            <a:br>
              <a:rPr lang="nb-NO" dirty="0">
                <a:latin typeface="APL385 Unicode" panose="020B0709000202000203" pitchFamily="49" charset="0"/>
              </a:rPr>
            </a:br>
            <a:endParaRPr lang="nb-NO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127⌶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)⍬</a:t>
            </a:r>
            <a:r>
              <a:rPr lang="en-GB" dirty="0">
                <a:latin typeface="APL385 Unicode" panose="020B0709000202000203" pitchFamily="49" charset="0"/>
              </a:rPr>
              <a:t> ⍝ Overwrite free pockets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1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rgbClr val="FF6600"/>
                </a:solidFill>
              </a:rPr>
              <a:t>I-Beam is not on Classic language bar. 		Ctrl + Shift + </a:t>
            </a:r>
            <a:r>
              <a:rPr lang="en-GB" dirty="0" err="1">
                <a:solidFill>
                  <a:srgbClr val="FF6600"/>
                </a:solidFill>
              </a:rPr>
              <a:t>i</a:t>
            </a:r>
            <a:endParaRPr lang="en-GB" dirty="0">
              <a:solidFill>
                <a:srgbClr val="FF66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⎕UCS 9014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⌶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9D8685-4199-138E-577A-6A4089CC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I-beam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n⌶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1FC847-D583-3CED-A327-E2B3D58D71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382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2A5744-4039-5A3D-00F6-39EDAD1CC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022F24-1483-2C0A-773C-93DF26CE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5D46F85-8593-D963-4CBC-6676C7B569A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F2F72-0B89-C369-44DE-7944C255C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847" y="0"/>
            <a:ext cx="85023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29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65170-CABA-5C5A-164D-9FA58CD4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Dyalog APL has several primitive operators</a:t>
            </a:r>
          </a:p>
          <a:p>
            <a:pPr>
              <a:defRPr/>
            </a:pPr>
            <a:r>
              <a:rPr lang="en-GB" dirty="0"/>
              <a:t>An operator takes one or two </a:t>
            </a:r>
            <a:r>
              <a:rPr lang="en-GB" b="1" i="1" dirty="0"/>
              <a:t>operands</a:t>
            </a:r>
            <a:r>
              <a:rPr lang="en-GB" dirty="0"/>
              <a:t> </a:t>
            </a:r>
          </a:p>
          <a:p>
            <a:pPr>
              <a:defRPr/>
            </a:pPr>
            <a:r>
              <a:rPr lang="en-GB" dirty="0"/>
              <a:t>It returns a </a:t>
            </a:r>
            <a:r>
              <a:rPr lang="en-GB" b="1" i="1" dirty="0"/>
              <a:t>derived function </a:t>
            </a:r>
            <a:r>
              <a:rPr lang="en-GB" dirty="0"/>
              <a:t>that can be used immediately – or named and used later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C7A362-1722-17AB-8FE9-6B90EF69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1799E23-C85F-A7F7-02D1-377CDD8583D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0612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A3DBDE-18B2-B986-8684-4A2E5056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GB" dirty="0"/>
              <a:t>The </a:t>
            </a:r>
            <a:r>
              <a:rPr lang="en-GB" i="1" dirty="0"/>
              <a:t>derived</a:t>
            </a:r>
            <a:r>
              <a:rPr lang="en-GB" dirty="0"/>
              <a:t> function may be purely monadic, dyadic, or ambivalent</a:t>
            </a:r>
          </a:p>
          <a:p>
            <a:pPr>
              <a:defRPr/>
            </a:pPr>
            <a:r>
              <a:rPr lang="en-GB" dirty="0"/>
              <a:t>Two operators have anomalous syntax:</a:t>
            </a:r>
          </a:p>
          <a:p>
            <a:pPr lvl="1">
              <a:defRPr/>
            </a:pPr>
            <a:r>
              <a:rPr lang="en-GB" dirty="0"/>
              <a:t>Bracket Axis: </a:t>
            </a:r>
            <a:r>
              <a:rPr lang="en-GB" dirty="0">
                <a:latin typeface="APL385 Unicode" panose="020B0709000202000203" pitchFamily="49" charset="0"/>
              </a:rPr>
              <a:t>f[axis]</a:t>
            </a:r>
          </a:p>
          <a:p>
            <a:pPr lvl="1">
              <a:defRPr/>
            </a:pPr>
            <a:r>
              <a:rPr lang="en-GB" dirty="0"/>
              <a:t>Outer Product: </a:t>
            </a:r>
            <a:r>
              <a:rPr lang="en-GB" dirty="0">
                <a:latin typeface="APL385 Unicode" panose="020B0709000202000203" pitchFamily="49" charset="0"/>
              </a:rPr>
              <a:t>∘.f</a:t>
            </a:r>
          </a:p>
          <a:p>
            <a:pPr>
              <a:defRPr/>
            </a:pPr>
            <a:r>
              <a:rPr lang="en-GB" dirty="0"/>
              <a:t>Laminate is a special case of catenate which adds a dimension before catenating</a:t>
            </a:r>
          </a:p>
          <a:p>
            <a:pPr lvl="1">
              <a:defRPr/>
            </a:pPr>
            <a:r>
              <a:rPr lang="en-GB" dirty="0"/>
              <a:t>Specifying multiple consecutive axes to merge them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76DA7-791A-077F-5CA2-08F66DDC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40257DF-A23E-5624-9A2F-8AA34B6C5E5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4331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A9A12-0D6F-0EE4-FF59-48EBBC30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8E2D2600-94D0-825A-0C5E-84A08EC25C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315BDB-36BD-99C6-4BEC-FA81DFE7EB68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3162802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16747970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086CAA-FE05-6696-162B-02509C688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https://rikedyp.uk/APLBootcamp</a:t>
            </a:r>
          </a:p>
          <a:p>
            <a:pPr marL="0" indent="0">
              <a:buNone/>
            </a:pPr>
            <a:r>
              <a:rPr lang="en-GB" dirty="0"/>
              <a:t>Part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364C4-DF8B-42BB-D508-9444DBFC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144A54A-0977-09AE-6B71-238B88E210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165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18056B-2025-A3FB-D5D3-3A2B576FF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Use any name for user-defined functions and variables</a:t>
            </a:r>
          </a:p>
          <a:p>
            <a:pPr marL="0" indent="0">
              <a:buNone/>
            </a:pPr>
            <a:r>
              <a:rPr lang="da-DK" dirty="0"/>
              <a:t>In addition to primitives, Dyalog provides </a:t>
            </a:r>
            <a:r>
              <a:rPr lang="en-GB" b="1" i="1" dirty="0">
                <a:solidFill>
                  <a:srgbClr val="FF6600"/>
                </a:solidFill>
              </a:rPr>
              <a:t>System Variables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and </a:t>
            </a:r>
            <a:r>
              <a:rPr lang="en-GB" b="1" i="1" dirty="0">
                <a:solidFill>
                  <a:srgbClr val="FF6600"/>
                </a:solidFill>
              </a:rPr>
              <a:t>System Functions</a:t>
            </a:r>
            <a:r>
              <a:rPr lang="en-GB" dirty="0">
                <a:solidFill>
                  <a:srgbClr val="FF0000"/>
                </a:solidFill>
              </a:rPr>
              <a:t> 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They are a bit like a standard library for APL applications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All system names are prefixed with a </a:t>
            </a:r>
            <a:r>
              <a:rPr lang="en-GB" b="1" i="1" dirty="0">
                <a:solidFill>
                  <a:srgbClr val="FF6600"/>
                </a:solidFill>
              </a:rPr>
              <a:t>Quad </a:t>
            </a:r>
            <a:r>
              <a:rPr lang="en-GB" dirty="0"/>
              <a:t>(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</a:t>
            </a:r>
            <a:r>
              <a:rPr lang="en-GB" dirty="0"/>
              <a:t>), to prevent conflicts with user-defined names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4E8749-2867-B406-4E29-6DF363B9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Names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>
                <a:latin typeface="APL385 Unicode" panose="020B0709000202000203" pitchFamily="49" charset="0"/>
              </a:rPr>
              <a:t>THINGS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6F4E4A1-1D38-14C3-FD82-D22BE2710DC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943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6218F1-0116-2B72-3531-3E69CC33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System variables describe a state of the system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Some variables are </a:t>
            </a:r>
            <a:r>
              <a:rPr lang="en-GB" dirty="0">
                <a:solidFill>
                  <a:srgbClr val="FF0000"/>
                </a:solidFill>
              </a:rPr>
              <a:t>static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and cannot change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Some variables are </a:t>
            </a:r>
            <a:r>
              <a:rPr lang="en-GB" dirty="0">
                <a:solidFill>
                  <a:srgbClr val="E19205"/>
                </a:solidFill>
              </a:rPr>
              <a:t>dynamic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and can change without user intervention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The </a:t>
            </a:r>
            <a:r>
              <a:rPr lang="en-GB" dirty="0">
                <a:solidFill>
                  <a:srgbClr val="0070C0"/>
                </a:solidFill>
              </a:rPr>
              <a:t>others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can be changed by the user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369A58-92B2-8B2E-F5DA-DD279D8B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B25E03E-E703-2482-00DD-89BF436F301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630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50DF21-71AA-2E2F-4B8E-70958EBA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⎕A 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⎕DM/X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⎕PATH  ⎕SM    ⎕TRAP 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⎕AN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⎕EN  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⎕PP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⎕STACK ⎕TS   </a:t>
            </a:r>
          </a:p>
          <a:p>
            <a:pPr marL="0" indent="0">
              <a:buNone/>
            </a:pP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⎕AV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 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⎕FR    ⎕PW    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⎕TC  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⎕USING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⎕AVU   ⎕IO    ⎕RL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⎕THIS  ⎕WA   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⎕CT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⎕LC    ⎕R/NSI ⎕TID 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⎕WSID 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⎕D    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⎕LX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⎕RTL   ⎕TNAME </a:t>
            </a: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⎕WX   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⎕DCT   ⎕ML  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⎕SE    ⎕TNUMS ⎕XSI  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⎕DIV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   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⎕NULL  </a:t>
            </a: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⎕SI    ⎕TPOOL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1BB2E3-CC66-66B6-95DA-F4789D92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A32EF56-4558-0452-ED9C-0810098F019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963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52E3-AF4E-7052-411A-253DDAF5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D9EF26-6322-343C-6DD6-0C412EFC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⎕A</a:t>
            </a:r>
            <a:r>
              <a:rPr lang="en-GB" dirty="0">
                <a:latin typeface="APL385 Unicode" pitchFamily="49" charset="0"/>
              </a:rPr>
              <a:t>     ⎕DM/X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⎕PATH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</a:t>
            </a:r>
            <a:r>
              <a:rPr lang="en-GB" dirty="0">
                <a:latin typeface="APL385 Unicode" pitchFamily="49" charset="0"/>
              </a:rPr>
              <a:t>⎕SM 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⎕TRAP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⎕AN    ⎕EN    ⎕PP    ⎕STACK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⎕TS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⎕AV    ⎕FR    ⎕PW    ⎕TC    ⎕USING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⎕AVU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⎕IO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⎕RL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latin typeface="APL385 Unicode" pitchFamily="49" charset="0"/>
              </a:rPr>
              <a:t>⎕THIS  ⎕WA  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⎕CT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⎕LC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latin typeface="APL385 Unicode" pitchFamily="49" charset="0"/>
              </a:rPr>
              <a:t>⎕R/NSI ⎕TID   ⎕WSID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⎕D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⎕LX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latin typeface="APL385 Unicode" pitchFamily="49" charset="0"/>
              </a:rPr>
              <a:t>⎕RTL   ⎕TNAME ⎕WX   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⎕DCT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⎕ML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⎕SE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 </a:t>
            </a:r>
            <a:r>
              <a:rPr lang="en-GB" dirty="0">
                <a:latin typeface="APL385 Unicode" pitchFamily="49" charset="0"/>
              </a:rPr>
              <a:t>⎕TNUMS ⎕XSI 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⎕DIV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 </a:t>
            </a: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⎕NULL</a:t>
            </a:r>
            <a:r>
              <a:rPr lang="en-GB" dirty="0">
                <a:solidFill>
                  <a:srgbClr val="FF0000"/>
                </a:solidFill>
                <a:latin typeface="APL385 Unicode" pitchFamily="49" charset="0"/>
              </a:rPr>
              <a:t>  </a:t>
            </a:r>
            <a:r>
              <a:rPr lang="en-GB" dirty="0">
                <a:latin typeface="APL385 Unicode" pitchFamily="49" charset="0"/>
              </a:rPr>
              <a:t>⎕SI    ⎕TPOOL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B922BB-4E9B-DA11-7785-EB342523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BC42399-6610-8553-3982-E1872D6977B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6506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E88C-A40D-C8CE-2850-18A21ECB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BB1E35-F64C-36C1-2B08-49FC7A957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⎕A     the letters A-Z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⎕AN    the user’s ID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⎕D     the Digits 0-9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⎕NULL  the constant NULL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⎕TC    the characters BS, LF, CR</a:t>
            </a:r>
          </a:p>
          <a:p>
            <a:pPr marL="0" indent="0">
              <a:buNone/>
            </a:pPr>
            <a:endParaRPr lang="en-GB" dirty="0">
              <a:solidFill>
                <a:srgbClr val="FF3300"/>
              </a:solidFill>
              <a:latin typeface="APL385 Unicode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These cannot be changed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ADBAA9-5B98-1CB7-2674-C16E9CEC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 (static)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5CA9497-23A7-D5E3-D79B-AB71410351E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4052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3331-537D-51A8-67DB-0F89085B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2B7704-3596-396C-3AD2-7093CA22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⎕AV    the list of APL characters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⎕DM    the last error message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⎕DMX   ⎕DM+⎕EN in a thread safe form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⎕EN    the last error number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⎕RTL   response time limit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⎕SE    the session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6686F8-994C-A4CC-AD16-8C326B88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 (dynamic)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18C51B-A03A-9E4D-4CFA-7BCFACB41C2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5840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9D6B-49D3-20D6-3C4D-A871213B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8841C4-0548-E806-292A-588C1BEF5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⎕SI    the list of functions stacked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⎕LC    the current line number(s)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⎕STACK the execution stack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⎕NSI   where called from (char form)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⎕RSI   where called from (ref form)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⎕XSI   the list of functions stacked with their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       namespaces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BE9917-CF87-0A11-3888-181A86AE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 (dynamic)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9081C63-A431-3AD1-4CA7-3FABEFC7786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9852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1A2D-7F38-73E6-85DF-0B2F435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386D3E-0972-AFBF-9780-4EDDD397E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100" dirty="0">
                <a:solidFill>
                  <a:srgbClr val="FF6600"/>
                </a:solidFill>
                <a:latin typeface="APL385 Unicode" pitchFamily="49" charset="0"/>
              </a:rPr>
              <a:t>⎕LC ⎕NSI ⎕RSI ⎕SI ⎕XSI</a:t>
            </a:r>
            <a:r>
              <a:rPr lang="en-GB" sz="2100" dirty="0">
                <a:solidFill>
                  <a:srgbClr val="E19205"/>
                </a:solidFill>
                <a:latin typeface="APL385 Unicode" pitchFamily="49" charset="0"/>
              </a:rPr>
              <a:t> </a:t>
            </a:r>
            <a:r>
              <a:rPr lang="en-GB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itchFamily="49" charset="0"/>
              </a:rPr>
              <a:t>and</a:t>
            </a:r>
            <a:r>
              <a:rPr lang="en-GB" sz="2100" dirty="0">
                <a:solidFill>
                  <a:srgbClr val="E19205"/>
                </a:solidFill>
                <a:latin typeface="APL385 Unicode" pitchFamily="49" charset="0"/>
              </a:rPr>
              <a:t> </a:t>
            </a:r>
            <a:r>
              <a:rPr lang="en-GB" sz="2100" dirty="0">
                <a:solidFill>
                  <a:srgbClr val="FF6600"/>
                </a:solidFill>
                <a:latin typeface="APL385 Unicode" pitchFamily="49" charset="0"/>
              </a:rPr>
              <a:t>⎕STACK</a:t>
            </a:r>
            <a:r>
              <a:rPr lang="en-GB" sz="2100" dirty="0">
                <a:solidFill>
                  <a:srgbClr val="E19205"/>
                </a:solidFill>
                <a:latin typeface="APL385 Unicode" pitchFamily="49" charset="0"/>
              </a:rPr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relate to the execution stack.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61717E-84B6-454B-A77E-24B1B427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22FE87C-A562-EE8A-AD9B-E1D1D18FB9B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507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9A6D4A-CCD7-258D-8795-14B611622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⎕AVU   characters to use in ⎕AV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⎕CT    Comparison Tolerance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⎕DCT   Decimal Comparison Tolerance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⎕DIV   how to handle division by 0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⎕FR    float decimal system in use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⎕IO    index origin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⎕ML    Migration Level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⎕LX    Latent </a:t>
            </a:r>
            <a:r>
              <a:rPr lang="en-GB" dirty="0" err="1">
                <a:solidFill>
                  <a:srgbClr val="FF6600"/>
                </a:solidFill>
                <a:latin typeface="APL385 Unicode" pitchFamily="49" charset="0"/>
              </a:rPr>
              <a:t>eXpression</a:t>
            </a:r>
            <a:endParaRPr lang="en-GB" dirty="0">
              <a:solidFill>
                <a:srgbClr val="FF6600"/>
              </a:solidFill>
              <a:latin typeface="APL385 Unicode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⎕PATH  where to find functions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38F983-EE57-6A79-E7E8-9F7BCAF5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 (settable)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642D8B8-F205-3610-EB35-41E950CAB39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609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F1D4-8A13-B52F-6C03-25F0E09D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⎕CT    Comparison Tolerance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⎕DCT   Decimal Comparison Tolerance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This is what APL uses to compare 2 numbers.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If a number is “close enough” to another they are considered equal.</a:t>
            </a:r>
          </a:p>
          <a:p>
            <a:pPr marL="0" indent="0">
              <a:buNone/>
            </a:pPr>
            <a:r>
              <a:rPr lang="da-DK" dirty="0">
                <a:solidFill>
                  <a:schemeClr val="tx1"/>
                </a:solidFill>
              </a:rPr>
              <a:t>T</a:t>
            </a:r>
            <a:r>
              <a:rPr lang="en-GB" dirty="0">
                <a:solidFill>
                  <a:schemeClr val="tx1"/>
                </a:solidFill>
              </a:rPr>
              <a:t>his makes it possible to ignore round-off errors caused by limitations of fixed-precision floating-point numbers.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17A39B-AA71-F703-2489-77ADAF99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Tolerance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⎕CT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47DCD8F-52D1-AB3D-9920-77BD111A1EF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6861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4D51-65CA-E44C-471F-7E00B56E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63EEDF-BAEB-DD1A-9F34-B45320050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331727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70C0"/>
                </a:solidFill>
                <a:latin typeface="APL385 Unicode" panose="020B0709000202000203" pitchFamily="49" charset="0"/>
              </a:rPr>
              <a:t>	</a:t>
            </a: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⎕CT←1E¯14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	{↑⍵(1=1+10*-⍵)}⍳16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1 2 3 4 5 6 7 8 9 10 11 12 13 </a:t>
            </a:r>
            <a:r>
              <a:rPr lang="en-GB" sz="1200" dirty="0">
                <a:solidFill>
                  <a:srgbClr val="FF6600"/>
                </a:solidFill>
                <a:latin typeface="APL385 Unicode" panose="020B0709000202000203" pitchFamily="49" charset="0"/>
              </a:rPr>
              <a:t>14</a:t>
            </a: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15 16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0 0 0 0 0 0 0 0 0  0  0  0  0  </a:t>
            </a:r>
            <a:r>
              <a:rPr lang="en-GB" sz="1200" dirty="0">
                <a:solidFill>
                  <a:srgbClr val="FF6600"/>
                </a:solidFill>
                <a:latin typeface="APL385 Unicode" panose="020B0709000202000203" pitchFamily="49" charset="0"/>
              </a:rPr>
              <a:t>1</a:t>
            </a:r>
            <a:r>
              <a:rPr lang="en-GB" sz="1200" dirty="0">
                <a:solidFill>
                  <a:srgbClr val="FF0000"/>
                </a:solidFill>
                <a:latin typeface="APL385 Unicode" panose="020B0709000202000203" pitchFamily="49" charset="0"/>
              </a:rPr>
              <a:t>  </a:t>
            </a: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1  1 </a:t>
            </a:r>
          </a:p>
          <a:p>
            <a:pPr marL="0" indent="0">
              <a:spcAft>
                <a:spcPts val="400"/>
              </a:spcAft>
              <a:buNone/>
            </a:pP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For exact comparisons set </a:t>
            </a:r>
            <a:r>
              <a:rPr lang="en-GB" sz="1200" dirty="0">
                <a:solidFill>
                  <a:schemeClr val="tx1"/>
                </a:solidFill>
                <a:latin typeface="APL385 Unicode" panose="020B0709000202000203" pitchFamily="49" charset="0"/>
              </a:rPr>
              <a:t>⎕CT</a:t>
            </a:r>
            <a:r>
              <a:rPr lang="en-GB" sz="1200" dirty="0">
                <a:solidFill>
                  <a:schemeClr val="tx1"/>
                </a:solidFill>
              </a:rPr>
              <a:t> to 0, but beware:</a:t>
            </a:r>
          </a:p>
          <a:p>
            <a:pPr marL="0" indent="0">
              <a:spcAft>
                <a:spcPts val="400"/>
              </a:spcAft>
              <a:buNone/>
            </a:pPr>
            <a:b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10=+/100⍴0.1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⎕CT←0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10=+/100⍴0.1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10-+/100⍴0.1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1.953992523E¯14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CFCEB6-A65D-1D61-ABAD-242C2B7A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Tolerance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⎕CT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F76CC5-F300-1B71-17DC-9002D34D7A6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7710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1683-A3B2-2326-683F-F6278744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945A24-4B48-5BAC-EF6F-032A7E5D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331727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70C0"/>
                </a:solidFill>
                <a:latin typeface="APL385 Unicode" panose="020B0709000202000203" pitchFamily="49" charset="0"/>
              </a:rPr>
              <a:t>	</a:t>
            </a: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⎕CT←1E¯14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	{↑⍵(1=1+10*-⍵)}⍳16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1 2 3 4 5 6 7 8 9 10 11 12 13 </a:t>
            </a:r>
            <a:r>
              <a:rPr lang="en-GB" sz="1200" dirty="0">
                <a:solidFill>
                  <a:srgbClr val="FF6600"/>
                </a:solidFill>
                <a:latin typeface="APL385 Unicode" panose="020B0709000202000203" pitchFamily="49" charset="0"/>
              </a:rPr>
              <a:t>14</a:t>
            </a: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15 16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0 0 0 0 0 0 0 0 0  0  0  0  0  </a:t>
            </a:r>
            <a:r>
              <a:rPr lang="en-GB" sz="1200" dirty="0">
                <a:solidFill>
                  <a:srgbClr val="FF6600"/>
                </a:solidFill>
                <a:latin typeface="APL385 Unicode" panose="020B0709000202000203" pitchFamily="49" charset="0"/>
              </a:rPr>
              <a:t>1</a:t>
            </a:r>
            <a:r>
              <a:rPr lang="en-GB" sz="1200" dirty="0">
                <a:solidFill>
                  <a:srgbClr val="FF0000"/>
                </a:solidFill>
                <a:latin typeface="APL385 Unicode" panose="020B0709000202000203" pitchFamily="49" charset="0"/>
              </a:rPr>
              <a:t>  </a:t>
            </a:r>
            <a:r>
              <a:rPr lang="en-GB" sz="12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1  1 </a:t>
            </a:r>
          </a:p>
          <a:p>
            <a:pPr marL="0" indent="0">
              <a:spcAft>
                <a:spcPts val="400"/>
              </a:spcAft>
              <a:buNone/>
            </a:pP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For exact comparisons set </a:t>
            </a:r>
            <a:r>
              <a:rPr lang="en-GB" sz="1200" dirty="0">
                <a:solidFill>
                  <a:schemeClr val="tx1"/>
                </a:solidFill>
                <a:latin typeface="APL385 Unicode" panose="020B0709000202000203" pitchFamily="49" charset="0"/>
              </a:rPr>
              <a:t>⎕CT</a:t>
            </a:r>
            <a:r>
              <a:rPr lang="en-GB" sz="1200" dirty="0">
                <a:solidFill>
                  <a:schemeClr val="tx1"/>
                </a:solidFill>
              </a:rPr>
              <a:t> to 0, but beware:</a:t>
            </a:r>
          </a:p>
          <a:p>
            <a:pPr marL="0" indent="0">
              <a:spcAft>
                <a:spcPts val="400"/>
              </a:spcAft>
              <a:buNone/>
            </a:pPr>
            <a:b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10=+/100⍴0.1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⎕CT←0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10=+/100⍴0.1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sz="1200" dirty="0">
                <a:solidFill>
                  <a:srgbClr val="00B050"/>
                </a:solidFill>
                <a:latin typeface="APL385 Unicode" panose="020B0709000202000203" pitchFamily="49" charset="0"/>
              </a:rPr>
              <a:t>10-+/100⍴0.1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200" dirty="0">
                <a:solidFill>
                  <a:schemeClr val="accent3">
                    <a:lumMod val="75000"/>
                  </a:schemeClr>
                </a:solidFill>
                <a:latin typeface="APL385 Unicode" panose="020B0709000202000203" pitchFamily="49" charset="0"/>
              </a:rPr>
              <a:t>1.953992523E¯14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17971D-951C-6B61-B08E-F9C3B055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Tolerance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⎕CT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BCD6787-59A6-B521-45AF-F8D08715F25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495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CA1E-DDBA-B11D-6B88-680428C5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CE13D2-407B-DEAE-54A1-CCF150E8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331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⎕DIV   how to handle division by 0</a:t>
            </a:r>
          </a:p>
          <a:p>
            <a:pPr marL="0" indent="0">
              <a:buNone/>
            </a:pP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division by 0 (except 0÷0) is a DOMAIN error.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override that set ⎕DIV to 1 and 0=n÷0.</a:t>
            </a:r>
          </a:p>
          <a:p>
            <a:pPr marL="0" indent="0">
              <a:buNone/>
            </a:pP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29F07A-DCE9-BDEF-8A65-ED8E6094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8905E9B-6C74-B35B-D6DF-9C61E088CC7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8983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F4F6E-075A-9E17-04B0-7F99AAAF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Choose how to handle division by 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Division by 0 (except </a:t>
            </a:r>
            <a:r>
              <a:rPr lang="en-GB" dirty="0">
                <a:latin typeface="APL385 Unicode" panose="020B0709000202000203" pitchFamily="49" charset="0"/>
              </a:rPr>
              <a:t>0÷0</a:t>
            </a:r>
            <a:r>
              <a:rPr lang="en-GB" dirty="0"/>
              <a:t>) is a </a:t>
            </a:r>
            <a:r>
              <a:rPr lang="en-GB" dirty="0">
                <a:latin typeface="APL385 Unicode" panose="020B0709000202000203" pitchFamily="49" charset="0"/>
              </a:rPr>
              <a:t>DOMAIN</a:t>
            </a:r>
            <a:r>
              <a:rPr lang="en-GB" dirty="0"/>
              <a:t> error</a:t>
            </a:r>
          </a:p>
          <a:p>
            <a:pPr marL="0" indent="0">
              <a:buNone/>
            </a:pPr>
            <a:r>
              <a:rPr lang="en-GB" dirty="0"/>
              <a:t>Set 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 to </a:t>
            </a:r>
            <a:r>
              <a:rPr lang="en-GB" dirty="0">
                <a:latin typeface="APL385 Unicode" panose="020B0709000202000203" pitchFamily="49" charset="0"/>
              </a:rPr>
              <a:t>1</a:t>
            </a:r>
            <a:r>
              <a:rPr lang="en-GB" dirty="0"/>
              <a:t>, then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0=n÷0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7E5508-541D-A941-9D68-B2DEDE87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7888B98-BFA3-1407-D77B-C531B19E7EF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329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FBB4-413B-4EEE-6C52-1392928E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E50CD6-C669-E27E-640A-63D16A743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Calculate the sales growth for 5 products.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before←20 31 0 120 63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after← 22 27 0 149 59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CECBFD-EF64-2DB1-6858-7C3BA20D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AA6C2A2-CBB5-FBAD-85D9-43E06FC71A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9708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FBE9-9D9F-2DF0-25F2-FBABAA0D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52B795-EC23-0E9B-FCC3-BA55DC0F4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Calculate the sales growth for 5 products.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before←20 31 0 120 63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after← 22 27 0 149 59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⌊0.5+100×(after-before)÷before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063FD0-5F34-B464-183A-87A40BD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6E92B3C-8F56-5DBC-32F2-30191E94306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831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5B-404F-2245-E9C5-43EFF279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4F6DB-54B8-B8CE-CA5C-963FC969F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Calculate the sales growth for 5 products.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before←20 31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120 63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after← 22 27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149 59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⌊0.5+100×(after-before)÷before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10 ¯13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100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24 ¯6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3F8FBD-AA3F-5421-2956-1CA50914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A7A927D-0265-AB89-2F67-A931B7F2D02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6230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7CC7-5430-9711-FBF9-0DFF892E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18FA78-2C81-23CF-7155-2B61935C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Calculate the sales growth for 5 products.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     ⎕DIV←1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before←20 31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120 63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after← 22 27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149 59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⌊0.5+100×(after-before)÷before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10 ¯13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0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24 ¯6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53C349-6191-7C58-A03F-3DA1FE71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Division Control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⎕DIV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85B56D9-B998-4FF9-F5E7-C80B5FB9AFC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083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E3861F-7D5A-0E6F-0A79-D64DCCEEB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⎕FR    data type to use for</a:t>
            </a:r>
            <a:b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</a:b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       floating-point arithmetic</a:t>
            </a:r>
          </a:p>
          <a:p>
            <a:pPr marL="0" indent="0">
              <a:buNone/>
            </a:pPr>
            <a:endParaRPr lang="en-GB" sz="2100" dirty="0">
              <a:solidFill>
                <a:srgbClr val="0070C0"/>
              </a:solidFill>
              <a:latin typeface="APL385 Unicode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default, floating point operations generate “IEEE doubles” (type 645). Engineers like this.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generate decimal floats instead (type 1287) set it to 1287. Bankers may find this useful: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	⎕FR←1287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3C0A49-ED55-750E-F0AF-1F0CEFE7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Floating-point Representation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F0DA82-120A-6848-7BA2-E1F66EB09A1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0187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610459-9074-0CFD-9D90-AC7BD65B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affects several functions: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itchFamily="49" charset="0"/>
              </a:rPr>
              <a:t>	</a:t>
            </a: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⍳ ? ⍋ ⍒ </a:t>
            </a:r>
            <a:r>
              <a:rPr lang="en-GB" sz="2100" dirty="0" err="1">
                <a:solidFill>
                  <a:srgbClr val="0070C0"/>
                </a:solidFill>
                <a:latin typeface="APL385 Unicode" pitchFamily="49" charset="0"/>
              </a:rPr>
              <a:t>i</a:t>
            </a: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⌷ </a:t>
            </a:r>
            <a:r>
              <a:rPr lang="en-GB" sz="2100" dirty="0" err="1">
                <a:solidFill>
                  <a:srgbClr val="0070C0"/>
                </a:solidFill>
                <a:latin typeface="APL385 Unicode" pitchFamily="49" charset="0"/>
              </a:rPr>
              <a:t>i</a:t>
            </a: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⊃ [</a:t>
            </a:r>
            <a:r>
              <a:rPr lang="en-GB" sz="2100" dirty="0" err="1">
                <a:solidFill>
                  <a:srgbClr val="0070C0"/>
                </a:solidFill>
                <a:latin typeface="APL385 Unicode" pitchFamily="49" charset="0"/>
              </a:rPr>
              <a:t>i</a:t>
            </a: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] a⍉ </a:t>
            </a:r>
          </a:p>
          <a:p>
            <a:pPr marL="0" indent="0">
              <a:spcAft>
                <a:spcPts val="400"/>
              </a:spcAft>
              <a:buNone/>
            </a:pPr>
            <a:endParaRPr lang="en-GB" sz="2100" dirty="0">
              <a:solidFill>
                <a:srgbClr val="0070C0"/>
              </a:solidFill>
              <a:latin typeface="APL385 Unicode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accepts 0 or 1 as value, the default is 1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⎕IO←0 ⋄ ⍳4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0 1 2 3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Talk to your team-mates before changing it!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72979-535D-3520-06C9-4317B261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Origin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⎕IO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724478-D16E-6D37-F4CC-C95F9103A1D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3974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29F8BF-60AD-08E5-63C4-8A310D85E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⎕ML    Migration Level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affects several functions: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itchFamily="49" charset="0"/>
              </a:rPr>
              <a:t>	</a:t>
            </a:r>
            <a:r>
              <a:rPr lang="en-GB" sz="1800" dirty="0">
                <a:solidFill>
                  <a:srgbClr val="0070C0"/>
                </a:solidFill>
                <a:latin typeface="APL385 Unicode" pitchFamily="49" charset="0"/>
              </a:rPr>
              <a:t>V⊂  ⊃  ↑  ∊  ≡  ⎕TC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Its effect: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0: behaves like the original Dyalog 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</a:rPr>
              <a:t>1: changes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∊</a:t>
            </a:r>
            <a:r>
              <a:rPr lang="en-GB" dirty="0">
                <a:solidFill>
                  <a:srgbClr val="00B050"/>
                </a:solidFill>
              </a:rPr>
              <a:t> from </a:t>
            </a:r>
            <a:r>
              <a:rPr lang="en-GB" i="1" dirty="0">
                <a:solidFill>
                  <a:srgbClr val="00B050"/>
                </a:solidFill>
              </a:rPr>
              <a:t>type</a:t>
            </a:r>
            <a:r>
              <a:rPr lang="en-GB" dirty="0">
                <a:solidFill>
                  <a:srgbClr val="00B050"/>
                </a:solidFill>
              </a:rPr>
              <a:t> to </a:t>
            </a:r>
            <a:r>
              <a:rPr lang="en-GB" i="1" dirty="0">
                <a:solidFill>
                  <a:srgbClr val="00B050"/>
                </a:solidFill>
              </a:rPr>
              <a:t>enlist	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Type</a:t>
            </a:r>
            <a:r>
              <a:rPr lang="en-GB" sz="2900" dirty="0">
                <a:solidFill>
                  <a:srgbClr val="00B050"/>
                </a:solidFill>
                <a:latin typeface="APL385 Unicode" panose="020B0709000202000203" pitchFamily="49" charset="0"/>
              </a:rPr>
              <a:t>←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{⊃0⍴⊂⍵}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0B050"/>
                </a:solidFill>
              </a:rPr>
              <a:t>	</a:t>
            </a:r>
            <a:r>
              <a:rPr lang="en-GB" dirty="0">
                <a:solidFill>
                  <a:srgbClr val="00B050"/>
                </a:solidFill>
              </a:rPr>
              <a:t>default since v15.0	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↑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⊃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are switched,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≡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positive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3: dyadic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⊂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like APL2, 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⎕TC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modified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D88611-14CE-F8FF-314F-880B79C1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Migration Level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⎕ML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3D2EE42-AB4D-56CA-BAAF-60BC05BC231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3760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B7BAF9-06CE-6E81-0C7D-10133BD70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the expression executed when a workspace is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)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LOAD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It is used to have an application start when loaded.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⎕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LX←'main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5CD97A-4B30-4C6B-907B-5AE77513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Latent </a:t>
            </a:r>
            <a:r>
              <a:rPr lang="en-GB" dirty="0" err="1"/>
              <a:t>eXpression</a:t>
            </a:r>
            <a:r>
              <a:rPr lang="en-GB" dirty="0"/>
              <a:t>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⎕LX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FBA39E1-39A6-329A-D81B-6B9C073F2B5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975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114240-32AD-10BB-51C1-EC65C6F50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specified where to search for functions, if a name is not found in the current namespace (more about namespaces later):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⎕PATH←'#.Utils'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rgbClr val="5D7095"/>
                </a:solidFill>
              </a:rPr>
              <a:t>This can make it difficult to know the origin of names, especially in functions called by a function that has set </a:t>
            </a:r>
            <a:r>
              <a:rPr lang="en-GB" dirty="0">
                <a:solidFill>
                  <a:srgbClr val="5D7095"/>
                </a:solidFill>
                <a:latin typeface="APL385 Unicode" panose="020B0709000202000203" pitchFamily="49" charset="0"/>
              </a:rPr>
              <a:t>⎕PATH</a:t>
            </a:r>
            <a:r>
              <a:rPr lang="en-GB" dirty="0">
                <a:solidFill>
                  <a:srgbClr val="5D7095"/>
                </a:solidFill>
              </a:rPr>
              <a:t>. It might make sense to use </a:t>
            </a:r>
            <a:r>
              <a:rPr lang="en-GB" dirty="0">
                <a:solidFill>
                  <a:srgbClr val="5D7095"/>
                </a:solidFill>
                <a:latin typeface="APL385 Unicode" panose="020B0709000202000203" pitchFamily="49" charset="0"/>
              </a:rPr>
              <a:t>⎕PATH</a:t>
            </a:r>
            <a:r>
              <a:rPr lang="en-GB" dirty="0">
                <a:solidFill>
                  <a:srgbClr val="5D7095"/>
                </a:solidFill>
              </a:rPr>
              <a:t>, or it might be better to make namespace references explicit.</a:t>
            </a:r>
          </a:p>
          <a:p>
            <a:pPr marL="0" indent="0">
              <a:spcAft>
                <a:spcPts val="400"/>
              </a:spcAft>
              <a:buNone/>
            </a:pP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Text←#.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TextUtils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Text.Split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'some text’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┌────┬────┐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some│text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└────┴────┘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7EF910-765C-39A3-F21F-DE96E184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dirty="0"/>
              <a:t>Namespace Search Path (</a:t>
            </a:r>
            <a:r>
              <a:rPr lang="en-GB" sz="3400" dirty="0">
                <a:solidFill>
                  <a:srgbClr val="0070C0"/>
                </a:solidFill>
                <a:latin typeface="APL385 Unicode" panose="020B0709000202000203" pitchFamily="49" charset="0"/>
              </a:rPr>
              <a:t>⎕PATH</a:t>
            </a:r>
            <a:r>
              <a:rPr lang="en-GB" sz="34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C4505A2-7672-2A7E-25A3-8B4EBAC07A8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3876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FC9A87-F48D-AE93-FDA9-583E5CB44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⎕PP    print precision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⎕PW    print width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⎕RL    Random seed (Link)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⎕SM    screen map (deprecated)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⎕TRAP  how to handle errors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⎕USING </a:t>
            </a:r>
            <a:r>
              <a:rPr lang="en-GB" dirty="0" err="1">
                <a:latin typeface="APL385 Unicode" pitchFamily="49" charset="0"/>
              </a:rPr>
              <a:t>Microsoft.Net</a:t>
            </a:r>
            <a:r>
              <a:rPr lang="en-GB" dirty="0">
                <a:latin typeface="APL385 Unicode" pitchFamily="49" charset="0"/>
              </a:rPr>
              <a:t> paths to search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⎕WSID  Workspace Name (ID)</a:t>
            </a:r>
          </a:p>
          <a:p>
            <a:pPr marL="0" indent="0">
              <a:buNone/>
            </a:pPr>
            <a:r>
              <a:rPr lang="en-GB" dirty="0">
                <a:latin typeface="APL385 Unicode" pitchFamily="49" charset="0"/>
              </a:rPr>
              <a:t>⎕WX    Window </a:t>
            </a:r>
            <a:r>
              <a:rPr lang="en-GB" dirty="0" err="1">
                <a:latin typeface="APL385 Unicode" pitchFamily="49" charset="0"/>
              </a:rPr>
              <a:t>eXpose</a:t>
            </a:r>
            <a:endParaRPr lang="en-GB" dirty="0">
              <a:latin typeface="APL385 Unicode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0B2FD5-4F82-0590-9C7F-FD3323AC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Variables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24EF043-4192-2BFB-BE19-8A784E097E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990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DC563E-E29C-C58D-9C08-4AE1570B1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affects the default display of numbers.</a:t>
            </a:r>
          </a:p>
          <a:p>
            <a:pPr marL="0" indent="0">
              <a:buNone/>
            </a:pP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	</a:t>
            </a:r>
            <a:r>
              <a:rPr lang="en-GB" sz="2100" dirty="0">
                <a:solidFill>
                  <a:srgbClr val="00B050"/>
                </a:solidFill>
                <a:latin typeface="APL385 Unicode" pitchFamily="49" charset="0"/>
              </a:rPr>
              <a:t>⎕pp←4  ⋄ ○1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3.142</a:t>
            </a:r>
          </a:p>
          <a:p>
            <a:pPr marL="0" indent="0">
              <a:buNone/>
            </a:pPr>
            <a:r>
              <a:rPr lang="en-GB" sz="2100" dirty="0">
                <a:solidFill>
                  <a:srgbClr val="0070C0"/>
                </a:solidFill>
                <a:latin typeface="APL385 Unicode" pitchFamily="49" charset="0"/>
              </a:rPr>
              <a:t>	</a:t>
            </a:r>
            <a:r>
              <a:rPr lang="en-GB" sz="2100" dirty="0">
                <a:solidFill>
                  <a:srgbClr val="00B050"/>
                </a:solidFill>
                <a:latin typeface="APL385 Unicode" pitchFamily="49" charset="0"/>
              </a:rPr>
              <a:t>⎕pp←17 ⋄ ○1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3.141592653589793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AA5CF-768F-169A-FD6B-1107BE81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 Precision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⎕PP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6C717F7-039E-1C7A-2CF7-F61B308FF88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1844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B31D-2651-4127-8101-7E87D74B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7B3A5D-EC2D-21E7-23D4-AFDFD72CF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tells APL where to fold output.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APL385 Unicode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⎕PW←42 ⋄ ⍳37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1 2 3 4 5 6 7 8 9 10 11 12 13 14 15 16 17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      18 19 20 21 22 23 24 25 26 27 28 29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      30 31 32 33 34 35 36 37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2D987-3749-E517-B943-CCE6FDFF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 Width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⎕PW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5B142D2-F5BC-C0DA-8602-CB329C6D811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988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E757-9990-43A9-BAA2-994447FD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B230B4-38C6-9E21-FA72-AA4D22E1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variable is used to generate random numbers.</a:t>
            </a:r>
          </a:p>
          <a:p>
            <a:pPr marL="0" indent="0">
              <a:buNone/>
            </a:pPr>
            <a:r>
              <a:rPr lang="en-GB" dirty="0">
                <a:solidFill>
                  <a:srgbClr val="E19205"/>
                </a:solidFill>
                <a:latin typeface="APL385 Unicode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⎕rl←5672341 ⋄ ?100 ⋄ ⎕</a:t>
            </a:r>
            <a:r>
              <a:rPr lang="en-GB" dirty="0" err="1">
                <a:solidFill>
                  <a:srgbClr val="00B050"/>
                </a:solidFill>
                <a:latin typeface="APL385 Unicode" pitchFamily="49" charset="0"/>
              </a:rPr>
              <a:t>rl</a:t>
            </a:r>
            <a:endParaRPr lang="en-GB" dirty="0">
              <a:solidFill>
                <a:srgbClr val="00B050"/>
              </a:solidFill>
              <a:latin typeface="APL385 Unicode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40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  <a:t>845754719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</a:b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itchFamily="49" charset="0"/>
              </a:rPr>
            </a:br>
            <a:r>
              <a:rPr lang="en-GB" dirty="0"/>
              <a:t>NB: In recent versions, </a:t>
            </a:r>
            <a:r>
              <a:rPr lang="en-GB" dirty="0">
                <a:latin typeface="APL385 Unicode" panose="020B0709000202000203" pitchFamily="49" charset="0"/>
              </a:rPr>
              <a:t>⎕RL</a:t>
            </a:r>
            <a:r>
              <a:rPr lang="en-GB" dirty="0"/>
              <a:t> can be a very large structure of Mersenne Twister state.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A1E261-4CC4-738D-9DB2-B9779BD7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Seed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⎕RL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0F57C22-6573-AC61-62A3-78DC30DE529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Left-Up Arrow 4">
            <a:extLst>
              <a:ext uri="{FF2B5EF4-FFF2-40B4-BE49-F238E27FC236}">
                <a16:creationId xmlns:a16="http://schemas.microsoft.com/office/drawing/2014/main" id="{2119ECB9-9905-F26E-76CA-8303A3FA35B7}"/>
              </a:ext>
            </a:extLst>
          </p:cNvPr>
          <p:cNvSpPr/>
          <p:nvPr/>
        </p:nvSpPr>
        <p:spPr bwMode="auto">
          <a:xfrm>
            <a:off x="2763416" y="2507366"/>
            <a:ext cx="2845852" cy="870008"/>
          </a:xfrm>
          <a:prstGeom prst="leftUpArrow">
            <a:avLst>
              <a:gd name="adj1" fmla="val 33008"/>
              <a:gd name="adj2" fmla="val 25000"/>
              <a:gd name="adj3" fmla="val 2934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bg1"/>
                </a:solidFill>
                <a:latin typeface="+mj-lt"/>
                <a:cs typeface="Arial" charset="0"/>
              </a:rPr>
              <a:t>Modified after each use</a:t>
            </a:r>
          </a:p>
        </p:txBody>
      </p:sp>
    </p:spTree>
    <p:extLst>
      <p:ext uri="{BB962C8B-B14F-4D97-AF65-F5344CB8AC3E}">
        <p14:creationId xmlns:p14="http://schemas.microsoft.com/office/powerpoint/2010/main" val="4753055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35886D-B699-6E16-596F-7355BD32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more or less equivalent to the system command )WSID: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wsid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myWs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⎕WSID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myWs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3907AA-A82A-723E-B159-22E57CF7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ID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⎕WSID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B4B1F84-034A-584F-1C65-53EE87563F8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142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BB5255-4EB2-C77E-09B0-83A4D8AA0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It determines</a:t>
            </a:r>
          </a:p>
          <a:p>
            <a:r>
              <a:rPr lang="en-GB" dirty="0"/>
              <a:t>Whether or not the names of properties, methods and events provided by a Dyalog APL GUI object are exposed as variables. </a:t>
            </a:r>
          </a:p>
          <a:p>
            <a:r>
              <a:rPr lang="en-GB" dirty="0"/>
              <a:t>Certain aspects of behaviour of </a:t>
            </a:r>
            <a:r>
              <a:rPr lang="en-GB" dirty="0" err="1"/>
              <a:t>.Net</a:t>
            </a:r>
            <a:r>
              <a:rPr lang="en-GB" dirty="0"/>
              <a:t> and COM objects.</a:t>
            </a:r>
          </a:p>
          <a:p>
            <a:r>
              <a:rPr lang="da-DK" dirty="0"/>
              <a:t>M</a:t>
            </a:r>
            <a:r>
              <a:rPr lang="en-GB" dirty="0" err="1"/>
              <a:t>ake</a:t>
            </a:r>
            <a:r>
              <a:rPr lang="en-GB" dirty="0"/>
              <a:t> sure it is set to 3 and forget about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2BCDD-8661-B769-9EAD-4FEF7846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 </a:t>
            </a:r>
            <a:r>
              <a:rPr lang="en-GB" dirty="0" err="1"/>
              <a:t>eXpose</a:t>
            </a:r>
            <a:r>
              <a:rPr lang="en-GB" dirty="0"/>
              <a:t> (</a:t>
            </a:r>
            <a:r>
              <a:rPr lang="en-GB" dirty="0">
                <a:solidFill>
                  <a:srgbClr val="0070C0"/>
                </a:solidFill>
                <a:latin typeface="APL385 Unicode" panose="020B0709000202000203" pitchFamily="49" charset="0"/>
              </a:rPr>
              <a:t>⎕WX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3569D32-1A6E-46C6-DECF-90EA62B72D1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8270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D31728-19BD-9B48-4A8B-3476D5ACD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System functions provide various services related to both the APL and the external environment. </a:t>
            </a:r>
          </a:p>
          <a:p>
            <a:pPr marL="0" indent="0">
              <a:buNone/>
            </a:pPr>
            <a:r>
              <a:rPr lang="en-GB" dirty="0"/>
              <a:t>They are always available without loading anything into the interpreter.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A67C3B-B9DB-EC4E-C3EF-E4798B28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Functions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B8C25AF-2089-3F52-18F3-FC1BD87A129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8282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F51A-5CAB-3596-4BDA-5C3F3B2A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0109AE-130D-E057-A4A6-02DF202D7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These functions closely emulate system commands: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334C97-E39B-C91B-C0F3-40E7F352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Functions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3C0EC8A-C383-E5DE-7659-7CA0A1D8FCC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F4BE7B-CE5D-A9DF-F3DB-25B5BF754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840438"/>
              </p:ext>
            </p:extLst>
          </p:nvPr>
        </p:nvGraphicFramePr>
        <p:xfrm>
          <a:off x="2897814" y="2031690"/>
          <a:ext cx="3888433" cy="2269150"/>
        </p:xfrm>
        <a:graphic>
          <a:graphicData uri="http://schemas.openxmlformats.org/drawingml/2006/table">
            <a:tbl>
              <a:tblPr/>
              <a:tblGrid>
                <a:gridCol w="926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400" dirty="0"/>
                        <a:t>Name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Description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57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⎕CLEAR</a:t>
                      </a:r>
                      <a:r>
                        <a:rPr lang="en-GB" sz="1400" dirty="0"/>
                        <a:t>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Clear workspace = )CLEAR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⎕CY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Copy objects into active WS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⎕EX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Expunge objects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⎕LOAD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Load a saved WS = )LOAD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⎕NL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Name List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⎕OFF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End the session = )OFF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⎕SAVE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Save the active WS = )SAVE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4965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066A69-AAA7-3D49-FF99-026BEA5EC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[objects] ⎕CY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wsname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More or less equivalent to: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)COPY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wsname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[objects]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objects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must be a character vector or matrix, if supplied.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he system command always copies into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⎕THIS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, but the function can be used to copy into a specific namespace.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2F528-9333-BD0D-E732-BA452C6B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 dirty="0"/>
              <a:t>Copy [name] from [workspace] (</a:t>
            </a:r>
            <a:r>
              <a:rPr lang="en-GB" sz="3000" dirty="0">
                <a:solidFill>
                  <a:srgbClr val="FF6600"/>
                </a:solidFill>
                <a:latin typeface="APL385 Unicode" panose="020B0709000202000203" pitchFamily="49" charset="0"/>
              </a:rPr>
              <a:t>⎕CY</a:t>
            </a:r>
            <a:r>
              <a:rPr lang="en-GB" sz="30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6F6B40A-431B-A6AC-58B4-59301AB5601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4917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87508-C752-DB78-2F09-4986B738E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⎕EX 'name'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Same as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)ERASE name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Objects must be a character vector, matrix or a vector of character vectors.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9950ED-5369-FC35-76B1-A69E28B7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Expunge name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⎕EX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93D20CB-E689-5C90-5624-0DC2CF4F5AE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0362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8177C4-C9F2-D536-0D54-A1E77DC37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[filter] ⎕NL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nv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chemeClr val="accent6">
                    <a:lumMod val="50000"/>
                  </a:schemeClr>
                </a:solidFill>
              </a:rPr>
              <a:t>nv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is a list of numbers, selecting one or more of: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2: variables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3: functions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4: operators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9: [name]spaces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Filter is a series of letters the names returned in matrix form must start with.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1D04E-72E4-F9DC-FA02-90DA1D48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List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AE8CD9-70F7-23E3-4898-1639B8E011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824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276B-F231-5948-96E3-5D57545F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88442-0F83-5E45-7D3A-4463E034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User command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]Names</a:t>
            </a:r>
            <a:r>
              <a:rPr lang="en-GB" dirty="0"/>
              <a:t> is a pretty-printing cover for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B93C0F-077A-02E5-EEBD-AE130192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List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94F166C-F5C0-9193-6308-7BC8ECA43E7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4214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85FD-33EA-4D4F-5A0D-0ABC7719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FA8CD0-22CC-CB38-1C07-5E445DE2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9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adviser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assent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attestation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beneficial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blustering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bodega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castes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circular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connected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crickets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distilleries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············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weave 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whiskered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wrongly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CF5761-C209-147B-4112-C00C9C02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List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BF895F6-D0EB-7599-625E-C1070E4C945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5522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CA4F-FAD4-24C0-3F84-63594026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B02DEE-4D75-215E-5E94-B069C573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]names 9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─── 9 ───    distilleries influence    printing     sottish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adviser      doltish      insolubility reconstruct  soviet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assent       duets        kamikazes    reflexives   sprawled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attestation  elaborately  logistically relearn      standings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beneficial   enunciation  looser       sailfish     tomboy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blustering   erasure      macintoshes  saucers      took  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bodega       exasperating mugginess    seacoasts    tranquilly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castes       expires      nerviest     sepulchral   vibraphone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circular     explicating  niacin       sheepdogs    weave    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connected    hothouses    potholders   snooping     whiskered  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crickets     hugged       primmest     </a:t>
            </a:r>
            <a:r>
              <a:rPr lang="en-GB" dirty="0" err="1">
                <a:latin typeface="APL385 Unicode" panose="020B0709000202000203" pitchFamily="49" charset="0"/>
              </a:rPr>
              <a:t>softhearted</a:t>
            </a:r>
            <a:r>
              <a:rPr lang="en-GB" dirty="0">
                <a:latin typeface="APL385 Unicode" panose="020B0709000202000203" pitchFamily="49" charset="0"/>
              </a:rPr>
              <a:t>  wrongly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841EAD-9CAE-361F-FF5A-A33D2A39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List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126D636-83DE-B170-F5E9-640006A3825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3760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BDB1-9C23-0541-720A-AD80566D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4E44D4-6884-B95C-F322-15E851AE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List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CDB778C-DBA1-56FD-96B7-93DD244A0AB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D47C70-42FA-ADD5-2404-6E217732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425360"/>
              </p:ext>
            </p:extLst>
          </p:nvPr>
        </p:nvGraphicFramePr>
        <p:xfrm>
          <a:off x="1871701" y="1354457"/>
          <a:ext cx="5886655" cy="3250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7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756"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Array (2)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Functions (3)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Operators (4)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N-spaces (9)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Variable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Traditional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Traditional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Created by </a:t>
                      </a:r>
                      <a:r>
                        <a:rPr lang="en-GB" sz="1400" dirty="0">
                          <a:solidFill>
                            <a:srgbClr val="3B475E"/>
                          </a:solidFill>
                          <a:latin typeface="APL385 Unicode" panose="020B0709000202000203" pitchFamily="49" charset="0"/>
                        </a:rPr>
                        <a:t>⎕NS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n.2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D-</a:t>
                      </a:r>
                      <a:r>
                        <a:rPr lang="en-GB" sz="1400" dirty="0" err="1">
                          <a:solidFill>
                            <a:srgbClr val="3B475E"/>
                          </a:solidFill>
                        </a:rPr>
                        <a:t>fns</a:t>
                      </a:r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D-ops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Instance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Property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Derived</a:t>
                      </a:r>
                      <a:br>
                        <a:rPr lang="en-GB" sz="1400" dirty="0">
                          <a:solidFill>
                            <a:srgbClr val="3B475E"/>
                          </a:solidFill>
                        </a:rPr>
                      </a:br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Primitive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Class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N/A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Interface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External</a:t>
                      </a:r>
                      <a:br>
                        <a:rPr lang="en-GB" sz="1400">
                          <a:solidFill>
                            <a:srgbClr val="3B475E"/>
                          </a:solidFill>
                        </a:rPr>
                      </a:br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Shared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External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External Class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rgbClr val="3B475E"/>
                          </a:solidFill>
                        </a:rPr>
                        <a:t>n.7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3B475E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3B475E"/>
                          </a:solidFill>
                        </a:rPr>
                        <a:t>External Interface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4355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AF7269-C487-0BAA-A6D7-02A86855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Interfaces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9ADA2CF-4150-D158-7C77-EB1A3F90373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F5AAF4-C805-6812-775C-72555DB6C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5024"/>
              </p:ext>
            </p:extLst>
          </p:nvPr>
        </p:nvGraphicFramePr>
        <p:xfrm>
          <a:off x="1001939" y="1311965"/>
          <a:ext cx="5697175" cy="2584420"/>
        </p:xfrm>
        <a:graphic>
          <a:graphicData uri="http://schemas.openxmlformats.org/drawingml/2006/table">
            <a:tbl>
              <a:tblPr/>
              <a:tblGrid>
                <a:gridCol w="165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108">
                <a:tc>
                  <a:txBody>
                    <a:bodyPr/>
                    <a:lstStyle/>
                    <a:p>
                      <a:r>
                        <a:rPr lang="en-GB" sz="1400" dirty="0"/>
                        <a:t>Name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Description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⎕ARBIN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Arbitrary Input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⎕ARBOUT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Arbitrary Output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⎕CMD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Execute the Windows Command Processor or another program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⎕MAP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Map a file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⎕NA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Declare a DLL function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93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⎕SH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Synonym for </a:t>
                      </a:r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⎕CMD</a:t>
                      </a:r>
                      <a:r>
                        <a:rPr lang="en-GB" sz="1400" dirty="0"/>
                        <a:t> for UNIX (or is it vice versa?)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3152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4CA36-BA10-8168-8C89-7A113FA5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83064D-E333-1C96-9975-98BDDD0B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Interfaces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E3633CB-F323-7F73-C656-B7D24F70B0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15BC98-D437-8278-704E-B8FC1EA67F13}"/>
              </a:ext>
            </a:extLst>
          </p:cNvPr>
          <p:cNvGraphicFramePr>
            <a:graphicFrameLocks noGrp="1"/>
          </p:cNvGraphicFramePr>
          <p:nvPr/>
        </p:nvGraphicFramePr>
        <p:xfrm>
          <a:off x="1001939" y="1311965"/>
          <a:ext cx="5697175" cy="2866360"/>
        </p:xfrm>
        <a:graphic>
          <a:graphicData uri="http://schemas.openxmlformats.org/drawingml/2006/table">
            <a:tbl>
              <a:tblPr/>
              <a:tblGrid>
                <a:gridCol w="165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108">
                <a:tc>
                  <a:txBody>
                    <a:bodyPr/>
                    <a:lstStyle/>
                    <a:p>
                      <a:r>
                        <a:rPr lang="en-GB" sz="1400" dirty="0"/>
                        <a:t>Name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Description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⎕ARBIN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Arbitrary Input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⎕ARBOUT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Arbitrary Output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⎕CMD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Execute the Windows Command Processor or another program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⎕MAP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Map a file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0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⎕NA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Declare a DLL function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93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⎕SH 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Synonym for </a:t>
                      </a:r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⎕CMD</a:t>
                      </a:r>
                      <a:r>
                        <a:rPr lang="en-GB" sz="1400" dirty="0"/>
                        <a:t> for UNIX (or is it vice versa?)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296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⎕SHELL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Improved </a:t>
                      </a:r>
                      <a:r>
                        <a:rPr lang="en-GB" sz="1400" dirty="0">
                          <a:latin typeface="APL385 Unicode" panose="020B0709000202000203" pitchFamily="49" charset="0"/>
                        </a:rPr>
                        <a:t>⎕SH</a:t>
                      </a:r>
                      <a:r>
                        <a:rPr lang="en-GB" sz="1400" dirty="0"/>
                        <a:t> with error handling and interrupts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651407"/>
                  </a:ext>
                </a:extLst>
              </a:tr>
            </a:tbl>
          </a:graphicData>
        </a:graphic>
      </p:graphicFrame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37B59C41-B66D-9A31-A51B-EEA0365479F2}"/>
              </a:ext>
            </a:extLst>
          </p:cNvPr>
          <p:cNvSpPr/>
          <p:nvPr/>
        </p:nvSpPr>
        <p:spPr>
          <a:xfrm>
            <a:off x="6699114" y="3335437"/>
            <a:ext cx="1893651" cy="1201661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V20.0</a:t>
            </a:r>
          </a:p>
        </p:txBody>
      </p:sp>
    </p:spTree>
    <p:extLst>
      <p:ext uri="{BB962C8B-B14F-4D97-AF65-F5344CB8AC3E}">
        <p14:creationId xmlns:p14="http://schemas.microsoft.com/office/powerpoint/2010/main" val="18324575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E10521-3400-1C44-5215-F68539433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This command sends an expression to be executed by the host Operating System (OS)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To start Notepad and wait for it to terminate: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⎕CMD 'notepad c:\myfile.txt'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To start asynchronously add ‘’ (window mode)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⎕CMD 'notepad c:\myfile.txt' </a:t>
            </a:r>
            <a:r>
              <a:rPr lang="en-GB" sz="2100" dirty="0">
                <a:solidFill>
                  <a:srgbClr val="FF6600"/>
                </a:solidFill>
                <a:latin typeface="APL385 Unicode" panose="020B0709000202000203" pitchFamily="49" charset="0"/>
              </a:rPr>
              <a:t>''</a:t>
            </a:r>
            <a:endParaRPr lang="en-GB" sz="2100" b="1" dirty="0">
              <a:solidFill>
                <a:srgbClr val="FF6600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B903B-EA21-DCC5-31FB-07C79865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Command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⎕CMD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8DF4FB-EE1E-3C80-C22A-9DE9E45B96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8334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B28DB4-F599-4363-CB3B-EFCE109F6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This command is identical to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⎕CMD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, the name is aimed at UNIX users.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6">
                    <a:lumMod val="50000"/>
                  </a:schemeClr>
                </a:solidFill>
              </a:rPr>
              <a:t>U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</a:rPr>
              <a:t>nder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Linux/UNIX, it uses a command shell to execute an expression.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82662-7818-4F8F-A8D7-68984A72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UNIX Shell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⎕SH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E9B8F72-C050-6C5E-1864-55AB74AE6B0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4363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2AB3-054C-C385-424A-20BC8957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14A556-39E0-051B-3137-E7E330022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R←⎕SHELL 'notepad c:\myfile.txt'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(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StreamData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StreamIds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ExitCode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ExitReason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Pid)←R</a:t>
            </a:r>
          </a:p>
          <a:p>
            <a:pPr marL="0" indent="0">
              <a:buNone/>
            </a:pPr>
            <a:endParaRPr lang="en-GB" sz="20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    </a:t>
            </a:r>
            <a:r>
              <a:rPr lang="en-GB" sz="20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StreamData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GB" sz="20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StreamIds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describe the output that was collected while the program ran.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    </a:t>
            </a:r>
            <a:r>
              <a:rPr lang="en-GB" sz="20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ExitCode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GB" sz="2000" dirty="0" err="1">
                <a:solidFill>
                  <a:srgbClr val="FF6600"/>
                </a:solidFill>
                <a:latin typeface="APL385 Unicode" panose="020B0709000202000203" pitchFamily="49" charset="0"/>
              </a:rPr>
              <a:t>ExitReason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describe why the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⎕SHELL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call ended.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   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Pid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is either the positive integer process ID of the child process (if the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⎕SHELL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call ends before the child process has ended), or ¯1.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E2C6CE-3E78-31EE-893C-B51E26FF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 dirty="0"/>
              <a:t>Execute External Program (</a:t>
            </a:r>
            <a:r>
              <a:rPr lang="en-GB" sz="3000" dirty="0">
                <a:solidFill>
                  <a:srgbClr val="FF6600"/>
                </a:solidFill>
                <a:latin typeface="APL385 Unicode" panose="020B0709000202000203" pitchFamily="49" charset="0"/>
              </a:rPr>
              <a:t>⎕SHELL</a:t>
            </a:r>
            <a:r>
              <a:rPr lang="en-GB" sz="30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EB2038-A580-C6CA-7CCD-E424397F74A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97211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62B3-CB8C-637C-320E-4884F228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96EC4C-2912-BCF2-439E-A6868EEC2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  <a:latin typeface="+mj-lt"/>
              </a:rPr>
              <a:t>NOTE: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Calling to external processes via the shell exposes </a:t>
            </a:r>
            <a:r>
              <a:rPr lang="en-GB" sz="2000" dirty="0">
                <a:solidFill>
                  <a:srgbClr val="FF0000"/>
                </a:solidFill>
                <a:latin typeface="+mj-lt"/>
              </a:rPr>
              <a:t>severe security risk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. Deployed, customer-facing applications should avoid this.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+mj-lt"/>
              </a:rPr>
              <a:t>Instead, use proper interfaces such as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⎕NA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(compiled DLLs) and </a:t>
            </a:r>
            <a:r>
              <a:rPr lang="en-GB" sz="2000" dirty="0">
                <a:solidFill>
                  <a:srgbClr val="FF6600"/>
                </a:solidFill>
                <a:latin typeface="APL385 Unicode" panose="020B0709000202000203" pitchFamily="49" charset="0"/>
              </a:rPr>
              <a:t>⎕USING</a:t>
            </a:r>
            <a:r>
              <a:rPr lang="en-GB" sz="2000" dirty="0">
                <a:solidFill>
                  <a:schemeClr val="tx1"/>
                </a:solidFill>
                <a:latin typeface="+mj-lt"/>
              </a:rPr>
              <a:t> (.NET)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D50E91-0097-463A-999F-F23E0136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 dirty="0"/>
              <a:t>Execute External Program (</a:t>
            </a:r>
            <a:r>
              <a:rPr lang="en-GB" sz="3000" dirty="0">
                <a:solidFill>
                  <a:srgbClr val="FF6600"/>
                </a:solidFill>
                <a:latin typeface="APL385 Unicode" panose="020B0709000202000203" pitchFamily="49" charset="0"/>
              </a:rPr>
              <a:t>⎕SHELL</a:t>
            </a:r>
            <a:r>
              <a:rPr lang="en-GB" sz="30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45D3E30-BBAB-F5A0-E325-9E2416C68A1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4486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C7A5DF-6C8B-A621-C3FB-7F787F00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rial" charset="0"/>
                <a:cs typeface="Arial" charset="0"/>
              </a:rPr>
              <a:t>This function provides an access to DLLs and external routines in the OS.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cs typeface="Arial" charset="0"/>
              </a:rPr>
              <a:t>	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'div' ⎕NA 'F8 </a:t>
            </a:r>
            <a:r>
              <a:rPr lang="en-GB" sz="21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math|divide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 I4 </a:t>
            </a:r>
            <a:r>
              <a:rPr lang="en-GB" sz="21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I4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"C FFI" for Dyalog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6318F-1B4D-3EE9-008D-87C23877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Association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⎕NA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E650FD4-34B1-647F-7AAC-4249730B1FC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989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47CAAB-F941-0F2A-F205-25D069F9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Tools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F2005C5-5905-DE63-0F14-6D745BC530B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EAE340-1E1E-11E7-3D39-1BCFD2B4E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281904"/>
              </p:ext>
            </p:extLst>
          </p:nvPr>
        </p:nvGraphicFramePr>
        <p:xfrm>
          <a:off x="4579758" y="519522"/>
          <a:ext cx="3124591" cy="3996460"/>
        </p:xfrm>
        <a:graphic>
          <a:graphicData uri="http://schemas.openxmlformats.org/drawingml/2006/table">
            <a:tbl>
              <a:tblPr/>
              <a:tblGrid>
                <a:gridCol w="104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823">
                <a:tc>
                  <a:txBody>
                    <a:bodyPr/>
                    <a:lstStyle/>
                    <a:p>
                      <a:r>
                        <a:rPr lang="en-GB" sz="800" dirty="0"/>
                        <a:t>Name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Description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⎕AT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Object Attributes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⎕CR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Canonical Representation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⎕CS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Change Space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⎕ED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Edit one or more objects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⎕EXPORT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Export objects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⎕FX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Fix definition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⎕LOCK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Lock a function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⎕MONITOR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Monitor set/query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⎕NR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Nested Representation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⎕NS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Create Namespace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⎕OR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Object Representation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⎕PATH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Search Path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⎕PROFILE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Profile Application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⎕REFS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Local References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⎕SHADOW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Shadow names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⎕STOP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Set/Query Stop vector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⎕THIS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This Space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⎕TRACE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Set/Query Trace vector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982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L385 Unicode" panose="020B0709000202000203" pitchFamily="49" charset="0"/>
                        </a:rPr>
                        <a:t>⎕VR 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Vector Representation</a:t>
                      </a:r>
                    </a:p>
                  </a:txBody>
                  <a:tcPr marL="36896" marR="36896" marT="18449" marB="18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8893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ED313-DCE3-F8CA-014A-F1B60F2C3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returns metadata for programs: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4 elements</a:t>
            </a:r>
            <a:br>
              <a:rPr lang="en-GB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returned.</a:t>
            </a:r>
            <a:br>
              <a:rPr lang="en-GB" dirty="0">
                <a:solidFill>
                  <a:schemeClr val="accent6">
                    <a:lumMod val="50000"/>
                  </a:schemeClr>
                </a:solidFill>
              </a:rPr>
            </a:b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This is the</a:t>
            </a:r>
            <a:br>
              <a:rPr lang="en-GB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first one: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3DC645-B36F-132A-FA63-297E58FD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⎕AT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157E57E-1919-04B7-715C-51166E3D7B4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A9FBAF-5E88-AB1A-EE8E-E135803C4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772753"/>
              </p:ext>
            </p:extLst>
          </p:nvPr>
        </p:nvGraphicFramePr>
        <p:xfrm>
          <a:off x="3167845" y="1714246"/>
          <a:ext cx="4638868" cy="2994978"/>
        </p:xfrm>
        <a:graphic>
          <a:graphicData uri="http://schemas.openxmlformats.org/drawingml/2006/table">
            <a:tbl>
              <a:tblPr/>
              <a:tblGrid>
                <a:gridCol w="37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2253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Function result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 if the function has no result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1 if the function has an explicit result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¯1 if the function has a shy result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472">
                <a:tc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Function valence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0 if the object is a niladic function or not a function</a:t>
                      </a:r>
                      <a:br>
                        <a:rPr lang="en-GB" sz="1200"/>
                      </a:br>
                      <a:r>
                        <a:rPr lang="en-GB" sz="1200"/>
                        <a:t>1 if the object is a monadic function</a:t>
                      </a:r>
                      <a:br>
                        <a:rPr lang="en-GB" sz="1200"/>
                      </a:br>
                      <a:r>
                        <a:rPr lang="en-GB" sz="1200"/>
                        <a:t>2 if the object is a dyadic function</a:t>
                      </a:r>
                      <a:br>
                        <a:rPr lang="en-GB" sz="1200"/>
                      </a:br>
                      <a:r>
                        <a:rPr lang="en-GB" sz="1200"/>
                        <a:t>¯2 if the object is an ambivalent function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253">
                <a:tc>
                  <a:txBody>
                    <a:bodyPr/>
                    <a:lstStyle/>
                    <a:p>
                      <a:r>
                        <a:rPr lang="en-GB" sz="1200"/>
                        <a:t>3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Operator valence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 if the object is not an operator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1 if the object is a monadic operator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2 if the object is a dyadic operator</a:t>
                      </a:r>
                    </a:p>
                  </a:txBody>
                  <a:tcPr marL="53881" marR="53881" marT="26940" marB="26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5465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CCE9-FF73-FC48-5E93-610F4FCB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8D03D-068A-B5B3-0199-ED3D1823B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From v18.2 onwards:</a:t>
            </a:r>
          </a:p>
          <a:p>
            <a:pPr marL="0" indent="0">
              <a:buNone/>
            </a:pPr>
            <a:r>
              <a:rPr lang="en-GB" dirty="0"/>
              <a:t>One-stop shop for meta-data about a name</a:t>
            </a:r>
          </a:p>
          <a:p>
            <a:r>
              <a:rPr lang="en-GB" dirty="0"/>
              <a:t>Function/operator valence (syntax)</a:t>
            </a:r>
          </a:p>
          <a:p>
            <a:r>
              <a:rPr lang="en-GB" dirty="0"/>
              <a:t>When and who last edited? (workspace, not file system)</a:t>
            </a:r>
          </a:p>
          <a:p>
            <a:r>
              <a:rPr lang="en-GB" dirty="0" err="1"/>
              <a:t>Nameclass</a:t>
            </a:r>
            <a:endParaRPr lang="en-GB" dirty="0"/>
          </a:p>
          <a:p>
            <a:r>
              <a:rPr lang="en-GB" dirty="0"/>
              <a:t>Source file information (for text source)</a:t>
            </a:r>
          </a:p>
          <a:p>
            <a:r>
              <a:rPr lang="en-GB" dirty="0"/>
              <a:t>+ more (see docs)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7A0014-DA9C-C51C-2C69-19244F3A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eXtended</a:t>
            </a:r>
            <a:r>
              <a:rPr lang="en-GB" dirty="0"/>
              <a:t> </a:t>
            </a:r>
            <a:r>
              <a:rPr lang="en-GB" dirty="0" err="1"/>
              <a:t>ATtributes</a:t>
            </a:r>
            <a:r>
              <a:rPr lang="en-GB" dirty="0"/>
              <a:t>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⎕ATX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F466415-4410-8D4F-60F9-EC8E3CD4CE6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85107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99F85F-F332-C6F2-563C-331B7DC4C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These 3 functions show the representation of a function: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⎕CR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"Canonical Representation": simple character matrix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⎕VR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"Vector Representation": simple char 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</a:rPr>
              <a:t>vec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with embedded new lines and decorators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⎕NR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"Nested Representation": nested vector of character vectors with decorators</a:t>
            </a:r>
          </a:p>
          <a:p>
            <a:pPr marL="0" indent="0">
              <a:buNone/>
            </a:pPr>
            <a:b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vr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avg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∇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a←avg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list                             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[1]   a←(+/list)÷⍴list                       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∇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94EFD8-2840-CF6D-1B6F-52FEE7EC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Representation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327EB12-314F-48CF-3882-146169941D9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3177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038770-98B0-6320-6BCC-0CB08594F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This function allows you to Change Space.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⎕←⎕cs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xfr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⎕←⎕cs #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#.xfr</a:t>
            </a:r>
          </a:p>
          <a:p>
            <a:pPr marL="0" indent="0">
              <a:buNone/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It returns the namespace we started in (so you can return later).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CA40BD-BC4E-1063-EDF5-62783C1B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Space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BA3A0AC-3D46-0972-A7AB-27BFD17E942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041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45E0-5394-9FF8-0318-C86527F3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71E7E9-4673-DCAB-E33E-19DA452B6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Changing space makes debugging more confusing.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We recommend making explicit references.</a:t>
            </a:r>
          </a:p>
          <a:p>
            <a:pPr marL="0" indent="0">
              <a:buNone/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lnSpc>
                <a:spcPct val="80000"/>
              </a:lnSpc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Text←#.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TextUtils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lnSpc>
                <a:spcPct val="80000"/>
              </a:lnSpc>
              <a:spcAft>
                <a:spcPts val="40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Text.Split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'some text'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┌────┬────┐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some│text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│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└────┴────┘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3E127F-706C-90F8-EA5A-EA3D75E3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Space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D46B9F6-7773-7F32-8E2A-32AFE8E9A21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3557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A3889-C90C-BD25-4684-81A606370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allows you to edit code/data under program control.</a:t>
            </a:r>
          </a:p>
          <a:p>
            <a:pPr marL="0" indent="0">
              <a:buNone/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Probably not a great idea in modern systems.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FCAF76-FCA8-AD97-6AEC-8470CD9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Edit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⎕ED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A6CC96-8604-F40C-B41E-A8601CDAF79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7673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1C390-DB39-35AC-03BF-151FAE70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allows you to create functions dynamically, using arguments in the forms returned by </a:t>
            </a:r>
            <a:r>
              <a:rPr lang="en-GB" dirty="0">
                <a:latin typeface="APL385 Unicode" panose="020B0709000202000203" pitchFamily="49" charset="0"/>
              </a:rPr>
              <a:t>⎕CR/VR/NR</a:t>
            </a:r>
            <a:r>
              <a:rPr lang="en-GB" dirty="0"/>
              <a:t>.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95267E-274C-D90D-719E-774979EC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 Definition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⎕FX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409C582-A628-7CF3-56BF-079EF49AC3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9648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62D32C-DC6D-DA92-646D-E22A9F833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allows you to lock functions, making it impossible to view the source.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39C994-BF37-9A86-F737-E8AA7FF6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Lock Definition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⎕LOCK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DC5410E-B3F2-9C54-424D-C58C5726BF8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34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2B4795-5958-1DF5-84FC-C2547512F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This function allows to create namespaces and copy names between them.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Dyadic form creates a namespace with a name.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Monadic creates a nameless namespace: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#.[Namespace]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D6F1A6-D9BE-826C-8C5B-6FF79211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NameSpace</a:t>
            </a:r>
            <a:r>
              <a:rPr lang="en-GB" dirty="0"/>
              <a:t>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F7CE215-5F61-8E8D-F794-2EF9CAEACEB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2101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B66D-931C-935F-F06B-E5DD726F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B4A0FF-F03E-2494-C6DF-4D546408E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This function allows to create namespaces and copy names between them.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Dyadic form creates a namespace with a name.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Monadic creates a nameless namespace: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#.[Namespace]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B9985-A71A-0E5D-1F3B-FE84009C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NameSpace</a:t>
            </a:r>
            <a:r>
              <a:rPr lang="en-GB" dirty="0"/>
              <a:t>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A8E3CF2-5BC3-9196-32BE-4A1DC252B82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1AD50-DBF7-BC02-CDE2-C11E39C6D7E0}"/>
              </a:ext>
            </a:extLst>
          </p:cNvPr>
          <p:cNvSpPr txBox="1"/>
          <p:nvPr/>
        </p:nvSpPr>
        <p:spPr>
          <a:xfrm>
            <a:off x="3185124" y="3934136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https://www.youtube.com/watch?v=eBEwBSO5mBA</a:t>
            </a:r>
          </a:p>
        </p:txBody>
      </p:sp>
    </p:spTree>
    <p:extLst>
      <p:ext uri="{BB962C8B-B14F-4D97-AF65-F5344CB8AC3E}">
        <p14:creationId xmlns:p14="http://schemas.microsoft.com/office/powerpoint/2010/main" val="9449422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5456-8F3A-C772-7933-7CA20643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47E2B-10AE-4724-252B-AC16415C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This function allows to create namespaces and copy names between them.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Dyadic form creates a namespace with a name.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Monadic creates a nameless namespace: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←⎕ns ''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#.[Namespace]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98CD2B-991D-87E2-0C8F-9931A6E6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NameSpace</a:t>
            </a:r>
            <a:r>
              <a:rPr lang="en-GB" dirty="0"/>
              <a:t>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3AC7C3-7080-0F0A-F4B0-871DF3441E5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D6D5E-4AE8-4A4E-1D4B-B178D379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104" y="1852735"/>
            <a:ext cx="3406470" cy="19543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B67BA-4712-FFCB-3F41-12942382CDBD}"/>
              </a:ext>
            </a:extLst>
          </p:cNvPr>
          <p:cNvSpPr txBox="1"/>
          <p:nvPr/>
        </p:nvSpPr>
        <p:spPr>
          <a:xfrm>
            <a:off x="3185124" y="3934136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https://www.youtube.com/watch?v=eBEwBSO5mBA</a:t>
            </a:r>
          </a:p>
        </p:txBody>
      </p:sp>
    </p:spTree>
    <p:extLst>
      <p:ext uri="{BB962C8B-B14F-4D97-AF65-F5344CB8AC3E}">
        <p14:creationId xmlns:p14="http://schemas.microsoft.com/office/powerpoint/2010/main" val="25609132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279B-CE51-168E-9995-332805B7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4E7F10-EDEC-0B32-48FF-1FF58C46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Safely (without using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⍎</a:t>
            </a:r>
            <a:r>
              <a:rPr lang="en-GB" dirty="0"/>
              <a:t>) get values from names with defaults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rgbClr val="0000FF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2E17F9-E681-AC40-BD0B-C611A6AF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Get/Set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⎕VGET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⎕VSET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F8242CF-DCD0-7260-BF3C-D5CC27808D8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7830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3682-7514-B16E-990A-8113B777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863440-03E0-5C1D-3FBC-9F2CF314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Safely (without using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⍎</a:t>
            </a:r>
            <a:r>
              <a:rPr lang="en-GB" dirty="0"/>
              <a:t>) get values from names with defaults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r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US" altLang="en-US" sz="2000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MyAPI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br>
              <a:rPr lang="en-US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</a:b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chemeClr val="accent6"/>
                </a:solidFill>
                <a:latin typeface="APL385 Unicode" panose="020B0709000202000203" pitchFamily="49" charset="0"/>
              </a:rPr>
              <a:t>amount type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)←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0080"/>
                </a:solidFill>
                <a:latin typeface="APL385 Unicode" panose="020B0709000202000203" pitchFamily="49" charset="0"/>
              </a:rPr>
              <a:t>⎕VGET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'amount'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'type'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'default'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rgbClr val="0000FF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CD05D9-4A16-A819-4601-3972C3BD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Get/Set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⎕VGET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⎕VSET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23B530B-1864-4CBD-1795-3FACAEF72EC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4285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0F05-D4DD-4B1A-3DBE-202021A0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C7B82F-4988-D0AC-83C4-4F2EEFAB4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Safely (without using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⍎</a:t>
            </a:r>
            <a:r>
              <a:rPr lang="en-GB" dirty="0"/>
              <a:t>) get values from names with defaults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r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US" altLang="en-US" sz="2000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MyAPI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;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amount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;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type</a:t>
            </a:r>
            <a:br>
              <a:rPr lang="en-US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</a:b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amount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type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)←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0080"/>
                </a:solidFill>
                <a:latin typeface="APL385 Unicode" panose="020B0709000202000203" pitchFamily="49" charset="0"/>
              </a:rPr>
              <a:t>⎕VGET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'amount'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'type'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'default'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rgbClr val="0000FF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A2AB02-4992-2AEE-905E-FF95FD2C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Get/Set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⎕VGET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⎕VSET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0EF8713-A042-E860-6DF9-2A4EC1B2AD0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80086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AB216-80F0-528A-FF39-60D80AA9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095C1-2E46-5FCF-155D-0877CF06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Safely (without using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⍎</a:t>
            </a:r>
            <a:r>
              <a:rPr lang="en-GB" dirty="0"/>
              <a:t>) get values from names with defaults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r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←</a:t>
            </a:r>
            <a:r>
              <a:rPr lang="en-US" altLang="en-US" sz="2000" dirty="0" err="1">
                <a:solidFill>
                  <a:srgbClr val="000000"/>
                </a:solidFill>
                <a:latin typeface="APL385 Unicode" panose="020B0709000202000203" pitchFamily="49" charset="0"/>
              </a:rPr>
              <a:t>MyAPI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;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amount</a:t>
            </a:r>
            <a:r>
              <a:rPr lang="en-US" altLang="en-US" sz="2000" dirty="0" err="1">
                <a:solidFill>
                  <a:srgbClr val="0000FF"/>
                </a:solidFill>
                <a:latin typeface="APL385 Unicode" panose="020B0709000202000203" pitchFamily="49" charset="0"/>
              </a:rPr>
              <a:t>;</a:t>
            </a:r>
            <a:r>
              <a:rPr lang="en-US" altLang="en-US" sz="2000" dirty="0" err="1">
                <a:solidFill>
                  <a:srgbClr val="808080"/>
                </a:solidFill>
                <a:latin typeface="APL385 Unicode" panose="020B0709000202000203" pitchFamily="49" charset="0"/>
              </a:rPr>
              <a:t>type</a:t>
            </a:r>
            <a:br>
              <a:rPr lang="en-US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</a:b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amount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type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)←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opts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0080"/>
                </a:solidFill>
                <a:latin typeface="APL385 Unicode" panose="020B0709000202000203" pitchFamily="49" charset="0"/>
              </a:rPr>
              <a:t>⎕VGET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'amount'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808080"/>
                </a:solidFill>
                <a:latin typeface="APL385 Unicode" panose="020B0709000202000203" pitchFamily="49" charset="0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)(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'type'</a:t>
            </a:r>
            <a:r>
              <a:rPr lang="en-US" altLang="en-US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US" altLang="en-US" sz="2000" dirty="0">
                <a:solidFill>
                  <a:srgbClr val="008080"/>
                </a:solidFill>
                <a:latin typeface="APL385 Unicode" panose="020B0709000202000203" pitchFamily="49" charset="0"/>
              </a:rPr>
              <a:t>'default'</a:t>
            </a:r>
            <a:r>
              <a:rPr lang="en-US" altLang="en-US" sz="2000" dirty="0">
                <a:solidFill>
                  <a:srgbClr val="0000FF"/>
                </a:solidFill>
                <a:latin typeface="APL385 Unicode" panose="020B0709000202000203" pitchFamily="49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rgbClr val="0000FF"/>
              </a:solidFill>
              <a:latin typeface="APL385 Unicode" panose="020B0709000202000203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altLang="en-US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MyAPI</a:t>
            </a:r>
            <a:r>
              <a:rPr lang="en-GB" altLang="en-US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(</a:t>
            </a:r>
            <a:r>
              <a:rPr lang="en-GB" altLang="en-US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type:'new</a:t>
            </a:r>
            <a:r>
              <a:rPr lang="en-GB" altLang="en-US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amount: 0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chemeClr val="tx1"/>
                </a:solidFill>
                <a:latin typeface="APL385 Unicode" panose="020B0709000202000203" pitchFamily="49" charset="0"/>
              </a:rPr>
              <a:t>type: new</a:t>
            </a:r>
            <a:endParaRPr lang="en-US" altLang="en-US" sz="2000" dirty="0">
              <a:solidFill>
                <a:schemeClr val="tx1"/>
              </a:solidFill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6E7169-D2F1-E13A-F3B5-D6D87711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Get/Set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⎕VGET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⎕VSET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D14E46F-513A-981A-A8A7-00B87BA5777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6360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5CC9C2-C545-3D37-9419-C2D91B43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returns a representation of a variable, function, operator or namespace as a variable that can be used  to reconstruct it later.</a:t>
            </a:r>
          </a:p>
          <a:p>
            <a:pPr marL="0" indent="0">
              <a:buNone/>
            </a:pPr>
            <a:endParaRPr lang="da-DK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chemeClr val="accent6">
                    <a:lumMod val="50000"/>
                  </a:schemeClr>
                </a:solidFill>
              </a:rPr>
              <a:t>I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</a:rPr>
              <a:t>ts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 use is no longer recommended.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6FA49-C7BE-DDFB-4F0B-A48D031C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Representation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⎕OR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1F61B11-479F-6430-77AA-A20A8D5439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756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42A6CE-03ED-994D-B870-5B61AFFA6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9" y="1397233"/>
            <a:ext cx="8462127" cy="3129187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This function replaces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⎕MONITOR</a:t>
            </a:r>
            <a:r>
              <a:rPr lang="en-GB" dirty="0">
                <a:solidFill>
                  <a:schemeClr val="tx1"/>
                </a:solidFill>
              </a:rPr>
              <a:t> as the preferred mechanism for monitoring and tuning code.</a:t>
            </a:r>
          </a:p>
          <a:p>
            <a:pPr marL="0" indent="0">
              <a:buNone/>
            </a:pPr>
            <a:r>
              <a:rPr lang="da-DK" dirty="0">
                <a:solidFill>
                  <a:schemeClr val="tx1"/>
                </a:solidFill>
              </a:rPr>
              <a:t>A</a:t>
            </a:r>
            <a:r>
              <a:rPr lang="en-GB" dirty="0">
                <a:solidFill>
                  <a:schemeClr val="tx1"/>
                </a:solidFill>
              </a:rPr>
              <a:t> user command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]Profile</a:t>
            </a:r>
            <a:r>
              <a:rPr lang="en-GB" dirty="0">
                <a:solidFill>
                  <a:schemeClr val="tx1"/>
                </a:solidFill>
              </a:rPr>
              <a:t> is provided for convenience.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D5761C-B535-6FB8-7B29-9C2F9F38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⎕PROFILE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DE12E15-2110-6FD2-5454-0BAC138BA4A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8031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7D9BE9-26FE-DEDB-46A6-9C521F0B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function localizes dynamically a name, adding the name to the list of locals at runtime.</a:t>
            </a:r>
          </a:p>
          <a:p>
            <a:pPr marL="0" indent="0">
              <a:buNone/>
            </a:pPr>
            <a:r>
              <a:rPr lang="en-GB" dirty="0"/>
              <a:t>It should generally be avoided, and only used under very special circumstances, as it makes code hard to analyse.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1A99C2-B24F-49C7-BE45-6F2C476D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Shadow Name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⎕SHADOW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B88BA66-8E2B-34AB-D8B5-3D584530A4C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58123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17D868-9638-B6B0-F1E8-EECC6AC77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These functions allow you set or clear stop and trace flags on lines of a function: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2 5 7 ⎕STOP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myReport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D0911-C78B-4726-8C03-87285D1E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⎕STOP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⎕TRACE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8435AF1-262C-D44A-C919-4C22B435F88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98295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844EB-D761-5CCA-1316-41F0A63EF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From v18.0, replaces (</a:t>
            </a:r>
            <a:r>
              <a:rPr lang="en-GB" dirty="0">
                <a:latin typeface="APL385 Unicode" panose="020B0709000202000203" pitchFamily="49" charset="0"/>
              </a:rPr>
              <a:t>819⌶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'Look at my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teXt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LOOK AT MY TEXT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@(¯1⌽' '∘=)' ','title case here'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Title Case Here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'Are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sAmE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?' ≡⍥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'are same?'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9A227A-5399-0B25-80F5-CF41B796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Convert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C0C1AD3-35F1-AD91-F24A-BCE36166400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99245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C3223C-112B-0A62-2D0B-12435B7DA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Interface to the Perl Regular Expressions (PCRE) engine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Rex ← 'rex' '\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w'⎕R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'\0' '*'⍠1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Rex 'Rex, I told you not to do that!'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Rex, * **** *** *** ** ** ****!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98E38E-49D0-59D6-FDCA-316FA0C0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Expressions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⎕R</a:t>
            </a:r>
            <a:r>
              <a:rPr lang="en-GB" dirty="0"/>
              <a:t>/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2DDF42D-9DCF-E6E0-E685-FDF97867434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1445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9AE70A-2EAF-3C73-5D1E-D8840DC9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Return or change</a:t>
            </a:r>
          </a:p>
          <a:p>
            <a:pPr marL="0" indent="0">
              <a:buNone/>
            </a:pPr>
            <a:r>
              <a:rPr lang="en-GB" dirty="0"/>
              <a:t>internal data type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8071C4-27C9-B505-2F26-FA1612C7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Representation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⎕DR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80E4468-651C-AD3F-A970-C98F73E791E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6DA9FE-8C32-6070-DFEA-D27DFD0AB484}"/>
              </a:ext>
            </a:extLst>
          </p:cNvPr>
          <p:cNvGraphicFramePr>
            <a:graphicFrameLocks noGrp="1"/>
          </p:cNvGraphicFramePr>
          <p:nvPr/>
        </p:nvGraphicFramePr>
        <p:xfrm>
          <a:off x="4680012" y="1491630"/>
          <a:ext cx="3456385" cy="3101340"/>
        </p:xfrm>
        <a:graphic>
          <a:graphicData uri="http://schemas.openxmlformats.org/drawingml/2006/table">
            <a:tbl>
              <a:tblPr/>
              <a:tblGrid>
                <a:gridCol w="11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400" dirty="0"/>
                        <a:t>Value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Data Type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11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 bit Boolean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 dirty="0"/>
                        <a:t>80/82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 bits character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83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 bits signed integer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160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16 bits character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163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16 bits signed integer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320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32 bits character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323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32 bits signed integer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326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32 bits Pointer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645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64 bits Floating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400"/>
                        <a:t>1287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128 bits Decimal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AA7EBC-54EA-0C4C-C8D3-DB7CE7F5381D}"/>
              </a:ext>
            </a:extLst>
          </p:cNvPr>
          <p:cNvSpPr txBox="1"/>
          <p:nvPr/>
        </p:nvSpPr>
        <p:spPr>
          <a:xfrm>
            <a:off x="189914" y="3369212"/>
            <a:ext cx="3045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Checking prototype is faster if we just want to know “char or </a:t>
            </a:r>
            <a:r>
              <a:rPr lang="en-GB" dirty="0" err="1"/>
              <a:t>num</a:t>
            </a:r>
            <a:r>
              <a:rPr lang="en-GB" dirty="0"/>
              <a:t>?”</a:t>
            </a:r>
          </a:p>
          <a:p>
            <a:r>
              <a:rPr lang="en-GB" dirty="0">
                <a:latin typeface="APL385 Unicode" panose="020B0709000202000203" pitchFamily="49" charset="0"/>
              </a:rPr>
              <a:t>Type ← (⊃0⍴⊂)</a:t>
            </a:r>
          </a:p>
        </p:txBody>
      </p:sp>
    </p:spTree>
    <p:extLst>
      <p:ext uri="{BB962C8B-B14F-4D97-AF65-F5344CB8AC3E}">
        <p14:creationId xmlns:p14="http://schemas.microsoft.com/office/powerpoint/2010/main" val="59876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84F37F-6A87-342C-BAD1-D92278F93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This function returns the class of a name:</a:t>
            </a:r>
          </a:p>
          <a:p>
            <a:pPr marL="0" indent="0">
              <a:buNone/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fns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avg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avg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⊂'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avg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finer definition – see ⎕NL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3.1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DDE839-6316-D40B-8022-7DAB8CCA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Class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⎕NC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6A1FC95-5ED3-B8BD-9994-310E9805B2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1286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98C472-5BD1-8E93-598F-755461502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This function allows you to set Programmable Function Keys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	]</a:t>
            </a:r>
            <a:r>
              <a:rPr lang="en-GB" dirty="0" err="1">
                <a:latin typeface="APL385 Unicode" panose="020B0709000202000203" pitchFamily="49" charset="0"/>
              </a:rPr>
              <a:t>disp</a:t>
            </a:r>
            <a:r>
              <a:rPr lang="en-GB" dirty="0">
                <a:latin typeface="APL385 Unicode" panose="020B0709000202000203" pitchFamily="49" charset="0"/>
              </a:rPr>
              <a:t> ( ')</a:t>
            </a:r>
            <a:r>
              <a:rPr lang="en-GB" dirty="0" err="1">
                <a:latin typeface="APL385 Unicode" panose="020B0709000202000203" pitchFamily="49" charset="0"/>
              </a:rPr>
              <a:t>fns</a:t>
            </a:r>
            <a:r>
              <a:rPr lang="en-GB" dirty="0">
                <a:latin typeface="APL385 Unicode" panose="020B0709000202000203" pitchFamily="49" charset="0"/>
              </a:rPr>
              <a:t>', ⊂'ER' ) ⎕</a:t>
            </a:r>
            <a:r>
              <a:rPr lang="en-GB" dirty="0" err="1">
                <a:latin typeface="APL385 Unicode" panose="020B0709000202000203" pitchFamily="49" charset="0"/>
              </a:rPr>
              <a:t>pfkey</a:t>
            </a:r>
            <a:r>
              <a:rPr lang="en-GB" dirty="0">
                <a:latin typeface="APL385 Unicode" panose="020B0709000202000203" pitchFamily="49" charset="0"/>
              </a:rPr>
              <a:t> 2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┌→┬─┬─┬─┬──┐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│)│</a:t>
            </a:r>
            <a:r>
              <a:rPr lang="en-GB" dirty="0" err="1">
                <a:latin typeface="APL385 Unicode" panose="020B0709000202000203" pitchFamily="49" charset="0"/>
              </a:rPr>
              <a:t>f│n│s│ER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└─┴─┴─┴─┴─→┘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  <a:hlinkClick r:id="rId2"/>
              </a:rPr>
              <a:t>https://www.dyalog.com/blog/2018/09/enhanced-debugging-with-function-keys/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  <a:hlinkClick r:id="rId3"/>
              </a:rPr>
              <a:t>https://www.dyalog.com/blog/2020/12/enhanced-debugging-with-function-keys-evaluate-selection/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B53E39-E6F1-20D6-8041-8444F4FC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Programmable Function Key (</a:t>
            </a:r>
            <a:r>
              <a:rPr lang="en-GB" sz="2800" dirty="0">
                <a:solidFill>
                  <a:srgbClr val="FF6600"/>
                </a:solidFill>
                <a:latin typeface="APL385 Unicode" panose="020B0709000202000203" pitchFamily="49" charset="0"/>
              </a:rPr>
              <a:t>⎕PFKEY</a:t>
            </a:r>
            <a:r>
              <a:rPr lang="en-GB" sz="28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F5FA9D-E3A3-CD16-9441-C79EA8D79AB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38054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DB511D-D7EE-1212-E4CA-F839333C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function returns the size an object takes in memory. For objects containing references, or arrays sharing elements, the results are not always accurate: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 )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fns</a:t>
            </a:r>
            <a:endParaRPr lang="en-GB" dirty="0">
              <a:solidFill>
                <a:schemeClr val="accent6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avg</a:t>
            </a:r>
            <a:endParaRPr lang="en-GB" dirty="0">
              <a:solidFill>
                <a:schemeClr val="accent6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 ⎕size '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avg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280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E8121F-57D8-752C-112C-0031A618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Size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⎕SIZE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650B0ED-E84B-A7ED-4441-256D4B0FFBD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7349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8DE5D2-74CB-3C0C-4D74-B9C55689B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This self-inverse monadic function turns Unicode point numbers into characters and vice versa.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⎕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UCS 9035 65 32767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⍋A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翿</a:t>
            </a:r>
            <a:endParaRPr lang="en-GB" altLang="zh-TW" dirty="0">
              <a:solidFill>
                <a:schemeClr val="accent6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⎕</a:t>
            </a:r>
            <a:r>
              <a:rPr lang="en-US" altLang="zh-TW" dirty="0" err="1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ucs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'⍋A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翿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9035 65 32767</a:t>
            </a:r>
          </a:p>
          <a:p>
            <a:pPr marL="0" indent="0">
              <a:buNone/>
            </a:pPr>
            <a:r>
              <a:rPr lang="en-GB" dirty="0"/>
              <a:t>The dyadic version converts to or from a specific encoding: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'UTF-8' ⎕UCS '£€$'</a:t>
            </a:r>
          </a:p>
          <a:p>
            <a:pPr marL="0" indent="0">
              <a:buNone/>
            </a:pPr>
            <a:r>
              <a:rPr lang="en-GB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194 163 226 130 172 36</a:t>
            </a:r>
            <a:br>
              <a:rPr lang="en-GB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br>
              <a:rPr lang="en-GB" altLang="zh-TW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</a:br>
            <a:r>
              <a:rPr lang="en-GB" altLang="zh-TW" dirty="0"/>
              <a:t>Available in Classic – but can only produce characters in </a:t>
            </a:r>
            <a:r>
              <a:rPr lang="en-GB" altLang="zh-TW" dirty="0">
                <a:latin typeface="APL385 Unicode" panose="020B0709000202000203" pitchFamily="49" charset="0"/>
              </a:rPr>
              <a:t>⎕AV.</a:t>
            </a:r>
            <a:r>
              <a:rPr lang="en-US" altLang="zh-TW" dirty="0">
                <a:latin typeface="APL385 Unicode" panose="020B0709000202000203" pitchFamily="49" charset="0"/>
              </a:rPr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53D1D8-8B0F-715A-60F6-7C225625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Unicode Convert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⎕UCS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B87BF8-92D4-DCD1-CB9A-F7CB4572FAF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33500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664235-B215-4983-F790-247A12C9C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/>
              <a:t>Validate and Fix input: turns numbers found in a string into numbers and tells which one are numbers.</a:t>
            </a:r>
            <a:br>
              <a:rPr lang="en-GB" dirty="0"/>
            </a:br>
            <a:endParaRPr lang="en-GB" dirty="0"/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⍴r←⎕←⎕</a:t>
            </a:r>
            <a:r>
              <a:rPr lang="en-GB" dirty="0" err="1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vfi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'</a:t>
            </a:r>
            <a:r>
              <a:rPr lang="en-GB" dirty="0">
                <a:solidFill>
                  <a:srgbClr val="92D050"/>
                </a:solidFill>
                <a:latin typeface="APL385 Unicode" panose="020B0709000202000203" pitchFamily="49" charset="0"/>
              </a:rPr>
              <a:t>pay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12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APL385 Unicode" panose="020B0709000202000203" pitchFamily="49" charset="0"/>
              </a:rPr>
              <a:t>$ and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50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APL385 Unicode" panose="020B0709000202000203" pitchFamily="49" charset="0"/>
              </a:rPr>
              <a:t>cents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’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┌───────────┬─────────────┐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│0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0 0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0│0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12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0 0 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50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0│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└───────────┴─────────────┘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Useful patterns: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 (//⎕VFI)'pay 12 $ and 50 cents'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│12 50│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└─────┘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      2⊃∘⎕VFI¨'13.4' '53' '69' '71'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┌────┬──┬──┬──┐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│13.4│53│69│71│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PL385 Unicode" panose="020B0709000202000203" pitchFamily="49" charset="0"/>
              </a:rPr>
              <a:t>└────┴──┴──┴──┘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2B2C2D-26A2-A90E-ECEB-53A7038B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Verify &amp; Fix Input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⎕VFI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BB35060-46E5-0280-4731-D7D6518F8FD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79659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369271-021A-0C60-4E73-10C565C02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6A645A1-17DF-23D1-BBAC-844130B418C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8EBA153-467F-4F0A-4838-638AE102602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2918636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347465683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DC527A-7681-81A5-D04B-F25A04C17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Write an expression to determine if a name is free (unused)</a:t>
            </a:r>
          </a:p>
          <a:p>
            <a:r>
              <a:rPr lang="en-GB" dirty="0"/>
              <a:t>Write a function to find all the names in your workspace and return them along with their size, sorted in descending order.</a:t>
            </a:r>
          </a:p>
          <a:p>
            <a:r>
              <a:rPr lang="en-GB" dirty="0"/>
              <a:t>Determine how many lines of code there are in your workspace.</a:t>
            </a:r>
          </a:p>
          <a:p>
            <a:r>
              <a:rPr lang="en-GB" dirty="0"/>
              <a:t>Modify the function to take an argument consisting of the name classes of objects to return and a left argument to limit the number of results returned.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BDFA3D-1E38-FDE6-9358-D4747638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F250EB5-163A-671A-51EF-8662DBC514C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90058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9324DC-0F5C-F4A6-A631-7F476164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EB1321-5234-248F-6AB6-6EEFE3E8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400"/>
              </a:spcAft>
            </a:pPr>
            <a:r>
              <a:rPr lang="en-GB" dirty="0"/>
              <a:t>Write an expression to determine if a name is free (unused)</a:t>
            </a:r>
            <a:br>
              <a:rPr lang="en-GB" dirty="0"/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0=⎕NC name</a:t>
            </a:r>
          </a:p>
          <a:p>
            <a:pPr>
              <a:spcAft>
                <a:spcPts val="400"/>
              </a:spcAft>
            </a:pPr>
            <a:r>
              <a:rPr lang="en-GB" dirty="0"/>
              <a:t>Write a function to find all the names in your workspace and return them along with their size, sorted in descending order.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r←Sizes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nms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←⎕NL-⍳10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r←(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nms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,⍪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)[⍒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;]</a:t>
            </a:r>
          </a:p>
          <a:p>
            <a:pPr>
              <a:spcAft>
                <a:spcPts val="400"/>
              </a:spcAft>
            </a:pPr>
            <a:r>
              <a:rPr lang="en-GB" dirty="0"/>
              <a:t>Determine how many lines of code there are in your workspace.</a:t>
            </a:r>
            <a:br>
              <a:rPr lang="en-GB" dirty="0"/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+/≢¨⎕CR¨⎕NL -3 4</a:t>
            </a:r>
          </a:p>
          <a:p>
            <a:pPr>
              <a:spcAft>
                <a:spcPts val="400"/>
              </a:spcAft>
            </a:pPr>
            <a:r>
              <a:rPr lang="en-GB" dirty="0"/>
              <a:t>Modify the function to take an argument consisting of the name classes of objects to return and a left argument to limit the number of results returned.</a:t>
            </a:r>
          </a:p>
          <a:p>
            <a:pPr>
              <a:spcAft>
                <a:spcPts val="400"/>
              </a:spcAft>
            </a:pP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r←n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Sizes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nc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←⎕SIZE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nms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←⎕NL-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nc</a:t>
            </a:r>
            <a:b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r←(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nms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,⍪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)[(n⌊≢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)↑⍒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sz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;]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92553-C589-6146-FF1D-7405C08F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EB024D3-1ECB-B630-7ADF-3EE2420C377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23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13772</TotalTime>
  <Words>6999</Words>
  <Application>Microsoft Office PowerPoint</Application>
  <PresentationFormat>On-screen Show (16:9)</PresentationFormat>
  <Paragraphs>1132</Paragraphs>
  <Slides>131</Slides>
  <Notes>4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41" baseType="lpstr">
      <vt:lpstr>Calibri</vt:lpstr>
      <vt:lpstr>Wingdings 2</vt:lpstr>
      <vt:lpstr>Arial</vt:lpstr>
      <vt:lpstr>Times</vt:lpstr>
      <vt:lpstr>APL385 Unicode</vt:lpstr>
      <vt:lpstr>Wingdings</vt:lpstr>
      <vt:lpstr>Times New Roman</vt:lpstr>
      <vt:lpstr>Cambria Math</vt:lpstr>
      <vt:lpstr>Sarabun</vt:lpstr>
      <vt:lpstr>Office Theme</vt:lpstr>
      <vt:lpstr>APL Bootcamp – Part 7</vt:lpstr>
      <vt:lpstr>Operators</vt:lpstr>
      <vt:lpstr>Operators</vt:lpstr>
      <vt:lpstr>Tacit Programming</vt:lpstr>
      <vt:lpstr>Primitive Operators Overview</vt:lpstr>
      <vt:lpstr>Each (F¨)</vt:lpstr>
      <vt:lpstr>Each (F¨)</vt:lpstr>
      <vt:lpstr>Each (F¨)</vt:lpstr>
      <vt:lpstr>Each (F¨)</vt:lpstr>
      <vt:lpstr>Each (F¨)</vt:lpstr>
      <vt:lpstr>Enclose-if-simple (⊆⍵)</vt:lpstr>
      <vt:lpstr>Enclose-if-simple (⊆⍵)</vt:lpstr>
      <vt:lpstr>Enclose-if-simple (⊆⍵)</vt:lpstr>
      <vt:lpstr>Pervasive Functions</vt:lpstr>
      <vt:lpstr>Pervasive Functions</vt:lpstr>
      <vt:lpstr>]Repr</vt:lpstr>
      <vt:lpstr>]Repr</vt:lpstr>
      <vt:lpstr>Array Notation</vt:lpstr>
      <vt:lpstr>Array Notation</vt:lpstr>
      <vt:lpstr>Array Notation</vt:lpstr>
      <vt:lpstr>Array Notation</vt:lpstr>
      <vt:lpstr>repObj</vt:lpstr>
      <vt:lpstr>Power (F⍣g)</vt:lpstr>
      <vt:lpstr>Power (F⍣g)</vt:lpstr>
      <vt:lpstr>Inner Product (F.G)</vt:lpstr>
      <vt:lpstr>Inner Product (F.G)</vt:lpstr>
      <vt:lpstr>Inner Product (F.G)</vt:lpstr>
      <vt:lpstr>Inner Product (F.G)</vt:lpstr>
      <vt:lpstr>Commute (F⍨)</vt:lpstr>
      <vt:lpstr>Commute (F⍨)</vt:lpstr>
      <vt:lpstr>Reading APL…</vt:lpstr>
      <vt:lpstr>Variant (⍠ or ⎕OPT)</vt:lpstr>
      <vt:lpstr>Axis "operator" ([n])</vt:lpstr>
      <vt:lpstr>Axis "operator" ([n])</vt:lpstr>
      <vt:lpstr>Laminate (,[n.m])</vt:lpstr>
      <vt:lpstr>Laminate (,[n.m])</vt:lpstr>
      <vt:lpstr>Merge Axes (,[j k])</vt:lpstr>
      <vt:lpstr>Merge Axes (,[j k])</vt:lpstr>
      <vt:lpstr>Merge Axes (,[j k])</vt:lpstr>
      <vt:lpstr>Key (⌸) (⎕U2338 in classic)</vt:lpstr>
      <vt:lpstr>Key (⌸)</vt:lpstr>
      <vt:lpstr>Key (⌸)</vt:lpstr>
      <vt:lpstr>Key and Interval Index (⌸⍸)</vt:lpstr>
      <vt:lpstr>Key and Interval Index (⌸⍸)</vt:lpstr>
      <vt:lpstr>Key and Interval Index (⌸⍸)</vt:lpstr>
      <vt:lpstr>Key and Interval Index (⌸⍸)</vt:lpstr>
      <vt:lpstr>Key and Interval Index (⌸⍸)</vt:lpstr>
      <vt:lpstr>Spawn (F&amp;)</vt:lpstr>
      <vt:lpstr>Spawn (F&amp;)</vt:lpstr>
      <vt:lpstr>I-beam (n⌶)</vt:lpstr>
      <vt:lpstr>PowerPoint Presentation</vt:lpstr>
      <vt:lpstr>Review</vt:lpstr>
      <vt:lpstr>Review</vt:lpstr>
      <vt:lpstr>Questions?</vt:lpstr>
      <vt:lpstr>Exercises</vt:lpstr>
      <vt:lpstr>System Names (⎕THINGS)</vt:lpstr>
      <vt:lpstr>System Variables</vt:lpstr>
      <vt:lpstr>System Variables</vt:lpstr>
      <vt:lpstr>System Variables</vt:lpstr>
      <vt:lpstr>System Variables (static)</vt:lpstr>
      <vt:lpstr>System Variables (dynamic)</vt:lpstr>
      <vt:lpstr>System Variables (dynamic)</vt:lpstr>
      <vt:lpstr>System Variables</vt:lpstr>
      <vt:lpstr>System Variables (settable)</vt:lpstr>
      <vt:lpstr>Comparison Tolerance (⎕CT)</vt:lpstr>
      <vt:lpstr>Comparison Tolerance (⎕CT)</vt:lpstr>
      <vt:lpstr>Comparison Tolerance (⎕CT)</vt:lpstr>
      <vt:lpstr>Division Control (⎕DIV)</vt:lpstr>
      <vt:lpstr>Division Control (⎕DIV)</vt:lpstr>
      <vt:lpstr>Division Control (⎕DIV)</vt:lpstr>
      <vt:lpstr>Division Control (⎕DIV)</vt:lpstr>
      <vt:lpstr>Division Control (⎕DIV)</vt:lpstr>
      <vt:lpstr>Division Control (⎕DIV)</vt:lpstr>
      <vt:lpstr>Floating-point Representation</vt:lpstr>
      <vt:lpstr>Index Origin (⎕IO)</vt:lpstr>
      <vt:lpstr>Migration Level (⎕ML)</vt:lpstr>
      <vt:lpstr>Latent eXpression (⎕LX)</vt:lpstr>
      <vt:lpstr>Namespace Search Path (⎕PATH)</vt:lpstr>
      <vt:lpstr>System Variables</vt:lpstr>
      <vt:lpstr>Print Precision (⎕PP)</vt:lpstr>
      <vt:lpstr>Print Width (⎕PW)</vt:lpstr>
      <vt:lpstr>Random Seed (⎕RL)</vt:lpstr>
      <vt:lpstr>Workspace ID (⎕WSID)</vt:lpstr>
      <vt:lpstr>Window eXpose (⎕WX)</vt:lpstr>
      <vt:lpstr>System Functions</vt:lpstr>
      <vt:lpstr>System Functions</vt:lpstr>
      <vt:lpstr>Copy [name] from [workspace] (⎕CY)</vt:lpstr>
      <vt:lpstr>Expunge name (⎕EX)</vt:lpstr>
      <vt:lpstr>Name List (⎕NL)</vt:lpstr>
      <vt:lpstr>Name List (⎕NL)</vt:lpstr>
      <vt:lpstr>Name List (⎕NL)</vt:lpstr>
      <vt:lpstr>Name List (⎕NL)</vt:lpstr>
      <vt:lpstr>Name List (⎕NL)</vt:lpstr>
      <vt:lpstr>External Interfaces</vt:lpstr>
      <vt:lpstr>External Interfaces</vt:lpstr>
      <vt:lpstr>Windows Command (⎕CMD)</vt:lpstr>
      <vt:lpstr>UNIX Shell (⎕SH)</vt:lpstr>
      <vt:lpstr>Execute External Program (⎕SHELL)</vt:lpstr>
      <vt:lpstr>Execute External Program (⎕SHELL)</vt:lpstr>
      <vt:lpstr>Name Association (⎕NA)</vt:lpstr>
      <vt:lpstr>Development Tools</vt:lpstr>
      <vt:lpstr>Attributes (⎕AT)</vt:lpstr>
      <vt:lpstr>eXtended ATtributes (⎕ATX)</vt:lpstr>
      <vt:lpstr>Function Representation</vt:lpstr>
      <vt:lpstr>Change Space (⎕CS)</vt:lpstr>
      <vt:lpstr>Change Space (⎕CS)</vt:lpstr>
      <vt:lpstr>Edit (⎕ED)</vt:lpstr>
      <vt:lpstr>Fix Definition (⎕FX)</vt:lpstr>
      <vt:lpstr>Lock Definition (⎕LOCK)</vt:lpstr>
      <vt:lpstr>NameSpace (⎕NS)</vt:lpstr>
      <vt:lpstr>NameSpace (⎕NS)</vt:lpstr>
      <vt:lpstr>NameSpace (⎕NS)</vt:lpstr>
      <vt:lpstr>Value Get/Set (⎕VGET/⎕VSET)</vt:lpstr>
      <vt:lpstr>Value Get/Set (⎕VGET/⎕VSET)</vt:lpstr>
      <vt:lpstr>Value Get/Set (⎕VGET/⎕VSET)</vt:lpstr>
      <vt:lpstr>Value Get/Set (⎕VGET/⎕VSET)</vt:lpstr>
      <vt:lpstr>Object Representation (⎕OR)</vt:lpstr>
      <vt:lpstr>Performance (⎕PROFILE)</vt:lpstr>
      <vt:lpstr>Shadow Name (⎕SHADOW)</vt:lpstr>
      <vt:lpstr>⎕STOP/⎕TRACE</vt:lpstr>
      <vt:lpstr>Case Convert (⎕C)</vt:lpstr>
      <vt:lpstr>Regular Expressions (⎕R/⎕S)</vt:lpstr>
      <vt:lpstr>Data Representation (⎕DR)</vt:lpstr>
      <vt:lpstr>Name Class (⎕NC)</vt:lpstr>
      <vt:lpstr>Programmable Function Key (⎕PFKEY)</vt:lpstr>
      <vt:lpstr>Object Size (⎕SIZE)</vt:lpstr>
      <vt:lpstr>Unicode Convert (⎕UCS)</vt:lpstr>
      <vt:lpstr>Verify &amp; Fix Input (⎕VFI)</vt:lpstr>
      <vt:lpstr>Questions?</vt:lpstr>
      <vt:lpstr>Exercises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363</cp:revision>
  <dcterms:created xsi:type="dcterms:W3CDTF">2019-07-25T11:46:05Z</dcterms:created>
  <dcterms:modified xsi:type="dcterms:W3CDTF">2025-08-10T17:56:55Z</dcterms:modified>
</cp:coreProperties>
</file>