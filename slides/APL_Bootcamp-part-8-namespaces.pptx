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embedTrueTypeFonts="1">
  <p:sldMasterIdLst>
    <p:sldMasterId id="2147483648" r:id="rId1"/>
  </p:sldMasterIdLst>
  <p:notesMasterIdLst>
    <p:notesMasterId r:id="rId44"/>
  </p:notesMasterIdLst>
  <p:handoutMasterIdLst>
    <p:handoutMasterId r:id="rId45"/>
  </p:handout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4" r:id="rId17"/>
    <p:sldId id="275" r:id="rId18"/>
    <p:sldId id="278" r:id="rId19"/>
    <p:sldId id="281" r:id="rId20"/>
    <p:sldId id="282" r:id="rId21"/>
    <p:sldId id="283" r:id="rId22"/>
    <p:sldId id="284" r:id="rId23"/>
    <p:sldId id="285" r:id="rId24"/>
    <p:sldId id="286" r:id="rId25"/>
    <p:sldId id="287" r:id="rId26"/>
    <p:sldId id="288" r:id="rId27"/>
    <p:sldId id="289" r:id="rId28"/>
    <p:sldId id="277" r:id="rId29"/>
    <p:sldId id="290" r:id="rId30"/>
    <p:sldId id="279" r:id="rId31"/>
    <p:sldId id="280" r:id="rId32"/>
    <p:sldId id="291" r:id="rId33"/>
    <p:sldId id="292" r:id="rId34"/>
    <p:sldId id="293" r:id="rId35"/>
    <p:sldId id="294" r:id="rId36"/>
    <p:sldId id="299" r:id="rId37"/>
    <p:sldId id="300" r:id="rId38"/>
    <p:sldId id="295" r:id="rId39"/>
    <p:sldId id="296" r:id="rId40"/>
    <p:sldId id="297" r:id="rId41"/>
    <p:sldId id="301" r:id="rId42"/>
    <p:sldId id="298" r:id="rId43"/>
  </p:sldIdLst>
  <p:sldSz cx="9144000" cy="5143500" type="screen16x9"/>
  <p:notesSz cx="6858000" cy="9144000"/>
  <p:embeddedFontLst>
    <p:embeddedFont>
      <p:font typeface="APL385 Unicode" panose="020B0709000202000203" pitchFamily="49" charset="0"/>
      <p:regular r:id="rId46"/>
    </p:embeddedFont>
    <p:embeddedFont>
      <p:font typeface="Sarabun" panose="00000500000000000000" pitchFamily="2" charset="-34"/>
      <p:regular r:id="rId47"/>
      <p:bold r:id="rId48"/>
      <p:italic r:id="rId49"/>
      <p:boldItalic r:id="rId50"/>
    </p:embeddedFont>
    <p:embeddedFont>
      <p:font typeface="Wingdings 2" panose="05020102010507070707" pitchFamily="18" charset="2"/>
      <p:regular r:id="rId5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5A6D8F"/>
    <a:srgbClr val="3B475E"/>
    <a:srgbClr val="ED7F00"/>
    <a:srgbClr val="FDFDF5"/>
    <a:srgbClr val="F6F6D9"/>
    <a:srgbClr val="BBB5D6"/>
    <a:srgbClr val="928ABD"/>
    <a:srgbClr val="37353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71" autoAdjust="0"/>
    <p:restoredTop sz="95508" autoAdjust="0"/>
  </p:normalViewPr>
  <p:slideViewPr>
    <p:cSldViewPr snapToGrid="0">
      <p:cViewPr varScale="1">
        <p:scale>
          <a:sx n="139" d="100"/>
          <a:sy n="139" d="100"/>
        </p:scale>
        <p:origin x="738" y="12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9" d="100"/>
          <a:sy n="69" d="100"/>
        </p:scale>
        <p:origin x="2693" y="77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2.fntdata"/><Relationship Id="rId50" Type="http://schemas.openxmlformats.org/officeDocument/2006/relationships/font" Target="fonts/font5.fntdata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3.fntdata"/><Relationship Id="rId8" Type="http://schemas.openxmlformats.org/officeDocument/2006/relationships/slide" Target="slides/slide7.xml"/><Relationship Id="rId51" Type="http://schemas.openxmlformats.org/officeDocument/2006/relationships/font" Target="NUL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1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4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>
              <a:latin typeface="Sarabun" panose="00000500000000000000" pitchFamily="2" charset="-34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A6A3BD-28BD-4949-B52F-24E999822598}" type="datetimeFigureOut">
              <a:rPr lang="en-GB" smtClean="0">
                <a:latin typeface="Sarabun" panose="00000500000000000000" pitchFamily="2" charset="-34"/>
              </a:rPr>
              <a:t>10/08/2025</a:t>
            </a:fld>
            <a:endParaRPr lang="en-GB" dirty="0">
              <a:latin typeface="Sarabun" panose="00000500000000000000" pitchFamily="2" charset="-34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>
              <a:latin typeface="Sarabun" panose="00000500000000000000" pitchFamily="2" charset="-34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7370AB-76A5-41F1-9753-9FE7E667F0C0}" type="slidenum">
              <a:rPr lang="en-GB" smtClean="0">
                <a:latin typeface="Sarabun" panose="00000500000000000000" pitchFamily="2" charset="-34"/>
              </a:rPr>
              <a:t>‹#›</a:t>
            </a:fld>
            <a:endParaRPr lang="en-GB" dirty="0">
              <a:latin typeface="Sarabun" panose="00000500000000000000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5647182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Sarabun" panose="00000500000000000000" pitchFamily="2" charset="-34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Sarabun" panose="00000500000000000000" pitchFamily="2" charset="-34"/>
              </a:defRPr>
            </a:lvl1pPr>
          </a:lstStyle>
          <a:p>
            <a:fld id="{CDEAEF8A-5BB8-41C8-B8C2-160617C17EF4}" type="datetimeFigureOut">
              <a:rPr lang="en-GB" smtClean="0"/>
              <a:pPr/>
              <a:t>10/08/2025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Sarabun" panose="00000500000000000000" pitchFamily="2" charset="-34"/>
              </a:defRPr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Sarabun" panose="00000500000000000000" pitchFamily="2" charset="-34"/>
              </a:defRPr>
            </a:lvl1pPr>
          </a:lstStyle>
          <a:p>
            <a:fld id="{4320660A-27FD-4528-AE7F-EC6080404EE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12133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Sarabun" panose="00000500000000000000" pitchFamily="2" charset="-34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Sarabun" panose="00000500000000000000" pitchFamily="2" charset="-34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Sarabun" panose="00000500000000000000" pitchFamily="2" charset="-34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Sarabun" panose="00000500000000000000" pitchFamily="2" charset="-34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Sarabun" panose="00000500000000000000" pitchFamily="2" charset="-34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45060" y="1688053"/>
            <a:ext cx="5073517" cy="1767394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l">
              <a:lnSpc>
                <a:spcPct val="100000"/>
              </a:lnSpc>
              <a:defRPr sz="3600" b="0">
                <a:solidFill>
                  <a:srgbClr val="3B475E"/>
                </a:solidFill>
                <a:latin typeface="Sarabun" panose="00000500000000000000" pitchFamily="2" charset="-34"/>
              </a:defRPr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445061" y="3741620"/>
            <a:ext cx="5073516" cy="1024109"/>
          </a:xfrm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2400" i="1" baseline="0">
                <a:solidFill>
                  <a:srgbClr val="3B475E"/>
                </a:solidFill>
                <a:latin typeface="Sarabun" panose="00000500000000000000" pitchFamily="2" charset="-34"/>
              </a:defRPr>
            </a:lvl1pPr>
          </a:lstStyle>
          <a:p>
            <a:pPr lvl="0"/>
            <a:r>
              <a:rPr lang="en-US" dirty="0"/>
              <a:t>Presenter</a:t>
            </a:r>
          </a:p>
        </p:txBody>
      </p:sp>
      <p:sp useBgFill="1">
        <p:nvSpPr>
          <p:cNvPr id="3" name="Rounded Rectangle 2"/>
          <p:cNvSpPr/>
          <p:nvPr userDrawn="1"/>
        </p:nvSpPr>
        <p:spPr>
          <a:xfrm>
            <a:off x="8616917" y="51470"/>
            <a:ext cx="405045" cy="27003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arabun" panose="00000500000000000000" pitchFamily="2" charset="-3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A7F93E-0AC9-4994-C087-EC47479093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51227" y="679296"/>
            <a:ext cx="2306274" cy="381037"/>
          </a:xfrm>
          <a:prstGeom prst="rect">
            <a:avLst/>
          </a:prstGeom>
        </p:spPr>
      </p:pic>
      <p:sp>
        <p:nvSpPr>
          <p:cNvPr id="10" name="Media Placeholder 3">
            <a:extLst>
              <a:ext uri="{FF2B5EF4-FFF2-40B4-BE49-F238E27FC236}">
                <a16:creationId xmlns:a16="http://schemas.microsoft.com/office/drawing/2014/main" id="{A8C42A55-8D9A-E8BD-8457-92C7015F8BD3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6957391" y="0"/>
            <a:ext cx="2186609" cy="1311965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6600"/>
              </a:buClr>
              <a:buSzPct val="75000"/>
              <a:buFont typeface="Wingdings 2" panose="05020102010507070707" pitchFamily="18" charset="2"/>
              <a:buNone/>
              <a:tabLst/>
              <a:defRPr/>
            </a:pPr>
            <a:r>
              <a:rPr lang="en-GB" dirty="0" err="1"/>
              <a:t>PICinPIC</a:t>
            </a:r>
            <a:r>
              <a:rPr lang="en-GB" dirty="0"/>
              <a:t> WILL SHOW HERE, CONTENT COULD BE OBSCURED.  (invisible box)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FE235E-8BE2-78BC-2D0F-81A926E2507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5094961"/>
            <a:ext cx="9144000" cy="48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373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56DBA27B-8304-4CFA-81F2-07D6954C9B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7" y="1377777"/>
            <a:ext cx="8462127" cy="3129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buClr>
                <a:srgbClr val="FF6600"/>
              </a:buClr>
              <a:defRPr/>
            </a:lvl1pPr>
            <a:lvl2pPr>
              <a:spcBef>
                <a:spcPts val="0"/>
              </a:spcBef>
              <a:buClr>
                <a:srgbClr val="FF6600"/>
              </a:buClr>
              <a:defRPr/>
            </a:lvl2pPr>
            <a:lvl3pPr>
              <a:spcBef>
                <a:spcPts val="0"/>
              </a:spcBef>
              <a:buClr>
                <a:srgbClr val="FF6600"/>
              </a:buClr>
              <a:defRPr/>
            </a:lvl3pPr>
            <a:lvl4pPr>
              <a:spcBef>
                <a:spcPts val="0"/>
              </a:spcBef>
              <a:buClr>
                <a:srgbClr val="FFA336"/>
              </a:buClr>
              <a:defRPr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228F4D49-482B-40A2-86AF-43C7452AA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9" y="267657"/>
            <a:ext cx="6507968" cy="68553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2" name="Media Placeholder 3">
            <a:extLst>
              <a:ext uri="{FF2B5EF4-FFF2-40B4-BE49-F238E27FC236}">
                <a16:creationId xmlns:a16="http://schemas.microsoft.com/office/drawing/2014/main" id="{41860E7C-CA2A-CCFE-19A9-6DCDEE29B22A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6957391" y="0"/>
            <a:ext cx="2186609" cy="1311965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6600"/>
              </a:buClr>
              <a:buSzPct val="75000"/>
              <a:buFont typeface="Wingdings 2" panose="05020102010507070707" pitchFamily="18" charset="2"/>
              <a:buNone/>
              <a:tabLst/>
              <a:defRPr/>
            </a:pPr>
            <a:r>
              <a:rPr lang="en-GB" dirty="0" err="1"/>
              <a:t>PICinPIC</a:t>
            </a:r>
            <a:r>
              <a:rPr lang="en-GB" dirty="0"/>
              <a:t> WILL SHOW HERE, CONTENT COULD BE OBSCURED.  (invisible box)</a:t>
            </a:r>
          </a:p>
        </p:txBody>
      </p:sp>
    </p:spTree>
    <p:extLst>
      <p:ext uri="{BB962C8B-B14F-4D97-AF65-F5344CB8AC3E}">
        <p14:creationId xmlns:p14="http://schemas.microsoft.com/office/powerpoint/2010/main" val="231835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BE1C07FA-679D-46C0-86F7-8D17779A01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7" y="1264925"/>
            <a:ext cx="4104000" cy="32420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buClr>
                <a:srgbClr val="FF6600"/>
              </a:buClr>
              <a:defRPr>
                <a:latin typeface="Sarabun" panose="00000500000000000000" pitchFamily="2" charset="-34"/>
              </a:defRPr>
            </a:lvl1pPr>
            <a:lvl2pPr>
              <a:spcBef>
                <a:spcPts val="0"/>
              </a:spcBef>
              <a:buClr>
                <a:srgbClr val="FF6600"/>
              </a:buClr>
              <a:defRPr>
                <a:latin typeface="Sarabun" panose="00000500000000000000" pitchFamily="2" charset="-34"/>
              </a:defRPr>
            </a:lvl2pPr>
            <a:lvl3pPr>
              <a:spcBef>
                <a:spcPts val="0"/>
              </a:spcBef>
              <a:buClr>
                <a:srgbClr val="FF6600"/>
              </a:buClr>
              <a:defRPr>
                <a:latin typeface="Sarabun" panose="00000500000000000000" pitchFamily="2" charset="-34"/>
              </a:defRPr>
            </a:lvl3pPr>
            <a:lvl4pPr>
              <a:spcBef>
                <a:spcPts val="0"/>
              </a:spcBef>
              <a:defRPr>
                <a:latin typeface="Sarabun" panose="00000500000000000000" pitchFamily="2" charset="-34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4BF5B9E-EBC4-409F-984B-6D47D81EDF4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747260" y="1264925"/>
            <a:ext cx="4104641" cy="32420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buClr>
                <a:srgbClr val="FF6600"/>
              </a:buClr>
              <a:defRPr>
                <a:latin typeface="Sarabun" panose="00000500000000000000" pitchFamily="2" charset="-34"/>
              </a:defRPr>
            </a:lvl1pPr>
            <a:lvl2pPr>
              <a:spcBef>
                <a:spcPts val="0"/>
              </a:spcBef>
              <a:buClr>
                <a:srgbClr val="FF6600"/>
              </a:buClr>
              <a:defRPr>
                <a:latin typeface="Sarabun" panose="00000500000000000000" pitchFamily="2" charset="-34"/>
              </a:defRPr>
            </a:lvl2pPr>
            <a:lvl3pPr>
              <a:spcBef>
                <a:spcPts val="0"/>
              </a:spcBef>
              <a:buClr>
                <a:srgbClr val="FF6600"/>
              </a:buClr>
              <a:defRPr>
                <a:latin typeface="Sarabun" panose="00000500000000000000" pitchFamily="2" charset="-34"/>
              </a:defRPr>
            </a:lvl3pPr>
            <a:lvl4pPr>
              <a:spcBef>
                <a:spcPts val="0"/>
              </a:spcBef>
              <a:defRPr>
                <a:latin typeface="Sarabun" panose="00000500000000000000" pitchFamily="2" charset="-34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1378A4D6-E4A6-4021-9A3E-CD1962CFE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9" y="267657"/>
            <a:ext cx="6554350" cy="68553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Media Placeholder 3">
            <a:extLst>
              <a:ext uri="{FF2B5EF4-FFF2-40B4-BE49-F238E27FC236}">
                <a16:creationId xmlns:a16="http://schemas.microsoft.com/office/drawing/2014/main" id="{CFE9A372-03E3-E60F-6496-867B43D28DDD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6957391" y="0"/>
            <a:ext cx="2186609" cy="1311965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6600"/>
              </a:buClr>
              <a:buSzPct val="75000"/>
              <a:buFont typeface="Wingdings 2" panose="05020102010507070707" pitchFamily="18" charset="2"/>
              <a:buNone/>
              <a:tabLst/>
              <a:defRPr/>
            </a:pPr>
            <a:r>
              <a:rPr lang="en-GB" dirty="0" err="1"/>
              <a:t>PICinPIC</a:t>
            </a:r>
            <a:r>
              <a:rPr lang="en-GB" dirty="0"/>
              <a:t> WILL SHOW HERE, CONTENT COULD BE OBSCURED.  (invisible box)</a:t>
            </a:r>
          </a:p>
        </p:txBody>
      </p:sp>
    </p:spTree>
    <p:extLst>
      <p:ext uri="{BB962C8B-B14F-4D97-AF65-F5344CB8AC3E}">
        <p14:creationId xmlns:p14="http://schemas.microsoft.com/office/powerpoint/2010/main" val="1414322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4C4900D4-E042-4F52-A837-0B504DD6A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9" y="267657"/>
            <a:ext cx="6527846" cy="68553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Media Placeholder 3">
            <a:extLst>
              <a:ext uri="{FF2B5EF4-FFF2-40B4-BE49-F238E27FC236}">
                <a16:creationId xmlns:a16="http://schemas.microsoft.com/office/drawing/2014/main" id="{6AE5AD0B-78DA-96AF-6F08-3574B654A51A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6957391" y="0"/>
            <a:ext cx="2186609" cy="1311965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6600"/>
              </a:buClr>
              <a:buSzPct val="75000"/>
              <a:buFont typeface="Wingdings 2" panose="05020102010507070707" pitchFamily="18" charset="2"/>
              <a:buNone/>
              <a:tabLst/>
              <a:defRPr/>
            </a:pPr>
            <a:r>
              <a:rPr lang="en-GB" dirty="0" err="1"/>
              <a:t>PICinPIC</a:t>
            </a:r>
            <a:r>
              <a:rPr lang="en-GB" dirty="0"/>
              <a:t> WILL SHOW HERE, CONTENT COULD BE OBSCURED.  (invisible box)</a:t>
            </a:r>
          </a:p>
        </p:txBody>
      </p:sp>
    </p:spTree>
    <p:extLst>
      <p:ext uri="{BB962C8B-B14F-4D97-AF65-F5344CB8AC3E}">
        <p14:creationId xmlns:p14="http://schemas.microsoft.com/office/powerpoint/2010/main" val="4226472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3">
            <a:extLst>
              <a:ext uri="{FF2B5EF4-FFF2-40B4-BE49-F238E27FC236}">
                <a16:creationId xmlns:a16="http://schemas.microsoft.com/office/drawing/2014/main" id="{2ADF6038-2E5A-469C-35D8-0A0580CF19AD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6957391" y="0"/>
            <a:ext cx="2186609" cy="1311965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6600"/>
              </a:buClr>
              <a:buSzPct val="75000"/>
              <a:buFont typeface="Wingdings 2" panose="05020102010507070707" pitchFamily="18" charset="2"/>
              <a:buNone/>
              <a:tabLst/>
              <a:defRPr/>
            </a:pPr>
            <a:r>
              <a:rPr lang="en-GB" dirty="0" err="1"/>
              <a:t>PICinPIC</a:t>
            </a:r>
            <a:r>
              <a:rPr lang="en-GB" dirty="0"/>
              <a:t> WILL SHOW HERE, CONTENT COULD BE OBSCURED.  (invisible box)</a:t>
            </a:r>
          </a:p>
        </p:txBody>
      </p:sp>
    </p:spTree>
    <p:extLst>
      <p:ext uri="{BB962C8B-B14F-4D97-AF65-F5344CB8AC3E}">
        <p14:creationId xmlns:p14="http://schemas.microsoft.com/office/powerpoint/2010/main" val="1447694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23528" y="267657"/>
            <a:ext cx="7005527" cy="68553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3527" y="1264925"/>
            <a:ext cx="8528373" cy="32420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9B4391E-A2CA-4E7C-B5A9-A31CF000D3E5}"/>
              </a:ext>
            </a:extLst>
          </p:cNvPr>
          <p:cNvSpPr txBox="1">
            <a:spLocks/>
          </p:cNvSpPr>
          <p:nvPr userDrawn="1"/>
        </p:nvSpPr>
        <p:spPr>
          <a:xfrm>
            <a:off x="710852" y="4745354"/>
            <a:ext cx="7066640" cy="39814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400"/>
              </a:spcBef>
              <a:buClr>
                <a:srgbClr val="FF9421"/>
              </a:buClr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17550" indent="-355600" algn="l" defTabSz="914400" rtl="0" eaLnBrk="1" latinLnBrk="0" hangingPunct="1">
              <a:lnSpc>
                <a:spcPct val="80000"/>
              </a:lnSpc>
              <a:spcBef>
                <a:spcPts val="400"/>
              </a:spcBef>
              <a:buClr>
                <a:srgbClr val="FF9421"/>
              </a:buClr>
              <a:buSzPct val="60000"/>
              <a:buFont typeface="Courier New" panose="02070309020205020404" pitchFamily="49" charset="0"/>
              <a:buChar char="o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79500" indent="-361950" algn="l" defTabSz="914400" rtl="0" eaLnBrk="1" latinLnBrk="0" hangingPunct="1">
              <a:lnSpc>
                <a:spcPct val="80000"/>
              </a:lnSpc>
              <a:spcBef>
                <a:spcPts val="400"/>
              </a:spcBef>
              <a:buClr>
                <a:srgbClr val="FF9421"/>
              </a:buClr>
              <a:buSzPct val="75000"/>
              <a:buFont typeface="Wingdings" panose="05000000000000000000" pitchFamily="2" charset="2"/>
              <a:buChar char="§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33513" indent="-354013" algn="l" defTabSz="914400" rtl="0" eaLnBrk="1" latinLnBrk="0" hangingPunct="1">
              <a:lnSpc>
                <a:spcPct val="80000"/>
              </a:lnSpc>
              <a:spcBef>
                <a:spcPts val="400"/>
              </a:spcBef>
              <a:buClr>
                <a:srgbClr val="FF9421"/>
              </a:buClr>
              <a:buFont typeface="Calibri" panose="020F0502020204030204" pitchFamily="34" charset="0"/>
              <a:buChar char="–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Clr>
                <a:srgbClr val="FF9421"/>
              </a:buClr>
              <a:buFont typeface="Calibri" panose="020F050202020403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>
              <a:spcBef>
                <a:spcPts val="0"/>
              </a:spcBef>
            </a:pPr>
            <a:r>
              <a:rPr lang="en-US" sz="1600" dirty="0">
                <a:solidFill>
                  <a:srgbClr val="282828"/>
                </a:solidFill>
                <a:latin typeface="Sarabun" panose="00000500000000000000" pitchFamily="2" charset="-34"/>
              </a:rPr>
              <a:t>APL Bootcamp – Part 8</a:t>
            </a:r>
          </a:p>
        </p:txBody>
      </p:sp>
      <p:sp>
        <p:nvSpPr>
          <p:cNvPr id="49" name="Date Placeholder 3"/>
          <p:cNvSpPr txBox="1">
            <a:spLocks/>
          </p:cNvSpPr>
          <p:nvPr userDrawn="1"/>
        </p:nvSpPr>
        <p:spPr>
          <a:xfrm>
            <a:off x="45720" y="4743900"/>
            <a:ext cx="665132" cy="399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2000" b="0" kern="1200">
                <a:solidFill>
                  <a:schemeClr val="bg1"/>
                </a:solidFill>
                <a:latin typeface="Klavika Medium" panose="02000603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02EDF88B-1B61-4481-9BD6-D2E23BF0DCD8}" type="slidenum">
              <a:rPr lang="en-GB" sz="1600" baseline="0" smtClean="0">
                <a:solidFill>
                  <a:srgbClr val="FF6A13"/>
                </a:solidFill>
                <a:latin typeface="Sarabun" panose="00000500000000000000" pitchFamily="2" charset="-34"/>
              </a:rPr>
              <a:pPr algn="l"/>
              <a:t>‹#›</a:t>
            </a:fld>
            <a:endParaRPr lang="en-GB" sz="1600" baseline="0" dirty="0">
              <a:solidFill>
                <a:srgbClr val="FF6A13"/>
              </a:solidFill>
              <a:latin typeface="Sarabun" panose="00000500000000000000" pitchFamily="2" charset="-3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920957-0551-8F72-773E-84D867F26A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0400"/>
          <a:stretch/>
        </p:blipFill>
        <p:spPr>
          <a:xfrm>
            <a:off x="0" y="5097467"/>
            <a:ext cx="9144000" cy="457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FEC5741-2586-9026-BBB0-7FC530AB64E7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8067022" y="4818698"/>
            <a:ext cx="938248" cy="155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740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0" r:id="rId2"/>
    <p:sldLayoutId id="2147483652" r:id="rId3"/>
    <p:sldLayoutId id="2147483654" r:id="rId4"/>
    <p:sldLayoutId id="2147483655" r:id="rId5"/>
  </p:sldLayoutIdLst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3600" b="0" kern="1200">
          <a:solidFill>
            <a:srgbClr val="3B475E"/>
          </a:solidFill>
          <a:latin typeface="Sarabun" panose="00000500000000000000" pitchFamily="2" charset="-34"/>
          <a:ea typeface="+mj-ea"/>
          <a:cs typeface="Calibri" panose="020F0502020204030204" pitchFamily="34" charset="0"/>
        </a:defRPr>
      </a:lvl1pPr>
    </p:titleStyle>
    <p:bodyStyle>
      <a:lvl1pPr marL="458788" indent="-458788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rgbClr val="FF6600"/>
        </a:buClr>
        <a:buSzPct val="75000"/>
        <a:buFont typeface="Wingdings 2" panose="05020102010507070707" pitchFamily="18" charset="2"/>
        <a:buChar char=""/>
        <a:defRPr sz="2400" kern="1200">
          <a:solidFill>
            <a:srgbClr val="3B475E"/>
          </a:solidFill>
          <a:latin typeface="Sarabun" panose="00000500000000000000" pitchFamily="2" charset="-34"/>
          <a:ea typeface="+mn-ea"/>
          <a:cs typeface="+mn-cs"/>
        </a:defRPr>
      </a:lvl1pPr>
      <a:lvl2pPr marL="858838" indent="-401638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rgbClr val="FF6600"/>
        </a:buClr>
        <a:buSzPct val="75000"/>
        <a:buFont typeface="Wingdings 2" panose="05020102010507070707" pitchFamily="18" charset="2"/>
        <a:buChar char=""/>
        <a:defRPr lang="en-US" sz="2000" kern="1200" dirty="0" smtClean="0">
          <a:solidFill>
            <a:srgbClr val="3B475E"/>
          </a:solidFill>
          <a:latin typeface="Sarabun" panose="00000500000000000000" pitchFamily="2" charset="-34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rgbClr val="FF6600"/>
        </a:buClr>
        <a:buSzPct val="75000"/>
        <a:buFont typeface="Wingdings 2" panose="05020102010507070707" pitchFamily="18" charset="2"/>
        <a:buChar char=""/>
        <a:defRPr sz="1800" kern="1200">
          <a:solidFill>
            <a:srgbClr val="3B475E"/>
          </a:solidFill>
          <a:latin typeface="Sarabun" panose="00000500000000000000" pitchFamily="2" charset="-34"/>
          <a:ea typeface="+mn-ea"/>
          <a:cs typeface="+mn-cs"/>
        </a:defRPr>
      </a:lvl3pPr>
      <a:lvl4pPr marL="1655763" indent="-284163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rgbClr val="FF6600"/>
        </a:buClr>
        <a:buSzPct val="75000"/>
        <a:buFont typeface="Wingdings 2" panose="05020102010507070707" pitchFamily="18" charset="2"/>
        <a:buChar char=""/>
        <a:defRPr sz="1400" kern="1200">
          <a:solidFill>
            <a:srgbClr val="3B475E"/>
          </a:solidFill>
          <a:latin typeface="Sarabun" panose="00000500000000000000" pitchFamily="2" charset="-34"/>
          <a:ea typeface="+mn-ea"/>
          <a:cs typeface="+mn-cs"/>
        </a:defRPr>
      </a:lvl4pPr>
      <a:lvl5pPr marL="1828800" indent="0" algn="l" defTabSz="914400" rtl="0" eaLnBrk="1" latinLnBrk="0" hangingPunct="1">
        <a:spcBef>
          <a:spcPct val="20000"/>
        </a:spcBef>
        <a:buClr>
          <a:srgbClr val="FF9421"/>
        </a:buClr>
        <a:buFont typeface="Calibri" panose="020F050202020403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A6417-55D0-46BB-0DFF-8D4AA0A71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APL Bootcamp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68C988-130F-A25A-2390-AB59A78D532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Namespaces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F4559DFF-3665-0E31-55C7-92F3BEB5DA95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8887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8B6AF38-8818-016B-6623-D619FD95D1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i="1" dirty="0">
                <a:solidFill>
                  <a:srgbClr val="FF6600"/>
                </a:solidFill>
              </a:rPr>
              <a:t>Namespaces</a:t>
            </a:r>
            <a:r>
              <a:rPr lang="en-GB" dirty="0"/>
              <a:t> are containers, which can contain variables, functions - and other namespaces.</a:t>
            </a:r>
          </a:p>
          <a:p>
            <a:pPr marL="0" indent="0">
              <a:buNone/>
            </a:pPr>
            <a:r>
              <a:rPr lang="en-GB" i="1" dirty="0"/>
              <a:t>Nested arrays </a:t>
            </a:r>
            <a:r>
              <a:rPr lang="en-GB" dirty="0"/>
              <a:t>are </a:t>
            </a:r>
            <a:r>
              <a:rPr lang="en-GB" b="1" dirty="0"/>
              <a:t>arrays within arrays</a:t>
            </a:r>
            <a:r>
              <a:rPr lang="en-GB" dirty="0"/>
              <a:t>. </a:t>
            </a:r>
            <a:r>
              <a:rPr lang="en-GB" i="1" dirty="0"/>
              <a:t>Namespaces</a:t>
            </a:r>
            <a:r>
              <a:rPr lang="en-GB" dirty="0"/>
              <a:t> are like a </a:t>
            </a:r>
            <a:r>
              <a:rPr lang="en-GB" b="1" dirty="0"/>
              <a:t>workspace within a workspace.</a:t>
            </a:r>
          </a:p>
          <a:p>
            <a:pPr marL="0" indent="0">
              <a:buNone/>
            </a:pPr>
            <a:r>
              <a:rPr lang="en-GB" dirty="0"/>
              <a:t>They are similar to folders in a file system which contain files and </a:t>
            </a:r>
            <a:r>
              <a:rPr lang="en-GB" b="1" dirty="0"/>
              <a:t>other folders</a:t>
            </a:r>
            <a:r>
              <a:rPr lang="en-GB" dirty="0"/>
              <a:t>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7CED24A-C3A6-1E22-C3E5-6A30F4C9F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Namespaces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A285D4F2-A47A-7EDB-071F-B9EDA418ADB7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5941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E94486C-9C05-6FE0-C65B-3423AFB681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      (a b)←⎕NS¨'' ''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      (a b).</a:t>
            </a:r>
            <a:r>
              <a:rPr lang="en-GB" dirty="0" err="1">
                <a:latin typeface="APL385 Unicode" panose="020B0709000202000203" pitchFamily="49" charset="0"/>
              </a:rPr>
              <a:t>name←'Jenny</a:t>
            </a:r>
            <a:r>
              <a:rPr lang="en-GB" dirty="0">
                <a:latin typeface="APL385 Unicode" panose="020B0709000202000203" pitchFamily="49" charset="0"/>
              </a:rPr>
              <a:t>' 'Kieth'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      (a b).age←42 57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      a.name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Jenny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      b.name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Kieth</a:t>
            </a: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9C81B88-AE55-E998-0FAB-AC03504A8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Namespaces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E57C3D52-69CE-C08D-CEB4-239FF4FF1BB7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709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170E6DB-C927-A6F1-4FAA-E6F50FBAE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Namespaces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9EAC8D83-7544-ECD4-DA28-F92F26E7F4F6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A7400E-135B-DCC8-D15C-8D776A6CE0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5472" y="1609590"/>
            <a:ext cx="2553056" cy="1924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8651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4188A77-7CAE-743A-7BE3-4BFBDA3AD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29C9ADEB-9E45-E080-3F9C-3DDBCB5390E7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1BC83DF-B480-657F-92CC-B1F0738A873D}"/>
              </a:ext>
            </a:extLst>
          </p:cNvPr>
          <p:cNvSpPr txBox="1">
            <a:spLocks/>
          </p:cNvSpPr>
          <p:nvPr/>
        </p:nvSpPr>
        <p:spPr>
          <a:xfrm>
            <a:off x="323528" y="267657"/>
            <a:ext cx="7005527" cy="68553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0" kern="1200">
                <a:solidFill>
                  <a:srgbClr val="3B475E"/>
                </a:solidFill>
                <a:latin typeface="Sarabun" panose="00000500000000000000" pitchFamily="2" charset="-34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GB"/>
              <a:t>Namespaces</a:t>
            </a:r>
            <a:endParaRPr lang="en-GB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A309792-D23B-F973-88E3-C3CF6ADDC0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7" y="1264925"/>
            <a:ext cx="8528373" cy="3242040"/>
          </a:xfrm>
        </p:spPr>
        <p:txBody>
          <a:bodyPr>
            <a:normAutofit/>
          </a:bodyPr>
          <a:lstStyle/>
          <a:p>
            <a:pPr marL="0" indent="0">
              <a:spcAft>
                <a:spcPts val="400"/>
              </a:spcAft>
              <a:buNone/>
            </a:pPr>
            <a:endParaRPr lang="en-GB" dirty="0">
              <a:latin typeface="APL385 Unicode" panose="020B0709000202000203" pitchFamily="49" charset="0"/>
            </a:endParaRP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D12751C9-B141-B021-B685-BDD9B8742FD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6600"/>
              </a:buClr>
              <a:buSzPct val="75000"/>
              <a:buFont typeface="Wingdings 2" panose="05020102010507070707" pitchFamily="18" charset="2"/>
              <a:buNone/>
              <a:defRPr sz="12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1pPr>
            <a:lvl2pPr marL="858838" indent="-4016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6600"/>
              </a:buClr>
              <a:buSzPct val="75000"/>
              <a:buFont typeface="Wingdings 2" panose="05020102010507070707" pitchFamily="18" charset="2"/>
              <a:buChar char=""/>
              <a:defRPr lang="en-US" sz="2000" kern="1200" dirty="0" smtClean="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6600"/>
              </a:buClr>
              <a:buSzPct val="75000"/>
              <a:buFont typeface="Wingdings 2" panose="05020102010507070707" pitchFamily="18" charset="2"/>
              <a:buChar char=""/>
              <a:defRPr sz="18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3pPr>
            <a:lvl4pPr marL="1655763" indent="-2841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6600"/>
              </a:buClr>
              <a:buSzPct val="75000"/>
              <a:buFont typeface="Wingdings 2" panose="05020102010507070707" pitchFamily="18" charset="2"/>
              <a:buChar char=""/>
              <a:defRPr sz="14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Clr>
                <a:srgbClr val="FF9421"/>
              </a:buClr>
              <a:buFont typeface="Calibri" panose="020F050202020403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Intro to Dyalog, Part 6</a:t>
            </a:r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BB2FFD4-5E6F-B5E2-3D06-9BADFA9832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5472" y="1609590"/>
            <a:ext cx="2553056" cy="19243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861CD27-13E7-6995-7E89-5F92FDA3D5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927" y="0"/>
            <a:ext cx="8014146" cy="51435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9B22899-7215-3CA7-E423-00514491E7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927" y="0"/>
            <a:ext cx="8014146" cy="51435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C312E2C-3A7F-74EA-EF00-97890D6007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927" y="0"/>
            <a:ext cx="8014146" cy="51435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8293E1E-2AAD-6E4D-7F46-83E87639A8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927" y="0"/>
            <a:ext cx="8014146" cy="51435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033E1DF-2460-AF14-1668-2E3FC448FA3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4927" y="0"/>
            <a:ext cx="8014146" cy="51435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2150B4B-63A7-34F8-8F7F-E7D08945D2F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4927" y="0"/>
            <a:ext cx="801414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233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1BDB29-94B4-2D07-7A1A-4428E91ED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Namespace References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334E5455-D942-D30C-F8AE-468E40C3BE31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7946412-79A9-055F-1490-F1E6CDA21D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264925"/>
            <a:ext cx="3828526" cy="3242040"/>
          </a:xfrm>
        </p:spPr>
        <p:txBody>
          <a:bodyPr/>
          <a:lstStyle/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      old ← 1 2 3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942315A-68D8-4535-83F6-323D298CB430}"/>
              </a:ext>
            </a:extLst>
          </p:cNvPr>
          <p:cNvSpPr txBox="1">
            <a:spLocks/>
          </p:cNvSpPr>
          <p:nvPr/>
        </p:nvSpPr>
        <p:spPr>
          <a:xfrm>
            <a:off x="4572000" y="1264925"/>
            <a:ext cx="3828526" cy="3242040"/>
          </a:xfrm>
          <a:prstGeom prst="rect">
            <a:avLst/>
          </a:prstGeom>
          <a:solidFill>
            <a:srgbClr val="F6F6D9"/>
          </a:solidFill>
        </p:spPr>
        <p:txBody>
          <a:bodyPr vert="horz" lIns="91440" tIns="45720" rIns="91440" bIns="45720" rtlCol="0">
            <a:normAutofit/>
          </a:bodyPr>
          <a:lstStyle>
            <a:lvl1pPr marL="257175" indent="-2571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A336"/>
              </a:buClr>
              <a:buSzPct val="75000"/>
              <a:buFont typeface="Arial" panose="020B0604020202020204" pitchFamily="34" charset="0"/>
              <a:buChar char="•"/>
              <a:defRPr sz="24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1pPr>
            <a:lvl2pPr marL="557213" indent="-214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A336"/>
              </a:buClr>
              <a:buSzPct val="100000"/>
              <a:buFont typeface="Calibri" panose="020F0502020204030204" pitchFamily="34" charset="0"/>
              <a:buChar char="–"/>
              <a:defRPr lang="en-US" sz="20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2pPr>
            <a:lvl3pPr marL="8572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A336"/>
              </a:buClr>
              <a:buSzPct val="75000"/>
              <a:buFont typeface="Wingdings" panose="05000000000000000000" pitchFamily="2" charset="2"/>
              <a:buChar char="§"/>
              <a:defRPr sz="18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3pPr>
            <a:lvl4pPr marL="13716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A336"/>
              </a:buClr>
              <a:buSzPct val="75000"/>
              <a:buFont typeface="Courier New" panose="02070309020205020404" pitchFamily="49" charset="0"/>
              <a:buChar char="o"/>
              <a:defRPr sz="14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4pPr>
            <a:lvl5pPr marL="1615679" indent="-244079" algn="l" defTabSz="914400" rtl="0" eaLnBrk="1" latinLnBrk="0" hangingPunct="1">
              <a:spcBef>
                <a:spcPct val="20000"/>
              </a:spcBef>
              <a:buClr>
                <a:srgbClr val="FF9421"/>
              </a:buClr>
              <a:buFont typeface="Calibri" panose="020F0502020204030204" pitchFamily="34" charset="0"/>
              <a:buChar char="‐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GB" dirty="0">
              <a:latin typeface="APL385 Unicode" panose="020B0709000202000203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7051E8-EBF6-0934-F52B-B22E94B91CB8}"/>
              </a:ext>
            </a:extLst>
          </p:cNvPr>
          <p:cNvSpPr txBox="1"/>
          <p:nvPr/>
        </p:nvSpPr>
        <p:spPr>
          <a:xfrm>
            <a:off x="5134186" y="1469813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APL385 Unicode" panose="020B0709000202000203" pitchFamily="49" charset="0"/>
              </a:rPr>
              <a:t>old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042862-A30A-B3C7-8490-14A4836D4658}"/>
              </a:ext>
            </a:extLst>
          </p:cNvPr>
          <p:cNvSpPr txBox="1"/>
          <p:nvPr/>
        </p:nvSpPr>
        <p:spPr>
          <a:xfrm>
            <a:off x="4996327" y="2451946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APL385 Unicode" panose="020B0709000202000203" pitchFamily="49" charset="0"/>
              </a:rPr>
              <a:t>1 2 3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0C4CFB5-F2D1-E8C3-F88E-534F761BED86}"/>
              </a:ext>
            </a:extLst>
          </p:cNvPr>
          <p:cNvCxnSpPr>
            <a:stCxn id="7" idx="2"/>
          </p:cNvCxnSpPr>
          <p:nvPr/>
        </p:nvCxnSpPr>
        <p:spPr>
          <a:xfrm flipH="1">
            <a:off x="5433306" y="1839145"/>
            <a:ext cx="1" cy="51120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84900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6699934-5294-D45F-874E-514893EDC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E5271C39-0706-2991-6807-98AFC7DA6FFD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1BB338F-B6C3-CDDC-AB39-734350E887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264925"/>
            <a:ext cx="3828526" cy="3242040"/>
          </a:xfrm>
        </p:spPr>
        <p:txBody>
          <a:bodyPr/>
          <a:lstStyle/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      old ← 1 2 3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      new ← old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01F89D3-AE86-398A-2333-FF701A9AAFC6}"/>
              </a:ext>
            </a:extLst>
          </p:cNvPr>
          <p:cNvSpPr txBox="1">
            <a:spLocks/>
          </p:cNvSpPr>
          <p:nvPr/>
        </p:nvSpPr>
        <p:spPr>
          <a:xfrm>
            <a:off x="4572000" y="1264925"/>
            <a:ext cx="3828526" cy="3242040"/>
          </a:xfrm>
          <a:prstGeom prst="rect">
            <a:avLst/>
          </a:prstGeom>
          <a:solidFill>
            <a:srgbClr val="F6F6D9"/>
          </a:solidFill>
        </p:spPr>
        <p:txBody>
          <a:bodyPr vert="horz" lIns="91440" tIns="45720" rIns="91440" bIns="45720" rtlCol="0">
            <a:normAutofit/>
          </a:bodyPr>
          <a:lstStyle>
            <a:lvl1pPr marL="257175" indent="-2571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A336"/>
              </a:buClr>
              <a:buSzPct val="75000"/>
              <a:buFont typeface="Arial" panose="020B0604020202020204" pitchFamily="34" charset="0"/>
              <a:buChar char="•"/>
              <a:defRPr sz="24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1pPr>
            <a:lvl2pPr marL="557213" indent="-214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A336"/>
              </a:buClr>
              <a:buSzPct val="100000"/>
              <a:buFont typeface="Calibri" panose="020F0502020204030204" pitchFamily="34" charset="0"/>
              <a:buChar char="–"/>
              <a:defRPr lang="en-US" sz="20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2pPr>
            <a:lvl3pPr marL="8572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A336"/>
              </a:buClr>
              <a:buSzPct val="75000"/>
              <a:buFont typeface="Wingdings" panose="05000000000000000000" pitchFamily="2" charset="2"/>
              <a:buChar char="§"/>
              <a:defRPr sz="18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3pPr>
            <a:lvl4pPr marL="13716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A336"/>
              </a:buClr>
              <a:buSzPct val="75000"/>
              <a:buFont typeface="Courier New" panose="02070309020205020404" pitchFamily="49" charset="0"/>
              <a:buChar char="o"/>
              <a:defRPr sz="14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4pPr>
            <a:lvl5pPr marL="1615679" indent="-244079" algn="l" defTabSz="914400" rtl="0" eaLnBrk="1" latinLnBrk="0" hangingPunct="1">
              <a:spcBef>
                <a:spcPct val="20000"/>
              </a:spcBef>
              <a:buClr>
                <a:srgbClr val="FF9421"/>
              </a:buClr>
              <a:buFont typeface="Calibri" panose="020F0502020204030204" pitchFamily="34" charset="0"/>
              <a:buChar char="‐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GB" dirty="0">
              <a:latin typeface="APL385 Unicode" panose="020B0709000202000203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B606566-ABB1-BA72-0E73-6E3192963F7B}"/>
              </a:ext>
            </a:extLst>
          </p:cNvPr>
          <p:cNvSpPr txBox="1"/>
          <p:nvPr/>
        </p:nvSpPr>
        <p:spPr>
          <a:xfrm>
            <a:off x="5134186" y="1469813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APL385 Unicode" panose="020B0709000202000203" pitchFamily="49" charset="0"/>
              </a:rPr>
              <a:t>old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E4BD741-98D2-6C8D-CB4C-9F3422ECD365}"/>
              </a:ext>
            </a:extLst>
          </p:cNvPr>
          <p:cNvSpPr txBox="1"/>
          <p:nvPr/>
        </p:nvSpPr>
        <p:spPr>
          <a:xfrm>
            <a:off x="4996327" y="2451946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APL385 Unicode" panose="020B0709000202000203" pitchFamily="49" charset="0"/>
              </a:rPr>
              <a:t>1 2 3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53ABA3C-6720-2949-AC54-2202162DDEFC}"/>
              </a:ext>
            </a:extLst>
          </p:cNvPr>
          <p:cNvCxnSpPr>
            <a:stCxn id="15" idx="2"/>
          </p:cNvCxnSpPr>
          <p:nvPr/>
        </p:nvCxnSpPr>
        <p:spPr>
          <a:xfrm flipH="1">
            <a:off x="5433306" y="1839145"/>
            <a:ext cx="1" cy="51120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9C25335-D45B-3107-8E50-040144C709CA}"/>
              </a:ext>
            </a:extLst>
          </p:cNvPr>
          <p:cNvSpPr txBox="1"/>
          <p:nvPr/>
        </p:nvSpPr>
        <p:spPr>
          <a:xfrm>
            <a:off x="7054774" y="1469813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APL385 Unicode" panose="020B0709000202000203" pitchFamily="49" charset="0"/>
              </a:rPr>
              <a:t>new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49AD337-C70C-69AB-4AA2-1115EDB08A0E}"/>
              </a:ext>
            </a:extLst>
          </p:cNvPr>
          <p:cNvSpPr txBox="1"/>
          <p:nvPr/>
        </p:nvSpPr>
        <p:spPr>
          <a:xfrm>
            <a:off x="6916915" y="2451946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APL385 Unicode" panose="020B0709000202000203" pitchFamily="49" charset="0"/>
              </a:rPr>
              <a:t>1 2 3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07661A2-F3AC-C930-16D8-0D0B3AD7D59A}"/>
              </a:ext>
            </a:extLst>
          </p:cNvPr>
          <p:cNvCxnSpPr>
            <a:stCxn id="18" idx="2"/>
          </p:cNvCxnSpPr>
          <p:nvPr/>
        </p:nvCxnSpPr>
        <p:spPr>
          <a:xfrm flipH="1">
            <a:off x="7353894" y="1839145"/>
            <a:ext cx="1" cy="51120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27460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5DED425-0CDC-C45F-2272-BAF598495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F6C0872E-305A-E571-6B65-835136DC04D1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423FA85-888A-69A5-7E6A-AFA96AFA26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264925"/>
            <a:ext cx="3828526" cy="3242040"/>
          </a:xfrm>
        </p:spPr>
        <p:txBody>
          <a:bodyPr/>
          <a:lstStyle/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      old ← 1 2 3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      new ← old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      old ← '</a:t>
            </a:r>
            <a:r>
              <a:rPr lang="en-GB" dirty="0" err="1">
                <a:latin typeface="APL385 Unicode" panose="020B0709000202000203" pitchFamily="49" charset="0"/>
              </a:rPr>
              <a:t>abc</a:t>
            </a:r>
            <a:r>
              <a:rPr lang="en-GB" dirty="0">
                <a:latin typeface="APL385 Unicode" panose="020B0709000202000203" pitchFamily="49" charset="0"/>
              </a:rPr>
              <a:t>'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5B2F1F6-9200-CDAD-8FC8-FA5B125B529A}"/>
              </a:ext>
            </a:extLst>
          </p:cNvPr>
          <p:cNvSpPr txBox="1">
            <a:spLocks/>
          </p:cNvSpPr>
          <p:nvPr/>
        </p:nvSpPr>
        <p:spPr>
          <a:xfrm>
            <a:off x="4572000" y="1264925"/>
            <a:ext cx="3828526" cy="3242040"/>
          </a:xfrm>
          <a:prstGeom prst="rect">
            <a:avLst/>
          </a:prstGeom>
          <a:solidFill>
            <a:srgbClr val="F6F6D9"/>
          </a:solidFill>
        </p:spPr>
        <p:txBody>
          <a:bodyPr vert="horz" lIns="91440" tIns="45720" rIns="91440" bIns="45720" rtlCol="0">
            <a:normAutofit/>
          </a:bodyPr>
          <a:lstStyle>
            <a:lvl1pPr marL="257175" indent="-2571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A336"/>
              </a:buClr>
              <a:buSzPct val="75000"/>
              <a:buFont typeface="Arial" panose="020B0604020202020204" pitchFamily="34" charset="0"/>
              <a:buChar char="•"/>
              <a:defRPr sz="24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1pPr>
            <a:lvl2pPr marL="557213" indent="-214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A336"/>
              </a:buClr>
              <a:buSzPct val="100000"/>
              <a:buFont typeface="Calibri" panose="020F0502020204030204" pitchFamily="34" charset="0"/>
              <a:buChar char="–"/>
              <a:defRPr lang="en-US" sz="20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2pPr>
            <a:lvl3pPr marL="8572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A336"/>
              </a:buClr>
              <a:buSzPct val="75000"/>
              <a:buFont typeface="Wingdings" panose="05000000000000000000" pitchFamily="2" charset="2"/>
              <a:buChar char="§"/>
              <a:defRPr sz="18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3pPr>
            <a:lvl4pPr marL="13716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A336"/>
              </a:buClr>
              <a:buSzPct val="75000"/>
              <a:buFont typeface="Courier New" panose="02070309020205020404" pitchFamily="49" charset="0"/>
              <a:buChar char="o"/>
              <a:defRPr sz="14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4pPr>
            <a:lvl5pPr marL="1615679" indent="-244079" algn="l" defTabSz="914400" rtl="0" eaLnBrk="1" latinLnBrk="0" hangingPunct="1">
              <a:spcBef>
                <a:spcPct val="20000"/>
              </a:spcBef>
              <a:buClr>
                <a:srgbClr val="FF9421"/>
              </a:buClr>
              <a:buFont typeface="Calibri" panose="020F0502020204030204" pitchFamily="34" charset="0"/>
              <a:buChar char="‐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GB" dirty="0">
              <a:latin typeface="APL385 Unicode" panose="020B0709000202000203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994210-0A27-B4B4-BE05-ED299265C174}"/>
              </a:ext>
            </a:extLst>
          </p:cNvPr>
          <p:cNvSpPr txBox="1"/>
          <p:nvPr/>
        </p:nvSpPr>
        <p:spPr>
          <a:xfrm>
            <a:off x="5134186" y="1469813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APL385 Unicode" panose="020B0709000202000203" pitchFamily="49" charset="0"/>
              </a:rPr>
              <a:t>old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C2967B1-DFC4-39EA-11DA-D779AA1B331C}"/>
              </a:ext>
            </a:extLst>
          </p:cNvPr>
          <p:cNvCxnSpPr>
            <a:stCxn id="7" idx="2"/>
          </p:cNvCxnSpPr>
          <p:nvPr/>
        </p:nvCxnSpPr>
        <p:spPr>
          <a:xfrm flipH="1">
            <a:off x="5433306" y="1839145"/>
            <a:ext cx="1" cy="51120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6699D70-CE1C-FD47-F038-49E2B1344837}"/>
              </a:ext>
            </a:extLst>
          </p:cNvPr>
          <p:cNvSpPr txBox="1"/>
          <p:nvPr/>
        </p:nvSpPr>
        <p:spPr>
          <a:xfrm>
            <a:off x="7054774" y="1469813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APL385 Unicode" panose="020B0709000202000203" pitchFamily="49" charset="0"/>
              </a:rPr>
              <a:t>new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9995EF-D582-16D6-9440-41AAF8569A07}"/>
              </a:ext>
            </a:extLst>
          </p:cNvPr>
          <p:cNvSpPr txBox="1"/>
          <p:nvPr/>
        </p:nvSpPr>
        <p:spPr>
          <a:xfrm>
            <a:off x="6916915" y="2451946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APL385 Unicode" panose="020B0709000202000203" pitchFamily="49" charset="0"/>
              </a:rPr>
              <a:t>1 2 3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FEFA732-549B-395F-FE3A-D29BF7D5A024}"/>
              </a:ext>
            </a:extLst>
          </p:cNvPr>
          <p:cNvCxnSpPr>
            <a:stCxn id="9" idx="2"/>
          </p:cNvCxnSpPr>
          <p:nvPr/>
        </p:nvCxnSpPr>
        <p:spPr>
          <a:xfrm flipH="1">
            <a:off x="7353894" y="1839145"/>
            <a:ext cx="1" cy="51120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D3ABCBE-1392-9D32-3E2D-D9CDDF69E339}"/>
              </a:ext>
            </a:extLst>
          </p:cNvPr>
          <p:cNvSpPr txBox="1"/>
          <p:nvPr/>
        </p:nvSpPr>
        <p:spPr>
          <a:xfrm>
            <a:off x="5016647" y="2451946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APL385 Unicode" panose="020B0709000202000203" pitchFamily="49" charset="0"/>
              </a:rPr>
              <a:t>'</a:t>
            </a:r>
            <a:r>
              <a:rPr lang="en-GB" dirty="0" err="1">
                <a:latin typeface="APL385 Unicode" panose="020B0709000202000203" pitchFamily="49" charset="0"/>
              </a:rPr>
              <a:t>abc</a:t>
            </a:r>
            <a:r>
              <a:rPr lang="en-GB" dirty="0">
                <a:latin typeface="APL385 Unicode" panose="020B0709000202000203" pitchFamily="49" charset="0"/>
              </a:rPr>
              <a:t>'</a:t>
            </a:r>
          </a:p>
        </p:txBody>
      </p:sp>
    </p:spTree>
    <p:extLst>
      <p:ext uri="{BB962C8B-B14F-4D97-AF65-F5344CB8AC3E}">
        <p14:creationId xmlns:p14="http://schemas.microsoft.com/office/powerpoint/2010/main" val="5651397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29230-C1DE-9579-ACA8-DE6D0F59A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AD901C7-E912-3705-CADB-D225F952E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40B7C58C-BDD8-2F19-4AA4-CBE4CF983D11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2212BE6-5C20-90BC-F9ED-5F66498FA4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264925"/>
            <a:ext cx="3828526" cy="3242040"/>
          </a:xfrm>
        </p:spPr>
        <p:txBody>
          <a:bodyPr/>
          <a:lstStyle/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      old ← 1 2 3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      new ← old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      old ← '</a:t>
            </a:r>
            <a:r>
              <a:rPr lang="en-GB" dirty="0" err="1">
                <a:latin typeface="APL385 Unicode" panose="020B0709000202000203" pitchFamily="49" charset="0"/>
              </a:rPr>
              <a:t>abc</a:t>
            </a:r>
            <a:r>
              <a:rPr lang="en-GB" dirty="0">
                <a:latin typeface="APL385 Unicode" panose="020B0709000202000203" pitchFamily="49" charset="0"/>
              </a:rPr>
              <a:t>’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      ⎕←new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B65A55C-FA4E-994E-0C01-94747DD050F0}"/>
              </a:ext>
            </a:extLst>
          </p:cNvPr>
          <p:cNvSpPr txBox="1">
            <a:spLocks/>
          </p:cNvSpPr>
          <p:nvPr/>
        </p:nvSpPr>
        <p:spPr>
          <a:xfrm>
            <a:off x="4572000" y="1264925"/>
            <a:ext cx="3828526" cy="3242040"/>
          </a:xfrm>
          <a:prstGeom prst="rect">
            <a:avLst/>
          </a:prstGeom>
          <a:solidFill>
            <a:srgbClr val="F6F6D9"/>
          </a:solidFill>
        </p:spPr>
        <p:txBody>
          <a:bodyPr vert="horz" lIns="91440" tIns="45720" rIns="91440" bIns="45720" rtlCol="0">
            <a:normAutofit/>
          </a:bodyPr>
          <a:lstStyle>
            <a:lvl1pPr marL="257175" indent="-2571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A336"/>
              </a:buClr>
              <a:buSzPct val="75000"/>
              <a:buFont typeface="Arial" panose="020B0604020202020204" pitchFamily="34" charset="0"/>
              <a:buChar char="•"/>
              <a:defRPr sz="24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1pPr>
            <a:lvl2pPr marL="557213" indent="-214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A336"/>
              </a:buClr>
              <a:buSzPct val="100000"/>
              <a:buFont typeface="Calibri" panose="020F0502020204030204" pitchFamily="34" charset="0"/>
              <a:buChar char="–"/>
              <a:defRPr lang="en-US" sz="20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2pPr>
            <a:lvl3pPr marL="8572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A336"/>
              </a:buClr>
              <a:buSzPct val="75000"/>
              <a:buFont typeface="Wingdings" panose="05000000000000000000" pitchFamily="2" charset="2"/>
              <a:buChar char="§"/>
              <a:defRPr sz="18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3pPr>
            <a:lvl4pPr marL="13716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A336"/>
              </a:buClr>
              <a:buSzPct val="75000"/>
              <a:buFont typeface="Courier New" panose="02070309020205020404" pitchFamily="49" charset="0"/>
              <a:buChar char="o"/>
              <a:defRPr sz="14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4pPr>
            <a:lvl5pPr marL="1615679" indent="-244079" algn="l" defTabSz="914400" rtl="0" eaLnBrk="1" latinLnBrk="0" hangingPunct="1">
              <a:spcBef>
                <a:spcPct val="20000"/>
              </a:spcBef>
              <a:buClr>
                <a:srgbClr val="FF9421"/>
              </a:buClr>
              <a:buFont typeface="Calibri" panose="020F0502020204030204" pitchFamily="34" charset="0"/>
              <a:buChar char="‐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GB" dirty="0">
              <a:latin typeface="APL385 Unicode" panose="020B0709000202000203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55900A-4BC7-C5E6-35BE-C3660CB86F7D}"/>
              </a:ext>
            </a:extLst>
          </p:cNvPr>
          <p:cNvSpPr txBox="1"/>
          <p:nvPr/>
        </p:nvSpPr>
        <p:spPr>
          <a:xfrm>
            <a:off x="5134186" y="1469813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APL385 Unicode" panose="020B0709000202000203" pitchFamily="49" charset="0"/>
              </a:rPr>
              <a:t>old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07F58BF-2CBF-A022-195D-F08B3E7C5AF2}"/>
              </a:ext>
            </a:extLst>
          </p:cNvPr>
          <p:cNvCxnSpPr>
            <a:stCxn id="6" idx="2"/>
          </p:cNvCxnSpPr>
          <p:nvPr/>
        </p:nvCxnSpPr>
        <p:spPr>
          <a:xfrm flipH="1">
            <a:off x="5433306" y="1839145"/>
            <a:ext cx="1" cy="51120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74AEB69-490C-F595-3506-1F02AD13E9FD}"/>
              </a:ext>
            </a:extLst>
          </p:cNvPr>
          <p:cNvSpPr txBox="1"/>
          <p:nvPr/>
        </p:nvSpPr>
        <p:spPr>
          <a:xfrm>
            <a:off x="7054774" y="1469813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APL385 Unicode" panose="020B0709000202000203" pitchFamily="49" charset="0"/>
              </a:rPr>
              <a:t>new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B4B220-8287-545D-6F05-22AB7AD9499E}"/>
              </a:ext>
            </a:extLst>
          </p:cNvPr>
          <p:cNvSpPr txBox="1"/>
          <p:nvPr/>
        </p:nvSpPr>
        <p:spPr>
          <a:xfrm>
            <a:off x="6916915" y="2451946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APL385 Unicode" panose="020B0709000202000203" pitchFamily="49" charset="0"/>
              </a:rPr>
              <a:t>1 2 3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B51C04E-3176-D208-AD5A-3BFA6C288EEF}"/>
              </a:ext>
            </a:extLst>
          </p:cNvPr>
          <p:cNvCxnSpPr>
            <a:stCxn id="8" idx="2"/>
          </p:cNvCxnSpPr>
          <p:nvPr/>
        </p:nvCxnSpPr>
        <p:spPr>
          <a:xfrm flipH="1">
            <a:off x="7353894" y="1839145"/>
            <a:ext cx="1" cy="51120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19CD770-5993-9CA3-9012-075681F454B1}"/>
              </a:ext>
            </a:extLst>
          </p:cNvPr>
          <p:cNvSpPr txBox="1"/>
          <p:nvPr/>
        </p:nvSpPr>
        <p:spPr>
          <a:xfrm>
            <a:off x="5016647" y="2451946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APL385 Unicode" panose="020B0709000202000203" pitchFamily="49" charset="0"/>
              </a:rPr>
              <a:t>'</a:t>
            </a:r>
            <a:r>
              <a:rPr lang="en-GB" dirty="0" err="1">
                <a:latin typeface="APL385 Unicode" panose="020B0709000202000203" pitchFamily="49" charset="0"/>
              </a:rPr>
              <a:t>abc</a:t>
            </a:r>
            <a:r>
              <a:rPr lang="en-GB" dirty="0">
                <a:latin typeface="APL385 Unicode" panose="020B0709000202000203" pitchFamily="49" charset="0"/>
              </a:rPr>
              <a:t>'</a:t>
            </a:r>
          </a:p>
        </p:txBody>
      </p:sp>
    </p:spTree>
    <p:extLst>
      <p:ext uri="{BB962C8B-B14F-4D97-AF65-F5344CB8AC3E}">
        <p14:creationId xmlns:p14="http://schemas.microsoft.com/office/powerpoint/2010/main" val="1916429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D2F4E-1CA8-60CC-EEB0-2928784C5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4477075-CB4D-D8A2-3AAA-71965D36E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F45A61C5-A660-161B-DC8A-BD1F8606166B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9847213-6561-ED40-BD96-A7AD6CD663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264925"/>
            <a:ext cx="3828526" cy="3242040"/>
          </a:xfrm>
        </p:spPr>
        <p:txBody>
          <a:bodyPr/>
          <a:lstStyle/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      old ← 1 2 3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      new ← old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      old ← '</a:t>
            </a:r>
            <a:r>
              <a:rPr lang="en-GB" dirty="0" err="1">
                <a:latin typeface="APL385 Unicode" panose="020B0709000202000203" pitchFamily="49" charset="0"/>
              </a:rPr>
              <a:t>abc</a:t>
            </a:r>
            <a:r>
              <a:rPr lang="en-GB" dirty="0">
                <a:latin typeface="APL385 Unicode" panose="020B0709000202000203" pitchFamily="49" charset="0"/>
              </a:rPr>
              <a:t>’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      ⎕←new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1 2 3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44FE4D3-8EFE-B05C-9287-CABB05E8F16B}"/>
              </a:ext>
            </a:extLst>
          </p:cNvPr>
          <p:cNvSpPr txBox="1">
            <a:spLocks/>
          </p:cNvSpPr>
          <p:nvPr/>
        </p:nvSpPr>
        <p:spPr>
          <a:xfrm>
            <a:off x="4572000" y="1264925"/>
            <a:ext cx="3828526" cy="3242040"/>
          </a:xfrm>
          <a:prstGeom prst="rect">
            <a:avLst/>
          </a:prstGeom>
          <a:solidFill>
            <a:srgbClr val="F6F6D9"/>
          </a:solidFill>
        </p:spPr>
        <p:txBody>
          <a:bodyPr vert="horz" lIns="91440" tIns="45720" rIns="91440" bIns="45720" rtlCol="0">
            <a:normAutofit/>
          </a:bodyPr>
          <a:lstStyle>
            <a:lvl1pPr marL="257175" indent="-2571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A336"/>
              </a:buClr>
              <a:buSzPct val="75000"/>
              <a:buFont typeface="Arial" panose="020B0604020202020204" pitchFamily="34" charset="0"/>
              <a:buChar char="•"/>
              <a:defRPr sz="24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1pPr>
            <a:lvl2pPr marL="557213" indent="-214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A336"/>
              </a:buClr>
              <a:buSzPct val="100000"/>
              <a:buFont typeface="Calibri" panose="020F0502020204030204" pitchFamily="34" charset="0"/>
              <a:buChar char="–"/>
              <a:defRPr lang="en-US" sz="20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2pPr>
            <a:lvl3pPr marL="8572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A336"/>
              </a:buClr>
              <a:buSzPct val="75000"/>
              <a:buFont typeface="Wingdings" panose="05000000000000000000" pitchFamily="2" charset="2"/>
              <a:buChar char="§"/>
              <a:defRPr sz="18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3pPr>
            <a:lvl4pPr marL="13716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A336"/>
              </a:buClr>
              <a:buSzPct val="75000"/>
              <a:buFont typeface="Courier New" panose="02070309020205020404" pitchFamily="49" charset="0"/>
              <a:buChar char="o"/>
              <a:defRPr sz="14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4pPr>
            <a:lvl5pPr marL="1615679" indent="-244079" algn="l" defTabSz="914400" rtl="0" eaLnBrk="1" latinLnBrk="0" hangingPunct="1">
              <a:spcBef>
                <a:spcPct val="20000"/>
              </a:spcBef>
              <a:buClr>
                <a:srgbClr val="FF9421"/>
              </a:buClr>
              <a:buFont typeface="Calibri" panose="020F0502020204030204" pitchFamily="34" charset="0"/>
              <a:buChar char="‐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GB" dirty="0">
              <a:latin typeface="APL385 Unicode" panose="020B0709000202000203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030DC8-ECDF-7359-A61B-F5008786201F}"/>
              </a:ext>
            </a:extLst>
          </p:cNvPr>
          <p:cNvSpPr txBox="1"/>
          <p:nvPr/>
        </p:nvSpPr>
        <p:spPr>
          <a:xfrm>
            <a:off x="5134186" y="1469813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APL385 Unicode" panose="020B0709000202000203" pitchFamily="49" charset="0"/>
              </a:rPr>
              <a:t>old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BAE996-F5E1-2EC4-7E75-0515F0C070F9}"/>
              </a:ext>
            </a:extLst>
          </p:cNvPr>
          <p:cNvSpPr txBox="1"/>
          <p:nvPr/>
        </p:nvSpPr>
        <p:spPr>
          <a:xfrm>
            <a:off x="5016647" y="2451946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APL385 Unicode" panose="020B0709000202000203" pitchFamily="49" charset="0"/>
              </a:rPr>
              <a:t>'</a:t>
            </a:r>
            <a:r>
              <a:rPr lang="en-GB" dirty="0" err="1">
                <a:latin typeface="APL385 Unicode" panose="020B0709000202000203" pitchFamily="49" charset="0"/>
              </a:rPr>
              <a:t>abc</a:t>
            </a:r>
            <a:r>
              <a:rPr lang="en-GB" dirty="0">
                <a:latin typeface="APL385 Unicode" panose="020B0709000202000203" pitchFamily="49" charset="0"/>
              </a:rPr>
              <a:t>'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08669DC-2ABA-FC29-378C-DB785EFE3D38}"/>
              </a:ext>
            </a:extLst>
          </p:cNvPr>
          <p:cNvCxnSpPr>
            <a:stCxn id="6" idx="2"/>
          </p:cNvCxnSpPr>
          <p:nvPr/>
        </p:nvCxnSpPr>
        <p:spPr>
          <a:xfrm flipH="1">
            <a:off x="5433306" y="1839145"/>
            <a:ext cx="1" cy="51120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258B5FC-E262-994B-81CC-880C478A6124}"/>
              </a:ext>
            </a:extLst>
          </p:cNvPr>
          <p:cNvSpPr txBox="1"/>
          <p:nvPr/>
        </p:nvSpPr>
        <p:spPr>
          <a:xfrm>
            <a:off x="7054774" y="1469813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APL385 Unicode" panose="020B0709000202000203" pitchFamily="49" charset="0"/>
              </a:rPr>
              <a:t>new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6B5751-959C-79BD-E13A-C31552CB1F5C}"/>
              </a:ext>
            </a:extLst>
          </p:cNvPr>
          <p:cNvSpPr txBox="1"/>
          <p:nvPr/>
        </p:nvSpPr>
        <p:spPr>
          <a:xfrm>
            <a:off x="6916915" y="2451946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APL385 Unicode" panose="020B0709000202000203" pitchFamily="49" charset="0"/>
              </a:rPr>
              <a:t>1 2 3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F3332FA-7FC6-9288-6F98-5CE0696FE404}"/>
              </a:ext>
            </a:extLst>
          </p:cNvPr>
          <p:cNvCxnSpPr>
            <a:stCxn id="9" idx="2"/>
          </p:cNvCxnSpPr>
          <p:nvPr/>
        </p:nvCxnSpPr>
        <p:spPr>
          <a:xfrm flipH="1">
            <a:off x="7353894" y="1839145"/>
            <a:ext cx="1" cy="51120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56676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B2910-2A16-8826-1C74-543385428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6B01127-051E-D0BD-33E2-A0A403DD7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703A9E6B-9E03-9A0B-BBA9-D5BA792E6854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B2DB688-6DFF-4413-6CEB-CF4C648780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264925"/>
            <a:ext cx="3828526" cy="3242040"/>
          </a:xfrm>
        </p:spPr>
        <p:txBody>
          <a:bodyPr/>
          <a:lstStyle/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      old ← ⎕NS⍬</a:t>
            </a:r>
          </a:p>
          <a:p>
            <a:pPr marL="0" indent="0">
              <a:buNone/>
            </a:pPr>
            <a:endParaRPr lang="en-GB" dirty="0">
              <a:latin typeface="APL385 Unicode" panose="020B0709000202000203" pitchFamily="49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C440935-F133-3BC6-339E-70C540794E63}"/>
              </a:ext>
            </a:extLst>
          </p:cNvPr>
          <p:cNvSpPr txBox="1">
            <a:spLocks/>
          </p:cNvSpPr>
          <p:nvPr/>
        </p:nvSpPr>
        <p:spPr>
          <a:xfrm>
            <a:off x="4572000" y="1264925"/>
            <a:ext cx="3828526" cy="3242040"/>
          </a:xfrm>
          <a:prstGeom prst="rect">
            <a:avLst/>
          </a:prstGeom>
          <a:solidFill>
            <a:srgbClr val="F6F6D9"/>
          </a:solidFill>
        </p:spPr>
        <p:txBody>
          <a:bodyPr vert="horz" lIns="91440" tIns="45720" rIns="91440" bIns="45720" rtlCol="0">
            <a:normAutofit/>
          </a:bodyPr>
          <a:lstStyle>
            <a:lvl1pPr marL="257175" indent="-2571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A336"/>
              </a:buClr>
              <a:buSzPct val="75000"/>
              <a:buFont typeface="Arial" panose="020B0604020202020204" pitchFamily="34" charset="0"/>
              <a:buChar char="•"/>
              <a:defRPr sz="24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1pPr>
            <a:lvl2pPr marL="557213" indent="-214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A336"/>
              </a:buClr>
              <a:buSzPct val="100000"/>
              <a:buFont typeface="Calibri" panose="020F0502020204030204" pitchFamily="34" charset="0"/>
              <a:buChar char="–"/>
              <a:defRPr lang="en-US" sz="20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2pPr>
            <a:lvl3pPr marL="8572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A336"/>
              </a:buClr>
              <a:buSzPct val="75000"/>
              <a:buFont typeface="Wingdings" panose="05000000000000000000" pitchFamily="2" charset="2"/>
              <a:buChar char="§"/>
              <a:defRPr sz="18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3pPr>
            <a:lvl4pPr marL="13716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A336"/>
              </a:buClr>
              <a:buSzPct val="75000"/>
              <a:buFont typeface="Courier New" panose="02070309020205020404" pitchFamily="49" charset="0"/>
              <a:buChar char="o"/>
              <a:defRPr sz="14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4pPr>
            <a:lvl5pPr marL="1615679" indent="-244079" algn="l" defTabSz="914400" rtl="0" eaLnBrk="1" latinLnBrk="0" hangingPunct="1">
              <a:spcBef>
                <a:spcPct val="20000"/>
              </a:spcBef>
              <a:buClr>
                <a:srgbClr val="FF9421"/>
              </a:buClr>
              <a:buFont typeface="Calibri" panose="020F0502020204030204" pitchFamily="34" charset="0"/>
              <a:buChar char="‐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GB" dirty="0">
              <a:latin typeface="APL385 Unicode" panose="020B0709000202000203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09FB14-2396-26F6-F306-991094FF3F7E}"/>
              </a:ext>
            </a:extLst>
          </p:cNvPr>
          <p:cNvSpPr txBox="1"/>
          <p:nvPr/>
        </p:nvSpPr>
        <p:spPr>
          <a:xfrm>
            <a:off x="5134186" y="1469813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APL385 Unicode" panose="020B0709000202000203" pitchFamily="49" charset="0"/>
              </a:rPr>
              <a:t>old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C1325E-4FD6-442B-1F4B-F5F2C0E7E42F}"/>
              </a:ext>
            </a:extLst>
          </p:cNvPr>
          <p:cNvSpPr txBox="1"/>
          <p:nvPr/>
        </p:nvSpPr>
        <p:spPr>
          <a:xfrm>
            <a:off x="4590802" y="2133600"/>
            <a:ext cx="1976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APL385 Unicode" panose="020B0709000202000203" pitchFamily="49" charset="0"/>
              </a:rPr>
              <a:t>#.[Namespace]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D13C88C-4EFF-3EF9-F7FA-62CFB0796316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5433307" y="1839145"/>
            <a:ext cx="0" cy="28768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6110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B90C0-8B19-E19E-0213-AF2FFAF5F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CA1B529-664B-5B92-52E1-ABE80E7AE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EE73F6AA-5034-87DE-462E-81A8471B2D5C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404C2F4-734D-1543-217A-1AFBF7095C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7" y="1264925"/>
            <a:ext cx="4058819" cy="3242040"/>
          </a:xfrm>
        </p:spPr>
        <p:txBody>
          <a:bodyPr/>
          <a:lstStyle/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      old ← ⎕NS⍬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 err="1">
                <a:latin typeface="APL385 Unicode" panose="020B0709000202000203" pitchFamily="49" charset="0"/>
              </a:rPr>
              <a:t>old.var</a:t>
            </a:r>
            <a:r>
              <a:rPr lang="en-GB" dirty="0">
                <a:latin typeface="APL385 Unicode" panose="020B0709000202000203" pitchFamily="49" charset="0"/>
              </a:rPr>
              <a:t> ← 1 2 3</a:t>
            </a:r>
          </a:p>
          <a:p>
            <a:pPr marL="0" indent="0">
              <a:buNone/>
            </a:pPr>
            <a:endParaRPr lang="en-GB" dirty="0">
              <a:latin typeface="APL385 Unicode" panose="020B0709000202000203" pitchFamily="49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8EADCCF-6987-AE4E-D764-09EBE8BFB1DB}"/>
              </a:ext>
            </a:extLst>
          </p:cNvPr>
          <p:cNvSpPr txBox="1">
            <a:spLocks/>
          </p:cNvSpPr>
          <p:nvPr/>
        </p:nvSpPr>
        <p:spPr>
          <a:xfrm>
            <a:off x="4572000" y="1264925"/>
            <a:ext cx="3828526" cy="3242040"/>
          </a:xfrm>
          <a:prstGeom prst="rect">
            <a:avLst/>
          </a:prstGeom>
          <a:solidFill>
            <a:srgbClr val="F6F6D9"/>
          </a:solidFill>
        </p:spPr>
        <p:txBody>
          <a:bodyPr vert="horz" lIns="91440" tIns="45720" rIns="91440" bIns="45720" rtlCol="0">
            <a:normAutofit/>
          </a:bodyPr>
          <a:lstStyle>
            <a:lvl1pPr marL="257175" indent="-2571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A336"/>
              </a:buClr>
              <a:buSzPct val="75000"/>
              <a:buFont typeface="Arial" panose="020B0604020202020204" pitchFamily="34" charset="0"/>
              <a:buChar char="•"/>
              <a:defRPr sz="24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1pPr>
            <a:lvl2pPr marL="557213" indent="-214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A336"/>
              </a:buClr>
              <a:buSzPct val="100000"/>
              <a:buFont typeface="Calibri" panose="020F0502020204030204" pitchFamily="34" charset="0"/>
              <a:buChar char="–"/>
              <a:defRPr lang="en-US" sz="20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2pPr>
            <a:lvl3pPr marL="8572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A336"/>
              </a:buClr>
              <a:buSzPct val="75000"/>
              <a:buFont typeface="Wingdings" panose="05000000000000000000" pitchFamily="2" charset="2"/>
              <a:buChar char="§"/>
              <a:defRPr sz="18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3pPr>
            <a:lvl4pPr marL="13716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A336"/>
              </a:buClr>
              <a:buSzPct val="75000"/>
              <a:buFont typeface="Courier New" panose="02070309020205020404" pitchFamily="49" charset="0"/>
              <a:buChar char="o"/>
              <a:defRPr sz="14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4pPr>
            <a:lvl5pPr marL="1615679" indent="-244079" algn="l" defTabSz="914400" rtl="0" eaLnBrk="1" latinLnBrk="0" hangingPunct="1">
              <a:spcBef>
                <a:spcPct val="20000"/>
              </a:spcBef>
              <a:buClr>
                <a:srgbClr val="FF9421"/>
              </a:buClr>
              <a:buFont typeface="Calibri" panose="020F0502020204030204" pitchFamily="34" charset="0"/>
              <a:buChar char="‐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GB" dirty="0">
              <a:latin typeface="APL385 Unicode" panose="020B0709000202000203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E22BEB-F145-9CA8-426F-C99AC1B7F1E3}"/>
              </a:ext>
            </a:extLst>
          </p:cNvPr>
          <p:cNvSpPr txBox="1"/>
          <p:nvPr/>
        </p:nvSpPr>
        <p:spPr>
          <a:xfrm>
            <a:off x="5134186" y="1469813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APL385 Unicode" panose="020B0709000202000203" pitchFamily="49" charset="0"/>
              </a:rPr>
              <a:t>old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63932D-2A27-58C7-40F3-C1C103F6AB1A}"/>
              </a:ext>
            </a:extLst>
          </p:cNvPr>
          <p:cNvSpPr txBox="1"/>
          <p:nvPr/>
        </p:nvSpPr>
        <p:spPr>
          <a:xfrm>
            <a:off x="4590802" y="2133600"/>
            <a:ext cx="1976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APL385 Unicode" panose="020B0709000202000203" pitchFamily="49" charset="0"/>
              </a:rPr>
              <a:t>#.[Namespace]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6D69D7F-1B94-C103-83B6-47FEBE7EE03A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5433307" y="1839145"/>
            <a:ext cx="0" cy="28768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4A97267-0EEF-3071-9DF3-062F1F14FBDE}"/>
              </a:ext>
            </a:extLst>
          </p:cNvPr>
          <p:cNvSpPr txBox="1"/>
          <p:nvPr/>
        </p:nvSpPr>
        <p:spPr>
          <a:xfrm>
            <a:off x="5134186" y="2759511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APL385 Unicode" panose="020B0709000202000203" pitchFamily="49" charset="0"/>
              </a:rPr>
              <a:t>var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919FDF3-159D-CC15-3E6E-FF39D4E2C880}"/>
              </a:ext>
            </a:extLst>
          </p:cNvPr>
          <p:cNvCxnSpPr>
            <a:cxnSpLocks/>
          </p:cNvCxnSpPr>
          <p:nvPr/>
        </p:nvCxnSpPr>
        <p:spPr>
          <a:xfrm>
            <a:off x="5433307" y="2502932"/>
            <a:ext cx="0" cy="28768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3C1D6D7-ECF1-69C9-48FE-77AE9B47EBAD}"/>
              </a:ext>
            </a:extLst>
          </p:cNvPr>
          <p:cNvSpPr txBox="1"/>
          <p:nvPr/>
        </p:nvSpPr>
        <p:spPr>
          <a:xfrm>
            <a:off x="4996328" y="3398433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APL385 Unicode" panose="020B0709000202000203" pitchFamily="49" charset="0"/>
              </a:rPr>
              <a:t>1 2 3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495C41D-409F-F519-5AC6-37E02508223C}"/>
              </a:ext>
            </a:extLst>
          </p:cNvPr>
          <p:cNvCxnSpPr>
            <a:cxnSpLocks/>
          </p:cNvCxnSpPr>
          <p:nvPr/>
        </p:nvCxnSpPr>
        <p:spPr>
          <a:xfrm>
            <a:off x="5433307" y="3115028"/>
            <a:ext cx="0" cy="28768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8739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3F7B3-632C-3533-4B64-ACFDA53C6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3B72816-989B-AD0D-DBA6-6B35FCE8A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5292BDF9-EDC2-7F91-8CE0-A10AF36DA657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5EE680D-9341-2B0C-732A-473C93C991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7" y="1264925"/>
            <a:ext cx="4058819" cy="3242040"/>
          </a:xfrm>
        </p:spPr>
        <p:txBody>
          <a:bodyPr/>
          <a:lstStyle/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      old ← ⎕NS⍬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 err="1">
                <a:latin typeface="APL385 Unicode" panose="020B0709000202000203" pitchFamily="49" charset="0"/>
              </a:rPr>
              <a:t>old.var</a:t>
            </a:r>
            <a:r>
              <a:rPr lang="en-GB" dirty="0">
                <a:latin typeface="APL385 Unicode" panose="020B0709000202000203" pitchFamily="49" charset="0"/>
              </a:rPr>
              <a:t> ← 1 2 3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      new ← old</a:t>
            </a:r>
          </a:p>
          <a:p>
            <a:pPr marL="0" indent="0">
              <a:buNone/>
            </a:pPr>
            <a:endParaRPr lang="en-GB" dirty="0">
              <a:latin typeface="APL385 Unicode" panose="020B0709000202000203" pitchFamily="49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A0AE6E7-1DA8-05DF-F80D-126D3F86172D}"/>
              </a:ext>
            </a:extLst>
          </p:cNvPr>
          <p:cNvSpPr txBox="1">
            <a:spLocks/>
          </p:cNvSpPr>
          <p:nvPr/>
        </p:nvSpPr>
        <p:spPr>
          <a:xfrm>
            <a:off x="4572000" y="1264925"/>
            <a:ext cx="3828526" cy="3242040"/>
          </a:xfrm>
          <a:prstGeom prst="rect">
            <a:avLst/>
          </a:prstGeom>
          <a:solidFill>
            <a:srgbClr val="F6F6D9"/>
          </a:solidFill>
        </p:spPr>
        <p:txBody>
          <a:bodyPr vert="horz" lIns="91440" tIns="45720" rIns="91440" bIns="45720" rtlCol="0">
            <a:normAutofit/>
          </a:bodyPr>
          <a:lstStyle>
            <a:lvl1pPr marL="257175" indent="-2571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A336"/>
              </a:buClr>
              <a:buSzPct val="75000"/>
              <a:buFont typeface="Arial" panose="020B0604020202020204" pitchFamily="34" charset="0"/>
              <a:buChar char="•"/>
              <a:defRPr sz="24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1pPr>
            <a:lvl2pPr marL="557213" indent="-214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A336"/>
              </a:buClr>
              <a:buSzPct val="100000"/>
              <a:buFont typeface="Calibri" panose="020F0502020204030204" pitchFamily="34" charset="0"/>
              <a:buChar char="–"/>
              <a:defRPr lang="en-US" sz="20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2pPr>
            <a:lvl3pPr marL="8572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A336"/>
              </a:buClr>
              <a:buSzPct val="75000"/>
              <a:buFont typeface="Wingdings" panose="05000000000000000000" pitchFamily="2" charset="2"/>
              <a:buChar char="§"/>
              <a:defRPr sz="18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3pPr>
            <a:lvl4pPr marL="13716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A336"/>
              </a:buClr>
              <a:buSzPct val="75000"/>
              <a:buFont typeface="Courier New" panose="02070309020205020404" pitchFamily="49" charset="0"/>
              <a:buChar char="o"/>
              <a:defRPr sz="14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4pPr>
            <a:lvl5pPr marL="1615679" indent="-244079" algn="l" defTabSz="914400" rtl="0" eaLnBrk="1" latinLnBrk="0" hangingPunct="1">
              <a:spcBef>
                <a:spcPct val="20000"/>
              </a:spcBef>
              <a:buClr>
                <a:srgbClr val="FF9421"/>
              </a:buClr>
              <a:buFont typeface="Calibri" panose="020F0502020204030204" pitchFamily="34" charset="0"/>
              <a:buChar char="‐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GB" dirty="0">
              <a:latin typeface="APL385 Unicode" panose="020B0709000202000203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AF1F77-C20F-A13F-9991-742979D1D315}"/>
              </a:ext>
            </a:extLst>
          </p:cNvPr>
          <p:cNvSpPr txBox="1"/>
          <p:nvPr/>
        </p:nvSpPr>
        <p:spPr>
          <a:xfrm>
            <a:off x="5134186" y="1469813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APL385 Unicode" panose="020B0709000202000203" pitchFamily="49" charset="0"/>
              </a:rPr>
              <a:t>old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CA76D0-48A0-CB07-D606-465E2A0E34D5}"/>
              </a:ext>
            </a:extLst>
          </p:cNvPr>
          <p:cNvSpPr txBox="1"/>
          <p:nvPr/>
        </p:nvSpPr>
        <p:spPr>
          <a:xfrm>
            <a:off x="5674536" y="2571750"/>
            <a:ext cx="1976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APL385 Unicode" panose="020B0709000202000203" pitchFamily="49" charset="0"/>
              </a:rPr>
              <a:t>#.[Namespace]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3C85AC2-3F3B-0466-A0DF-A74CD3235325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5433307" y="1839145"/>
            <a:ext cx="1052956" cy="73260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040F405-EFAC-D124-A384-419683C4341D}"/>
              </a:ext>
            </a:extLst>
          </p:cNvPr>
          <p:cNvSpPr txBox="1"/>
          <p:nvPr/>
        </p:nvSpPr>
        <p:spPr>
          <a:xfrm>
            <a:off x="6217920" y="3197661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APL385 Unicode" panose="020B0709000202000203" pitchFamily="49" charset="0"/>
              </a:rPr>
              <a:t>var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31650CF-2602-C40E-313D-5B6E4BC9131F}"/>
              </a:ext>
            </a:extLst>
          </p:cNvPr>
          <p:cNvCxnSpPr>
            <a:cxnSpLocks/>
          </p:cNvCxnSpPr>
          <p:nvPr/>
        </p:nvCxnSpPr>
        <p:spPr>
          <a:xfrm>
            <a:off x="6517041" y="2941082"/>
            <a:ext cx="0" cy="28768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C8403BA-A77E-2BD9-8A14-40A6B7492BD1}"/>
              </a:ext>
            </a:extLst>
          </p:cNvPr>
          <p:cNvSpPr txBox="1"/>
          <p:nvPr/>
        </p:nvSpPr>
        <p:spPr>
          <a:xfrm>
            <a:off x="6080062" y="3836583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APL385 Unicode" panose="020B0709000202000203" pitchFamily="49" charset="0"/>
              </a:rPr>
              <a:t>1 2 3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723E950-AF6A-F1A9-56EE-2686BCC5EC4C}"/>
              </a:ext>
            </a:extLst>
          </p:cNvPr>
          <p:cNvCxnSpPr>
            <a:cxnSpLocks/>
          </p:cNvCxnSpPr>
          <p:nvPr/>
        </p:nvCxnSpPr>
        <p:spPr>
          <a:xfrm>
            <a:off x="6517041" y="3553178"/>
            <a:ext cx="0" cy="28768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7FE5EA6-096E-5994-737C-583DD8744DBA}"/>
              </a:ext>
            </a:extLst>
          </p:cNvPr>
          <p:cNvSpPr txBox="1"/>
          <p:nvPr/>
        </p:nvSpPr>
        <p:spPr>
          <a:xfrm>
            <a:off x="7115386" y="1469813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APL385 Unicode" panose="020B0709000202000203" pitchFamily="49" charset="0"/>
              </a:rPr>
              <a:t>new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12F97FC-D953-36B8-CD78-6AFB093DB702}"/>
              </a:ext>
            </a:extLst>
          </p:cNvPr>
          <p:cNvCxnSpPr>
            <a:cxnSpLocks/>
            <a:endCxn id="7" idx="0"/>
          </p:cNvCxnSpPr>
          <p:nvPr/>
        </p:nvCxnSpPr>
        <p:spPr>
          <a:xfrm flipH="1">
            <a:off x="6662948" y="1848693"/>
            <a:ext cx="751558" cy="72305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72498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5D1DC-1885-BF8A-05EC-0B20390E6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89B76E9-AC23-54D6-4C20-3BE766035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85C8C5DE-7068-48F5-2774-A2B0FC1A3EC0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1FBBB39-6EFB-EC82-83CD-32529220EF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7" y="1264925"/>
            <a:ext cx="4058819" cy="3242040"/>
          </a:xfrm>
        </p:spPr>
        <p:txBody>
          <a:bodyPr/>
          <a:lstStyle/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      old ← ⎕NS⍬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 err="1">
                <a:latin typeface="APL385 Unicode" panose="020B0709000202000203" pitchFamily="49" charset="0"/>
              </a:rPr>
              <a:t>old.var</a:t>
            </a:r>
            <a:r>
              <a:rPr lang="en-GB" dirty="0">
                <a:latin typeface="APL385 Unicode" panose="020B0709000202000203" pitchFamily="49" charset="0"/>
              </a:rPr>
              <a:t> ← 1 2 3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      new ← old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 err="1">
                <a:latin typeface="APL385 Unicode" panose="020B0709000202000203" pitchFamily="49" charset="0"/>
              </a:rPr>
              <a:t>old.var</a:t>
            </a:r>
            <a:r>
              <a:rPr lang="en-GB" dirty="0">
                <a:latin typeface="APL385 Unicode" panose="020B0709000202000203" pitchFamily="49" charset="0"/>
              </a:rPr>
              <a:t> ← '!!!'</a:t>
            </a:r>
          </a:p>
          <a:p>
            <a:pPr marL="0" indent="0">
              <a:buNone/>
            </a:pPr>
            <a:endParaRPr lang="en-GB" dirty="0">
              <a:latin typeface="APL385 Unicode" panose="020B0709000202000203" pitchFamily="49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1D141E5-79F1-544F-425D-44B20ABC7728}"/>
              </a:ext>
            </a:extLst>
          </p:cNvPr>
          <p:cNvSpPr txBox="1">
            <a:spLocks/>
          </p:cNvSpPr>
          <p:nvPr/>
        </p:nvSpPr>
        <p:spPr>
          <a:xfrm>
            <a:off x="4572000" y="1264925"/>
            <a:ext cx="3828526" cy="3242040"/>
          </a:xfrm>
          <a:prstGeom prst="rect">
            <a:avLst/>
          </a:prstGeom>
          <a:solidFill>
            <a:srgbClr val="F6F6D9"/>
          </a:solidFill>
        </p:spPr>
        <p:txBody>
          <a:bodyPr vert="horz" lIns="91440" tIns="45720" rIns="91440" bIns="45720" rtlCol="0">
            <a:normAutofit/>
          </a:bodyPr>
          <a:lstStyle>
            <a:lvl1pPr marL="257175" indent="-2571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A336"/>
              </a:buClr>
              <a:buSzPct val="75000"/>
              <a:buFont typeface="Arial" panose="020B0604020202020204" pitchFamily="34" charset="0"/>
              <a:buChar char="•"/>
              <a:defRPr sz="24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1pPr>
            <a:lvl2pPr marL="557213" indent="-214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A336"/>
              </a:buClr>
              <a:buSzPct val="100000"/>
              <a:buFont typeface="Calibri" panose="020F0502020204030204" pitchFamily="34" charset="0"/>
              <a:buChar char="–"/>
              <a:defRPr lang="en-US" sz="20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2pPr>
            <a:lvl3pPr marL="8572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A336"/>
              </a:buClr>
              <a:buSzPct val="75000"/>
              <a:buFont typeface="Wingdings" panose="05000000000000000000" pitchFamily="2" charset="2"/>
              <a:buChar char="§"/>
              <a:defRPr sz="18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3pPr>
            <a:lvl4pPr marL="13716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A336"/>
              </a:buClr>
              <a:buSzPct val="75000"/>
              <a:buFont typeface="Courier New" panose="02070309020205020404" pitchFamily="49" charset="0"/>
              <a:buChar char="o"/>
              <a:defRPr sz="14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4pPr>
            <a:lvl5pPr marL="1615679" indent="-244079" algn="l" defTabSz="914400" rtl="0" eaLnBrk="1" latinLnBrk="0" hangingPunct="1">
              <a:spcBef>
                <a:spcPct val="20000"/>
              </a:spcBef>
              <a:buClr>
                <a:srgbClr val="FF9421"/>
              </a:buClr>
              <a:buFont typeface="Calibri" panose="020F0502020204030204" pitchFamily="34" charset="0"/>
              <a:buChar char="‐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GB" dirty="0">
              <a:latin typeface="APL385 Unicode" panose="020B0709000202000203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9F67D2-6835-7375-5F12-8A3037899064}"/>
              </a:ext>
            </a:extLst>
          </p:cNvPr>
          <p:cNvSpPr txBox="1"/>
          <p:nvPr/>
        </p:nvSpPr>
        <p:spPr>
          <a:xfrm>
            <a:off x="5134186" y="1469813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APL385 Unicode" panose="020B0709000202000203" pitchFamily="49" charset="0"/>
              </a:rPr>
              <a:t>old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4B885F-26ED-F05D-5665-F3A5C03DEB1F}"/>
              </a:ext>
            </a:extLst>
          </p:cNvPr>
          <p:cNvSpPr txBox="1"/>
          <p:nvPr/>
        </p:nvSpPr>
        <p:spPr>
          <a:xfrm>
            <a:off x="5674536" y="2571750"/>
            <a:ext cx="1976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APL385 Unicode" panose="020B0709000202000203" pitchFamily="49" charset="0"/>
              </a:rPr>
              <a:t>#.[Namespace]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440A22B-4D0F-2B62-8C2F-5CDA64E33F18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5433307" y="1839145"/>
            <a:ext cx="1052956" cy="73260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B0A7C17-1A58-9AF2-414B-CE65062AF400}"/>
              </a:ext>
            </a:extLst>
          </p:cNvPr>
          <p:cNvSpPr txBox="1"/>
          <p:nvPr/>
        </p:nvSpPr>
        <p:spPr>
          <a:xfrm>
            <a:off x="6217920" y="3197661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APL385 Unicode" panose="020B0709000202000203" pitchFamily="49" charset="0"/>
              </a:rPr>
              <a:t>var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302661B-8653-6A02-9200-329C8989C3D7}"/>
              </a:ext>
            </a:extLst>
          </p:cNvPr>
          <p:cNvCxnSpPr>
            <a:cxnSpLocks/>
          </p:cNvCxnSpPr>
          <p:nvPr/>
        </p:nvCxnSpPr>
        <p:spPr>
          <a:xfrm>
            <a:off x="6517041" y="2941082"/>
            <a:ext cx="0" cy="28768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2ECAA47-AD56-5BEC-DA6D-FE64E5D45D56}"/>
              </a:ext>
            </a:extLst>
          </p:cNvPr>
          <p:cNvSpPr txBox="1"/>
          <p:nvPr/>
        </p:nvSpPr>
        <p:spPr>
          <a:xfrm>
            <a:off x="6080062" y="3836583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APL385 Unicode" panose="020B0709000202000203" pitchFamily="49" charset="0"/>
              </a:rPr>
              <a:t>'!!!'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6099427-1512-3FDD-CB46-B0A0F2405217}"/>
              </a:ext>
            </a:extLst>
          </p:cNvPr>
          <p:cNvCxnSpPr>
            <a:cxnSpLocks/>
          </p:cNvCxnSpPr>
          <p:nvPr/>
        </p:nvCxnSpPr>
        <p:spPr>
          <a:xfrm>
            <a:off x="6517041" y="3553178"/>
            <a:ext cx="0" cy="28768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B31A94A-BCE2-0C4A-13EC-F37E6F2EFD33}"/>
              </a:ext>
            </a:extLst>
          </p:cNvPr>
          <p:cNvSpPr txBox="1"/>
          <p:nvPr/>
        </p:nvSpPr>
        <p:spPr>
          <a:xfrm>
            <a:off x="7115386" y="1469813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APL385 Unicode" panose="020B0709000202000203" pitchFamily="49" charset="0"/>
              </a:rPr>
              <a:t>new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3A7C5F7-EAC9-0056-4DF0-39A3E576503E}"/>
              </a:ext>
            </a:extLst>
          </p:cNvPr>
          <p:cNvCxnSpPr>
            <a:cxnSpLocks/>
            <a:endCxn id="7" idx="0"/>
          </p:cNvCxnSpPr>
          <p:nvPr/>
        </p:nvCxnSpPr>
        <p:spPr>
          <a:xfrm flipH="1">
            <a:off x="6662948" y="1848693"/>
            <a:ext cx="751558" cy="72305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62620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38007-7065-8D3B-58D4-2AE919207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B5DEC00-7364-5C05-F68B-4125C3494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F0E7441F-727E-0839-8784-664DF408B2B7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BD2FF5B-CF42-0D0E-3188-A0D18144D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7" y="1264925"/>
            <a:ext cx="4058819" cy="3242040"/>
          </a:xfrm>
        </p:spPr>
        <p:txBody>
          <a:bodyPr/>
          <a:lstStyle/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      old ← ⎕NS⍬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 err="1">
                <a:latin typeface="APL385 Unicode" panose="020B0709000202000203" pitchFamily="49" charset="0"/>
              </a:rPr>
              <a:t>old.var</a:t>
            </a:r>
            <a:r>
              <a:rPr lang="en-GB" dirty="0">
                <a:latin typeface="APL385 Unicode" panose="020B0709000202000203" pitchFamily="49" charset="0"/>
              </a:rPr>
              <a:t> ← 1 2 3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      new ← old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 err="1">
                <a:latin typeface="APL385 Unicode" panose="020B0709000202000203" pitchFamily="49" charset="0"/>
              </a:rPr>
              <a:t>old.var</a:t>
            </a:r>
            <a:r>
              <a:rPr lang="en-GB" dirty="0">
                <a:latin typeface="APL385 Unicode" panose="020B0709000202000203" pitchFamily="49" charset="0"/>
              </a:rPr>
              <a:t> ← '!!!'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      ⎕ ← </a:t>
            </a:r>
            <a:r>
              <a:rPr lang="en-GB" dirty="0" err="1">
                <a:latin typeface="APL385 Unicode" panose="020B0709000202000203" pitchFamily="49" charset="0"/>
              </a:rPr>
              <a:t>new.var</a:t>
            </a:r>
            <a:endParaRPr lang="en-GB" dirty="0">
              <a:latin typeface="APL385 Unicode" panose="020B0709000202000203" pitchFamily="49" charset="0"/>
            </a:endParaRP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!!!</a:t>
            </a:r>
          </a:p>
          <a:p>
            <a:pPr marL="0" indent="0">
              <a:buNone/>
            </a:pPr>
            <a:endParaRPr lang="en-GB" dirty="0">
              <a:latin typeface="APL385 Unicode" panose="020B0709000202000203" pitchFamily="49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8BCF679-0CE0-9ED5-BE92-E2D9BB8F2FEF}"/>
              </a:ext>
            </a:extLst>
          </p:cNvPr>
          <p:cNvSpPr txBox="1">
            <a:spLocks/>
          </p:cNvSpPr>
          <p:nvPr/>
        </p:nvSpPr>
        <p:spPr>
          <a:xfrm>
            <a:off x="4572000" y="1264925"/>
            <a:ext cx="3828526" cy="3242040"/>
          </a:xfrm>
          <a:prstGeom prst="rect">
            <a:avLst/>
          </a:prstGeom>
          <a:solidFill>
            <a:srgbClr val="F6F6D9"/>
          </a:solidFill>
        </p:spPr>
        <p:txBody>
          <a:bodyPr vert="horz" lIns="91440" tIns="45720" rIns="91440" bIns="45720" rtlCol="0">
            <a:normAutofit/>
          </a:bodyPr>
          <a:lstStyle>
            <a:lvl1pPr marL="257175" indent="-2571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A336"/>
              </a:buClr>
              <a:buSzPct val="75000"/>
              <a:buFont typeface="Arial" panose="020B0604020202020204" pitchFamily="34" charset="0"/>
              <a:buChar char="•"/>
              <a:defRPr sz="24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1pPr>
            <a:lvl2pPr marL="557213" indent="-214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A336"/>
              </a:buClr>
              <a:buSzPct val="100000"/>
              <a:buFont typeface="Calibri" panose="020F0502020204030204" pitchFamily="34" charset="0"/>
              <a:buChar char="–"/>
              <a:defRPr lang="en-US" sz="20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2pPr>
            <a:lvl3pPr marL="8572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A336"/>
              </a:buClr>
              <a:buSzPct val="75000"/>
              <a:buFont typeface="Wingdings" panose="05000000000000000000" pitchFamily="2" charset="2"/>
              <a:buChar char="§"/>
              <a:defRPr sz="18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3pPr>
            <a:lvl4pPr marL="13716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A336"/>
              </a:buClr>
              <a:buSzPct val="75000"/>
              <a:buFont typeface="Courier New" panose="02070309020205020404" pitchFamily="49" charset="0"/>
              <a:buChar char="o"/>
              <a:defRPr sz="14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4pPr>
            <a:lvl5pPr marL="1615679" indent="-244079" algn="l" defTabSz="914400" rtl="0" eaLnBrk="1" latinLnBrk="0" hangingPunct="1">
              <a:spcBef>
                <a:spcPct val="20000"/>
              </a:spcBef>
              <a:buClr>
                <a:srgbClr val="FF9421"/>
              </a:buClr>
              <a:buFont typeface="Calibri" panose="020F0502020204030204" pitchFamily="34" charset="0"/>
              <a:buChar char="‐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GB" dirty="0">
              <a:latin typeface="APL385 Unicode" panose="020B0709000202000203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95B6B9-A591-D209-6874-5625686B3FD3}"/>
              </a:ext>
            </a:extLst>
          </p:cNvPr>
          <p:cNvSpPr txBox="1"/>
          <p:nvPr/>
        </p:nvSpPr>
        <p:spPr>
          <a:xfrm>
            <a:off x="5134186" y="1469813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APL385 Unicode" panose="020B0709000202000203" pitchFamily="49" charset="0"/>
              </a:rPr>
              <a:t>old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08B1EA-82E8-B9D2-92B0-4E53643C34CA}"/>
              </a:ext>
            </a:extLst>
          </p:cNvPr>
          <p:cNvSpPr txBox="1"/>
          <p:nvPr/>
        </p:nvSpPr>
        <p:spPr>
          <a:xfrm>
            <a:off x="5674536" y="2571750"/>
            <a:ext cx="1976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APL385 Unicode" panose="020B0709000202000203" pitchFamily="49" charset="0"/>
              </a:rPr>
              <a:t>#.[Namespace]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621C923-F9AA-37B0-4081-D1CB11778A17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5433307" y="1839145"/>
            <a:ext cx="1052956" cy="73260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32AF20C-BA49-AEDA-C5AE-2A4CECF15ADA}"/>
              </a:ext>
            </a:extLst>
          </p:cNvPr>
          <p:cNvSpPr txBox="1"/>
          <p:nvPr/>
        </p:nvSpPr>
        <p:spPr>
          <a:xfrm>
            <a:off x="6217920" y="3197661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APL385 Unicode" panose="020B0709000202000203" pitchFamily="49" charset="0"/>
              </a:rPr>
              <a:t>var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9F5E5A1-E65A-2688-E9AE-378E3CC854FA}"/>
              </a:ext>
            </a:extLst>
          </p:cNvPr>
          <p:cNvCxnSpPr>
            <a:cxnSpLocks/>
          </p:cNvCxnSpPr>
          <p:nvPr/>
        </p:nvCxnSpPr>
        <p:spPr>
          <a:xfrm>
            <a:off x="6517041" y="2941082"/>
            <a:ext cx="0" cy="28768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5850346-03A0-C141-EC0B-5BAAD38F5DA3}"/>
              </a:ext>
            </a:extLst>
          </p:cNvPr>
          <p:cNvSpPr txBox="1"/>
          <p:nvPr/>
        </p:nvSpPr>
        <p:spPr>
          <a:xfrm>
            <a:off x="6080062" y="3836583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APL385 Unicode" panose="020B0709000202000203" pitchFamily="49" charset="0"/>
              </a:rPr>
              <a:t>'!!!'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225C5F6-433B-5267-3B57-492352E24A44}"/>
              </a:ext>
            </a:extLst>
          </p:cNvPr>
          <p:cNvCxnSpPr>
            <a:cxnSpLocks/>
          </p:cNvCxnSpPr>
          <p:nvPr/>
        </p:nvCxnSpPr>
        <p:spPr>
          <a:xfrm>
            <a:off x="6517041" y="3553178"/>
            <a:ext cx="0" cy="28768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0D44A76-643B-4D43-0EB8-C259A6499A24}"/>
              </a:ext>
            </a:extLst>
          </p:cNvPr>
          <p:cNvSpPr txBox="1"/>
          <p:nvPr/>
        </p:nvSpPr>
        <p:spPr>
          <a:xfrm>
            <a:off x="7115386" y="1469813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APL385 Unicode" panose="020B0709000202000203" pitchFamily="49" charset="0"/>
              </a:rPr>
              <a:t>new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898007A-0369-9E9C-39FD-7CE98489BC23}"/>
              </a:ext>
            </a:extLst>
          </p:cNvPr>
          <p:cNvCxnSpPr>
            <a:cxnSpLocks/>
            <a:endCxn id="7" idx="0"/>
          </p:cNvCxnSpPr>
          <p:nvPr/>
        </p:nvCxnSpPr>
        <p:spPr>
          <a:xfrm flipH="1">
            <a:off x="6662948" y="1848693"/>
            <a:ext cx="751558" cy="72305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4504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E9911C3-3DB8-DE9B-2E9F-AE4D38DB11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#</a:t>
            </a:r>
            <a:r>
              <a:rPr lang="en-GB" dirty="0"/>
              <a:t> is the root namespace that contains everything in the workspace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02E465B-B321-7BCB-6787-18AB9ABF2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Root Namespace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#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015FA0FB-5038-C2F7-73E2-7818606CFDE2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18780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AEDCBD9-876D-BB59-461B-B59E0F0A1A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⎕SE</a:t>
            </a:r>
            <a:r>
              <a:rPr lang="en-GB" dirty="0"/>
              <a:t> lives parallel to </a:t>
            </a:r>
            <a:r>
              <a:rPr lang="en-GB" dirty="0">
                <a:latin typeface="APL385 Unicode" panose="020B0709000202000203" pitchFamily="49" charset="0"/>
              </a:rPr>
              <a:t>#</a:t>
            </a:r>
            <a:r>
              <a:rPr lang="en-GB" dirty="0"/>
              <a:t> and contains IDE configuration and other tools</a:t>
            </a:r>
          </a:p>
          <a:p>
            <a:pPr marL="0" indent="0">
              <a:buNone/>
            </a:pPr>
            <a:r>
              <a:rPr lang="en-GB" dirty="0"/>
              <a:t>Its contents are in a session file </a:t>
            </a:r>
            <a:r>
              <a:rPr lang="en-GB" dirty="0">
                <a:solidFill>
                  <a:srgbClr val="FF6600"/>
                </a:solidFill>
              </a:rPr>
              <a:t>*.</a:t>
            </a:r>
            <a:r>
              <a:rPr lang="en-GB" dirty="0" err="1">
                <a:solidFill>
                  <a:srgbClr val="FF6600"/>
                </a:solidFill>
              </a:rPr>
              <a:t>dse</a:t>
            </a:r>
            <a:endParaRPr lang="en-GB" dirty="0">
              <a:solidFill>
                <a:srgbClr val="FF6600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5F2F570-8D58-5A8E-7176-FA037F5AC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Session Namespace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⎕SE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63AB6A96-7FDD-E6DE-01D2-9512E2DD8402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6EB3F5-5074-77F6-2855-A980228728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0424" y="2828049"/>
            <a:ext cx="3419952" cy="1762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1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559B920-DE79-076F-2832-C2D5B53F6C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⎕THIS</a:t>
            </a:r>
            <a:r>
              <a:rPr lang="en-GB" dirty="0"/>
              <a:t> is the namespace in which the current line of code is being run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FE132EB-4775-EC23-4141-8CD2A3655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400" dirty="0"/>
              <a:t>The Current Namespace (</a:t>
            </a:r>
            <a:r>
              <a:rPr lang="en-GB" sz="3400" dirty="0">
                <a:solidFill>
                  <a:srgbClr val="FF6600"/>
                </a:solidFill>
                <a:latin typeface="APL385 Unicode" panose="020B0709000202000203" pitchFamily="49" charset="0"/>
              </a:rPr>
              <a:t>⎕THIS</a:t>
            </a:r>
            <a:r>
              <a:rPr lang="en-GB" sz="3400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01998AD4-7894-6ABD-2A92-A9AA247DE249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07306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4CC9A-4812-B376-7ACF-3C28D958D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6406FA7-4632-ABBC-3570-4693077358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GB" dirty="0">
                <a:solidFill>
                  <a:schemeClr val="tx1"/>
                </a:solidFill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'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sub.utils'⎕NS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''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  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a←sub.utils</a:t>
            </a:r>
            <a:endParaRPr lang="en-GB" dirty="0">
              <a:solidFill>
                <a:srgbClr val="00B050"/>
              </a:solidFill>
              <a:latin typeface="APL385 Unicode" panose="020B0709000202000203" pitchFamily="49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solidFill>
                  <a:schemeClr val="tx1"/>
                </a:solidFill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⎕THIS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solidFill>
                  <a:schemeClr val="tx1"/>
                </a:solidFill>
                <a:latin typeface="APL385 Unicode" panose="020B0709000202000203" pitchFamily="49" charset="0"/>
              </a:rPr>
              <a:t>#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solidFill>
                  <a:schemeClr val="tx1"/>
                </a:solidFill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)CS sub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solidFill>
                  <a:schemeClr val="tx1"/>
                </a:solidFill>
                <a:latin typeface="APL385 Unicode" panose="020B0709000202000203" pitchFamily="49" charset="0"/>
              </a:rPr>
              <a:t>#.sub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solidFill>
                  <a:schemeClr val="tx1"/>
                </a:solidFill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⎕THIS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solidFill>
                  <a:schemeClr val="tx1"/>
                </a:solidFill>
                <a:latin typeface="APL385 Unicode" panose="020B0709000202000203" pitchFamily="49" charset="0"/>
              </a:rPr>
              <a:t>#.sub</a:t>
            </a:r>
          </a:p>
          <a:p>
            <a:pPr marL="0" indent="0">
              <a:spcAft>
                <a:spcPts val="0"/>
              </a:spcAft>
              <a:buNone/>
            </a:pPr>
            <a:endParaRPr lang="en-GB" dirty="0">
              <a:solidFill>
                <a:schemeClr val="tx1"/>
              </a:solidFill>
              <a:latin typeface="APL385 Unicode" panose="020B0709000202000203" pitchFamily="49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solidFill>
                  <a:schemeClr val="tx1"/>
                </a:solidFill>
                <a:latin typeface="+mj-lt"/>
              </a:rPr>
              <a:t>We can see if two references point to the same namespace using the match function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solidFill>
                  <a:schemeClr val="tx1"/>
                </a:solidFill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##.a ≡ utils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solidFill>
                  <a:schemeClr val="tx1"/>
                </a:solidFill>
                <a:latin typeface="APL385 Unicode" panose="020B0709000202000203" pitchFamily="49" charset="0"/>
              </a:rPr>
              <a:t>1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3E059EB-E152-1F14-A0B4-E5D021CA7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400" dirty="0"/>
              <a:t>The Current Namespace (</a:t>
            </a:r>
            <a:r>
              <a:rPr lang="en-GB" sz="3400" dirty="0">
                <a:solidFill>
                  <a:srgbClr val="FF6600"/>
                </a:solidFill>
                <a:latin typeface="APL385 Unicode" panose="020B0709000202000203" pitchFamily="49" charset="0"/>
              </a:rPr>
              <a:t>⎕THIS</a:t>
            </a:r>
            <a:r>
              <a:rPr lang="en-GB" sz="3400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8FDB199E-40AD-A693-CBFD-51BA3A5AD409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98746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5069B83-7204-F524-1903-230F1D1FFD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dirty="0"/>
              <a:t>Names can be referenced using a full path or a </a:t>
            </a:r>
            <a:r>
              <a:rPr lang="en-GB" b="1" i="1" dirty="0">
                <a:solidFill>
                  <a:srgbClr val="FF6600"/>
                </a:solidFill>
              </a:rPr>
              <a:t>relative</a:t>
            </a:r>
            <a:r>
              <a:rPr lang="en-GB" dirty="0"/>
              <a:t> path from the current location: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	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)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obs</a:t>
            </a:r>
            <a:endParaRPr lang="en-GB" dirty="0">
              <a:solidFill>
                <a:srgbClr val="00B050"/>
              </a:solidFill>
              <a:latin typeface="APL385 Unicode" panose="020B0709000202000203" pitchFamily="49" charset="0"/>
            </a:endParaRPr>
          </a:p>
          <a:p>
            <a:pPr marL="0" indent="0">
              <a:buNone/>
            </a:pPr>
            <a:r>
              <a:rPr lang="en-GB" dirty="0" err="1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bigstring</a:t>
            </a: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   </a:t>
            </a:r>
            <a:r>
              <a:rPr lang="en-GB" dirty="0" err="1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docum</a:t>
            </a:r>
            <a:endParaRPr lang="en-GB" dirty="0">
              <a:solidFill>
                <a:schemeClr val="accent3">
                  <a:lumMod val="50000"/>
                </a:schemeClr>
              </a:solidFill>
              <a:latin typeface="APL385 Unicode" panose="020B0709000202000203" pitchFamily="49" charset="0"/>
            </a:endParaRP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	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bigstring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.⎕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nl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-⍳9 </a:t>
            </a:r>
            <a:r>
              <a:rPr lang="en-GB" dirty="0">
                <a:solidFill>
                  <a:srgbClr val="DD6DCD"/>
                </a:solidFill>
                <a:latin typeface="APL385 Unicode" panose="020B0709000202000203" pitchFamily="49" charset="0"/>
              </a:rPr>
              <a:t>⍝ names in </a:t>
            </a:r>
            <a:r>
              <a:rPr lang="en-GB" dirty="0" err="1">
                <a:solidFill>
                  <a:srgbClr val="DD6DCD"/>
                </a:solidFill>
                <a:latin typeface="APL385 Unicode" panose="020B0709000202000203" pitchFamily="49" charset="0"/>
              </a:rPr>
              <a:t>bigstring</a:t>
            </a:r>
            <a:endParaRPr lang="en-GB" dirty="0">
              <a:solidFill>
                <a:srgbClr val="DD6DCD"/>
              </a:solidFill>
              <a:latin typeface="APL385 Unicode" panose="020B0709000202000203" pitchFamily="49" charset="0"/>
            </a:endParaRPr>
          </a:p>
          <a:p>
            <a:pPr marL="0" indent="0"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N    find1stQuotes    </a:t>
            </a:r>
            <a:r>
              <a:rPr lang="en-GB" dirty="0" err="1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fixQuote</a:t>
            </a: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 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	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bigstring.N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</a:t>
            </a:r>
            <a:r>
              <a:rPr lang="en-GB" dirty="0">
                <a:latin typeface="APL385 Unicode" panose="020B0709000202000203" pitchFamily="49" charset="0"/>
              </a:rPr>
              <a:t> </a:t>
            </a:r>
            <a:r>
              <a:rPr lang="en-GB" dirty="0">
                <a:solidFill>
                  <a:srgbClr val="DD6DCD"/>
                </a:solidFill>
                <a:latin typeface="APL385 Unicode" panose="020B0709000202000203" pitchFamily="49" charset="0"/>
              </a:rPr>
              <a:t>⍝ relative path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123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12C0527-DD76-0D14-7E47-41A985C1A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Namespace References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76A45CD4-B6FE-5E8A-AE69-7A0DA11EBC1B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52462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0A4C52E-CB04-1A55-4061-6E393ED6AE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7" y="1377777"/>
            <a:ext cx="8632405" cy="3129187"/>
          </a:xfrm>
        </p:spPr>
        <p:txBody>
          <a:bodyPr>
            <a:normAutofit fontScale="92500" lnSpcReduction="10000"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GB" dirty="0"/>
              <a:t>Names can be referenced using a </a:t>
            </a:r>
            <a:r>
              <a:rPr lang="en-GB" b="1" i="1" dirty="0">
                <a:solidFill>
                  <a:srgbClr val="FF6600"/>
                </a:solidFill>
              </a:rPr>
              <a:t>full</a:t>
            </a:r>
            <a:r>
              <a:rPr lang="en-GB" b="1" dirty="0">
                <a:solidFill>
                  <a:srgbClr val="FF0000"/>
                </a:solidFill>
              </a:rPr>
              <a:t> </a:t>
            </a:r>
            <a:r>
              <a:rPr lang="en-GB" dirty="0"/>
              <a:t>path.</a:t>
            </a:r>
          </a:p>
          <a:p>
            <a:pPr marL="0" indent="0">
              <a:spcAft>
                <a:spcPts val="0"/>
              </a:spcAft>
              <a:buNone/>
            </a:pPr>
            <a:endParaRPr lang="en-GB" dirty="0"/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	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)cs #.text      </a:t>
            </a:r>
            <a:r>
              <a:rPr lang="en-GB" dirty="0">
                <a:solidFill>
                  <a:srgbClr val="DD6DCD"/>
                </a:solidFill>
                <a:latin typeface="APL385 Unicode" panose="020B0709000202000203" pitchFamily="49" charset="0"/>
              </a:rPr>
              <a:t>⍝ move into #.text namespace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text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	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#.⎕nl-⍳9        </a:t>
            </a:r>
            <a:r>
              <a:rPr lang="en-GB" dirty="0">
                <a:solidFill>
                  <a:srgbClr val="DD6DCD"/>
                </a:solidFill>
                <a:latin typeface="APL385 Unicode" panose="020B0709000202000203" pitchFamily="49" charset="0"/>
              </a:rPr>
              <a:t>⍝ what in root?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 err="1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bigstring</a:t>
            </a: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		text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	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#.bigstring.N </a:t>
            </a:r>
            <a:r>
              <a:rPr lang="en-GB" dirty="0">
                <a:latin typeface="APL385 Unicode" panose="020B0709000202000203" pitchFamily="49" charset="0"/>
              </a:rPr>
              <a:t>  </a:t>
            </a:r>
            <a:r>
              <a:rPr lang="en-GB" dirty="0">
                <a:solidFill>
                  <a:srgbClr val="DD6DCD"/>
                </a:solidFill>
                <a:latin typeface="APL385 Unicode" panose="020B0709000202000203" pitchFamily="49" charset="0"/>
              </a:rPr>
              <a:t>⍝ FULL path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123</a:t>
            </a:r>
          </a:p>
          <a:p>
            <a:pPr marL="0" indent="0" algn="ctr">
              <a:spcAft>
                <a:spcPts val="0"/>
              </a:spcAft>
              <a:buNone/>
            </a:pPr>
            <a:r>
              <a:rPr lang="en-GB" dirty="0">
                <a:solidFill>
                  <a:schemeClr val="tx1"/>
                </a:solidFill>
              </a:rPr>
              <a:t>A full path starts with 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#</a:t>
            </a:r>
          </a:p>
          <a:p>
            <a:pPr marL="0" indent="0" algn="ctr">
              <a:spcAft>
                <a:spcPts val="0"/>
              </a:spcAft>
              <a:buNone/>
            </a:pPr>
            <a:r>
              <a:rPr lang="en-GB" dirty="0">
                <a:solidFill>
                  <a:schemeClr val="tx1"/>
                </a:solidFill>
              </a:rPr>
              <a:t>A relative path does not.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58A3E1C-AF2F-38B8-D351-86B5B17E9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Namespace References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85172B78-74A2-8F93-C2EB-3216FC7DB9CE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97786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7341A47-332B-B473-AE69-244E596CFC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⎕PATH</a:t>
            </a:r>
            <a:r>
              <a:rPr lang="en-GB" dirty="0"/>
              <a:t> defines a search path for functions found in other namespaces.</a:t>
            </a:r>
          </a:p>
          <a:p>
            <a:pPr marL="0" indent="0">
              <a:buNone/>
            </a:pPr>
            <a:r>
              <a:rPr lang="en-GB" dirty="0"/>
              <a:t>For example, if </a:t>
            </a:r>
            <a:r>
              <a:rPr lang="en-GB" dirty="0">
                <a:latin typeface="APL385 Unicode" panose="020B0709000202000203" pitchFamily="49" charset="0"/>
              </a:rPr>
              <a:t>#.Utils</a:t>
            </a:r>
            <a:r>
              <a:rPr lang="en-GB" dirty="0"/>
              <a:t> contains utility function Average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	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)cs  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myProject</a:t>
            </a:r>
            <a:endParaRPr lang="en-GB" dirty="0">
              <a:solidFill>
                <a:srgbClr val="00B050"/>
              </a:solidFill>
              <a:latin typeface="APL385 Unicode" panose="020B0709000202000203" pitchFamily="49" charset="0"/>
            </a:endParaRPr>
          </a:p>
          <a:p>
            <a:pPr marL="0" indent="0"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#.myProject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	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Average  ⍳99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APL385 Unicode" panose="020B0709000202000203" pitchFamily="49" charset="0"/>
              </a:rPr>
              <a:t>VALUE ERROR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	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⎕PATH←'#.Utils'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	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Average ⍳99   </a:t>
            </a:r>
            <a:r>
              <a:rPr lang="en-GB" dirty="0">
                <a:solidFill>
                  <a:srgbClr val="DD6DCD"/>
                </a:solidFill>
                <a:latin typeface="APL385 Unicode" panose="020B0709000202000203" pitchFamily="49" charset="0"/>
              </a:rPr>
              <a:t>⍝ finds it in #.Utils</a:t>
            </a:r>
          </a:p>
          <a:p>
            <a:pPr marL="0" indent="0">
              <a:buNone/>
            </a:pPr>
            <a:r>
              <a:rPr lang="en-GB" b="1" dirty="0">
                <a:solidFill>
                  <a:schemeClr val="tx2">
                    <a:lumMod val="95000"/>
                    <a:lumOff val="5000"/>
                  </a:schemeClr>
                </a:solidFill>
                <a:latin typeface="APL385 Unicode" panose="020B0709000202000203" pitchFamily="49" charset="0"/>
              </a:rPr>
              <a:t>50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E588C1-22C0-354A-CA98-29D8703A7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Search Path 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⎕PATH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E1B80A1F-312A-DFD4-800F-3F7F957D7074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585F18-3CBE-4137-DC37-EBD682ED1EEC}"/>
              </a:ext>
            </a:extLst>
          </p:cNvPr>
          <p:cNvSpPr txBox="1"/>
          <p:nvPr/>
        </p:nvSpPr>
        <p:spPr>
          <a:xfrm>
            <a:off x="5019472" y="2399489"/>
            <a:ext cx="3138792" cy="923330"/>
          </a:xfrm>
          <a:prstGeom prst="rect">
            <a:avLst/>
          </a:prstGeom>
          <a:solidFill>
            <a:schemeClr val="tx1"/>
          </a:solidFill>
          <a:ln w="28575">
            <a:solidFill>
              <a:srgbClr val="FF6600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Rich thinks it is better to make explicit references than to use </a:t>
            </a:r>
            <a:r>
              <a:rPr lang="en-GB" dirty="0">
                <a:solidFill>
                  <a:schemeClr val="bg1"/>
                </a:solidFill>
                <a:latin typeface="APL385 Unicode" panose="020B0709000202000203" pitchFamily="49" charset="0"/>
              </a:rPr>
              <a:t>⎕CS</a:t>
            </a:r>
            <a:r>
              <a:rPr lang="en-GB" dirty="0">
                <a:solidFill>
                  <a:schemeClr val="bg1"/>
                </a:solidFill>
              </a:rPr>
              <a:t> and </a:t>
            </a:r>
            <a:r>
              <a:rPr lang="en-GB" dirty="0">
                <a:solidFill>
                  <a:schemeClr val="bg1"/>
                </a:solidFill>
                <a:latin typeface="APL385 Unicode" panose="020B0709000202000203" pitchFamily="49" charset="0"/>
              </a:rPr>
              <a:t>⎕PATH</a:t>
            </a:r>
          </a:p>
        </p:txBody>
      </p:sp>
    </p:spTree>
    <p:extLst>
      <p:ext uri="{BB962C8B-B14F-4D97-AF65-F5344CB8AC3E}">
        <p14:creationId xmlns:p14="http://schemas.microsoft.com/office/powerpoint/2010/main" val="1519996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3B3C69F-1B3A-C120-032B-B557440315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GB" dirty="0"/>
              <a:t>Code within parentheses following a namespace reference is executed INSIDE the space: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	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#.bigstring.(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N←N+1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)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b="1" dirty="0">
                <a:solidFill>
                  <a:schemeClr val="tx1"/>
                </a:solidFill>
              </a:rPr>
              <a:t>Careful</a:t>
            </a:r>
            <a:r>
              <a:rPr lang="en-GB" dirty="0">
                <a:solidFill>
                  <a:schemeClr val="tx1"/>
                </a:solidFill>
              </a:rPr>
              <a:t>: Names in the current space are not visible when running code in another space:</a:t>
            </a:r>
          </a:p>
          <a:p>
            <a:pPr marL="0" indent="0">
              <a:spcAft>
                <a:spcPts val="0"/>
              </a:spcAft>
              <a:buNone/>
            </a:pPr>
            <a:b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GB" dirty="0">
                <a:solidFill>
                  <a:schemeClr val="tx1"/>
                </a:solidFill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MY←42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solidFill>
                  <a:schemeClr val="tx1"/>
                </a:solidFill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There.(2×MY)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solidFill>
                  <a:schemeClr val="tx1"/>
                </a:solidFill>
                <a:latin typeface="APL385 Unicode" panose="020B0709000202000203" pitchFamily="49" charset="0"/>
              </a:rPr>
              <a:t>VALUE ERROR: Undefined name: MY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solidFill>
                  <a:schemeClr val="tx1"/>
                </a:solidFill>
                <a:latin typeface="APL385 Unicode" panose="020B0709000202000203" pitchFamily="49" charset="0"/>
              </a:rPr>
              <a:t>      There.(2×MY)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solidFill>
                  <a:schemeClr val="tx1"/>
                </a:solidFill>
                <a:latin typeface="APL385 Unicode" panose="020B0709000202000203" pitchFamily="49" charset="0"/>
              </a:rPr>
              <a:t>               ∧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solidFill>
                  <a:schemeClr val="tx1"/>
                </a:solidFill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There.{2×⍵}MY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solidFill>
                  <a:schemeClr val="tx1"/>
                </a:solidFill>
                <a:latin typeface="APL385 Unicode" panose="020B0709000202000203" pitchFamily="49" charset="0"/>
              </a:rPr>
              <a:t>84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6E709A2-823D-D7ED-6220-7870BC2E0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Execution within a Namespace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75F4E63C-5689-E304-DF65-C51E43AC7DB4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0595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40A1EA-66E2-6A01-CA43-B18018BA4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en-GB" dirty="0"/>
              <a:t>Namespaces are like compartments within the workspace</a:t>
            </a:r>
          </a:p>
          <a:p>
            <a:pPr>
              <a:defRPr/>
            </a:pPr>
            <a:r>
              <a:rPr lang="en-GB" dirty="0"/>
              <a:t>Namespaces are created and manipulated with </a:t>
            </a:r>
            <a:r>
              <a:rPr lang="en-GB" dirty="0">
                <a:latin typeface="APL385 Unicode" panose="020B0709000202000203" pitchFamily="49" charset="0"/>
              </a:rPr>
              <a:t>⎕NS</a:t>
            </a:r>
          </a:p>
          <a:p>
            <a:pPr>
              <a:defRPr/>
            </a:pPr>
            <a:r>
              <a:rPr lang="en-GB" dirty="0"/>
              <a:t>The top namespace is called </a:t>
            </a:r>
            <a:r>
              <a:rPr lang="en-GB" dirty="0">
                <a:latin typeface="APL385 Unicode" panose="020B0709000202000203" pitchFamily="49" charset="0"/>
              </a:rPr>
              <a:t>#</a:t>
            </a:r>
          </a:p>
          <a:p>
            <a:pPr>
              <a:defRPr/>
            </a:pPr>
            <a:r>
              <a:rPr lang="en-GB" dirty="0"/>
              <a:t>The parent namespace is referred to as </a:t>
            </a:r>
            <a:r>
              <a:rPr lang="en-GB" dirty="0">
                <a:latin typeface="APL385 Unicode" panose="020B0709000202000203" pitchFamily="49" charset="0"/>
              </a:rPr>
              <a:t>##</a:t>
            </a:r>
          </a:p>
          <a:p>
            <a:pPr>
              <a:defRPr/>
            </a:pPr>
            <a:r>
              <a:rPr lang="en-GB" dirty="0"/>
              <a:t>Names can be referenced relatively or with a full path</a:t>
            </a:r>
          </a:p>
          <a:p>
            <a:pPr>
              <a:defRPr/>
            </a:pPr>
            <a:r>
              <a:rPr lang="en-GB" dirty="0"/>
              <a:t>Functions in another namespace can be accessed by using </a:t>
            </a:r>
            <a:r>
              <a:rPr lang="en-GB" dirty="0">
                <a:latin typeface="APL385 Unicode" panose="020B0709000202000203" pitchFamily="49" charset="0"/>
              </a:rPr>
              <a:t>⎕PATH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707F09B-1B0B-90D3-8899-C2750245C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Review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06DB4AF4-50F9-07CE-F68E-E44F5C0A8F9C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53893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158E8-2A57-CA61-55D4-A7379EB95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D090FE9-3741-0E28-FD94-51C48D4936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GB" dirty="0"/>
              <a:t>Code in parentheses following a dot is evaluated within the namespace(s) left of the dot</a:t>
            </a:r>
          </a:p>
          <a:p>
            <a:pPr>
              <a:defRPr/>
            </a:pPr>
            <a:r>
              <a:rPr lang="en-GB" dirty="0"/>
              <a:t>There is a special separate namespace named </a:t>
            </a:r>
            <a:r>
              <a:rPr lang="en-GB" dirty="0">
                <a:latin typeface="APL385 Unicode" panose="020B0709000202000203" pitchFamily="49" charset="0"/>
              </a:rPr>
              <a:t>⎕SE</a:t>
            </a:r>
            <a:r>
              <a:rPr lang="en-GB" dirty="0"/>
              <a:t> which holds the session objects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31FD2E8-F0E6-BEA9-5BC4-3FD6AAB8E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Review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97C11012-48CD-0F63-B7CC-8863E7A56ED3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76898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586F4C1-81F8-6DC3-FA00-5D228C350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Questions?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81DDC874-0DE0-3797-6F00-23827619C357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437BF5BD-7ABD-15FA-E9E8-5A88CD7E4597}"/>
              </a:ext>
            </a:extLst>
          </p:cNvPr>
          <p:cNvSpPr>
            <a:spLocks noGrp="1"/>
          </p:cNvSpPr>
          <p:nvPr>
            <p:ph idx="1"/>
          </p:nvPr>
        </p:nvSpPr>
        <p:spPr>
          <a:xfrm rot="5882920">
            <a:off x="323850" y="1377950"/>
            <a:ext cx="8461375" cy="31289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15000" dirty="0"/>
              <a:t>🤔</a:t>
            </a:r>
          </a:p>
        </p:txBody>
      </p:sp>
    </p:spTree>
    <p:extLst>
      <p:ext uri="{BB962C8B-B14F-4D97-AF65-F5344CB8AC3E}">
        <p14:creationId xmlns:p14="http://schemas.microsoft.com/office/powerpoint/2010/main" val="10542200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4DBEDD0-B9B4-1E76-1BD3-B9D106FFF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Create a namespace </a:t>
            </a:r>
            <a:r>
              <a:rPr lang="en-GB" dirty="0">
                <a:latin typeface="APL385 Unicode" panose="020B0709000202000203" pitchFamily="49" charset="0"/>
              </a:rPr>
              <a:t>N1</a:t>
            </a:r>
            <a:r>
              <a:rPr lang="en-GB" dirty="0"/>
              <a:t>, insert 2 numeric variables </a:t>
            </a:r>
            <a:r>
              <a:rPr lang="en-GB" dirty="0">
                <a:latin typeface="APL385 Unicode" panose="020B0709000202000203" pitchFamily="49" charset="0"/>
              </a:rPr>
              <a:t>A</a:t>
            </a:r>
            <a:r>
              <a:rPr lang="en-GB" dirty="0"/>
              <a:t> and </a:t>
            </a:r>
            <a:r>
              <a:rPr lang="en-GB" dirty="0">
                <a:latin typeface="APL385 Unicode" panose="020B0709000202000203" pitchFamily="49" charset="0"/>
              </a:rPr>
              <a:t>B</a:t>
            </a:r>
          </a:p>
          <a:p>
            <a:r>
              <a:rPr lang="en-GB" dirty="0"/>
              <a:t>List the variables in namespace </a:t>
            </a:r>
            <a:r>
              <a:rPr lang="en-GB" dirty="0">
                <a:latin typeface="APL385 Unicode" panose="020B0709000202000203" pitchFamily="49" charset="0"/>
              </a:rPr>
              <a:t>N1</a:t>
            </a:r>
          </a:p>
          <a:p>
            <a:r>
              <a:rPr lang="en-GB" dirty="0"/>
              <a:t>Using a dotted expression with parentheses make </a:t>
            </a:r>
            <a:r>
              <a:rPr lang="en-GB" dirty="0">
                <a:latin typeface="APL385 Unicode" panose="020B0709000202000203" pitchFamily="49" charset="0"/>
              </a:rPr>
              <a:t>C</a:t>
            </a:r>
            <a:r>
              <a:rPr lang="en-GB" dirty="0"/>
              <a:t> in </a:t>
            </a:r>
            <a:r>
              <a:rPr lang="en-GB" dirty="0">
                <a:latin typeface="APL385 Unicode" panose="020B0709000202000203" pitchFamily="49" charset="0"/>
              </a:rPr>
              <a:t>N1</a:t>
            </a:r>
            <a:r>
              <a:rPr lang="en-GB" dirty="0"/>
              <a:t> the sum of </a:t>
            </a:r>
            <a:r>
              <a:rPr lang="en-GB" dirty="0">
                <a:latin typeface="APL385 Unicode" panose="020B0709000202000203" pitchFamily="49" charset="0"/>
              </a:rPr>
              <a:t>A</a:t>
            </a:r>
            <a:r>
              <a:rPr lang="en-GB" dirty="0"/>
              <a:t> and </a:t>
            </a:r>
            <a:r>
              <a:rPr lang="en-GB" dirty="0">
                <a:latin typeface="APL385 Unicode" panose="020B0709000202000203" pitchFamily="49" charset="0"/>
              </a:rPr>
              <a:t>B</a:t>
            </a:r>
            <a:endParaRPr lang="en-GB" i="1" dirty="0">
              <a:latin typeface="APL385 Unicode" panose="020B0709000202000203" pitchFamily="49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96E2D8E-5F53-8452-E8AF-B6AFA083E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38447D75-ED56-EAD1-3353-7C69D072A96F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67127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B56BA23-197D-D423-3CBB-5BC4941903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Namespaces have name class 9</a:t>
            </a:r>
          </a:p>
          <a:p>
            <a:pPr marL="0" indent="0">
              <a:buNone/>
            </a:pPr>
            <a:r>
              <a:rPr lang="en-GB" dirty="0"/>
              <a:t>Namespaces in </a:t>
            </a:r>
            <a:r>
              <a:rPr lang="en-GB" dirty="0">
                <a:latin typeface="APL385 Unicode" panose="020B0709000202000203" pitchFamily="49" charset="0"/>
              </a:rPr>
              <a:t>⎕THIS</a:t>
            </a:r>
            <a:r>
              <a:rPr lang="en-GB" dirty="0"/>
              <a:t> can be viewed using:</a:t>
            </a:r>
          </a:p>
          <a:p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)OBS</a:t>
            </a:r>
            <a:r>
              <a:rPr lang="en-GB" dirty="0"/>
              <a:t> or 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)OBJECTS</a:t>
            </a:r>
            <a:r>
              <a:rPr lang="en-GB" dirty="0"/>
              <a:t> system commands</a:t>
            </a:r>
          </a:p>
          <a:p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⎕NL 9</a:t>
            </a:r>
          </a:p>
          <a:p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]Names 9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6E7CF7F-ABB8-A306-3A2B-258E5AFE5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Namespace References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163DEFEC-11EE-1720-DF41-747DCBAFE4C7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54048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7BE4B91-88DA-F6EB-34F9-EE0BA2B6DA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lang="en-GB" dirty="0"/>
              <a:t>Namespace references are simple scalars.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≡sub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0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≢⍴sub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0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2 2⍴sub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 #.sub  #.sub 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GB" dirty="0">
                <a:latin typeface="APL385 Unicode" panose="020B0709000202000203" pitchFamily="49" charset="0"/>
              </a:rPr>
              <a:t> #.sub  #.sub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C2E046D-4FC0-13DF-F10F-C0FE07651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Namespace References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4D761AB2-CD75-D9CA-9809-A094B1D3B4BD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04181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E62F09A-4B76-2491-D1C5-3B956B8BC8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Create with 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⎕NS</a:t>
            </a:r>
          </a:p>
          <a:p>
            <a:pPr marL="0" indent="0">
              <a:buNone/>
            </a:pPr>
            <a:r>
              <a:rPr lang="en-GB" dirty="0">
                <a:solidFill>
                  <a:schemeClr val="tx1"/>
                </a:solidFill>
                <a:latin typeface="+mj-lt"/>
              </a:rPr>
              <a:t>Dyadic </a:t>
            </a:r>
            <a:r>
              <a:rPr lang="en-GB" dirty="0">
                <a:solidFill>
                  <a:schemeClr val="tx1"/>
                </a:solidFill>
                <a:latin typeface="APL385 Unicode" panose="020B0709000202000203" pitchFamily="49" charset="0"/>
              </a:rPr>
              <a:t>⎕NS</a:t>
            </a:r>
            <a:r>
              <a:rPr lang="en-GB" dirty="0">
                <a:solidFill>
                  <a:schemeClr val="tx1"/>
                </a:solidFill>
                <a:latin typeface="+mj-lt"/>
              </a:rPr>
              <a:t> creates a named namespace</a:t>
            </a:r>
          </a:p>
          <a:p>
            <a:pPr marL="0" indent="0">
              <a:buNone/>
            </a:pPr>
            <a:r>
              <a:rPr lang="en-GB" dirty="0">
                <a:solidFill>
                  <a:schemeClr val="tx1"/>
                </a:solidFill>
                <a:latin typeface="APL385 Unicode" panose="020B0709000202000203" pitchFamily="49" charset="0"/>
              </a:rPr>
              <a:t>      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⎕←'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myNS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'⎕NS''</a:t>
            </a:r>
          </a:p>
          <a:p>
            <a:pPr marL="0" indent="0">
              <a:buNone/>
            </a:pPr>
            <a:r>
              <a:rPr lang="en-GB" dirty="0">
                <a:solidFill>
                  <a:schemeClr val="tx1"/>
                </a:solidFill>
                <a:latin typeface="APL385 Unicode" panose="020B0709000202000203" pitchFamily="49" charset="0"/>
              </a:rPr>
              <a:t>#.myNS</a:t>
            </a:r>
          </a:p>
          <a:p>
            <a:pPr marL="0" indent="0">
              <a:buNone/>
            </a:pPr>
            <a:r>
              <a:rPr lang="en-GB" dirty="0">
                <a:solidFill>
                  <a:schemeClr val="tx1"/>
                </a:solidFill>
              </a:rPr>
              <a:t>The result of dyadic </a:t>
            </a:r>
            <a:r>
              <a:rPr lang="en-GB" dirty="0">
                <a:solidFill>
                  <a:schemeClr val="tx1"/>
                </a:solidFill>
                <a:latin typeface="APL385 Unicode" panose="020B0709000202000203" pitchFamily="49" charset="0"/>
              </a:rPr>
              <a:t>⎕NS</a:t>
            </a:r>
            <a:r>
              <a:rPr lang="en-GB" dirty="0">
                <a:solidFill>
                  <a:schemeClr val="tx1"/>
                </a:solidFill>
              </a:rPr>
              <a:t> is a character vector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6E444B5-A075-052E-AF5E-91F0B4D76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Namespaces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E24C043A-824A-AA7B-ED12-A5DE6F8A92E9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95911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B955E99-2ECF-A961-0497-93C2AAAC7F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Monadic </a:t>
            </a:r>
            <a:r>
              <a:rPr lang="en-GB" dirty="0">
                <a:latin typeface="APL385 Unicode" panose="020B0709000202000203" pitchFamily="49" charset="0"/>
              </a:rPr>
              <a:t>⎕NS</a:t>
            </a:r>
            <a:r>
              <a:rPr lang="en-GB" dirty="0"/>
              <a:t> will create a namespace without a name:</a:t>
            </a:r>
          </a:p>
          <a:p>
            <a:pPr marL="0" indent="0"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	⎕← new← ⎕NS ''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#.[Namespace]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	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⎕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nc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'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myNs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' 'new'</a:t>
            </a:r>
          </a:p>
          <a:p>
            <a:pPr marL="0" indent="0">
              <a:buNone/>
            </a:pPr>
            <a:r>
              <a:rPr lang="en-GB" dirty="0">
                <a:latin typeface="APL385 Unicode" panose="020B0709000202000203" pitchFamily="49" charset="0"/>
              </a:rPr>
              <a:t>9.1  9.1</a:t>
            </a:r>
          </a:p>
          <a:p>
            <a:pPr marL="0" indent="0">
              <a:buNone/>
            </a:pPr>
            <a:r>
              <a:rPr lang="en-GB" dirty="0"/>
              <a:t>The result of dyadic </a:t>
            </a:r>
            <a:r>
              <a:rPr lang="en-GB" dirty="0">
                <a:latin typeface="APL385 Unicode" panose="020B0709000202000203" pitchFamily="49" charset="0"/>
              </a:rPr>
              <a:t>⎕NS</a:t>
            </a:r>
            <a:r>
              <a:rPr lang="en-GB" dirty="0"/>
              <a:t> is a scalar reference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A8EFACA-7BE2-FD67-FCE8-F6DFAC3E1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Namespaces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2D7A31EF-AFBD-E465-9759-EE82863FB975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56355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E1BBB6C-A06F-1172-7AA4-110CCE49A2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lang="en-GB" sz="1800" dirty="0">
                <a:latin typeface="APL385 Unicode" panose="020B0709000202000203" pitchFamily="49" charset="0"/>
              </a:rPr>
              <a:t>      </a:t>
            </a:r>
            <a:r>
              <a:rPr lang="en-GB" sz="1800" dirty="0">
                <a:solidFill>
                  <a:srgbClr val="00B050"/>
                </a:solidFill>
                <a:latin typeface="APL385 Unicode" panose="020B0709000202000203" pitchFamily="49" charset="0"/>
              </a:rPr>
              <a:t>user ← ⎕NS¨4⍴⊂''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GB" sz="1800" dirty="0">
                <a:solidFill>
                  <a:srgbClr val="00B050"/>
                </a:solidFill>
                <a:latin typeface="APL385 Unicode" panose="020B0709000202000203" pitchFamily="49" charset="0"/>
              </a:rPr>
              <a:t>      user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GB" sz="1800" dirty="0">
                <a:latin typeface="APL385 Unicode" panose="020B0709000202000203" pitchFamily="49" charset="0"/>
              </a:rPr>
              <a:t> #.[Namespace]  #.[Namespace]  #.[Namespace]  #.[Namespace] 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GB" sz="1800" dirty="0">
                <a:solidFill>
                  <a:srgbClr val="00B050"/>
                </a:solidFill>
                <a:latin typeface="APL385 Unicode" panose="020B0709000202000203" pitchFamily="49" charset="0"/>
              </a:rPr>
              <a:t>      user.name ← 'Abbie' 'Bobby' 'Charlie' 'Dave'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GB" sz="1800" dirty="0">
                <a:solidFill>
                  <a:srgbClr val="00B050"/>
                </a:solidFill>
                <a:latin typeface="APL385 Unicode" panose="020B0709000202000203" pitchFamily="49" charset="0"/>
              </a:rPr>
              <a:t>      user.id ← ?4⍴10</a:t>
            </a:r>
          </a:p>
          <a:p>
            <a:pPr marL="0" indent="0">
              <a:buNone/>
            </a:pPr>
            <a:endParaRPr lang="en-GB" sz="1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AAEBC42-EDBC-52F7-AE34-9599F1EB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Arrays of Namespaces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82DC748C-1461-D8C1-5225-27050908AC84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3223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321F0-623C-CF79-AE74-195DB99BF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CCED129-75AE-2C3C-F026-3F997E5428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lang="en-GB" sz="1800" dirty="0">
                <a:latin typeface="APL385 Unicode" panose="020B0709000202000203" pitchFamily="49" charset="0"/>
              </a:rPr>
              <a:t>      </a:t>
            </a:r>
            <a:r>
              <a:rPr lang="en-GB" sz="1800" dirty="0">
                <a:solidFill>
                  <a:srgbClr val="00B050"/>
                </a:solidFill>
                <a:latin typeface="APL385 Unicode" panose="020B0709000202000203" pitchFamily="49" charset="0"/>
              </a:rPr>
              <a:t>user[1 2 4].goo ← 1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GB" sz="1800" dirty="0">
                <a:solidFill>
                  <a:srgbClr val="00B050"/>
                </a:solidFill>
                <a:latin typeface="APL385 Unicode" panose="020B0709000202000203" pitchFamily="49" charset="0"/>
              </a:rPr>
              <a:t>      user[3].name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GB" sz="1800" dirty="0">
                <a:latin typeface="APL385 Unicode" panose="020B0709000202000203" pitchFamily="49" charset="0"/>
              </a:rPr>
              <a:t>Charlie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GB" sz="1800" dirty="0">
                <a:latin typeface="APL385 Unicode" panose="020B0709000202000203" pitchFamily="49" charset="0"/>
              </a:rPr>
              <a:t>      </a:t>
            </a:r>
            <a:r>
              <a:rPr lang="en-GB" sz="1800" dirty="0">
                <a:solidFill>
                  <a:srgbClr val="00B050"/>
                </a:solidFill>
                <a:latin typeface="APL385 Unicode" panose="020B0709000202000203" pitchFamily="49" charset="0"/>
              </a:rPr>
              <a:t>user.name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GB" sz="1800" dirty="0">
                <a:latin typeface="APL385 Unicode" panose="020B0709000202000203" pitchFamily="49" charset="0"/>
              </a:rPr>
              <a:t>┌─────┬─────┬───────┬────┐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GB" sz="1800" dirty="0">
                <a:latin typeface="APL385 Unicode" panose="020B0709000202000203" pitchFamily="49" charset="0"/>
              </a:rPr>
              <a:t>│</a:t>
            </a:r>
            <a:r>
              <a:rPr lang="en-GB" sz="1800" dirty="0" err="1">
                <a:latin typeface="APL385 Unicode" panose="020B0709000202000203" pitchFamily="49" charset="0"/>
              </a:rPr>
              <a:t>Abbie│Bobby│Charlie│Dave</a:t>
            </a:r>
            <a:r>
              <a:rPr lang="en-GB" sz="1800" dirty="0">
                <a:latin typeface="APL385 Unicode" panose="020B0709000202000203" pitchFamily="49" charset="0"/>
              </a:rPr>
              <a:t>│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GB" sz="1800" dirty="0">
                <a:latin typeface="APL385 Unicode" panose="020B0709000202000203" pitchFamily="49" charset="0"/>
              </a:rPr>
              <a:t>└─────┴─────┴───────┴────┘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GB" sz="1800" dirty="0">
                <a:latin typeface="APL385 Unicode" panose="020B0709000202000203" pitchFamily="49" charset="0"/>
              </a:rPr>
              <a:t>      </a:t>
            </a:r>
            <a:r>
              <a:rPr lang="en-GB" sz="1800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user.goo</a:t>
            </a:r>
            <a:endParaRPr lang="en-GB" sz="1800" dirty="0">
              <a:solidFill>
                <a:srgbClr val="00B050"/>
              </a:solidFill>
              <a:latin typeface="APL385 Unicode" panose="020B0709000202000203" pitchFamily="49" charset="0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GB" sz="1800" dirty="0">
                <a:latin typeface="APL385 Unicode" panose="020B0709000202000203" pitchFamily="49" charset="0"/>
              </a:rPr>
              <a:t>VALUE ERROR: Undefined name: goo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GB" sz="1800" dirty="0">
                <a:latin typeface="APL385 Unicode" panose="020B0709000202000203" pitchFamily="49" charset="0"/>
              </a:rPr>
              <a:t>      </a:t>
            </a:r>
            <a:r>
              <a:rPr lang="en-GB" sz="1800" dirty="0" err="1">
                <a:latin typeface="APL385 Unicode" panose="020B0709000202000203" pitchFamily="49" charset="0"/>
              </a:rPr>
              <a:t>user.goo</a:t>
            </a:r>
            <a:endParaRPr lang="en-GB" sz="1800" dirty="0">
              <a:latin typeface="APL385 Unicode" panose="020B0709000202000203" pitchFamily="49" charset="0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GB" sz="1800" dirty="0">
                <a:latin typeface="APL385 Unicode" panose="020B0709000202000203" pitchFamily="49" charset="0"/>
              </a:rPr>
              <a:t>           ∧</a:t>
            </a:r>
            <a:endParaRPr lang="en-GB" sz="1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B349484-2BA7-995E-C90E-1137C6D95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Arrays of Namespaces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F191AA19-5F9C-4BEE-8EF4-4CCC7A914604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30889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4D02EE5-1D60-5137-CD71-F8402E5174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da-DK" dirty="0"/>
              <a:t>The </a:t>
            </a:r>
            <a:r>
              <a:rPr lang="da-DK" dirty="0">
                <a:solidFill>
                  <a:srgbClr val="FF6600"/>
                </a:solidFill>
                <a:latin typeface="APL385 Unicode" panose="020B0709000202000203" pitchFamily="49" charset="0"/>
              </a:rPr>
              <a:t>⎕CS</a:t>
            </a:r>
            <a:r>
              <a:rPr lang="da-DK" dirty="0"/>
              <a:t> system function allows you to change into a new space.</a:t>
            </a:r>
          </a:p>
          <a:p>
            <a:pPr marL="0" indent="0">
              <a:buNone/>
            </a:pPr>
            <a:r>
              <a:rPr lang="da-DK" dirty="0"/>
              <a:t>As does the </a:t>
            </a:r>
            <a:r>
              <a:rPr lang="da-DK" dirty="0">
                <a:solidFill>
                  <a:srgbClr val="FF6600"/>
                </a:solidFill>
                <a:latin typeface="APL385 Unicode" panose="020B0709000202000203" pitchFamily="49" charset="0"/>
              </a:rPr>
              <a:t>:With</a:t>
            </a:r>
            <a:r>
              <a:rPr lang="da-DK" dirty="0"/>
              <a:t> control structure:</a:t>
            </a:r>
          </a:p>
          <a:p>
            <a:pPr marL="0" indent="0">
              <a:buNone/>
            </a:pPr>
            <a:r>
              <a:rPr lang="da-DK" dirty="0">
                <a:solidFill>
                  <a:srgbClr val="00B050"/>
                </a:solidFill>
                <a:latin typeface="APL385 Unicode" panose="020B0709000202000203" pitchFamily="49" charset="0"/>
              </a:rPr>
              <a:t>   ∇ MyFoo;R</a:t>
            </a:r>
            <a:br>
              <a:rPr lang="da-DK" dirty="0">
                <a:solidFill>
                  <a:srgbClr val="00B050"/>
                </a:solidFill>
                <a:latin typeface="APL385 Unicode" panose="020B0709000202000203" pitchFamily="49" charset="0"/>
              </a:rPr>
            </a:br>
            <a:r>
              <a:rPr lang="da-DK" dirty="0">
                <a:solidFill>
                  <a:srgbClr val="00B050"/>
                </a:solidFill>
                <a:latin typeface="APL385 Unicode" panose="020B0709000202000203" pitchFamily="49" charset="0"/>
              </a:rPr>
              <a:t>[1] R←'   hello'</a:t>
            </a:r>
          </a:p>
          <a:p>
            <a:pPr marL="0" indent="0">
              <a:buNone/>
            </a:pPr>
            <a:r>
              <a:rPr lang="da-DK" dirty="0">
                <a:solidFill>
                  <a:srgbClr val="00B050"/>
                </a:solidFill>
                <a:latin typeface="APL385 Unicode" panose="020B0709000202000203" pitchFamily="49" charset="0"/>
              </a:rPr>
              <a:t>[2] :With #.Utils</a:t>
            </a:r>
          </a:p>
          <a:p>
            <a:pPr marL="0" indent="0">
              <a:buNone/>
            </a:pPr>
            <a:r>
              <a:rPr lang="da-DK" dirty="0">
                <a:solidFill>
                  <a:srgbClr val="00B050"/>
                </a:solidFill>
                <a:latin typeface="APL385 Unicode" panose="020B0709000202000203" pitchFamily="49" charset="0"/>
              </a:rPr>
              <a:t>[3]     R←dlb R</a:t>
            </a:r>
          </a:p>
          <a:p>
            <a:pPr marL="0" indent="0">
              <a:buNone/>
            </a:pPr>
            <a:r>
              <a:rPr lang="da-DK" dirty="0">
                <a:solidFill>
                  <a:srgbClr val="00B050"/>
                </a:solidFill>
                <a:latin typeface="APL385 Unicode" panose="020B0709000202000203" pitchFamily="49" charset="0"/>
              </a:rPr>
              <a:t>[4] :EndWith</a:t>
            </a:r>
          </a:p>
          <a:p>
            <a:pPr marL="0" indent="0">
              <a:buNone/>
            </a:pPr>
            <a:r>
              <a:rPr lang="da-DK" dirty="0">
                <a:solidFill>
                  <a:srgbClr val="00B050"/>
                </a:solidFill>
                <a:latin typeface="APL385 Unicode" panose="020B0709000202000203" pitchFamily="49" charset="0"/>
              </a:rPr>
              <a:t>   ∇</a:t>
            </a:r>
          </a:p>
          <a:p>
            <a:pPr marL="0" indent="0">
              <a:buNone/>
            </a:pPr>
            <a:r>
              <a:rPr lang="da-DK" b="1" dirty="0">
                <a:solidFill>
                  <a:srgbClr val="FF6600"/>
                </a:solidFill>
                <a:latin typeface="APL385 Unicode" panose="020B0709000202000203" pitchFamily="49" charset="0"/>
              </a:rPr>
              <a:t>:With</a:t>
            </a:r>
            <a:r>
              <a:rPr lang="da-DK" dirty="0"/>
              <a:t> temporarily copies local variables (except refs) into the target space.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3D0CD09-0117-A834-B1D6-AFC1E3A83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:With</a:t>
            </a:r>
            <a:r>
              <a:rPr lang="en-GB" dirty="0">
                <a:solidFill>
                  <a:srgbClr val="FF6600"/>
                </a:solidFill>
              </a:rPr>
              <a:t> </a:t>
            </a:r>
            <a:r>
              <a:rPr lang="en-GB" dirty="0"/>
              <a:t>and 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⎕CS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3127B170-216E-9B99-8370-83E682BC5E56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96416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B9C4E-BC14-FF85-B990-53C3F82BB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AC945E1-EC49-E9E1-71B5-B226F290C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da-DK" dirty="0"/>
              <a:t>Morten thinks </a:t>
            </a:r>
            <a:r>
              <a:rPr lang="da-DK" dirty="0">
                <a:latin typeface="APL385 Unicode" panose="020B0709000202000203" pitchFamily="49" charset="0"/>
              </a:rPr>
              <a:t>:With </a:t>
            </a:r>
            <a:r>
              <a:rPr lang="da-DK" dirty="0"/>
              <a:t>and </a:t>
            </a:r>
            <a:r>
              <a:rPr lang="da-DK" dirty="0">
                <a:latin typeface="APL385 Unicode" panose="020B0709000202000203" pitchFamily="49" charset="0"/>
              </a:rPr>
              <a:t>⎕CS</a:t>
            </a:r>
            <a:r>
              <a:rPr lang="da-DK" dirty="0"/>
              <a:t> are too clever. He recommends:</a:t>
            </a:r>
            <a:br>
              <a:rPr lang="da-DK" dirty="0"/>
            </a:br>
            <a:r>
              <a:rPr lang="da-DK" dirty="0">
                <a:solidFill>
                  <a:srgbClr val="00B050"/>
                </a:solidFill>
                <a:latin typeface="APL385 Unicode" panose="020B0709000202000203" pitchFamily="49" charset="0"/>
              </a:rPr>
              <a:t>      U←#.Utils</a:t>
            </a:r>
            <a:br>
              <a:rPr lang="da-DK" dirty="0">
                <a:solidFill>
                  <a:srgbClr val="00B050"/>
                </a:solidFill>
                <a:latin typeface="APL385 Unicode" panose="020B0709000202000203" pitchFamily="49" charset="0"/>
              </a:rPr>
            </a:br>
            <a:r>
              <a:rPr lang="da-DK" dirty="0">
                <a:solidFill>
                  <a:srgbClr val="00B050"/>
                </a:solidFill>
                <a:latin typeface="APL385 Unicode" panose="020B0709000202000203" pitchFamily="49" charset="0"/>
              </a:rPr>
              <a:t>      R←U.dlb R</a:t>
            </a:r>
            <a:br>
              <a:rPr lang="da-DK" dirty="0">
                <a:solidFill>
                  <a:srgbClr val="00B050"/>
                </a:solidFill>
                <a:latin typeface="APL385 Unicode" panose="020B0709000202000203" pitchFamily="49" charset="0"/>
              </a:rPr>
            </a:br>
            <a:r>
              <a:rPr lang="da-DK" dirty="0"/>
              <a:t>... or using </a:t>
            </a:r>
            <a:r>
              <a:rPr lang="da-DK" dirty="0">
                <a:latin typeface="APL385 Unicode" panose="020B0709000202000203" pitchFamily="49" charset="0"/>
              </a:rPr>
              <a:t>⎕PATH</a:t>
            </a:r>
            <a:r>
              <a:rPr lang="da-DK" dirty="0"/>
              <a:t> to reach utilities.</a:t>
            </a:r>
          </a:p>
          <a:p>
            <a:pPr marL="0" indent="0">
              <a:buNone/>
            </a:pPr>
            <a:r>
              <a:rPr lang="da-DK" dirty="0">
                <a:solidFill>
                  <a:schemeClr val="tx1"/>
                </a:solidFill>
              </a:rPr>
              <a:t>:With was invented for creating or working with GUI:</a:t>
            </a:r>
            <a:br>
              <a:rPr lang="da-DK" dirty="0">
                <a:solidFill>
                  <a:schemeClr val="tx1"/>
                </a:solidFill>
              </a:rPr>
            </a:br>
            <a:r>
              <a:rPr lang="da-DK" dirty="0">
                <a:solidFill>
                  <a:srgbClr val="00B050"/>
                </a:solidFill>
                <a:latin typeface="APL385 Unicode" panose="020B0709000202000203" pitchFamily="49" charset="0"/>
              </a:rPr>
              <a:t>      ∇ make caption</a:t>
            </a:r>
            <a:br>
              <a:rPr lang="da-DK" dirty="0">
                <a:solidFill>
                  <a:srgbClr val="00B050"/>
                </a:solidFill>
                <a:latin typeface="APL385 Unicode" panose="020B0709000202000203" pitchFamily="49" charset="0"/>
              </a:rPr>
            </a:br>
            <a:r>
              <a:rPr lang="da-DK" dirty="0">
                <a:solidFill>
                  <a:srgbClr val="00B050"/>
                </a:solidFill>
                <a:latin typeface="APL385 Unicode" panose="020B0709000202000203" pitchFamily="49" charset="0"/>
              </a:rPr>
              <a:t>[1]    :With 'MyForm' ⎕WC 'Form'</a:t>
            </a:r>
            <a:br>
              <a:rPr lang="da-DK" dirty="0">
                <a:solidFill>
                  <a:srgbClr val="00B050"/>
                </a:solidFill>
                <a:latin typeface="APL385 Unicode" panose="020B0709000202000203" pitchFamily="49" charset="0"/>
              </a:rPr>
            </a:br>
            <a:r>
              <a:rPr lang="da-DK" dirty="0">
                <a:solidFill>
                  <a:srgbClr val="00B050"/>
                </a:solidFill>
                <a:latin typeface="APL385 Unicode" panose="020B0709000202000203" pitchFamily="49" charset="0"/>
              </a:rPr>
              <a:t>[2]        Caption←caption</a:t>
            </a:r>
            <a:br>
              <a:rPr lang="da-DK" dirty="0">
                <a:solidFill>
                  <a:srgbClr val="00B050"/>
                </a:solidFill>
                <a:latin typeface="APL385 Unicode" panose="020B0709000202000203" pitchFamily="49" charset="0"/>
              </a:rPr>
            </a:br>
            <a:r>
              <a:rPr lang="da-DK" dirty="0">
                <a:solidFill>
                  <a:srgbClr val="00B050"/>
                </a:solidFill>
                <a:latin typeface="APL385 Unicode" panose="020B0709000202000203" pitchFamily="49" charset="0"/>
              </a:rPr>
              <a:t>[3]        Coord←'Pixel'</a:t>
            </a:r>
            <a:br>
              <a:rPr lang="da-DK" dirty="0">
                <a:solidFill>
                  <a:srgbClr val="00B050"/>
                </a:solidFill>
                <a:latin typeface="APL385 Unicode" panose="020B0709000202000203" pitchFamily="49" charset="0"/>
              </a:rPr>
            </a:br>
            <a:r>
              <a:rPr lang="da-DK" dirty="0">
                <a:solidFill>
                  <a:srgbClr val="00B050"/>
                </a:solidFill>
                <a:latin typeface="APL385 Unicode" panose="020B0709000202000203" pitchFamily="49" charset="0"/>
              </a:rPr>
              <a:t>[4]        Size←400 800 ⋄ Posn←20 30</a:t>
            </a:r>
            <a:br>
              <a:rPr lang="da-DK" dirty="0">
                <a:solidFill>
                  <a:srgbClr val="00B050"/>
                </a:solidFill>
                <a:latin typeface="APL385 Unicode" panose="020B0709000202000203" pitchFamily="49" charset="0"/>
              </a:rPr>
            </a:br>
            <a:r>
              <a:rPr lang="da-DK" dirty="0">
                <a:solidFill>
                  <a:srgbClr val="00B050"/>
                </a:solidFill>
                <a:latin typeface="APL385 Unicode" panose="020B0709000202000203" pitchFamily="49" charset="0"/>
              </a:rPr>
              <a:t>[5]        onClose←'HandleClose'</a:t>
            </a:r>
            <a:br>
              <a:rPr lang="da-DK" dirty="0">
                <a:solidFill>
                  <a:srgbClr val="00B050"/>
                </a:solidFill>
                <a:latin typeface="APL385 Unicode" panose="020B0709000202000203" pitchFamily="49" charset="0"/>
              </a:rPr>
            </a:br>
            <a:r>
              <a:rPr lang="da-DK" dirty="0">
                <a:solidFill>
                  <a:srgbClr val="00B050"/>
                </a:solidFill>
                <a:latin typeface="APL385 Unicode" panose="020B0709000202000203" pitchFamily="49" charset="0"/>
              </a:rPr>
              <a:t>...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FEA6F6A-FEF3-89DD-23BE-83458F2E5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:With</a:t>
            </a:r>
            <a:r>
              <a:rPr lang="en-GB" dirty="0">
                <a:solidFill>
                  <a:srgbClr val="FF6600"/>
                </a:solidFill>
              </a:rPr>
              <a:t> </a:t>
            </a:r>
            <a:r>
              <a:rPr lang="en-GB" dirty="0"/>
              <a:t>and </a:t>
            </a:r>
            <a:r>
              <a:rPr lang="en-GB" dirty="0">
                <a:solidFill>
                  <a:srgbClr val="FF6600"/>
                </a:solidFill>
                <a:latin typeface="APL385 Unicode" panose="020B0709000202000203" pitchFamily="49" charset="0"/>
              </a:rPr>
              <a:t>⎕CS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A02564B6-3E76-511C-A862-195A75B52EE7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811997-6CF6-53BC-17D3-FDFA7B4837A1}"/>
              </a:ext>
            </a:extLst>
          </p:cNvPr>
          <p:cNvSpPr txBox="1"/>
          <p:nvPr/>
        </p:nvSpPr>
        <p:spPr>
          <a:xfrm>
            <a:off x="5836595" y="2846961"/>
            <a:ext cx="3138792" cy="923330"/>
          </a:xfrm>
          <a:prstGeom prst="rect">
            <a:avLst/>
          </a:prstGeom>
          <a:solidFill>
            <a:schemeClr val="tx1"/>
          </a:solidFill>
          <a:ln w="28575">
            <a:solidFill>
              <a:srgbClr val="FF6600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Rich thinks it is better to make explicit references than to use </a:t>
            </a:r>
            <a:r>
              <a:rPr lang="en-GB" dirty="0">
                <a:solidFill>
                  <a:schemeClr val="bg1"/>
                </a:solidFill>
                <a:latin typeface="APL385 Unicode" panose="020B0709000202000203" pitchFamily="49" charset="0"/>
              </a:rPr>
              <a:t>⎕CS</a:t>
            </a:r>
            <a:r>
              <a:rPr lang="en-GB" dirty="0">
                <a:solidFill>
                  <a:schemeClr val="bg1"/>
                </a:solidFill>
              </a:rPr>
              <a:t> and </a:t>
            </a:r>
            <a:r>
              <a:rPr lang="en-GB" dirty="0">
                <a:solidFill>
                  <a:schemeClr val="bg1"/>
                </a:solidFill>
                <a:latin typeface="APL385 Unicode" panose="020B0709000202000203" pitchFamily="49" charset="0"/>
              </a:rPr>
              <a:t>⎕PATH</a:t>
            </a:r>
          </a:p>
        </p:txBody>
      </p:sp>
    </p:spTree>
    <p:extLst>
      <p:ext uri="{BB962C8B-B14F-4D97-AF65-F5344CB8AC3E}">
        <p14:creationId xmlns:p14="http://schemas.microsoft.com/office/powerpoint/2010/main" val="2806734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1056D4F-EB69-0D16-88BC-363C78A244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Calling a function in another namespace changes context to that namespace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188A34C-944D-D575-B9A9-764994158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Stack and Namespaces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55B574B8-C64F-59F7-0499-AC23353A4EB9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288596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11064-4147-5A3D-48AC-96F568201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78B433C-7009-7D4C-C665-1FFEF1E1E2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GB" dirty="0"/>
              <a:t>Calling a function in another namespace changes context to that namespace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  '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Utils'⎕NS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''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  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Utils.Sum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←{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   +/⍵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  }</a:t>
            </a:r>
          </a:p>
          <a:p>
            <a:pPr marL="0" indent="0">
              <a:spcAft>
                <a:spcPts val="600"/>
              </a:spcAft>
              <a:buNone/>
            </a:pPr>
            <a:endParaRPr lang="en-GB" dirty="0">
              <a:solidFill>
                <a:srgbClr val="00B050"/>
              </a:solidFill>
              <a:latin typeface="APL385 Unicode" panose="020B0709000202000203" pitchFamily="49" charset="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    ∇ Foo 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arg</a:t>
            </a:r>
            <a:endParaRPr lang="en-GB" dirty="0">
              <a:solidFill>
                <a:srgbClr val="00B050"/>
              </a:solidFill>
              <a:latin typeface="APL385 Unicode" panose="020B0709000202000203" pitchFamily="49" charset="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[1]    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Utils.Sum</a:t>
            </a: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 </a:t>
            </a:r>
            <a:r>
              <a:rPr lang="en-GB" dirty="0" err="1">
                <a:solidFill>
                  <a:srgbClr val="00B050"/>
                </a:solidFill>
                <a:latin typeface="APL385 Unicode" panose="020B0709000202000203" pitchFamily="49" charset="0"/>
              </a:rPr>
              <a:t>arg</a:t>
            </a:r>
            <a:endParaRPr lang="en-GB" dirty="0">
              <a:solidFill>
                <a:srgbClr val="00B050"/>
              </a:solidFill>
              <a:latin typeface="APL385 Unicode" panose="020B0709000202000203" pitchFamily="49" charset="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GB" dirty="0">
                <a:solidFill>
                  <a:srgbClr val="00B050"/>
                </a:solidFill>
                <a:latin typeface="APL385 Unicode" panose="020B0709000202000203" pitchFamily="49" charset="0"/>
              </a:rPr>
              <a:t>[2]  ∇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F2C41C5-D2E0-7271-97D4-114DB3B6B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Stack and Namespaces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41168E54-7B45-0496-0D9F-530F89E0ED79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198498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3E6E580-61B3-1631-148C-5D225C8019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GB" dirty="0">
                <a:solidFill>
                  <a:schemeClr val="tx1"/>
                </a:solidFill>
              </a:rPr>
              <a:t>There are several system variables to deal with the functions on the stack:</a:t>
            </a:r>
          </a:p>
          <a:p>
            <a:pPr marL="0" indent="0">
              <a:buNone/>
            </a:pPr>
            <a:r>
              <a:rPr lang="en-GB" dirty="0">
                <a:solidFill>
                  <a:srgbClr val="FF6600"/>
                </a:solidFill>
                <a:latin typeface="APL385 Unicode" pitchFamily="49" charset="0"/>
              </a:rPr>
              <a:t>⎕LC   	</a:t>
            </a:r>
            <a:r>
              <a:rPr lang="en-GB" dirty="0">
                <a:solidFill>
                  <a:schemeClr val="tx1"/>
                </a:solidFill>
              </a:rPr>
              <a:t>the line numbers of the </a:t>
            </a:r>
            <a:r>
              <a:rPr lang="en-GB" dirty="0" err="1">
                <a:solidFill>
                  <a:schemeClr val="tx1"/>
                </a:solidFill>
              </a:rPr>
              <a:t>fns</a:t>
            </a:r>
            <a:endParaRPr lang="en-GB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GB" dirty="0">
                <a:solidFill>
                  <a:srgbClr val="FF6600"/>
                </a:solidFill>
                <a:latin typeface="APL385 Unicode" pitchFamily="49" charset="0"/>
              </a:rPr>
              <a:t>⎕NSI 		</a:t>
            </a:r>
            <a:r>
              <a:rPr lang="en-GB" dirty="0">
                <a:solidFill>
                  <a:schemeClr val="tx1"/>
                </a:solidFill>
                <a:latin typeface="APL385 Unicode" pitchFamily="49" charset="0"/>
              </a:rPr>
              <a:t>t</a:t>
            </a:r>
            <a:r>
              <a:rPr lang="en-GB" dirty="0">
                <a:solidFill>
                  <a:schemeClr val="tx1"/>
                </a:solidFill>
              </a:rPr>
              <a:t>he namespaces prior to call (char)</a:t>
            </a:r>
          </a:p>
          <a:p>
            <a:pPr marL="0" indent="0">
              <a:buNone/>
            </a:pPr>
            <a:r>
              <a:rPr lang="en-GB" dirty="0">
                <a:solidFill>
                  <a:srgbClr val="FF6600"/>
                </a:solidFill>
                <a:latin typeface="APL385 Unicode" pitchFamily="49" charset="0"/>
              </a:rPr>
              <a:t>⎕RSI  	</a:t>
            </a:r>
            <a:r>
              <a:rPr lang="en-GB" dirty="0">
                <a:solidFill>
                  <a:schemeClr val="tx1"/>
                </a:solidFill>
              </a:rPr>
              <a:t>the namespaces prior to call (ref)</a:t>
            </a:r>
            <a:r>
              <a:rPr lang="en-GB" dirty="0">
                <a:solidFill>
                  <a:schemeClr val="tx1"/>
                </a:solidFill>
                <a:latin typeface="APL385 Unicode" pitchFamily="49" charset="0"/>
              </a:rPr>
              <a:t> </a:t>
            </a:r>
          </a:p>
          <a:p>
            <a:pPr marL="0" indent="0">
              <a:buNone/>
            </a:pPr>
            <a:r>
              <a:rPr lang="en-GB" dirty="0">
                <a:solidFill>
                  <a:srgbClr val="FF6600"/>
                </a:solidFill>
                <a:latin typeface="APL385 Unicode" pitchFamily="49" charset="0"/>
              </a:rPr>
              <a:t>⎕SI   	</a:t>
            </a:r>
            <a:r>
              <a:rPr lang="en-GB" dirty="0">
                <a:solidFill>
                  <a:schemeClr val="tx1"/>
                </a:solidFill>
              </a:rPr>
              <a:t>the functions on the stack</a:t>
            </a:r>
          </a:p>
          <a:p>
            <a:pPr marL="0" indent="0">
              <a:buNone/>
            </a:pPr>
            <a:r>
              <a:rPr lang="en-GB" dirty="0">
                <a:solidFill>
                  <a:srgbClr val="FF6600"/>
                </a:solidFill>
                <a:latin typeface="APL385 Unicode" pitchFamily="49" charset="0"/>
              </a:rPr>
              <a:t>⎕XSI  	</a:t>
            </a:r>
            <a:r>
              <a:rPr lang="en-GB" dirty="0">
                <a:solidFill>
                  <a:schemeClr val="tx1"/>
                </a:solidFill>
              </a:rPr>
              <a:t>the functions on the </a:t>
            </a:r>
            <a:r>
              <a:rPr lang="en-GB" dirty="0" err="1">
                <a:solidFill>
                  <a:schemeClr val="tx1"/>
                </a:solidFill>
              </a:rPr>
              <a:t>stack+namespace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>
                <a:solidFill>
                  <a:schemeClr val="tx1"/>
                </a:solidFill>
                <a:latin typeface="APL385 Unicode" pitchFamily="49" charset="0"/>
              </a:rPr>
              <a:t> </a:t>
            </a:r>
          </a:p>
          <a:p>
            <a:pPr marL="0" indent="0">
              <a:buNone/>
            </a:pPr>
            <a:r>
              <a:rPr lang="en-GB" dirty="0">
                <a:solidFill>
                  <a:srgbClr val="FF6600"/>
                </a:solidFill>
                <a:latin typeface="APL385 Unicode" pitchFamily="49" charset="0"/>
              </a:rPr>
              <a:t>⎕STACK 	</a:t>
            </a:r>
            <a:r>
              <a:rPr lang="en-GB" dirty="0">
                <a:solidFill>
                  <a:schemeClr val="tx1"/>
                </a:solidFill>
              </a:rPr>
              <a:t>the stack of </a:t>
            </a:r>
            <a:r>
              <a:rPr lang="en-GB" dirty="0" err="1">
                <a:solidFill>
                  <a:schemeClr val="tx1"/>
                </a:solidFill>
              </a:rPr>
              <a:t>functions+state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F676482-B717-DD05-BF73-76170B770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Stack and Namespaces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DB214C18-3383-1357-91C4-EE298E62DD7B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873387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9982AF1-3AC0-538A-E334-626E9083E3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/>
            </a:pPr>
            <a:r>
              <a:rPr lang="en-GB" dirty="0"/>
              <a:t>All the session menus, toolbars, status bars, etc. are contained in a namespace called </a:t>
            </a:r>
            <a:r>
              <a:rPr lang="en-GB" b="1" dirty="0">
                <a:solidFill>
                  <a:srgbClr val="FF6600"/>
                </a:solidFill>
                <a:latin typeface="APL385 Unicode" panose="020B0709000202000203" pitchFamily="49" charset="0"/>
              </a:rPr>
              <a:t>⎕SE</a:t>
            </a:r>
            <a:r>
              <a:rPr lang="en-GB" dirty="0"/>
              <a:t>.</a:t>
            </a:r>
          </a:p>
          <a:p>
            <a:pPr marL="0" indent="0">
              <a:buNone/>
              <a:defRPr/>
            </a:pPr>
            <a:r>
              <a:rPr lang="en-GB" dirty="0"/>
              <a:t>The contents of </a:t>
            </a:r>
            <a:r>
              <a:rPr lang="en-GB" dirty="0">
                <a:latin typeface="APL385 Unicode" panose="020B0709000202000203" pitchFamily="49" charset="0"/>
              </a:rPr>
              <a:t>⎕SE</a:t>
            </a:r>
            <a:r>
              <a:rPr lang="en-GB" dirty="0"/>
              <a:t> survive </a:t>
            </a:r>
            <a:r>
              <a:rPr lang="en-GB" dirty="0">
                <a:latin typeface="APL385 Unicode" panose="020B0709000202000203" pitchFamily="49" charset="0"/>
              </a:rPr>
              <a:t>)LOAD</a:t>
            </a:r>
            <a:r>
              <a:rPr lang="en-GB" dirty="0"/>
              <a:t> and </a:t>
            </a:r>
            <a:r>
              <a:rPr lang="en-GB" dirty="0">
                <a:latin typeface="APL385 Unicode" panose="020B0709000202000203" pitchFamily="49" charset="0"/>
              </a:rPr>
              <a:t>)CLEAR</a:t>
            </a:r>
            <a:r>
              <a:rPr lang="en-GB" dirty="0"/>
              <a:t>, and can contain tools that are always available.</a:t>
            </a:r>
          </a:p>
          <a:p>
            <a:pPr marL="0" indent="0">
              <a:buNone/>
              <a:defRPr/>
            </a:pPr>
            <a:r>
              <a:rPr lang="da-DK" dirty="0">
                <a:latin typeface="APL385 Unicode" panose="020B0709000202000203" pitchFamily="49" charset="0"/>
              </a:rPr>
              <a:t>⎕S</a:t>
            </a:r>
            <a:r>
              <a:rPr lang="en-GB" dirty="0">
                <a:latin typeface="APL385 Unicode" panose="020B0709000202000203" pitchFamily="49" charset="0"/>
              </a:rPr>
              <a:t>E</a:t>
            </a:r>
            <a:r>
              <a:rPr lang="en-GB" dirty="0"/>
              <a:t> is parallel to, rather than contained within, </a:t>
            </a:r>
            <a:r>
              <a:rPr lang="en-GB" dirty="0">
                <a:latin typeface="APL385 Unicode" panose="020B0709000202000203" pitchFamily="49" charset="0"/>
              </a:rPr>
              <a:t>#</a:t>
            </a:r>
            <a:r>
              <a:rPr lang="en-GB" dirty="0"/>
              <a:t>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228F09B-0574-2BE1-FB5F-A414B372E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Session Namespace (</a:t>
            </a:r>
            <a:r>
              <a:rPr lang="en-GB" dirty="0">
                <a:latin typeface="APL385 Unicode" panose="020B0709000202000203" pitchFamily="49" charset="0"/>
              </a:rPr>
              <a:t>⎕SE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A6C3DE37-B0B6-24F4-9970-D7CE8EEF6932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378392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CEE6E-6B0A-CBEF-15FA-FD026D1F3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E1B5D4A-5018-6709-08C5-AFDD5D9459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/>
            </a:pPr>
            <a:r>
              <a:rPr lang="en-GB" dirty="0"/>
              <a:t>All the session menus, toolbars, status bars, etc. are contained in a namespace called </a:t>
            </a:r>
            <a:r>
              <a:rPr lang="en-GB" b="1" dirty="0">
                <a:solidFill>
                  <a:srgbClr val="FF6600"/>
                </a:solidFill>
                <a:latin typeface="APL385 Unicode" panose="020B0709000202000203" pitchFamily="49" charset="0"/>
              </a:rPr>
              <a:t>⎕SE</a:t>
            </a:r>
            <a:r>
              <a:rPr lang="en-GB" dirty="0"/>
              <a:t>.</a:t>
            </a:r>
          </a:p>
          <a:p>
            <a:pPr marL="0" indent="0">
              <a:buNone/>
              <a:defRPr/>
            </a:pPr>
            <a:r>
              <a:rPr lang="en-GB" dirty="0"/>
              <a:t>The contents of </a:t>
            </a:r>
            <a:r>
              <a:rPr lang="en-GB" dirty="0">
                <a:latin typeface="APL385 Unicode" panose="020B0709000202000203" pitchFamily="49" charset="0"/>
              </a:rPr>
              <a:t>⎕SE</a:t>
            </a:r>
            <a:r>
              <a:rPr lang="en-GB" dirty="0"/>
              <a:t> survive </a:t>
            </a:r>
            <a:r>
              <a:rPr lang="en-GB" dirty="0">
                <a:latin typeface="APL385 Unicode" panose="020B0709000202000203" pitchFamily="49" charset="0"/>
              </a:rPr>
              <a:t>)LOAD</a:t>
            </a:r>
            <a:r>
              <a:rPr lang="en-GB" dirty="0"/>
              <a:t> and </a:t>
            </a:r>
            <a:r>
              <a:rPr lang="en-GB" dirty="0">
                <a:latin typeface="APL385 Unicode" panose="020B0709000202000203" pitchFamily="49" charset="0"/>
              </a:rPr>
              <a:t>)CLEAR</a:t>
            </a:r>
            <a:r>
              <a:rPr lang="en-GB" dirty="0"/>
              <a:t>, and can contain tools that are always available.</a:t>
            </a:r>
          </a:p>
          <a:p>
            <a:pPr marL="0" indent="0">
              <a:buNone/>
              <a:defRPr/>
            </a:pPr>
            <a:r>
              <a:rPr lang="da-DK" dirty="0">
                <a:latin typeface="APL385 Unicode" panose="020B0709000202000203" pitchFamily="49" charset="0"/>
              </a:rPr>
              <a:t>⎕S</a:t>
            </a:r>
            <a:r>
              <a:rPr lang="en-GB" dirty="0">
                <a:latin typeface="APL385 Unicode" panose="020B0709000202000203" pitchFamily="49" charset="0"/>
              </a:rPr>
              <a:t>E</a:t>
            </a:r>
            <a:r>
              <a:rPr lang="en-GB" dirty="0"/>
              <a:t> is parallel to, rather than contained within, </a:t>
            </a:r>
            <a:r>
              <a:rPr lang="en-GB" dirty="0">
                <a:latin typeface="APL385 Unicode" panose="020B0709000202000203" pitchFamily="49" charset="0"/>
              </a:rPr>
              <a:t>#</a:t>
            </a:r>
            <a:r>
              <a:rPr lang="en-GB" dirty="0"/>
              <a:t>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864F897-AEFA-5431-272C-5BF17A6DB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Session Namespace (</a:t>
            </a:r>
            <a:r>
              <a:rPr lang="en-GB" dirty="0">
                <a:latin typeface="APL385 Unicode" panose="020B0709000202000203" pitchFamily="49" charset="0"/>
              </a:rPr>
              <a:t>⎕SE</a:t>
            </a:r>
            <a:r>
              <a:rPr lang="en-GB" dirty="0"/>
              <a:t>)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7CDF4473-85AD-062E-4F26-66A6D4B54E97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4DEE7B-276D-F1D1-3033-E56B31CECA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1156" y="342589"/>
            <a:ext cx="2781688" cy="445832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2974851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E556C19-6104-0FCC-B012-08E265F81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Questions?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50838A90-D87B-69EA-91FD-DEA9CCE72FCF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296417BD-45A4-9270-9E87-44212074B2D1}"/>
              </a:ext>
            </a:extLst>
          </p:cNvPr>
          <p:cNvSpPr txBox="1">
            <a:spLocks/>
          </p:cNvSpPr>
          <p:nvPr/>
        </p:nvSpPr>
        <p:spPr>
          <a:xfrm rot="8337972">
            <a:off x="323527" y="1365421"/>
            <a:ext cx="8443592" cy="31415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8788" indent="-4587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6600"/>
              </a:buClr>
              <a:buSzPct val="75000"/>
              <a:buFont typeface="Wingdings 2" panose="05020102010507070707" pitchFamily="18" charset="2"/>
              <a:buChar char=""/>
              <a:defRPr sz="24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1pPr>
            <a:lvl2pPr marL="858838" indent="-4016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6600"/>
              </a:buClr>
              <a:buSzPct val="75000"/>
              <a:buFont typeface="Wingdings 2" panose="05020102010507070707" pitchFamily="18" charset="2"/>
              <a:buChar char=""/>
              <a:defRPr lang="en-US" sz="20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6600"/>
              </a:buClr>
              <a:buSzPct val="75000"/>
              <a:buFont typeface="Wingdings 2" panose="05020102010507070707" pitchFamily="18" charset="2"/>
              <a:buChar char=""/>
              <a:defRPr sz="18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3pPr>
            <a:lvl4pPr marL="1655763" indent="-2841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A336"/>
              </a:buClr>
              <a:buSzPct val="75000"/>
              <a:buFont typeface="Wingdings 2" panose="05020102010507070707" pitchFamily="18" charset="2"/>
              <a:buChar char=""/>
              <a:defRPr sz="1400" kern="1200">
                <a:solidFill>
                  <a:srgbClr val="3B475E"/>
                </a:solidFill>
                <a:latin typeface="Sarabun" panose="00000500000000000000" pitchFamily="2" charset="-34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Clr>
                <a:srgbClr val="FF9421"/>
              </a:buClr>
              <a:buFont typeface="Calibri" panose="020F050202020403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2" panose="05020102010507070707" pitchFamily="18" charset="2"/>
              <a:buNone/>
            </a:pPr>
            <a:r>
              <a:rPr lang="en-GB" sz="15000" dirty="0"/>
              <a:t>🤔</a:t>
            </a:r>
          </a:p>
        </p:txBody>
      </p:sp>
    </p:spTree>
    <p:extLst>
      <p:ext uri="{BB962C8B-B14F-4D97-AF65-F5344CB8AC3E}">
        <p14:creationId xmlns:p14="http://schemas.microsoft.com/office/powerpoint/2010/main" val="355668335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C60714A-34AA-8C6F-00EA-C6F5AB383D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/>
              <a:t>W</a:t>
            </a:r>
            <a:r>
              <a:rPr lang="en-GB" dirty="0"/>
              <a:t>rite a function in one namespace and call it from a function in another. While tracing the functions, inspect the value of </a:t>
            </a:r>
            <a:r>
              <a:rPr lang="en-GB" dirty="0">
                <a:latin typeface="APL385 Unicode" panose="020B0709000202000203" pitchFamily="49" charset="0"/>
              </a:rPr>
              <a:t>⎕SI </a:t>
            </a:r>
            <a:r>
              <a:rPr lang="en-GB" dirty="0"/>
              <a:t>and </a:t>
            </a:r>
            <a:r>
              <a:rPr lang="en-GB" dirty="0">
                <a:latin typeface="APL385 Unicode" panose="020B0709000202000203" pitchFamily="49" charset="0"/>
              </a:rPr>
              <a:t>⎕XSI</a:t>
            </a:r>
            <a:r>
              <a:rPr lang="en-GB" dirty="0"/>
              <a:t>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C099F24-700D-FD42-1A4C-B273E2961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AD23484B-85DA-FD33-09F0-5A49F73A2DC4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80374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yalog">
      <a:dk1>
        <a:srgbClr val="3B475E"/>
      </a:dk1>
      <a:lt1>
        <a:sysClr val="window" lastClr="FFFFFF"/>
      </a:lt1>
      <a:dk2>
        <a:srgbClr val="5A6D8F"/>
      </a:dk2>
      <a:lt2>
        <a:srgbClr val="F6F6D9"/>
      </a:lt2>
      <a:accent1>
        <a:srgbClr val="ED7F00"/>
      </a:accent1>
      <a:accent2>
        <a:srgbClr val="928ABD"/>
      </a:accent2>
      <a:accent3>
        <a:srgbClr val="2C5656"/>
      </a:accent3>
      <a:accent4>
        <a:srgbClr val="FFA336"/>
      </a:accent4>
      <a:accent5>
        <a:srgbClr val="BBB5D6"/>
      </a:accent5>
      <a:accent6>
        <a:srgbClr val="231F20"/>
      </a:accent6>
      <a:hlink>
        <a:srgbClr val="5A6D8F"/>
      </a:hlink>
      <a:folHlink>
        <a:srgbClr val="928ABD"/>
      </a:folHlink>
    </a:clrScheme>
    <a:fontScheme name="Sarabun">
      <a:majorFont>
        <a:latin typeface="Sarabun"/>
        <a:ea typeface=""/>
        <a:cs typeface=""/>
      </a:majorFont>
      <a:minorFont>
        <a:latin typeface="Sarabu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yalog19_template_bold_calibri.potx" id="{F0C38D23-3AC9-47E9-8D0D-BEDB5EAFCAD2}" vid="{35320D08-F00A-4224-9D94-CDC48BBB4D0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1861</TotalTime>
  <Words>1573</Words>
  <Application>Microsoft Office PowerPoint</Application>
  <PresentationFormat>On-screen Show (16:9)</PresentationFormat>
  <Paragraphs>256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8" baseType="lpstr">
      <vt:lpstr>Calibri</vt:lpstr>
      <vt:lpstr>Arial</vt:lpstr>
      <vt:lpstr>Wingdings 2</vt:lpstr>
      <vt:lpstr>APL385 Unicode</vt:lpstr>
      <vt:lpstr>Sarabun</vt:lpstr>
      <vt:lpstr>Office Theme</vt:lpstr>
      <vt:lpstr>APL Bootcamp</vt:lpstr>
      <vt:lpstr>Namespaces</vt:lpstr>
      <vt:lpstr>Namespaces</vt:lpstr>
      <vt:lpstr>Namespaces</vt:lpstr>
      <vt:lpstr>PowerPoint Presentation</vt:lpstr>
      <vt:lpstr>Namespace References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Root Namespace (#)</vt:lpstr>
      <vt:lpstr>The Session Namespace (⎕SE)</vt:lpstr>
      <vt:lpstr>The Current Namespace (⎕THIS)</vt:lpstr>
      <vt:lpstr>The Current Namespace (⎕THIS)</vt:lpstr>
      <vt:lpstr>Namespace References</vt:lpstr>
      <vt:lpstr>Namespace References</vt:lpstr>
      <vt:lpstr>Search Path (⎕PATH)</vt:lpstr>
      <vt:lpstr>Execution within a Namespace</vt:lpstr>
      <vt:lpstr>Review</vt:lpstr>
      <vt:lpstr>Review</vt:lpstr>
      <vt:lpstr>Questions?</vt:lpstr>
      <vt:lpstr>Exercises</vt:lpstr>
      <vt:lpstr>Namespace References</vt:lpstr>
      <vt:lpstr>Namespace References</vt:lpstr>
      <vt:lpstr>Namespaces</vt:lpstr>
      <vt:lpstr>Namespaces</vt:lpstr>
      <vt:lpstr>Arrays of Namespaces</vt:lpstr>
      <vt:lpstr>Arrays of Namespaces</vt:lpstr>
      <vt:lpstr>:With and ⎕CS</vt:lpstr>
      <vt:lpstr>:With and ⎕CS</vt:lpstr>
      <vt:lpstr>The Stack and Namespaces</vt:lpstr>
      <vt:lpstr>The Stack and Namespaces</vt:lpstr>
      <vt:lpstr>The Stack and Namespaces</vt:lpstr>
      <vt:lpstr>The Session Namespace (⎕SE)</vt:lpstr>
      <vt:lpstr>The Session Namespace (⎕SE)</vt:lpstr>
      <vt:lpstr>Questions?</vt:lpstr>
      <vt:lpstr>Exercise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Fiona Smith</dc:creator>
  <cp:lastModifiedBy>Rich Park</cp:lastModifiedBy>
  <cp:revision>268</cp:revision>
  <dcterms:created xsi:type="dcterms:W3CDTF">2019-07-25T11:46:05Z</dcterms:created>
  <dcterms:modified xsi:type="dcterms:W3CDTF">2025-08-10T15:51:09Z</dcterms:modified>
</cp:coreProperties>
</file>