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75" r:id="rId18"/>
    <p:sldId id="278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77" r:id="rId29"/>
    <p:sldId id="290" r:id="rId30"/>
    <p:sldId id="279" r:id="rId31"/>
    <p:sldId id="280" r:id="rId32"/>
    <p:sldId id="291" r:id="rId33"/>
    <p:sldId id="292" r:id="rId34"/>
    <p:sldId id="293" r:id="rId35"/>
    <p:sldId id="294" r:id="rId36"/>
    <p:sldId id="299" r:id="rId37"/>
    <p:sldId id="300" r:id="rId38"/>
    <p:sldId id="295" r:id="rId39"/>
    <p:sldId id="296" r:id="rId40"/>
    <p:sldId id="297" r:id="rId41"/>
    <p:sldId id="301" r:id="rId42"/>
    <p:sldId id="298" r:id="rId43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46"/>
    </p:embeddedFont>
    <p:embeddedFont>
      <p:font typeface="Sarabun" panose="00000500000000000000" pitchFamily="2" charset="-34"/>
      <p:regular r:id="rId47"/>
      <p:bold r:id="rId48"/>
      <p:italic r:id="rId49"/>
      <p:boldItalic r:id="rId50"/>
    </p:embeddedFont>
    <p:embeddedFont>
      <p:font typeface="Wingdings 2" panose="05020102010507070707" pitchFamily="18" charset="2"/>
      <p:regular r:id="rId5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font" Target="NUL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11/09/2025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11/09/2025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8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B6AF38-8818-016B-6623-D619FD95D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Namespaces</a:t>
            </a:r>
            <a:r>
              <a:rPr lang="en-GB" dirty="0"/>
              <a:t> are containers, which can contain variables, functions - and other namespaces.</a:t>
            </a:r>
          </a:p>
          <a:p>
            <a:pPr marL="0" indent="0">
              <a:buNone/>
            </a:pPr>
            <a:r>
              <a:rPr lang="en-GB" i="1" dirty="0"/>
              <a:t>Nested arrays </a:t>
            </a:r>
            <a:r>
              <a:rPr lang="en-GB" dirty="0"/>
              <a:t>are </a:t>
            </a:r>
            <a:r>
              <a:rPr lang="en-GB" b="1" dirty="0"/>
              <a:t>arrays within arrays</a:t>
            </a:r>
            <a:r>
              <a:rPr lang="en-GB" dirty="0"/>
              <a:t>. </a:t>
            </a:r>
            <a:r>
              <a:rPr lang="en-GB" i="1" dirty="0"/>
              <a:t>Namespaces</a:t>
            </a:r>
            <a:r>
              <a:rPr lang="en-GB" dirty="0"/>
              <a:t> are like a </a:t>
            </a:r>
            <a:r>
              <a:rPr lang="en-GB" b="1" dirty="0"/>
              <a:t>workspace within a workspace.</a:t>
            </a:r>
          </a:p>
          <a:p>
            <a:pPr marL="0" indent="0">
              <a:buNone/>
            </a:pPr>
            <a:r>
              <a:rPr lang="en-GB" dirty="0"/>
              <a:t>They are similar to folders in a file system which contain files and </a:t>
            </a:r>
            <a:r>
              <a:rPr lang="en-GB" b="1" dirty="0"/>
              <a:t>other folders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CED24A-C3A6-1E22-C3E5-6A30F4C9F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85D4F2-A47A-7EDB-071F-B9EDA418ADB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5941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94486C-9C05-6FE0-C65B-3423AFB68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(a b)←⎕NS¨'' ''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(a b).</a:t>
            </a:r>
            <a:r>
              <a:rPr lang="en-GB" dirty="0" err="1">
                <a:latin typeface="APL385 Unicode" panose="020B0709000202000203" pitchFamily="49" charset="0"/>
              </a:rPr>
              <a:t>name←'Jenny</a:t>
            </a:r>
            <a:r>
              <a:rPr lang="en-GB" dirty="0">
                <a:latin typeface="APL385 Unicode" panose="020B0709000202000203" pitchFamily="49" charset="0"/>
              </a:rPr>
              <a:t>' 'Kieth'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(a b).age←42 57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a.name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Jenny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b.name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Kieth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C81B88-AE55-E998-0FAB-AC03504A8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7C3D52-69CE-C08D-CEB4-239FF4FF1BB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709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70E6DB-C927-A6F1-4FAA-E6F50FBA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EAC8D83-7544-ECD4-DA28-F92F26E7F4F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A7400E-135B-DCC8-D15C-8D776A6CE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72" y="1609590"/>
            <a:ext cx="2553056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865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188A77-7CAE-743A-7BE3-4BFBDA3AD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C9ADEB-9E45-E080-3F9C-3DDBCB5390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1BC83DF-B480-657F-92CC-B1F0738A873D}"/>
              </a:ext>
            </a:extLst>
          </p:cNvPr>
          <p:cNvSpPr txBox="1">
            <a:spLocks/>
          </p:cNvSpPr>
          <p:nvPr/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rgbClr val="3B475E"/>
                </a:solidFill>
                <a:latin typeface="Sarabun" panose="00000500000000000000" pitchFamily="2" charset="-34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/>
              <a:t>Namespaces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A309792-D23B-F973-88E3-C3CF6ADDC0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8528373" cy="3242040"/>
          </a:xfrm>
        </p:spPr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D12751C9-B141-B021-B685-BDD9B8742FD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defRPr sz="12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 dirty="0" smtClean="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Intro to Dyalog, Part 6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B2FFD4-5E6F-B5E2-3D06-9BADFA983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72" y="1609590"/>
            <a:ext cx="2553056" cy="19243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61CD27-13E7-6995-7E89-5F92FDA3D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927" y="0"/>
            <a:ext cx="8014146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B22899-7215-3CA7-E423-00514491E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27" y="0"/>
            <a:ext cx="8014146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C312E2C-3A7F-74EA-EF00-97890D600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927" y="0"/>
            <a:ext cx="8014146" cy="5143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293E1E-2AAD-6E4D-7F46-83E87639A8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927" y="0"/>
            <a:ext cx="8014146" cy="514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33E1DF-2460-AF14-1668-2E3FC448FA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927" y="0"/>
            <a:ext cx="8014146" cy="51435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2150B4B-63A7-34F8-8F7F-E7D08945D2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927" y="0"/>
            <a:ext cx="801414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233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1BDB29-94B4-2D07-7A1A-4428E91ED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 References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34E5455-D942-D30C-F8AE-468E40C3BE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946412-79A9-055F-1490-F1E6CDA21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4925"/>
            <a:ext cx="3828526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1 2 3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942315A-68D8-4535-83F6-323D298CB430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7051E8-EBF6-0934-F52B-B22E94B91CB8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042862-A30A-B3C7-8490-14A4836D4658}"/>
              </a:ext>
            </a:extLst>
          </p:cNvPr>
          <p:cNvSpPr txBox="1"/>
          <p:nvPr/>
        </p:nvSpPr>
        <p:spPr>
          <a:xfrm>
            <a:off x="4996327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C4CFB5-F2D1-E8C3-F88E-534F761BED86}"/>
              </a:ext>
            </a:extLst>
          </p:cNvPr>
          <p:cNvCxnSpPr>
            <a:stCxn id="7" idx="2"/>
          </p:cNvCxnSpPr>
          <p:nvPr/>
        </p:nvCxnSpPr>
        <p:spPr>
          <a:xfrm flipH="1">
            <a:off x="5433306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490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699934-5294-D45F-874E-514893EDC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271C39-0706-2991-6807-98AFC7DA6F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1BB338F-B6C3-CDDC-AB39-734350E887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4925"/>
            <a:ext cx="3828526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01F89D3-AE86-398A-2333-FF701A9AAFC6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606566-ABB1-BA72-0E73-6E3192963F7B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4BD741-98D2-6C8D-CB4C-9F3422ECD365}"/>
              </a:ext>
            </a:extLst>
          </p:cNvPr>
          <p:cNvSpPr txBox="1"/>
          <p:nvPr/>
        </p:nvSpPr>
        <p:spPr>
          <a:xfrm>
            <a:off x="4996327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53ABA3C-6720-2949-AC54-2202162DDEFC}"/>
              </a:ext>
            </a:extLst>
          </p:cNvPr>
          <p:cNvCxnSpPr>
            <a:stCxn id="15" idx="2"/>
          </p:cNvCxnSpPr>
          <p:nvPr/>
        </p:nvCxnSpPr>
        <p:spPr>
          <a:xfrm flipH="1">
            <a:off x="5433306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9C25335-D45B-3107-8E50-040144C709CA}"/>
              </a:ext>
            </a:extLst>
          </p:cNvPr>
          <p:cNvSpPr txBox="1"/>
          <p:nvPr/>
        </p:nvSpPr>
        <p:spPr>
          <a:xfrm>
            <a:off x="7054774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9AD337-C70C-69AB-4AA2-1115EDB08A0E}"/>
              </a:ext>
            </a:extLst>
          </p:cNvPr>
          <p:cNvSpPr txBox="1"/>
          <p:nvPr/>
        </p:nvSpPr>
        <p:spPr>
          <a:xfrm>
            <a:off x="6916915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07661A2-F3AC-C930-16D8-0D0B3AD7D59A}"/>
              </a:ext>
            </a:extLst>
          </p:cNvPr>
          <p:cNvCxnSpPr>
            <a:stCxn id="18" idx="2"/>
          </p:cNvCxnSpPr>
          <p:nvPr/>
        </p:nvCxnSpPr>
        <p:spPr>
          <a:xfrm flipH="1">
            <a:off x="7353894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746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5DED425-0CDC-C45F-2272-BAF59849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6C0872E-305A-E571-6B65-835136DC04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423FA85-888A-69A5-7E6A-AFA96AFA2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4925"/>
            <a:ext cx="3828526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'</a:t>
            </a:r>
            <a:r>
              <a:rPr lang="en-GB" dirty="0" err="1">
                <a:latin typeface="APL385 Unicode" panose="020B0709000202000203" pitchFamily="49" charset="0"/>
              </a:rPr>
              <a:t>abc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5B2F1F6-9200-CDAD-8FC8-FA5B125B529A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994210-0A27-B4B4-BE05-ED299265C174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2967B1-DFC4-39EA-11DA-D779AA1B331C}"/>
              </a:ext>
            </a:extLst>
          </p:cNvPr>
          <p:cNvCxnSpPr>
            <a:stCxn id="7" idx="2"/>
          </p:cNvCxnSpPr>
          <p:nvPr/>
        </p:nvCxnSpPr>
        <p:spPr>
          <a:xfrm flipH="1">
            <a:off x="5433306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6699D70-CE1C-FD47-F038-49E2B1344837}"/>
              </a:ext>
            </a:extLst>
          </p:cNvPr>
          <p:cNvSpPr txBox="1"/>
          <p:nvPr/>
        </p:nvSpPr>
        <p:spPr>
          <a:xfrm>
            <a:off x="7054774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995EF-D582-16D6-9440-41AAF8569A07}"/>
              </a:ext>
            </a:extLst>
          </p:cNvPr>
          <p:cNvSpPr txBox="1"/>
          <p:nvPr/>
        </p:nvSpPr>
        <p:spPr>
          <a:xfrm>
            <a:off x="6916915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EFA732-549B-395F-FE3A-D29BF7D5A024}"/>
              </a:ext>
            </a:extLst>
          </p:cNvPr>
          <p:cNvCxnSpPr>
            <a:stCxn id="9" idx="2"/>
          </p:cNvCxnSpPr>
          <p:nvPr/>
        </p:nvCxnSpPr>
        <p:spPr>
          <a:xfrm flipH="1">
            <a:off x="7353894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D3ABCBE-1392-9D32-3E2D-D9CDDF69E339}"/>
              </a:ext>
            </a:extLst>
          </p:cNvPr>
          <p:cNvSpPr txBox="1"/>
          <p:nvPr/>
        </p:nvSpPr>
        <p:spPr>
          <a:xfrm>
            <a:off x="5016647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'</a:t>
            </a:r>
            <a:r>
              <a:rPr lang="en-GB" dirty="0" err="1">
                <a:latin typeface="APL385 Unicode" panose="020B0709000202000203" pitchFamily="49" charset="0"/>
              </a:rPr>
              <a:t>abc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565139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29230-C1DE-9579-ACA8-DE6D0F59A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901C7-E912-3705-CADB-D225F952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B7C58C-BDD8-2F19-4AA4-CBE4CF983D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2212BE6-5C20-90BC-F9ED-5F66498FA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4925"/>
            <a:ext cx="3828526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'</a:t>
            </a:r>
            <a:r>
              <a:rPr lang="en-GB" dirty="0" err="1">
                <a:latin typeface="APL385 Unicode" panose="020B0709000202000203" pitchFamily="49" charset="0"/>
              </a:rPr>
              <a:t>abc</a:t>
            </a:r>
            <a:r>
              <a:rPr lang="en-GB" dirty="0">
                <a:latin typeface="APL385 Unicode" panose="020B0709000202000203" pitchFamily="49" charset="0"/>
              </a:rPr>
              <a:t>’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⎕←new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B65A55C-FA4E-994E-0C01-94747DD050F0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55900A-4BC7-C5E6-35BE-C3660CB86F7D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07F58BF-2CBF-A022-195D-F08B3E7C5AF2}"/>
              </a:ext>
            </a:extLst>
          </p:cNvPr>
          <p:cNvCxnSpPr>
            <a:stCxn id="6" idx="2"/>
          </p:cNvCxnSpPr>
          <p:nvPr/>
        </p:nvCxnSpPr>
        <p:spPr>
          <a:xfrm flipH="1">
            <a:off x="5433306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4AEB69-490C-F595-3506-1F02AD13E9FD}"/>
              </a:ext>
            </a:extLst>
          </p:cNvPr>
          <p:cNvSpPr txBox="1"/>
          <p:nvPr/>
        </p:nvSpPr>
        <p:spPr>
          <a:xfrm>
            <a:off x="7054774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4B220-8287-545D-6F05-22AB7AD9499E}"/>
              </a:ext>
            </a:extLst>
          </p:cNvPr>
          <p:cNvSpPr txBox="1"/>
          <p:nvPr/>
        </p:nvSpPr>
        <p:spPr>
          <a:xfrm>
            <a:off x="6916915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B51C04E-3176-D208-AD5A-3BFA6C288EEF}"/>
              </a:ext>
            </a:extLst>
          </p:cNvPr>
          <p:cNvCxnSpPr>
            <a:stCxn id="8" idx="2"/>
          </p:cNvCxnSpPr>
          <p:nvPr/>
        </p:nvCxnSpPr>
        <p:spPr>
          <a:xfrm flipH="1">
            <a:off x="7353894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9CD770-5993-9CA3-9012-075681F454B1}"/>
              </a:ext>
            </a:extLst>
          </p:cNvPr>
          <p:cNvSpPr txBox="1"/>
          <p:nvPr/>
        </p:nvSpPr>
        <p:spPr>
          <a:xfrm>
            <a:off x="5016647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'</a:t>
            </a:r>
            <a:r>
              <a:rPr lang="en-GB" dirty="0" err="1">
                <a:latin typeface="APL385 Unicode" panose="020B0709000202000203" pitchFamily="49" charset="0"/>
              </a:rPr>
              <a:t>abc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191642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D2F4E-1CA8-60CC-EEB0-2928784C5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4477075-CB4D-D8A2-3AAA-71965D36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A61C5-A660-161B-DC8A-BD1F8606166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9847213-6561-ED40-BD96-A7AD6CD66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4925"/>
            <a:ext cx="3828526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'</a:t>
            </a:r>
            <a:r>
              <a:rPr lang="en-GB" dirty="0" err="1">
                <a:latin typeface="APL385 Unicode" panose="020B0709000202000203" pitchFamily="49" charset="0"/>
              </a:rPr>
              <a:t>abc</a:t>
            </a:r>
            <a:r>
              <a:rPr lang="en-GB" dirty="0">
                <a:latin typeface="APL385 Unicode" panose="020B0709000202000203" pitchFamily="49" charset="0"/>
              </a:rPr>
              <a:t>’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⎕←new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44FE4D3-8EFE-B05C-9287-CABB05E8F16B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030DC8-ECDF-7359-A61B-F5008786201F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BAE996-F5E1-2EC4-7E75-0515F0C070F9}"/>
              </a:ext>
            </a:extLst>
          </p:cNvPr>
          <p:cNvSpPr txBox="1"/>
          <p:nvPr/>
        </p:nvSpPr>
        <p:spPr>
          <a:xfrm>
            <a:off x="5016647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'</a:t>
            </a:r>
            <a:r>
              <a:rPr lang="en-GB" dirty="0" err="1">
                <a:latin typeface="APL385 Unicode" panose="020B0709000202000203" pitchFamily="49" charset="0"/>
              </a:rPr>
              <a:t>abc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08669DC-2ABA-FC29-378C-DB785EFE3D38}"/>
              </a:ext>
            </a:extLst>
          </p:cNvPr>
          <p:cNvCxnSpPr>
            <a:stCxn id="6" idx="2"/>
          </p:cNvCxnSpPr>
          <p:nvPr/>
        </p:nvCxnSpPr>
        <p:spPr>
          <a:xfrm flipH="1">
            <a:off x="5433306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258B5FC-E262-994B-81CC-880C478A6124}"/>
              </a:ext>
            </a:extLst>
          </p:cNvPr>
          <p:cNvSpPr txBox="1"/>
          <p:nvPr/>
        </p:nvSpPr>
        <p:spPr>
          <a:xfrm>
            <a:off x="7054774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6B5751-959C-79BD-E13A-C31552CB1F5C}"/>
              </a:ext>
            </a:extLst>
          </p:cNvPr>
          <p:cNvSpPr txBox="1"/>
          <p:nvPr/>
        </p:nvSpPr>
        <p:spPr>
          <a:xfrm>
            <a:off x="6916915" y="2451946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3332FA-7FC6-9288-6F98-5CE0696FE404}"/>
              </a:ext>
            </a:extLst>
          </p:cNvPr>
          <p:cNvCxnSpPr>
            <a:stCxn id="9" idx="2"/>
          </p:cNvCxnSpPr>
          <p:nvPr/>
        </p:nvCxnSpPr>
        <p:spPr>
          <a:xfrm flipH="1">
            <a:off x="7353894" y="1839145"/>
            <a:ext cx="1" cy="5112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667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B2910-2A16-8826-1C74-543385428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B01127-051E-D0BD-33E2-A0A403DD7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03A9E6B-9E03-9A0B-BBA9-D5BA792E685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B2DB688-6DFF-4413-6CEB-CF4C64878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4925"/>
            <a:ext cx="3828526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⎕NS⍬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C440935-F133-3BC6-339E-70C540794E63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9FB14-2396-26F6-F306-991094FF3F7E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1325E-4FD6-442B-1F4B-F5F2C0E7E42F}"/>
              </a:ext>
            </a:extLst>
          </p:cNvPr>
          <p:cNvSpPr txBox="1"/>
          <p:nvPr/>
        </p:nvSpPr>
        <p:spPr>
          <a:xfrm>
            <a:off x="4590802" y="2133600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#.[Namespace]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13C88C-4EFF-3EF9-F7FA-62CFB079631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5433307" y="1839145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611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B90C0-8B19-E19E-0213-AF2FFAF5F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A1B529-664B-5B92-52E1-ABE80E7A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E73F6AA-5034-87DE-462E-81A8471B2D5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404C2F4-734D-1543-217A-1AFBF7095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058819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⎕NS⍬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old.var</a:t>
            </a:r>
            <a:r>
              <a:rPr lang="en-GB" dirty="0">
                <a:latin typeface="APL385 Unicode" panose="020B0709000202000203" pitchFamily="49" charset="0"/>
              </a:rPr>
              <a:t> ← 1 2 3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EADCCF-6987-AE4E-D764-09EBE8BFB1DB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E22BEB-F145-9CA8-426F-C99AC1B7F1E3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3932D-2A27-58C7-40F3-C1C103F6AB1A}"/>
              </a:ext>
            </a:extLst>
          </p:cNvPr>
          <p:cNvSpPr txBox="1"/>
          <p:nvPr/>
        </p:nvSpPr>
        <p:spPr>
          <a:xfrm>
            <a:off x="4590802" y="2133600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#.[Namespace]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D69D7F-1B94-C103-83B6-47FEBE7EE03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5433307" y="1839145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4A97267-0EEF-3071-9DF3-062F1F14FBDE}"/>
              </a:ext>
            </a:extLst>
          </p:cNvPr>
          <p:cNvSpPr txBox="1"/>
          <p:nvPr/>
        </p:nvSpPr>
        <p:spPr>
          <a:xfrm>
            <a:off x="5134186" y="275951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var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19FDF3-159D-CC15-3E6E-FF39D4E2C880}"/>
              </a:ext>
            </a:extLst>
          </p:cNvPr>
          <p:cNvCxnSpPr>
            <a:cxnSpLocks/>
          </p:cNvCxnSpPr>
          <p:nvPr/>
        </p:nvCxnSpPr>
        <p:spPr>
          <a:xfrm>
            <a:off x="5433307" y="2502932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3C1D6D7-ECF1-69C9-48FE-77AE9B47EBAD}"/>
              </a:ext>
            </a:extLst>
          </p:cNvPr>
          <p:cNvSpPr txBox="1"/>
          <p:nvPr/>
        </p:nvSpPr>
        <p:spPr>
          <a:xfrm>
            <a:off x="4996328" y="3398433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95C41D-409F-F519-5AC6-37E02508223C}"/>
              </a:ext>
            </a:extLst>
          </p:cNvPr>
          <p:cNvCxnSpPr>
            <a:cxnSpLocks/>
          </p:cNvCxnSpPr>
          <p:nvPr/>
        </p:nvCxnSpPr>
        <p:spPr>
          <a:xfrm>
            <a:off x="5433307" y="3115028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873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7B3-632C-3533-4B64-ACFDA53C6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B72816-989B-AD0D-DBA6-6B35FCE8A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92BDF9-EDC2-7F91-8CE0-A10AF36DA65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5EE680D-9341-2B0C-732A-473C93C99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058819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⎕NS⍬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old.var</a:t>
            </a:r>
            <a:r>
              <a:rPr lang="en-GB" dirty="0">
                <a:latin typeface="APL385 Unicode" panose="020B0709000202000203" pitchFamily="49" charset="0"/>
              </a:rPr>
              <a:t>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A0AE6E7-1DA8-05DF-F80D-126D3F86172D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AF1F77-C20F-A13F-9991-742979D1D315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A76D0-48A0-CB07-D606-465E2A0E34D5}"/>
              </a:ext>
            </a:extLst>
          </p:cNvPr>
          <p:cNvSpPr txBox="1"/>
          <p:nvPr/>
        </p:nvSpPr>
        <p:spPr>
          <a:xfrm>
            <a:off x="5674536" y="2571750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#.[Namespace]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C85AC2-3F3B-0466-A0DF-A74CD323532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5433307" y="1839145"/>
            <a:ext cx="1052956" cy="7326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040F405-EFAC-D124-A384-419683C4341D}"/>
              </a:ext>
            </a:extLst>
          </p:cNvPr>
          <p:cNvSpPr txBox="1"/>
          <p:nvPr/>
        </p:nvSpPr>
        <p:spPr>
          <a:xfrm>
            <a:off x="6217920" y="319766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var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1650CF-2602-C40E-313D-5B6E4BC9131F}"/>
              </a:ext>
            </a:extLst>
          </p:cNvPr>
          <p:cNvCxnSpPr>
            <a:cxnSpLocks/>
          </p:cNvCxnSpPr>
          <p:nvPr/>
        </p:nvCxnSpPr>
        <p:spPr>
          <a:xfrm>
            <a:off x="6517041" y="2941082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C8403BA-A77E-2BD9-8A14-40A6B7492BD1}"/>
              </a:ext>
            </a:extLst>
          </p:cNvPr>
          <p:cNvSpPr txBox="1"/>
          <p:nvPr/>
        </p:nvSpPr>
        <p:spPr>
          <a:xfrm>
            <a:off x="6080062" y="3836583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1 2 3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723E950-AF6A-F1A9-56EE-2686BCC5EC4C}"/>
              </a:ext>
            </a:extLst>
          </p:cNvPr>
          <p:cNvCxnSpPr>
            <a:cxnSpLocks/>
          </p:cNvCxnSpPr>
          <p:nvPr/>
        </p:nvCxnSpPr>
        <p:spPr>
          <a:xfrm>
            <a:off x="6517041" y="3553178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7FE5EA6-096E-5994-737C-583DD8744DBA}"/>
              </a:ext>
            </a:extLst>
          </p:cNvPr>
          <p:cNvSpPr txBox="1"/>
          <p:nvPr/>
        </p:nvSpPr>
        <p:spPr>
          <a:xfrm>
            <a:off x="71153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12F97FC-D953-36B8-CD78-6AFB093DB702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6662948" y="1848693"/>
            <a:ext cx="751558" cy="7230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7249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5D1DC-1885-BF8A-05EC-0B20390E6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9B76E9-AC23-54D6-4C20-3BE766035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5C8C5DE-7068-48F5-2774-A2B0FC1A3EC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1FBBB39-6EFB-EC82-83CD-32529220E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058819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⎕NS⍬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old.var</a:t>
            </a:r>
            <a:r>
              <a:rPr lang="en-GB" dirty="0">
                <a:latin typeface="APL385 Unicode" panose="020B0709000202000203" pitchFamily="49" charset="0"/>
              </a:rPr>
              <a:t>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old.var</a:t>
            </a:r>
            <a:r>
              <a:rPr lang="en-GB" dirty="0">
                <a:latin typeface="APL385 Unicode" panose="020B0709000202000203" pitchFamily="49" charset="0"/>
              </a:rPr>
              <a:t> ← '!!!'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D141E5-79F1-544F-425D-44B20ABC7728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9F67D2-6835-7375-5F12-8A3037899064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B885F-26ED-F05D-5665-F3A5C03DEB1F}"/>
              </a:ext>
            </a:extLst>
          </p:cNvPr>
          <p:cNvSpPr txBox="1"/>
          <p:nvPr/>
        </p:nvSpPr>
        <p:spPr>
          <a:xfrm>
            <a:off x="5674536" y="2571750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#.[Namespace]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40A22B-4D0F-2B62-8C2F-5CDA64E33F1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5433307" y="1839145"/>
            <a:ext cx="1052956" cy="7326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0A7C17-1A58-9AF2-414B-CE65062AF400}"/>
              </a:ext>
            </a:extLst>
          </p:cNvPr>
          <p:cNvSpPr txBox="1"/>
          <p:nvPr/>
        </p:nvSpPr>
        <p:spPr>
          <a:xfrm>
            <a:off x="6217920" y="319766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var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02661B-8653-6A02-9200-329C8989C3D7}"/>
              </a:ext>
            </a:extLst>
          </p:cNvPr>
          <p:cNvCxnSpPr>
            <a:cxnSpLocks/>
          </p:cNvCxnSpPr>
          <p:nvPr/>
        </p:nvCxnSpPr>
        <p:spPr>
          <a:xfrm>
            <a:off x="6517041" y="2941082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ECAA47-AD56-5BEC-DA6D-FE64E5D45D56}"/>
              </a:ext>
            </a:extLst>
          </p:cNvPr>
          <p:cNvSpPr txBox="1"/>
          <p:nvPr/>
        </p:nvSpPr>
        <p:spPr>
          <a:xfrm>
            <a:off x="6080062" y="3836583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'!!!'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099427-1512-3FDD-CB46-B0A0F2405217}"/>
              </a:ext>
            </a:extLst>
          </p:cNvPr>
          <p:cNvCxnSpPr>
            <a:cxnSpLocks/>
          </p:cNvCxnSpPr>
          <p:nvPr/>
        </p:nvCxnSpPr>
        <p:spPr>
          <a:xfrm>
            <a:off x="6517041" y="3553178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31A94A-BCE2-0C4A-13EC-F37E6F2EFD33}"/>
              </a:ext>
            </a:extLst>
          </p:cNvPr>
          <p:cNvSpPr txBox="1"/>
          <p:nvPr/>
        </p:nvSpPr>
        <p:spPr>
          <a:xfrm>
            <a:off x="71153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A7C5F7-EAC9-0056-4DF0-39A3E576503E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6662948" y="1848693"/>
            <a:ext cx="751558" cy="7230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6262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38007-7065-8D3B-58D4-2AE919207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5DEC00-7364-5C05-F68B-4125C3494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0E7441F-727E-0839-8784-664DF408B2B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D2FF5B-CF42-0D0E-3188-A0D18144D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058819" cy="324204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old ← ⎕NS⍬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old.var</a:t>
            </a:r>
            <a:r>
              <a:rPr lang="en-GB" dirty="0">
                <a:latin typeface="APL385 Unicode" panose="020B0709000202000203" pitchFamily="49" charset="0"/>
              </a:rPr>
              <a:t> ← 1 2 3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new ← old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old.var</a:t>
            </a:r>
            <a:r>
              <a:rPr lang="en-GB" dirty="0">
                <a:latin typeface="APL385 Unicode" panose="020B0709000202000203" pitchFamily="49" charset="0"/>
              </a:rPr>
              <a:t> ← '!!!'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⎕ ← </a:t>
            </a:r>
            <a:r>
              <a:rPr lang="en-GB" dirty="0" err="1">
                <a:latin typeface="APL385 Unicode" panose="020B0709000202000203" pitchFamily="49" charset="0"/>
              </a:rPr>
              <a:t>new.var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!!!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CF679-0CE0-9ED5-BE92-E2D9BB8F2FEF}"/>
              </a:ext>
            </a:extLst>
          </p:cNvPr>
          <p:cNvSpPr txBox="1">
            <a:spLocks/>
          </p:cNvSpPr>
          <p:nvPr/>
        </p:nvSpPr>
        <p:spPr>
          <a:xfrm>
            <a:off x="4572000" y="1264925"/>
            <a:ext cx="3828526" cy="3242040"/>
          </a:xfrm>
          <a:prstGeom prst="rect">
            <a:avLst/>
          </a:prstGeom>
          <a:solidFill>
            <a:srgbClr val="F6F6D9"/>
          </a:solidFill>
        </p:spPr>
        <p:txBody>
          <a:bodyPr vert="horz" lIns="91440" tIns="45720" rIns="91440" bIns="45720" rtlCol="0">
            <a:normAutofit/>
          </a:bodyPr>
          <a:lstStyle>
            <a:lvl1pPr marL="257175" indent="-25717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Arial" panose="020B0604020202020204" pitchFamily="34" charset="0"/>
              <a:buChar char="•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557213" indent="-214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100000"/>
              <a:buFont typeface="Calibri" panose="020F0502020204030204" pitchFamily="34" charset="0"/>
              <a:buChar char="–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8572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" panose="05000000000000000000" pitchFamily="2" charset="2"/>
              <a:buChar char="§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3716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Courier New" panose="02070309020205020404" pitchFamily="49" charset="0"/>
              <a:buChar char="o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615679" indent="-244079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Char char="‐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B6B9-A591-D209-6874-5625686B3FD3}"/>
              </a:ext>
            </a:extLst>
          </p:cNvPr>
          <p:cNvSpPr txBox="1"/>
          <p:nvPr/>
        </p:nvSpPr>
        <p:spPr>
          <a:xfrm>
            <a:off x="51341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old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08B1EA-82E8-B9D2-92B0-4E53643C34CA}"/>
              </a:ext>
            </a:extLst>
          </p:cNvPr>
          <p:cNvSpPr txBox="1"/>
          <p:nvPr/>
        </p:nvSpPr>
        <p:spPr>
          <a:xfrm>
            <a:off x="5674536" y="2571750"/>
            <a:ext cx="1976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#.[Namespace]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21C923-F9AA-37B0-4081-D1CB11778A1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5433307" y="1839145"/>
            <a:ext cx="1052956" cy="7326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32AF20C-BA49-AEDA-C5AE-2A4CECF15ADA}"/>
              </a:ext>
            </a:extLst>
          </p:cNvPr>
          <p:cNvSpPr txBox="1"/>
          <p:nvPr/>
        </p:nvSpPr>
        <p:spPr>
          <a:xfrm>
            <a:off x="6217920" y="3197661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var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F5E5A1-E65A-2688-E9AE-378E3CC854FA}"/>
              </a:ext>
            </a:extLst>
          </p:cNvPr>
          <p:cNvCxnSpPr>
            <a:cxnSpLocks/>
          </p:cNvCxnSpPr>
          <p:nvPr/>
        </p:nvCxnSpPr>
        <p:spPr>
          <a:xfrm>
            <a:off x="6517041" y="2941082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5850346-03A0-C141-EC0B-5BAAD38F5DA3}"/>
              </a:ext>
            </a:extLst>
          </p:cNvPr>
          <p:cNvSpPr txBox="1"/>
          <p:nvPr/>
        </p:nvSpPr>
        <p:spPr>
          <a:xfrm>
            <a:off x="6080062" y="3836583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'!!!'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25C5F6-433B-5267-3B57-492352E24A44}"/>
              </a:ext>
            </a:extLst>
          </p:cNvPr>
          <p:cNvCxnSpPr>
            <a:cxnSpLocks/>
          </p:cNvCxnSpPr>
          <p:nvPr/>
        </p:nvCxnSpPr>
        <p:spPr>
          <a:xfrm>
            <a:off x="6517041" y="3553178"/>
            <a:ext cx="0" cy="2876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0D44A76-643B-4D43-0EB8-C259A6499A24}"/>
              </a:ext>
            </a:extLst>
          </p:cNvPr>
          <p:cNvSpPr txBox="1"/>
          <p:nvPr/>
        </p:nvSpPr>
        <p:spPr>
          <a:xfrm>
            <a:off x="7115386" y="146981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new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98007A-0369-9E9C-39FD-7CE98489BC23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6662948" y="1848693"/>
            <a:ext cx="751558" cy="7230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450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9911C3-3DB8-DE9B-2E9F-AE4D38DB1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#</a:t>
            </a:r>
            <a:r>
              <a:rPr lang="en-GB" dirty="0"/>
              <a:t> is the root namespace that contains everything in the workspace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2E465B-B321-7BCB-6787-18AB9ABF2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Root Namespace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#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5FA0FB-5038-C2F7-73E2-7818606CFDE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1878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EDCBD9-876D-BB59-461B-B59E0F0A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⎕SE</a:t>
            </a:r>
            <a:r>
              <a:rPr lang="en-GB" dirty="0"/>
              <a:t> lives parallel to </a:t>
            </a:r>
            <a:r>
              <a:rPr lang="en-GB" dirty="0">
                <a:latin typeface="APL385 Unicode" panose="020B0709000202000203" pitchFamily="49" charset="0"/>
              </a:rPr>
              <a:t>#</a:t>
            </a:r>
            <a:r>
              <a:rPr lang="en-GB" dirty="0"/>
              <a:t> and contains IDE configuration and other tools</a:t>
            </a:r>
          </a:p>
          <a:p>
            <a:pPr marL="0" indent="0">
              <a:buNone/>
            </a:pPr>
            <a:r>
              <a:rPr lang="en-GB" dirty="0"/>
              <a:t>Its contents are in a session file </a:t>
            </a:r>
            <a:r>
              <a:rPr lang="en-GB" dirty="0">
                <a:solidFill>
                  <a:srgbClr val="FF6600"/>
                </a:solidFill>
              </a:rPr>
              <a:t>*.</a:t>
            </a:r>
            <a:r>
              <a:rPr lang="en-GB" dirty="0" err="1">
                <a:solidFill>
                  <a:srgbClr val="FF6600"/>
                </a:solidFill>
              </a:rPr>
              <a:t>dse</a:t>
            </a:r>
            <a:endParaRPr lang="en-GB" dirty="0">
              <a:solidFill>
                <a:srgbClr val="FF66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F2F570-8D58-5A8E-7176-FA037F5AC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Session Namespace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AB6A96-7FDD-E6DE-01D2-9512E2DD840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6EB3F5-5074-77F6-2855-A98022872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424" y="2828049"/>
            <a:ext cx="3419952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59B920-DE79-076F-2832-C2D5B53F6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⎕THIS</a:t>
            </a:r>
            <a:r>
              <a:rPr lang="en-GB" dirty="0"/>
              <a:t> is the namespace in which the current line of code is being run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E132EB-4775-EC23-4141-8CD2A3655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The Current Namespace (</a:t>
            </a:r>
            <a:r>
              <a:rPr lang="en-GB" sz="3400" dirty="0">
                <a:solidFill>
                  <a:srgbClr val="FF6600"/>
                </a:solidFill>
                <a:latin typeface="APL385 Unicode" panose="020B0709000202000203" pitchFamily="49" charset="0"/>
              </a:rPr>
              <a:t>⎕THIS</a:t>
            </a:r>
            <a:r>
              <a:rPr lang="en-GB" sz="34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998AD4-7894-6ABD-2A92-A9AA247DE2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730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4CC9A-4812-B376-7ACF-3C28D958D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406FA7-4632-ABBC-3570-469307735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sub.utils'⎕NS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a←sub.utils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⎕THIS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#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)CS sub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#.sub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⎕THIS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#.sub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+mj-lt"/>
              </a:rPr>
              <a:t>We can see if two references point to the same namespace using the match function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##.a ≡ utils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E059EB-E152-1F14-A0B4-E5D021CA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The Current Namespace (</a:t>
            </a:r>
            <a:r>
              <a:rPr lang="en-GB" sz="3400" dirty="0">
                <a:solidFill>
                  <a:srgbClr val="FF6600"/>
                </a:solidFill>
                <a:latin typeface="APL385 Unicode" panose="020B0709000202000203" pitchFamily="49" charset="0"/>
              </a:rPr>
              <a:t>⎕THIS</a:t>
            </a:r>
            <a:r>
              <a:rPr lang="en-GB" sz="34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DB199E-40AD-A693-CBFD-51BA3A5AD40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9874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069B83-7204-F524-1903-230F1D1FF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Names can be referenced using a full path or a </a:t>
            </a:r>
            <a:r>
              <a:rPr lang="en-GB" b="1" i="1" dirty="0">
                <a:solidFill>
                  <a:srgbClr val="FF6600"/>
                </a:solidFill>
              </a:rPr>
              <a:t>relative</a:t>
            </a:r>
            <a:r>
              <a:rPr lang="en-GB" dirty="0"/>
              <a:t> path from the current location: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obs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bigstring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docum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bigstring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.⎕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-⍳9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names in </a:t>
            </a:r>
            <a:r>
              <a:rPr lang="en-GB" dirty="0" err="1">
                <a:solidFill>
                  <a:srgbClr val="DD6DCD"/>
                </a:solidFill>
                <a:latin typeface="APL385 Unicode" panose="020B0709000202000203" pitchFamily="49" charset="0"/>
              </a:rPr>
              <a:t>bigstring</a:t>
            </a:r>
            <a:endParaRPr lang="en-GB" dirty="0">
              <a:solidFill>
                <a:srgbClr val="DD6DCD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    find1stQuotes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fixQuote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bigstring.N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relative path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123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2C0527-DD76-0D14-7E47-41A985C1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 References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6A45CD4-B6FE-5E8A-AE69-7A0DA11EBC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246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A4C52E-CB04-1A55-4061-6E393ED6A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632405" cy="3129187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/>
              <a:t>Names can be referenced using a </a:t>
            </a:r>
            <a:r>
              <a:rPr lang="en-GB" b="1" i="1" dirty="0">
                <a:solidFill>
                  <a:srgbClr val="FF6600"/>
                </a:solidFill>
              </a:rPr>
              <a:t>full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dirty="0"/>
              <a:t>path.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/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)cs #.text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move into #.text namespace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#.⎕nl-⍳9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what in root?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bigstring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	text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#.bigstring.N 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FULL path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123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</a:rPr>
              <a:t>A full path starts with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#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</a:rPr>
              <a:t>A relative path does not.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8A3E1C-AF2F-38B8-D351-86B5B17E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 References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5172B78-74A2-8F93-C2EB-3216FC7DB9C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9778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341A47-332B-B473-AE69-244E596CF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⎕PATH</a:t>
            </a:r>
            <a:r>
              <a:rPr lang="en-GB" dirty="0"/>
              <a:t> defines a search path for functions found in other namespaces.</a:t>
            </a:r>
          </a:p>
          <a:p>
            <a:pPr marL="0" indent="0">
              <a:buNone/>
            </a:pPr>
            <a:r>
              <a:rPr lang="en-GB" dirty="0"/>
              <a:t>For example, if </a:t>
            </a:r>
            <a:r>
              <a:rPr lang="en-GB" dirty="0">
                <a:latin typeface="APL385 Unicode" panose="020B0709000202000203" pitchFamily="49" charset="0"/>
              </a:rPr>
              <a:t>#.Utils</a:t>
            </a:r>
            <a:r>
              <a:rPr lang="en-GB" dirty="0"/>
              <a:t> contains utility function Average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)cs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myProject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#.myProject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Average  ⍳99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VALUE ERROR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⎕PATH←'#.Utils'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Average ⍳99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finds it in #.Utils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tx2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50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E588C1-22C0-354A-CA98-29D8703A7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Search Path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⎕PATH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B80A1F-312A-DFD4-800F-3F7F957D707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585F18-3CBE-4137-DC37-EBD682ED1EEC}"/>
              </a:ext>
            </a:extLst>
          </p:cNvPr>
          <p:cNvSpPr txBox="1"/>
          <p:nvPr/>
        </p:nvSpPr>
        <p:spPr>
          <a:xfrm>
            <a:off x="5019472" y="2399489"/>
            <a:ext cx="3138792" cy="923330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Rich thinks it is better to make explicit references than to use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⎕CS</a:t>
            </a:r>
            <a:r>
              <a:rPr lang="en-GB" dirty="0">
                <a:solidFill>
                  <a:schemeClr val="bg1"/>
                </a:solidFill>
              </a:rPr>
              <a:t> and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⎕PATH</a:t>
            </a:r>
          </a:p>
        </p:txBody>
      </p:sp>
    </p:spTree>
    <p:extLst>
      <p:ext uri="{BB962C8B-B14F-4D97-AF65-F5344CB8AC3E}">
        <p14:creationId xmlns:p14="http://schemas.microsoft.com/office/powerpoint/2010/main" val="1519996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B3C69F-1B3A-C120-032B-B55744031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Code within parentheses following a namespace reference is executed INSIDE the space: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#.bigstring.(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N←N+1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b="1" dirty="0">
                <a:solidFill>
                  <a:schemeClr val="tx1"/>
                </a:solidFill>
              </a:rPr>
              <a:t>Careful</a:t>
            </a:r>
            <a:r>
              <a:rPr lang="en-GB" dirty="0">
                <a:solidFill>
                  <a:schemeClr val="tx1"/>
                </a:solidFill>
              </a:rPr>
              <a:t>: Names in the current space are not visible when running code in another space:</a:t>
            </a:r>
          </a:p>
          <a:p>
            <a:pPr marL="0" indent="0">
              <a:spcAft>
                <a:spcPts val="0"/>
              </a:spcAft>
              <a:buNone/>
            </a:pPr>
            <a:b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MY←42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There.(2×MY)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VALUE ERROR: Undefined name: MY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There.(2×MY)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         ∧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There.{2×⍵}MY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84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E709A2-823D-D7ED-6220-7870BC2E0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within a Namespace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5F4E63C-5689-E304-DF65-C51E43AC7D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059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40A1EA-66E2-6A01-CA43-B18018BA4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GB" dirty="0"/>
              <a:t>Namespaces are like compartments within the workspace</a:t>
            </a:r>
          </a:p>
          <a:p>
            <a:pPr>
              <a:defRPr/>
            </a:pPr>
            <a:r>
              <a:rPr lang="en-GB" dirty="0"/>
              <a:t>Namespaces are created and manipulated with </a:t>
            </a:r>
            <a:r>
              <a:rPr lang="en-GB" dirty="0">
                <a:latin typeface="APL385 Unicode" panose="020B0709000202000203" pitchFamily="49" charset="0"/>
              </a:rPr>
              <a:t>⎕NS</a:t>
            </a:r>
          </a:p>
          <a:p>
            <a:pPr>
              <a:defRPr/>
            </a:pPr>
            <a:r>
              <a:rPr lang="en-GB" dirty="0"/>
              <a:t>The top namespace is called </a:t>
            </a:r>
            <a:r>
              <a:rPr lang="en-GB" dirty="0">
                <a:latin typeface="APL385 Unicode" panose="020B0709000202000203" pitchFamily="49" charset="0"/>
              </a:rPr>
              <a:t>#</a:t>
            </a:r>
          </a:p>
          <a:p>
            <a:pPr>
              <a:defRPr/>
            </a:pPr>
            <a:r>
              <a:rPr lang="en-GB" dirty="0"/>
              <a:t>The parent namespace is referred to as </a:t>
            </a:r>
            <a:r>
              <a:rPr lang="en-GB" dirty="0">
                <a:latin typeface="APL385 Unicode" panose="020B0709000202000203" pitchFamily="49" charset="0"/>
              </a:rPr>
              <a:t>##</a:t>
            </a:r>
          </a:p>
          <a:p>
            <a:pPr>
              <a:defRPr/>
            </a:pPr>
            <a:r>
              <a:rPr lang="en-GB" dirty="0"/>
              <a:t>Names can be referenced relatively or with a full path</a:t>
            </a:r>
          </a:p>
          <a:p>
            <a:pPr>
              <a:defRPr/>
            </a:pPr>
            <a:r>
              <a:rPr lang="en-GB" dirty="0"/>
              <a:t>Functions in another namespace can be accessed by using </a:t>
            </a:r>
            <a:r>
              <a:rPr lang="en-GB" dirty="0">
                <a:latin typeface="APL385 Unicode" panose="020B0709000202000203" pitchFamily="49" charset="0"/>
              </a:rPr>
              <a:t>⎕PATH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07F09B-1B0B-90D3-8899-C2750245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DB4AF4-50F9-07CE-F68E-E44F5C0A8F9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5389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158E8-2A57-CA61-55D4-A7379EB95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090FE9-3741-0E28-FD94-51C48D493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GB" dirty="0"/>
              <a:t>Code in parentheses following a dot is evaluated within the namespace(s) left of the dot</a:t>
            </a:r>
          </a:p>
          <a:p>
            <a:pPr>
              <a:defRPr/>
            </a:pPr>
            <a:r>
              <a:rPr lang="en-GB" dirty="0"/>
              <a:t>There is a special separate namespace named </a:t>
            </a:r>
            <a:r>
              <a:rPr lang="en-GB" dirty="0">
                <a:latin typeface="APL385 Unicode" panose="020B0709000202000203" pitchFamily="49" charset="0"/>
              </a:rPr>
              <a:t>⎕SE</a:t>
            </a:r>
            <a:r>
              <a:rPr lang="en-GB" dirty="0"/>
              <a:t> which holds the session objects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FD2E8-F0E6-BEA9-5BC4-3FD6AAB8E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7C11012-48CD-0F63-B7CC-8863E7A56ED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689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86F4C1-81F8-6DC3-FA00-5D228C350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1DDC874-0DE0-3797-6F00-23827619C35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437BF5BD-7ABD-15FA-E9E8-5A88CD7E4597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5882920">
            <a:off x="323850" y="1377950"/>
            <a:ext cx="8461375" cy="3128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054220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DBEDD0-B9B4-1E76-1BD3-B9D106FFF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namespace </a:t>
            </a:r>
            <a:r>
              <a:rPr lang="en-GB" dirty="0">
                <a:latin typeface="APL385 Unicode" panose="020B0709000202000203" pitchFamily="49" charset="0"/>
              </a:rPr>
              <a:t>N1</a:t>
            </a:r>
            <a:r>
              <a:rPr lang="en-GB" dirty="0"/>
              <a:t>, insert 2 numeric variables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B</a:t>
            </a:r>
          </a:p>
          <a:p>
            <a:r>
              <a:rPr lang="en-GB" dirty="0"/>
              <a:t>List the variables in namespace </a:t>
            </a:r>
            <a:r>
              <a:rPr lang="en-GB" dirty="0">
                <a:latin typeface="APL385 Unicode" panose="020B0709000202000203" pitchFamily="49" charset="0"/>
              </a:rPr>
              <a:t>N1</a:t>
            </a:r>
          </a:p>
          <a:p>
            <a:r>
              <a:rPr lang="en-GB" dirty="0"/>
              <a:t>Using a dotted expression with parentheses make </a:t>
            </a:r>
            <a:r>
              <a:rPr lang="en-GB" dirty="0">
                <a:latin typeface="APL385 Unicode" panose="020B0709000202000203" pitchFamily="49" charset="0"/>
              </a:rPr>
              <a:t>C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N1</a:t>
            </a:r>
            <a:r>
              <a:rPr lang="en-GB" dirty="0"/>
              <a:t> the sum of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B</a:t>
            </a:r>
            <a:endParaRPr lang="en-GB" i="1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6E2D8E-5F53-8452-E8AF-B6AFA083E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8447D75-ED56-EAD1-3353-7C69D072A96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712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56BA23-197D-D423-3CBB-5BC494190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Namespaces have name class 9</a:t>
            </a:r>
          </a:p>
          <a:p>
            <a:pPr marL="0" indent="0">
              <a:buNone/>
            </a:pPr>
            <a:r>
              <a:rPr lang="en-GB" dirty="0"/>
              <a:t>Namespaces in </a:t>
            </a:r>
            <a:r>
              <a:rPr lang="en-GB" dirty="0">
                <a:latin typeface="APL385 Unicode" panose="020B0709000202000203" pitchFamily="49" charset="0"/>
              </a:rPr>
              <a:t>⎕THIS</a:t>
            </a:r>
            <a:r>
              <a:rPr lang="en-GB" dirty="0"/>
              <a:t> can be viewed using: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)OBS</a:t>
            </a:r>
            <a:r>
              <a:rPr lang="en-GB" dirty="0"/>
              <a:t> or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)OBJECTS</a:t>
            </a:r>
            <a:r>
              <a:rPr lang="en-GB" dirty="0"/>
              <a:t> system commands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 9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]Names 9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E7CF7F-ABB8-A306-3A2B-258E5AFE5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 References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63DEFEC-11EE-1720-DF41-747DCBAFE4C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404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BE4B91-88DA-F6EB-34F9-EE0BA2B6D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Namespace references are simple scalars.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≡sub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≢⍴sub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2⍴sub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#.sub  #.sub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#.sub  #.sub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2E046D-4FC0-13DF-F10F-C0FE07651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 References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761AB2-CD75-D9CA-9809-A094B1D3B4B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418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62F09A-4B76-2491-D1C5-3B956B8BC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Create with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+mj-lt"/>
              </a:rPr>
              <a:t>Dyadic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 creates a named namespace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'⎕NS''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#.myNS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The result of dyadic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>
                <a:solidFill>
                  <a:schemeClr val="tx1"/>
                </a:solidFill>
              </a:rPr>
              <a:t> is a character vector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E444B5-A075-052E-AF5E-91F0B4D76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4C043A-824A-AA7B-ED12-A5DE6F8A92E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95911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955E99-2ECF-A961-0497-93C2AAAC7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Monadic </a:t>
            </a:r>
            <a:r>
              <a:rPr lang="en-GB" dirty="0">
                <a:latin typeface="APL385 Unicode" panose="020B0709000202000203" pitchFamily="49" charset="0"/>
              </a:rPr>
              <a:t>⎕NS</a:t>
            </a:r>
            <a:r>
              <a:rPr lang="en-GB" dirty="0"/>
              <a:t> will create a namespace without a name: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new← ⎕NS ''</a:t>
            </a:r>
          </a:p>
          <a:p>
            <a:pPr marL="0" indent="0">
              <a:buNone/>
            </a:pPr>
            <a:r>
              <a:rPr lang="en-GB">
                <a:latin typeface="APL385 Unicode" panose="020B0709000202000203" pitchFamily="49" charset="0"/>
              </a:rPr>
              <a:t>#.[Namespace</a:t>
            </a:r>
            <a:r>
              <a:rPr lang="en-GB" dirty="0">
                <a:latin typeface="APL385 Unicode" panose="020B0709000202000203" pitchFamily="49" charset="0"/>
              </a:rPr>
              <a:t>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'new'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9.1  9.1</a:t>
            </a:r>
          </a:p>
          <a:p>
            <a:pPr marL="0" indent="0">
              <a:buNone/>
            </a:pPr>
            <a:r>
              <a:rPr lang="en-GB" dirty="0"/>
              <a:t>The result of monadic </a:t>
            </a:r>
            <a:r>
              <a:rPr lang="en-GB" dirty="0">
                <a:latin typeface="APL385 Unicode" panose="020B0709000202000203" pitchFamily="49" charset="0"/>
              </a:rPr>
              <a:t>⎕NS</a:t>
            </a:r>
            <a:r>
              <a:rPr lang="en-GB" dirty="0"/>
              <a:t> is a scalar reference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8EFACA-7BE2-FD67-FCE8-F6DFAC3E1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D7A31EF-AFBD-E465-9759-EE82863FB9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6355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1BBB6C-A06F-1172-7AA4-110CCE49A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user ← ⎕NS¨4⍴⊂''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user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#.[Namespace]  #.[Namespace]  #.[Namespace]  #.[Namespace]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user.name ← 'Abbie' 'Bobby' 'Charlie' 'Dave'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user.id ← ?4⍴10</a:t>
            </a:r>
          </a:p>
          <a:p>
            <a:pPr marL="0" indent="0">
              <a:buNone/>
            </a:pPr>
            <a:endParaRPr lang="en-GB" sz="1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AEBC42-EDBC-52F7-AE34-9599F1EB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Arrays of 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DC748C-1461-D8C1-5225-27050908AC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22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321F0-623C-CF79-AE74-195DB99B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CED129-75AE-2C3C-F026-3F997E542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user[1 2 4].goo ←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user[3].name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Charlie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user.name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┌─────┬─────┬───────┬────┐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</a:t>
            </a:r>
            <a:r>
              <a:rPr lang="en-GB" sz="1800" dirty="0" err="1">
                <a:latin typeface="APL385 Unicode" panose="020B0709000202000203" pitchFamily="49" charset="0"/>
              </a:rPr>
              <a:t>Abbie│Bobby│Charlie│Dave</a:t>
            </a:r>
            <a:r>
              <a:rPr lang="en-GB" sz="1800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└─────┴─────┴───────┴────┘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user.goo</a:t>
            </a:r>
            <a:endParaRPr lang="en-GB" sz="18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VALUE ERROR: Undefined name: goo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 err="1">
                <a:latin typeface="APL385 Unicode" panose="020B0709000202000203" pitchFamily="49" charset="0"/>
              </a:rPr>
              <a:t>user.goo</a:t>
            </a:r>
            <a:endParaRPr lang="en-GB" sz="1800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     ∧</a:t>
            </a:r>
            <a:endParaRPr lang="en-GB" sz="1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349484-2BA7-995E-C90E-1137C6D95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Arrays of 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91AA19-5F9C-4BEE-8EF4-4CCC7A91460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3088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D02EE5-1D60-5137-CD71-F8402E517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a-DK" dirty="0"/>
              <a:t>The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  <a:r>
              <a:rPr lang="da-DK" dirty="0"/>
              <a:t> system function allows you to change into a new space.</a:t>
            </a:r>
          </a:p>
          <a:p>
            <a:pPr marL="0" indent="0">
              <a:buNone/>
            </a:pPr>
            <a:r>
              <a:rPr lang="da-DK" dirty="0"/>
              <a:t>As does the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:With</a:t>
            </a:r>
            <a:r>
              <a:rPr lang="da-DK" dirty="0"/>
              <a:t> control structure:</a:t>
            </a:r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∇ MyFoo;R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[1] R←'   hello'</a:t>
            </a:r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[2] :With #.Utils</a:t>
            </a:r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[3]     R←dlb R</a:t>
            </a:r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[4] :EndWith</a:t>
            </a:r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∇</a:t>
            </a:r>
          </a:p>
          <a:p>
            <a:pPr marL="0" indent="0">
              <a:buNone/>
            </a:pPr>
            <a:r>
              <a:rPr lang="da-DK" b="1" dirty="0">
                <a:solidFill>
                  <a:srgbClr val="FF6600"/>
                </a:solidFill>
                <a:latin typeface="APL385 Unicode" panose="020B0709000202000203" pitchFamily="49" charset="0"/>
              </a:rPr>
              <a:t>:With</a:t>
            </a:r>
            <a:r>
              <a:rPr lang="da-DK" dirty="0"/>
              <a:t> temporarily copies local variables (except refs) into the target space.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D0CD09-0117-A834-B1D6-AFC1E3A8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:With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27B170-216E-9B99-8370-83E682BC5E5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6416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9C4E-BC14-FF85-B990-53C3F82BB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C945E1-EC49-E9E1-71B5-B226F290C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a-DK" dirty="0"/>
              <a:t>Morten thinks </a:t>
            </a:r>
            <a:r>
              <a:rPr lang="da-DK" dirty="0">
                <a:latin typeface="APL385 Unicode" panose="020B0709000202000203" pitchFamily="49" charset="0"/>
              </a:rPr>
              <a:t>:With </a:t>
            </a:r>
            <a:r>
              <a:rPr lang="da-DK" dirty="0"/>
              <a:t>and </a:t>
            </a:r>
            <a:r>
              <a:rPr lang="da-DK" dirty="0">
                <a:latin typeface="APL385 Unicode" panose="020B0709000202000203" pitchFamily="49" charset="0"/>
              </a:rPr>
              <a:t>⎕CS</a:t>
            </a:r>
            <a:r>
              <a:rPr lang="da-DK" dirty="0"/>
              <a:t> are too clever. He recommends:</a:t>
            </a:r>
            <a:br>
              <a:rPr lang="da-DK" dirty="0"/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U←#.Utils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R←U.dlb R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/>
              <a:t>... or using </a:t>
            </a:r>
            <a:r>
              <a:rPr lang="da-DK" dirty="0">
                <a:latin typeface="APL385 Unicode" panose="020B0709000202000203" pitchFamily="49" charset="0"/>
              </a:rPr>
              <a:t>⎕PATH</a:t>
            </a:r>
            <a:r>
              <a:rPr lang="da-DK" dirty="0"/>
              <a:t> to reach utilities.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:With was invented for creating or working with GUI:</a:t>
            </a:r>
            <a:br>
              <a:rPr lang="da-DK" dirty="0">
                <a:solidFill>
                  <a:schemeClr val="tx1"/>
                </a:solidFill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∇ make caption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[1]    :With 'MyForm' ⎕WC 'Form'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[2]        Caption←caption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[3]        Coord←'Pixel'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[4]        Size←400 800 ⋄ Posn←20 30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[5]        onClose←'HandleClose'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EA6F6A-FEF3-89DD-23BE-83458F2E5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:With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2564B6-3E76-511C-A862-195A75B52E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11997-6CF6-53BC-17D3-FDFA7B4837A1}"/>
              </a:ext>
            </a:extLst>
          </p:cNvPr>
          <p:cNvSpPr txBox="1"/>
          <p:nvPr/>
        </p:nvSpPr>
        <p:spPr>
          <a:xfrm>
            <a:off x="5836595" y="2846961"/>
            <a:ext cx="3138792" cy="923330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Rich thinks it is better to make explicit references than to use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⎕CS</a:t>
            </a:r>
            <a:r>
              <a:rPr lang="en-GB" dirty="0">
                <a:solidFill>
                  <a:schemeClr val="bg1"/>
                </a:solidFill>
              </a:rPr>
              <a:t> and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⎕PATH</a:t>
            </a:r>
          </a:p>
        </p:txBody>
      </p:sp>
    </p:spTree>
    <p:extLst>
      <p:ext uri="{BB962C8B-B14F-4D97-AF65-F5344CB8AC3E}">
        <p14:creationId xmlns:p14="http://schemas.microsoft.com/office/powerpoint/2010/main" val="28067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056D4F-EB69-0D16-88BC-363C78A24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Calling a function in another namespace changes context to that namespace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88A34C-944D-D575-B9A9-764994158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 and 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5B574B8-C64F-59F7-0499-AC23353A4E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8859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1064-4147-5A3D-48AC-96F568201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8B433C-7009-7D4C-C665-1FFEF1E1E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Calling a function in another namespace changes context to that namespace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Utils'⎕NS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Utils.Sum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←{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+/⍵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}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∇ Foo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arg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[1]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Utils.Sum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arg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[2]  ∇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C41C5-D2E0-7271-97D4-114DB3B6B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 and 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1168E54-7B45-0496-0D9F-530F89E0ED7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9849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E6E580-61B3-1631-148C-5D225C801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There are several system variables to deal with the functions on the stack: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⎕LC   	</a:t>
            </a:r>
            <a:r>
              <a:rPr lang="en-GB" dirty="0">
                <a:solidFill>
                  <a:schemeClr val="tx1"/>
                </a:solidFill>
              </a:rPr>
              <a:t>the line numbers of the </a:t>
            </a:r>
            <a:r>
              <a:rPr lang="en-GB" dirty="0" err="1">
                <a:solidFill>
                  <a:schemeClr val="tx1"/>
                </a:solidFill>
              </a:rPr>
              <a:t>fns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⎕NSI 		</a:t>
            </a:r>
            <a:r>
              <a:rPr lang="en-GB" dirty="0">
                <a:solidFill>
                  <a:schemeClr val="tx1"/>
                </a:solidFill>
                <a:latin typeface="APL385 Unicode" pitchFamily="49" charset="0"/>
              </a:rPr>
              <a:t>t</a:t>
            </a:r>
            <a:r>
              <a:rPr lang="en-GB" dirty="0">
                <a:solidFill>
                  <a:schemeClr val="tx1"/>
                </a:solidFill>
              </a:rPr>
              <a:t>he namespaces prior to call (char)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⎕RSI  	</a:t>
            </a:r>
            <a:r>
              <a:rPr lang="en-GB" dirty="0">
                <a:solidFill>
                  <a:schemeClr val="tx1"/>
                </a:solidFill>
              </a:rPr>
              <a:t>the namespaces prior to call (ref)</a:t>
            </a:r>
            <a:r>
              <a:rPr lang="en-GB" dirty="0">
                <a:solidFill>
                  <a:schemeClr val="tx1"/>
                </a:solidFill>
                <a:latin typeface="APL385 Unicode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⎕SI   	</a:t>
            </a:r>
            <a:r>
              <a:rPr lang="en-GB" dirty="0">
                <a:solidFill>
                  <a:schemeClr val="tx1"/>
                </a:solidFill>
              </a:rPr>
              <a:t>the functions on the stack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⎕XSI  	</a:t>
            </a:r>
            <a:r>
              <a:rPr lang="en-GB" dirty="0">
                <a:solidFill>
                  <a:schemeClr val="tx1"/>
                </a:solidFill>
              </a:rPr>
              <a:t>the functions on the </a:t>
            </a:r>
            <a:r>
              <a:rPr lang="en-GB" dirty="0" err="1">
                <a:solidFill>
                  <a:schemeClr val="tx1"/>
                </a:solidFill>
              </a:rPr>
              <a:t>stack+namespace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tx1"/>
                </a:solidFill>
                <a:latin typeface="APL385 Unicode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⎕STACK 	</a:t>
            </a:r>
            <a:r>
              <a:rPr lang="en-GB" dirty="0">
                <a:solidFill>
                  <a:schemeClr val="tx1"/>
                </a:solidFill>
              </a:rPr>
              <a:t>the stack of </a:t>
            </a:r>
            <a:r>
              <a:rPr lang="en-GB" dirty="0" err="1">
                <a:solidFill>
                  <a:schemeClr val="tx1"/>
                </a:solidFill>
              </a:rPr>
              <a:t>functions+state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676482-B717-DD05-BF73-76170B7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 and Namespaces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214C18-3383-1357-91C4-EE298E62DD7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7338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9982AF1-3AC0-538A-E334-626E9083E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All the session menus, toolbars, status bars, etc. are contained in a namespace called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⎕SE</a:t>
            </a:r>
            <a:r>
              <a:rPr lang="en-GB" dirty="0"/>
              <a:t>.</a:t>
            </a:r>
          </a:p>
          <a:p>
            <a:pPr marL="0" indent="0">
              <a:buNone/>
              <a:defRPr/>
            </a:pPr>
            <a:r>
              <a:rPr lang="en-GB" dirty="0"/>
              <a:t>The contents of </a:t>
            </a:r>
            <a:r>
              <a:rPr lang="en-GB" dirty="0">
                <a:latin typeface="APL385 Unicode" panose="020B0709000202000203" pitchFamily="49" charset="0"/>
              </a:rPr>
              <a:t>⎕SE</a:t>
            </a:r>
            <a:r>
              <a:rPr lang="en-GB" dirty="0"/>
              <a:t> survive </a:t>
            </a:r>
            <a:r>
              <a:rPr lang="en-GB" dirty="0">
                <a:latin typeface="APL385 Unicode" panose="020B0709000202000203" pitchFamily="49" charset="0"/>
              </a:rPr>
              <a:t>)LOAD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)CLEAR</a:t>
            </a:r>
            <a:r>
              <a:rPr lang="en-GB" dirty="0"/>
              <a:t>, and can contain tools that are always available.</a:t>
            </a:r>
          </a:p>
          <a:p>
            <a:pPr marL="0" indent="0">
              <a:buNone/>
              <a:defRPr/>
            </a:pPr>
            <a:r>
              <a:rPr lang="da-DK" dirty="0">
                <a:latin typeface="APL385 Unicode" panose="020B0709000202000203" pitchFamily="49" charset="0"/>
              </a:rPr>
              <a:t>⎕S</a:t>
            </a:r>
            <a:r>
              <a:rPr lang="en-GB" dirty="0">
                <a:latin typeface="APL385 Unicode" panose="020B0709000202000203" pitchFamily="49" charset="0"/>
              </a:rPr>
              <a:t>E</a:t>
            </a:r>
            <a:r>
              <a:rPr lang="en-GB" dirty="0"/>
              <a:t> is parallel to, rather than contained within, </a:t>
            </a:r>
            <a:r>
              <a:rPr lang="en-GB" dirty="0">
                <a:latin typeface="APL385 Unicode" panose="020B0709000202000203" pitchFamily="49" charset="0"/>
              </a:rPr>
              <a:t>#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28F09B-0574-2BE1-FB5F-A414B372E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Session Namespace (</a:t>
            </a:r>
            <a:r>
              <a:rPr lang="en-GB" dirty="0">
                <a:latin typeface="APL385 Unicode" panose="020B0709000202000203" pitchFamily="49" charset="0"/>
              </a:rPr>
              <a:t>⎕SE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6C3DE37-B0B6-24F4-9970-D7CE8EEF693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7839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CEE6E-6B0A-CBEF-15FA-FD026D1F3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1B5D4A-5018-6709-08C5-AFDD5D945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All the session menus, toolbars, status bars, etc. are contained in a namespace called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⎕SE</a:t>
            </a:r>
            <a:r>
              <a:rPr lang="en-GB" dirty="0"/>
              <a:t>.</a:t>
            </a:r>
          </a:p>
          <a:p>
            <a:pPr marL="0" indent="0">
              <a:buNone/>
              <a:defRPr/>
            </a:pPr>
            <a:r>
              <a:rPr lang="en-GB" dirty="0"/>
              <a:t>The contents of </a:t>
            </a:r>
            <a:r>
              <a:rPr lang="en-GB" dirty="0">
                <a:latin typeface="APL385 Unicode" panose="020B0709000202000203" pitchFamily="49" charset="0"/>
              </a:rPr>
              <a:t>⎕SE</a:t>
            </a:r>
            <a:r>
              <a:rPr lang="en-GB" dirty="0"/>
              <a:t> survive </a:t>
            </a:r>
            <a:r>
              <a:rPr lang="en-GB" dirty="0">
                <a:latin typeface="APL385 Unicode" panose="020B0709000202000203" pitchFamily="49" charset="0"/>
              </a:rPr>
              <a:t>)LOAD</a:t>
            </a:r>
            <a:r>
              <a:rPr lang="en-GB" dirty="0"/>
              <a:t> and </a:t>
            </a:r>
            <a:r>
              <a:rPr lang="en-GB" dirty="0">
                <a:latin typeface="APL385 Unicode" panose="020B0709000202000203" pitchFamily="49" charset="0"/>
              </a:rPr>
              <a:t>)CLEAR</a:t>
            </a:r>
            <a:r>
              <a:rPr lang="en-GB" dirty="0"/>
              <a:t>, and can contain tools that are always available.</a:t>
            </a:r>
          </a:p>
          <a:p>
            <a:pPr marL="0" indent="0">
              <a:buNone/>
              <a:defRPr/>
            </a:pPr>
            <a:r>
              <a:rPr lang="da-DK" dirty="0">
                <a:latin typeface="APL385 Unicode" panose="020B0709000202000203" pitchFamily="49" charset="0"/>
              </a:rPr>
              <a:t>⎕S</a:t>
            </a:r>
            <a:r>
              <a:rPr lang="en-GB" dirty="0">
                <a:latin typeface="APL385 Unicode" panose="020B0709000202000203" pitchFamily="49" charset="0"/>
              </a:rPr>
              <a:t>E</a:t>
            </a:r>
            <a:r>
              <a:rPr lang="en-GB" dirty="0"/>
              <a:t> is parallel to, rather than contained within, </a:t>
            </a:r>
            <a:r>
              <a:rPr lang="en-GB" dirty="0">
                <a:latin typeface="APL385 Unicode" panose="020B0709000202000203" pitchFamily="49" charset="0"/>
              </a:rPr>
              <a:t>#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64F897-AEFA-5431-272C-5BF17A6DB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Session Namespace (</a:t>
            </a:r>
            <a:r>
              <a:rPr lang="en-GB" dirty="0">
                <a:latin typeface="APL385 Unicode" panose="020B0709000202000203" pitchFamily="49" charset="0"/>
              </a:rPr>
              <a:t>⎕SE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DF4473-85AD-062E-4F26-66A6D4B54E9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4DEE7B-276D-F1D1-3033-E56B31CEC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156" y="342589"/>
            <a:ext cx="2781688" cy="44583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97485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556C19-6104-0FCC-B012-08E265F81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838A90-D87B-69EA-91FD-DEA9CCE72F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296417BD-45A4-9270-9E87-44212074B2D1}"/>
              </a:ext>
            </a:extLst>
          </p:cNvPr>
          <p:cNvSpPr txBox="1">
            <a:spLocks/>
          </p:cNvSpPr>
          <p:nvPr/>
        </p:nvSpPr>
        <p:spPr>
          <a:xfrm rot="8337972">
            <a:off x="323527" y="1365421"/>
            <a:ext cx="8443592" cy="3141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35566833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60714A-34AA-8C6F-00EA-C6F5AB383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W</a:t>
            </a:r>
            <a:r>
              <a:rPr lang="en-GB" dirty="0"/>
              <a:t>rite a function in one namespace and call it from a function in another. While tracing the functions, inspect the value of </a:t>
            </a:r>
            <a:r>
              <a:rPr lang="en-GB" dirty="0">
                <a:latin typeface="APL385 Unicode" panose="020B0709000202000203" pitchFamily="49" charset="0"/>
              </a:rPr>
              <a:t>⎕SI </a:t>
            </a:r>
            <a:r>
              <a:rPr lang="en-GB" dirty="0"/>
              <a:t>and </a:t>
            </a:r>
            <a:r>
              <a:rPr lang="en-GB" dirty="0">
                <a:latin typeface="APL385 Unicode" panose="020B0709000202000203" pitchFamily="49" charset="0"/>
              </a:rPr>
              <a:t>⎕XSI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99F24-700D-FD42-1A4C-B273E2961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D23484B-85DA-FD33-09F0-5A49F73A2DC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037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1861</TotalTime>
  <Words>1573</Words>
  <Application>Microsoft Office PowerPoint</Application>
  <PresentationFormat>On-screen Show (16:9)</PresentationFormat>
  <Paragraphs>256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Arial</vt:lpstr>
      <vt:lpstr>Sarabun</vt:lpstr>
      <vt:lpstr>Wingdings 2</vt:lpstr>
      <vt:lpstr>APL385 Unicode</vt:lpstr>
      <vt:lpstr>Calibri</vt:lpstr>
      <vt:lpstr>Office Theme</vt:lpstr>
      <vt:lpstr>APL Bootcamp</vt:lpstr>
      <vt:lpstr>Namespaces</vt:lpstr>
      <vt:lpstr>Namespaces</vt:lpstr>
      <vt:lpstr>Namespaces</vt:lpstr>
      <vt:lpstr>PowerPoint Presentation</vt:lpstr>
      <vt:lpstr>Namespace References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Root Namespace (#)</vt:lpstr>
      <vt:lpstr>The Session Namespace (⎕SE)</vt:lpstr>
      <vt:lpstr>The Current Namespace (⎕THIS)</vt:lpstr>
      <vt:lpstr>The Current Namespace (⎕THIS)</vt:lpstr>
      <vt:lpstr>Namespace References</vt:lpstr>
      <vt:lpstr>Namespace References</vt:lpstr>
      <vt:lpstr>Search Path (⎕PATH)</vt:lpstr>
      <vt:lpstr>Execution within a Namespace</vt:lpstr>
      <vt:lpstr>Review</vt:lpstr>
      <vt:lpstr>Review</vt:lpstr>
      <vt:lpstr>Questions?</vt:lpstr>
      <vt:lpstr>Exercises</vt:lpstr>
      <vt:lpstr>Namespace References</vt:lpstr>
      <vt:lpstr>Namespace References</vt:lpstr>
      <vt:lpstr>Namespaces</vt:lpstr>
      <vt:lpstr>Namespaces</vt:lpstr>
      <vt:lpstr>Arrays of Namespaces</vt:lpstr>
      <vt:lpstr>Arrays of Namespaces</vt:lpstr>
      <vt:lpstr>:With and ⎕CS</vt:lpstr>
      <vt:lpstr>:With and ⎕CS</vt:lpstr>
      <vt:lpstr>The Stack and Namespaces</vt:lpstr>
      <vt:lpstr>The Stack and Namespaces</vt:lpstr>
      <vt:lpstr>The Stack and Namespaces</vt:lpstr>
      <vt:lpstr>The Session Namespace (⎕SE)</vt:lpstr>
      <vt:lpstr>The Session Namespace (⎕SE)</vt:lpstr>
      <vt:lpstr>Questions?</vt:lpstr>
      <vt:lpstr>Exercise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269</cp:revision>
  <dcterms:created xsi:type="dcterms:W3CDTF">2019-07-25T11:46:05Z</dcterms:created>
  <dcterms:modified xsi:type="dcterms:W3CDTF">2025-09-11T14:18:38Z</dcterms:modified>
</cp:coreProperties>
</file>