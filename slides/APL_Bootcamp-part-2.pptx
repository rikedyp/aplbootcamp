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258" r:id="rId2"/>
    <p:sldId id="999" r:id="rId3"/>
    <p:sldId id="1001" r:id="rId4"/>
    <p:sldId id="1002" r:id="rId5"/>
    <p:sldId id="1009" r:id="rId6"/>
    <p:sldId id="1012" r:id="rId7"/>
    <p:sldId id="1031" r:id="rId8"/>
    <p:sldId id="1032" r:id="rId9"/>
    <p:sldId id="1036" r:id="rId10"/>
    <p:sldId id="1038" r:id="rId11"/>
    <p:sldId id="1039" r:id="rId12"/>
    <p:sldId id="1040" r:id="rId13"/>
    <p:sldId id="1041" r:id="rId14"/>
    <p:sldId id="1025" r:id="rId15"/>
    <p:sldId id="1026" r:id="rId16"/>
    <p:sldId id="1029" r:id="rId17"/>
    <p:sldId id="1030" r:id="rId18"/>
    <p:sldId id="1059" r:id="rId19"/>
    <p:sldId id="1028" r:id="rId20"/>
    <p:sldId id="1000" r:id="rId21"/>
    <p:sldId id="1013" r:id="rId22"/>
    <p:sldId id="1014" r:id="rId23"/>
    <p:sldId id="1024" r:id="rId24"/>
    <p:sldId id="1027" r:id="rId25"/>
    <p:sldId id="338" r:id="rId26"/>
    <p:sldId id="339" r:id="rId27"/>
    <p:sldId id="1035" r:id="rId28"/>
    <p:sldId id="1015" r:id="rId29"/>
    <p:sldId id="266" r:id="rId30"/>
    <p:sldId id="260" r:id="rId31"/>
    <p:sldId id="261" r:id="rId32"/>
    <p:sldId id="262" r:id="rId33"/>
    <p:sldId id="263" r:id="rId34"/>
    <p:sldId id="264" r:id="rId35"/>
    <p:sldId id="259" r:id="rId36"/>
    <p:sldId id="267" r:id="rId37"/>
    <p:sldId id="1042" r:id="rId38"/>
    <p:sldId id="1043" r:id="rId39"/>
    <p:sldId id="1045" r:id="rId40"/>
    <p:sldId id="1046" r:id="rId41"/>
    <p:sldId id="1051" r:id="rId42"/>
    <p:sldId id="1054" r:id="rId43"/>
    <p:sldId id="1052" r:id="rId44"/>
    <p:sldId id="1053" r:id="rId45"/>
    <p:sldId id="1055" r:id="rId46"/>
    <p:sldId id="1057" r:id="rId47"/>
    <p:sldId id="1056" r:id="rId48"/>
    <p:sldId id="1047" r:id="rId49"/>
    <p:sldId id="1050" r:id="rId50"/>
    <p:sldId id="1048" r:id="rId51"/>
    <p:sldId id="1049" r:id="rId52"/>
    <p:sldId id="1061" r:id="rId53"/>
    <p:sldId id="269" r:id="rId54"/>
    <p:sldId id="268" r:id="rId55"/>
    <p:sldId id="270" r:id="rId56"/>
    <p:sldId id="272" r:id="rId57"/>
    <p:sldId id="756" r:id="rId58"/>
    <p:sldId id="757" r:id="rId59"/>
    <p:sldId id="758" r:id="rId60"/>
    <p:sldId id="759" r:id="rId61"/>
    <p:sldId id="768" r:id="rId62"/>
    <p:sldId id="769" r:id="rId63"/>
    <p:sldId id="1044" r:id="rId64"/>
    <p:sldId id="1058" r:id="rId65"/>
    <p:sldId id="1034" r:id="rId66"/>
    <p:sldId id="760" r:id="rId67"/>
  </p:sldIdLst>
  <p:sldSz cx="9144000" cy="5143500" type="screen16x9"/>
  <p:notesSz cx="6858000" cy="9144000"/>
  <p:embeddedFontLst>
    <p:embeddedFont>
      <p:font typeface="APL385 Unicode" panose="020B0709000202000203" pitchFamily="49" charset="0"/>
      <p:regular r:id="rId70"/>
    </p:embeddedFont>
    <p:embeddedFont>
      <p:font typeface="Dyalog Std TT" panose="02090309000202000203" pitchFamily="49" charset="2"/>
      <p:regular r:id="rId71"/>
    </p:embeddedFont>
    <p:embeddedFont>
      <p:font typeface="Sarabun" panose="00000500000000000000" pitchFamily="2" charset="-34"/>
      <p:regular r:id="rId72"/>
      <p:bold r:id="rId73"/>
      <p:italic r:id="rId74"/>
      <p:boldItalic r:id="rId75"/>
    </p:embeddedFont>
    <p:embeddedFont>
      <p:font typeface="Wingdings 2" panose="05020102010507070707" pitchFamily="18" charset="2"/>
      <p:regular r:id="rId7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3B475E"/>
    <a:srgbClr val="5A6D8F"/>
    <a:srgbClr val="ED7F00"/>
    <a:srgbClr val="FDFDF5"/>
    <a:srgbClr val="F6F6D9"/>
    <a:srgbClr val="BBB5D6"/>
    <a:srgbClr val="928ABD"/>
    <a:srgbClr val="3735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95508" autoAdjust="0"/>
  </p:normalViewPr>
  <p:slideViewPr>
    <p:cSldViewPr snapToGrid="0">
      <p:cViewPr varScale="1">
        <p:scale>
          <a:sx n="139" d="100"/>
          <a:sy n="139" d="100"/>
        </p:scale>
        <p:origin x="73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693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5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3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1.fntdata"/><Relationship Id="rId75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4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NULL"/><Relationship Id="rId7" Type="http://schemas.openxmlformats.org/officeDocument/2006/relationships/slide" Target="slides/slide6.xml"/><Relationship Id="rId71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6A3BD-28BD-4949-B52F-24E999822598}" type="datetimeFigureOut">
              <a:rPr lang="en-GB" smtClean="0">
                <a:latin typeface="Sarabun" panose="00000500000000000000" pitchFamily="2" charset="-34"/>
              </a:rPr>
              <a:t>10/08/2025</a:t>
            </a:fld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70AB-76A5-41F1-9753-9FE7E667F0C0}" type="slidenum">
              <a:rPr lang="en-GB" smtClean="0">
                <a:latin typeface="Sarabun" panose="00000500000000000000" pitchFamily="2" charset="-34"/>
              </a:rPr>
              <a:t>‹#›</a:t>
            </a:fld>
            <a:endParaRPr lang="en-GB" dirty="0">
              <a:latin typeface="Sarabun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471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CDEAEF8A-5BB8-41C8-B8C2-160617C17EF4}" type="datetimeFigureOut">
              <a:rPr lang="en-GB" smtClean="0"/>
              <a:pPr/>
              <a:t>10/08/2025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4320660A-27FD-4528-AE7F-EC6080404EE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13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060" y="1688053"/>
            <a:ext cx="5073517" cy="17673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45061" y="3741620"/>
            <a:ext cx="5073516" cy="1024109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i="1" baseline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 useBgFill="1">
        <p:nvSpPr>
          <p:cNvPr id="3" name="Rounded Rectangle 2"/>
          <p:cNvSpPr/>
          <p:nvPr userDrawn="1"/>
        </p:nvSpPr>
        <p:spPr>
          <a:xfrm>
            <a:off x="8616917" y="51470"/>
            <a:ext cx="405045" cy="2700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7F93E-0AC9-4994-C087-EC47479093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1227" y="679296"/>
            <a:ext cx="2306274" cy="381037"/>
          </a:xfrm>
          <a:prstGeom prst="rect">
            <a:avLst/>
          </a:prstGeom>
        </p:spPr>
      </p:pic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A8C42A55-8D9A-E8BD-8457-92C7015F8BD3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235E-8BE2-78BC-2D0F-81A926E25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94961"/>
            <a:ext cx="9144000" cy="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3183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BF5B9E-EBC4-409F-984B-6D47D81EDF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47260" y="1264925"/>
            <a:ext cx="4104641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CFE9A372-03E3-E60F-6496-867B43D28DD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1432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C4900D4-E042-4F52-A837-0B504DD6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27846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6AE5AD0B-78DA-96AF-6F08-3574B654A51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42264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2ADF6038-2E5A-469C-35D8-0A0580CF19A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4769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8"/>
            <a:ext cx="8474484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70718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7" y="1264925"/>
            <a:ext cx="852837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B4391E-A2CA-4E7C-B5A9-A31CF000D3E5}"/>
              </a:ext>
            </a:extLst>
          </p:cNvPr>
          <p:cNvSpPr txBox="1">
            <a:spLocks/>
          </p:cNvSpPr>
          <p:nvPr userDrawn="1"/>
        </p:nvSpPr>
        <p:spPr>
          <a:xfrm>
            <a:off x="710852" y="4745354"/>
            <a:ext cx="7066640" cy="39814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7550" indent="-35560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60000"/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9500" indent="-36195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4013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</a:pPr>
            <a:r>
              <a:rPr lang="en-US" sz="1600" dirty="0">
                <a:solidFill>
                  <a:srgbClr val="282828"/>
                </a:solidFill>
                <a:latin typeface="Sarabun" panose="00000500000000000000" pitchFamily="2" charset="-34"/>
              </a:rPr>
              <a:t>APL Bootcamp – Part 2</a:t>
            </a:r>
          </a:p>
        </p:txBody>
      </p:sp>
      <p:sp>
        <p:nvSpPr>
          <p:cNvPr id="49" name="Date Placeholder 3"/>
          <p:cNvSpPr txBox="1">
            <a:spLocks/>
          </p:cNvSpPr>
          <p:nvPr userDrawn="1"/>
        </p:nvSpPr>
        <p:spPr>
          <a:xfrm>
            <a:off x="45720" y="4743900"/>
            <a:ext cx="665132" cy="39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b="0" kern="1200">
                <a:solidFill>
                  <a:schemeClr val="bg1"/>
                </a:solidFill>
                <a:latin typeface="Klavika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2EDF88B-1B61-4481-9BD6-D2E23BF0DCD8}" type="slidenum">
              <a:rPr lang="en-GB" sz="1600" baseline="0" smtClean="0">
                <a:solidFill>
                  <a:srgbClr val="FF6A13"/>
                </a:solidFill>
                <a:latin typeface="Sarabun" panose="00000500000000000000" pitchFamily="2" charset="-34"/>
              </a:rPr>
              <a:pPr algn="l"/>
              <a:t>‹#›</a:t>
            </a:fld>
            <a:endParaRPr lang="en-GB" sz="1600" baseline="0" dirty="0">
              <a:solidFill>
                <a:srgbClr val="FF6A13"/>
              </a:solidFill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20957-0551-8F72-773E-84D867F26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00"/>
          <a:stretch/>
        </p:blipFill>
        <p:spPr>
          <a:xfrm>
            <a:off x="0" y="5097467"/>
            <a:ext cx="9144000" cy="45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EC5741-2586-9026-BBB0-7FC530AB64E7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067022" y="4818698"/>
            <a:ext cx="938248" cy="1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4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2" r:id="rId3"/>
    <p:sldLayoutId id="2147483654" r:id="rId4"/>
    <p:sldLayoutId id="2147483655" r:id="rId5"/>
    <p:sldLayoutId id="2147483658" r:id="rId6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3B475E"/>
          </a:solidFill>
          <a:latin typeface="Sarabun" panose="00000500000000000000" pitchFamily="2" charset="-34"/>
          <a:ea typeface="+mj-ea"/>
          <a:cs typeface="Calibri" panose="020F0502020204030204" pitchFamily="34" charset="0"/>
        </a:defRPr>
      </a:lvl1pPr>
    </p:titleStyle>
    <p:bodyStyle>
      <a:lvl1pPr marL="458788" indent="-4587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2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1pPr>
      <a:lvl2pPr marL="858838" indent="-4016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lang="en-US" sz="2000" kern="1200" dirty="0" smtClean="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8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Clr>
          <a:srgbClr val="FF9421"/>
        </a:buClr>
        <a:buFont typeface="Calibri" panose="020F050202020403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417-55D0-46BB-0DFF-8D4AA0A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Bootcamp – Part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988-130F-A25A-2390-AB59A78D5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Tables; shape; 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59DFF-3665-0E31-55C7-92F3BEB5DA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99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6AC09A-EA62-5166-4C33-62E96C818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dirty="0">
                <a:sym typeface="Dyalog Std TT" pitchFamily="49" charset="2"/>
              </a:rPr>
              <a:t>A table (or matrix) is an array of data organized into rows and columns.</a:t>
            </a:r>
          </a:p>
          <a:p>
            <a:pPr>
              <a:buNone/>
            </a:pPr>
            <a:r>
              <a:rPr lang="en-GB" dirty="0">
                <a:sym typeface="Dyalog Std TT" pitchFamily="49" charset="2"/>
              </a:rPr>
              <a:t>For example, 3 rows, 4 columns:</a:t>
            </a:r>
          </a:p>
          <a:p>
            <a:pPr>
              <a:buNone/>
            </a:pPr>
            <a:endParaRPr lang="en-GB" dirty="0">
              <a:sym typeface="Dyalog Std TT" pitchFamily="49" charset="2"/>
            </a:endParaRP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11 12 13 14</a:t>
            </a: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21 22 23 24</a:t>
            </a: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31 32 33 34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07C334-7A40-514A-9830-6C2219B8F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Tables (matrices)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4B150FE-F05D-C3D3-9F03-256F9873E78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675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BAAE5-ED9B-D4A3-8C48-4908E9CA6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DCF5A9-56F8-AE9A-7420-E0F2FB89C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  <a:buNone/>
            </a:pPr>
            <a:r>
              <a:rPr lang="en-GB" dirty="0">
                <a:sym typeface="Dyalog Std TT" pitchFamily="49" charset="2"/>
              </a:rPr>
              <a:t>Tables can be created using </a:t>
            </a:r>
            <a:r>
              <a:rPr lang="en-GB" i="1" dirty="0">
                <a:sym typeface="Dyalog Std TT" pitchFamily="49" charset="2"/>
              </a:rPr>
              <a:t>reshape </a:t>
            </a:r>
            <a:r>
              <a:rPr lang="en-GB" dirty="0">
                <a:sym typeface="Dyalog Std TT" pitchFamily="49" charset="2"/>
              </a:rPr>
              <a:t>(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  <a:sym typeface="Dyalog Std TT" pitchFamily="49" charset="2"/>
              </a:rPr>
              <a:t>⍴</a:t>
            </a:r>
            <a:r>
              <a:rPr lang="en-GB" dirty="0">
                <a:sym typeface="Dyalog Std TT" pitchFamily="49" charset="2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GB" dirty="0">
                <a:sym typeface="Dyalog Std TT" pitchFamily="49" charset="2"/>
              </a:rPr>
              <a:t>The list to the left of </a:t>
            </a:r>
            <a:r>
              <a:rPr lang="en-GB" dirty="0">
                <a:latin typeface="APL385 Unicode" pitchFamily="49" charset="0"/>
                <a:sym typeface="Dyalog Std TT" pitchFamily="49" charset="2"/>
              </a:rPr>
              <a:t>⍴</a:t>
            </a:r>
            <a:r>
              <a:rPr lang="en-GB" dirty="0">
                <a:sym typeface="Dyalog Std TT" pitchFamily="49" charset="2"/>
              </a:rPr>
              <a:t> specifies the number of </a:t>
            </a:r>
            <a:r>
              <a:rPr lang="en-GB" dirty="0">
                <a:solidFill>
                  <a:srgbClr val="7030A0"/>
                </a:solidFill>
                <a:sym typeface="Dyalog Std TT" pitchFamily="49" charset="2"/>
              </a:rPr>
              <a:t>rows</a:t>
            </a:r>
            <a:r>
              <a:rPr lang="en-GB" dirty="0">
                <a:solidFill>
                  <a:srgbClr val="FFC000"/>
                </a:solidFill>
                <a:sym typeface="Dyalog Std TT" pitchFamily="49" charset="2"/>
              </a:rPr>
              <a:t> </a:t>
            </a:r>
            <a:r>
              <a:rPr lang="en-GB" dirty="0">
                <a:sym typeface="Dyalog Std TT" pitchFamily="49" charset="2"/>
              </a:rPr>
              <a:t>and </a:t>
            </a:r>
            <a:r>
              <a:rPr lang="en-GB" dirty="0">
                <a:solidFill>
                  <a:srgbClr val="FF0000"/>
                </a:solidFill>
                <a:sym typeface="Dyalog Std TT" pitchFamily="49" charset="2"/>
              </a:rPr>
              <a:t>columns</a:t>
            </a:r>
            <a:r>
              <a:rPr lang="en-GB" dirty="0">
                <a:sym typeface="Dyalog Std TT" pitchFamily="49" charset="2"/>
              </a:rPr>
              <a:t> desired:</a:t>
            </a:r>
          </a:p>
          <a:p>
            <a:pPr>
              <a:lnSpc>
                <a:spcPct val="90000"/>
              </a:lnSpc>
              <a:buNone/>
            </a:pPr>
            <a:endParaRPr lang="en-GB" dirty="0">
              <a:sym typeface="Dyalog Std TT" pitchFamily="49" charset="2"/>
            </a:endParaRPr>
          </a:p>
          <a:p>
            <a:pPr>
              <a:lnSpc>
                <a:spcPct val="90000"/>
              </a:lnSpc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	  </a:t>
            </a:r>
            <a:r>
              <a:rPr lang="en-GB" dirty="0">
                <a:solidFill>
                  <a:srgbClr val="7030A0"/>
                </a:solidFill>
                <a:latin typeface="APL385 Unicode" panose="020B0709000202000203" pitchFamily="49" charset="0"/>
                <a:sym typeface="Dyalog Std TT" pitchFamily="49" charset="2"/>
              </a:rPr>
              <a:t>3</a:t>
            </a: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  <a:sym typeface="Dyalog Std TT" pitchFamily="49" charset="2"/>
              </a:rPr>
              <a:t>4</a:t>
            </a: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⍴ 1 2 3 4 5 6 7 8 9 10 11 12</a:t>
            </a:r>
          </a:p>
          <a:p>
            <a:pPr>
              <a:lnSpc>
                <a:spcPct val="90000"/>
              </a:lnSpc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1  2  3  4</a:t>
            </a:r>
          </a:p>
          <a:p>
            <a:pPr>
              <a:lnSpc>
                <a:spcPct val="90000"/>
              </a:lnSpc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5  6  7  8</a:t>
            </a:r>
          </a:p>
          <a:p>
            <a:pPr>
              <a:lnSpc>
                <a:spcPct val="90000"/>
              </a:lnSpc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9 10 11 12</a:t>
            </a:r>
          </a:p>
          <a:p>
            <a:pPr algn="ctr">
              <a:lnSpc>
                <a:spcPct val="90000"/>
              </a:lnSpc>
              <a:buNone/>
            </a:pPr>
            <a:r>
              <a:rPr lang="en-GB" dirty="0">
                <a:solidFill>
                  <a:srgbClr val="7030A0"/>
                </a:solidFill>
                <a:sym typeface="Dyalog Std TT" pitchFamily="49" charset="2"/>
              </a:rPr>
              <a:t>3</a:t>
            </a:r>
            <a:r>
              <a:rPr lang="en-GB" dirty="0">
                <a:sym typeface="Dyalog Std TT" pitchFamily="49" charset="2"/>
              </a:rPr>
              <a:t> rows and </a:t>
            </a:r>
            <a:r>
              <a:rPr lang="en-GB" dirty="0">
                <a:solidFill>
                  <a:srgbClr val="FF0000"/>
                </a:solidFill>
                <a:sym typeface="Dyalog Std TT" pitchFamily="49" charset="2"/>
              </a:rPr>
              <a:t>4</a:t>
            </a:r>
            <a:r>
              <a:rPr lang="en-GB" dirty="0">
                <a:sym typeface="Dyalog Std TT" pitchFamily="49" charset="2"/>
              </a:rPr>
              <a:t> columns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70E7BF-1ED7-1ABF-27D1-5F322C3C5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Tables (matrices)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7F5A163-7877-6E70-D6AB-B584308BB74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194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A875-8203-4ADE-D605-57511560D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B7625B-2DEA-C5CA-87C7-44304B67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i="1" dirty="0">
                <a:sym typeface="Dyalog Std TT" pitchFamily="49" charset="2"/>
              </a:rPr>
              <a:t>Reshape</a:t>
            </a:r>
            <a:r>
              <a:rPr lang="en-GB" dirty="0">
                <a:sym typeface="Dyalog Std TT" pitchFamily="49" charset="2"/>
              </a:rPr>
              <a:t> can be used to create arrays of any dimensionality, using data from any (non-empty) array:</a:t>
            </a:r>
          </a:p>
          <a:p>
            <a:pPr marL="457200" indent="-45720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  <a:sym typeface="Dyalog Std TT" pitchFamily="49" charset="2"/>
              </a:rPr>
              <a:t>4 ⍴ 2        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  <a:t>⍝ repeat 2 four times</a:t>
            </a:r>
          </a:p>
          <a:p>
            <a:pPr marL="457200" indent="-45720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2 2 2 2</a:t>
            </a:r>
          </a:p>
          <a:p>
            <a:pPr marL="457200" indent="-457200">
              <a:spcAft>
                <a:spcPts val="4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	A ← ¯2 4 8</a:t>
            </a:r>
          </a:p>
          <a:p>
            <a:pPr marL="457200" indent="-457200">
              <a:spcAft>
                <a:spcPts val="4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	10 ⍴ A       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  <a:t>⍝ reuse the values in A</a:t>
            </a:r>
          </a:p>
          <a:p>
            <a:pPr marL="457200" indent="-45720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¯2 4</a:t>
            </a:r>
            <a:r>
              <a:rPr lang="en-GB" dirty="0">
                <a:solidFill>
                  <a:srgbClr val="162B2B"/>
                </a:solidFill>
                <a:latin typeface="APL385 Unicode" panose="020B0709000202000203" pitchFamily="49" charset="0"/>
                <a:sym typeface="Dyalog Std TT" pitchFamily="49" charset="2"/>
              </a:rPr>
              <a:t> 8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¯2 4 8 ¯2 4 8 ¯2</a:t>
            </a:r>
          </a:p>
          <a:p>
            <a:pPr marL="457200" indent="-45720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  <a:sym typeface="Dyalog Std TT" pitchFamily="49" charset="2"/>
              </a:rPr>
              <a:t>1  4  ⍴ dates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  <a:t>⍝ 1 row, 4 columns from dates</a:t>
            </a:r>
          </a:p>
          <a:p>
            <a:pPr marL="457200" indent="-457200">
              <a:spcAft>
                <a:spcPts val="400"/>
              </a:spcAft>
              <a:buNone/>
            </a:pPr>
            <a:r>
              <a:rPr lang="en-GB" dirty="0">
                <a:solidFill>
                  <a:srgbClr val="162B2B"/>
                </a:solidFill>
                <a:latin typeface="APL385 Unicode" panose="020B0709000202000203" pitchFamily="49" charset="0"/>
                <a:sym typeface="Dyalog Std TT" pitchFamily="49" charset="2"/>
              </a:rPr>
              <a:t>1956  5  6  2006</a:t>
            </a:r>
          </a:p>
          <a:p>
            <a:pPr marL="457200" indent="-457200">
              <a:spcAft>
                <a:spcPts val="400"/>
              </a:spcAft>
              <a:buAutoNum type="arabicPlain" startAt="1956"/>
            </a:pP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  <a:sym typeface="Dyalog Std TT" pitchFamily="49" charset="2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ym typeface="Dyalog Std TT" pitchFamily="49" charset="2"/>
              </a:rPr>
              <a:t>When there is no left argument, </a:t>
            </a: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⍴</a:t>
            </a:r>
            <a:r>
              <a:rPr lang="en-GB" dirty="0">
                <a:sym typeface="Dyalog Std TT" pitchFamily="49" charset="2"/>
              </a:rPr>
              <a:t> is </a:t>
            </a:r>
            <a:r>
              <a:rPr lang="en-GB" i="1" dirty="0">
                <a:sym typeface="Dyalog Std TT" pitchFamily="49" charset="2"/>
              </a:rPr>
              <a:t>Shape</a:t>
            </a:r>
            <a:r>
              <a:rPr lang="en-GB" dirty="0">
                <a:sym typeface="Dyalog Std TT" pitchFamily="49" charset="2"/>
              </a:rPr>
              <a:t> and returns the shape of the right argument:</a:t>
            </a:r>
          </a:p>
          <a:p>
            <a:pPr marL="457200" indent="-45720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  <a:sym typeface="Dyalog Std TT" pitchFamily="49" charset="2"/>
              </a:rPr>
              <a:t>⍴ dates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  <a:t>⍝ has 2 rows, 3 columns</a:t>
            </a:r>
          </a:p>
          <a:p>
            <a:pPr marL="457200" indent="-45720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2 3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C53E0D-2297-9121-CFEA-A1C4944AB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Shape and Reshape (⍴)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713EC64-D9D2-11CF-EFC1-DCF267292E1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642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8F6C7C-0386-718F-B132-5136938B2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number of dimensions of an array is known as the rank of the array: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D24B8E-4C24-9F3C-0FF1-A82ACD5C2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Rank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ABC92AF-2C74-5CA4-A6DD-63E2C9CC02F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250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0F027-807D-950A-9EC9-D67B37C6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15DB99-477E-B7EC-AE97-2E7BD6DF7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number of dimensions of an array is known as the rank of the array: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817F52-0351-655C-B3C4-71A85410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Rank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3F44DEA-617F-6015-6F3E-B76AE1847BB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FEE5BA9-4C95-9876-1ACE-43FE1DECF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0661" y="2278967"/>
            <a:ext cx="1447800" cy="13144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3709C75-8E8B-4F6D-6A6A-8632F6A6AF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9774" y="2278967"/>
            <a:ext cx="1447800" cy="13144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C23689A-E33E-D817-E11B-4EA1266F45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8888" y="2278967"/>
            <a:ext cx="1447800" cy="1314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0CAE65-0FF6-7751-87CD-01248D59F083}"/>
              </a:ext>
            </a:extLst>
          </p:cNvPr>
          <p:cNvSpPr txBox="1"/>
          <p:nvPr/>
        </p:nvSpPr>
        <p:spPr>
          <a:xfrm>
            <a:off x="376881" y="3593417"/>
            <a:ext cx="8527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Rank                    0                                               1                                              2</a:t>
            </a:r>
          </a:p>
          <a:p>
            <a:r>
              <a:rPr lang="en-GB" dirty="0"/>
              <a:t>Name              scalar                                 vector or list                         matrix or table</a:t>
            </a:r>
          </a:p>
        </p:txBody>
      </p:sp>
    </p:spTree>
    <p:extLst>
      <p:ext uri="{BB962C8B-B14F-4D97-AF65-F5344CB8AC3E}">
        <p14:creationId xmlns:p14="http://schemas.microsoft.com/office/powerpoint/2010/main" val="4204930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354C41-D2C7-9379-8BE0-69959F620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Tx/>
              <a:buNone/>
            </a:pPr>
            <a:r>
              <a:rPr lang="en-GB" dirty="0"/>
              <a:t>The rank is the shape of the shape:</a:t>
            </a:r>
          </a:p>
          <a:p>
            <a:pPr>
              <a:buFontTx/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l-GR" dirty="0">
                <a:solidFill>
                  <a:srgbClr val="00B050"/>
                </a:solidFill>
                <a:latin typeface="APL385 Unicode" panose="020B0709000202000203" pitchFamily="49" charset="0"/>
              </a:rPr>
              <a:t>ρρ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table       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2 dimensions: rows &amp; columns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>
              <a:buFontTx/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 </a:t>
            </a:r>
          </a:p>
          <a:p>
            <a:pPr>
              <a:buFontTx/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l-GR" dirty="0">
                <a:solidFill>
                  <a:srgbClr val="00B050"/>
                </a:solidFill>
                <a:latin typeface="APL385 Unicode" panose="020B0709000202000203" pitchFamily="49" charset="0"/>
              </a:rPr>
              <a:t>ρρ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1 </a:t>
            </a:r>
            <a:r>
              <a:rPr lang="en-US" dirty="0">
                <a:solidFill>
                  <a:srgbClr val="00B050"/>
                </a:solidFill>
                <a:latin typeface="APL385 Unicode" panose="020B0709000202000203" pitchFamily="49" charset="0"/>
              </a:rPr>
              <a:t>¯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3 77 21.1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only 1 dimension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>
              <a:buFontTx/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</a:t>
            </a:r>
          </a:p>
          <a:p>
            <a:pPr>
              <a:buFontTx/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l-GR" dirty="0">
                <a:solidFill>
                  <a:srgbClr val="00B050"/>
                </a:solidFill>
                <a:latin typeface="APL385 Unicode" panose="020B0709000202000203" pitchFamily="49" charset="0"/>
              </a:rPr>
              <a:t>ρρ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12.2 	   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ZERO dimensions</a:t>
            </a:r>
          </a:p>
          <a:p>
            <a:pPr>
              <a:buFontTx/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0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B989A7-E537-CA57-6D86-53016D39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Rank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062E697-26EC-A4AC-DE01-8E5BC083E9F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174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CA309-E08B-23D0-2B48-762908FBD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F849CC-4793-56B4-97D6-BAF2CC305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Tx/>
              <a:buNone/>
            </a:pPr>
            <a:r>
              <a:rPr lang="en-GB" dirty="0"/>
              <a:t>The rank is the </a:t>
            </a:r>
            <a:r>
              <a:rPr lang="en-GB" b="1" i="1" dirty="0">
                <a:solidFill>
                  <a:srgbClr val="FF6600"/>
                </a:solidFill>
              </a:rPr>
              <a:t>tally</a:t>
            </a:r>
            <a:r>
              <a:rPr lang="en-GB" dirty="0"/>
              <a:t> of the shape:</a:t>
            </a:r>
          </a:p>
          <a:p>
            <a:pPr>
              <a:buFontTx/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≢</a:t>
            </a:r>
            <a:r>
              <a:rPr lang="el-GR" dirty="0">
                <a:solidFill>
                  <a:srgbClr val="00B050"/>
                </a:solidFill>
                <a:latin typeface="APL385 Unicode" panose="020B0709000202000203" pitchFamily="49" charset="0"/>
              </a:rPr>
              <a:t>ρ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table       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2 dimensions: rows &amp; columns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>
              <a:buFontTx/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 </a:t>
            </a:r>
          </a:p>
          <a:p>
            <a:pPr>
              <a:buFontTx/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≢</a:t>
            </a:r>
            <a:r>
              <a:rPr lang="el-GR" dirty="0">
                <a:solidFill>
                  <a:srgbClr val="00B050"/>
                </a:solidFill>
                <a:latin typeface="APL385 Unicode" panose="020B0709000202000203" pitchFamily="49" charset="0"/>
              </a:rPr>
              <a:t>ρ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1 </a:t>
            </a:r>
            <a:r>
              <a:rPr lang="en-US" dirty="0">
                <a:solidFill>
                  <a:srgbClr val="00B050"/>
                </a:solidFill>
                <a:latin typeface="APL385 Unicode" panose="020B0709000202000203" pitchFamily="49" charset="0"/>
              </a:rPr>
              <a:t>¯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3 77 21.1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only 1 dimension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>
              <a:buFontTx/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</a:t>
            </a:r>
          </a:p>
          <a:p>
            <a:pPr>
              <a:buFontTx/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≢</a:t>
            </a:r>
            <a:r>
              <a:rPr lang="el-GR" dirty="0">
                <a:solidFill>
                  <a:srgbClr val="00B050"/>
                </a:solidFill>
                <a:latin typeface="APL385 Unicode" panose="020B0709000202000203" pitchFamily="49" charset="0"/>
              </a:rPr>
              <a:t>ρ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12.2 	   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ZERO dimensions</a:t>
            </a:r>
          </a:p>
          <a:p>
            <a:pPr>
              <a:buFontTx/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0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F57A4D-E7BE-C35C-B091-C0DDC274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Rank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809BE61-FF8A-BDB8-F19C-430A185D024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78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9B9823-5F01-9839-DF0E-053DCF0A2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This is a </a:t>
            </a:r>
            <a:r>
              <a:rPr lang="en-GB" i="1" dirty="0">
                <a:solidFill>
                  <a:srgbClr val="FF6600"/>
                </a:solidFill>
              </a:rPr>
              <a:t>system </a:t>
            </a:r>
            <a:r>
              <a:rPr lang="en-GB" i="1" u="sng" dirty="0">
                <a:solidFill>
                  <a:srgbClr val="FF6600"/>
                </a:solidFill>
              </a:rPr>
              <a:t>variable</a:t>
            </a:r>
            <a:r>
              <a:rPr lang="en-GB" dirty="0"/>
              <a:t>. </a:t>
            </a:r>
          </a:p>
          <a:p>
            <a:pPr marL="0" indent="0">
              <a:buNone/>
            </a:pPr>
            <a:r>
              <a:rPr lang="en-GB" dirty="0"/>
              <a:t>It represents the session.</a:t>
            </a:r>
          </a:p>
          <a:p>
            <a:pPr marL="0" indent="0">
              <a:buNone/>
            </a:pPr>
            <a:r>
              <a:rPr lang="en-GB" dirty="0"/>
              <a:t>It can be used to display results or request input: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⎕←2+2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4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Aways write an explicit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⎕←</a:t>
            </a:r>
            <a:r>
              <a:rPr lang="da-DK" dirty="0"/>
              <a:t> in a function that produces output, rather than relying on the default display. You can then search for print statements.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9DD616-07F2-F5B2-1C13-5C4B3C62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Quad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EE7CD6D-F007-248C-F180-FD353E4DD86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168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25A14-BC66-C257-E302-48FA6EC6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A16394-1F64-DDD8-4D54-C765D0673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Quad can be used to insert output in statements when debugging: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⎕← a←2+⍳5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⎕← b←3!a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⎕← c←0.5×b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This is equivalent (to the interpreter </a:t>
            </a:r>
            <a:r>
              <a:rPr lang="en-GB" dirty="0">
                <a:solidFill>
                  <a:schemeClr val="tx1"/>
                </a:solidFill>
                <a:sym typeface="Wingdings" panose="05000000000000000000" pitchFamily="2" charset="2"/>
              </a:rPr>
              <a:t>)</a:t>
            </a: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⎕←c←.5×⎕←b←3!⎕←a←2+⍳5</a:t>
            </a:r>
          </a:p>
          <a:p>
            <a:pPr marL="0" indent="0">
              <a:buNone/>
            </a:pPr>
            <a:r>
              <a:rPr lang="da-DK" dirty="0">
                <a:solidFill>
                  <a:schemeClr val="tx1"/>
                </a:solidFill>
              </a:rPr>
              <a:t>Note that t</a:t>
            </a:r>
            <a:r>
              <a:rPr lang="en-GB" dirty="0">
                <a:solidFill>
                  <a:schemeClr val="tx1"/>
                </a:solidFill>
              </a:rPr>
              <a:t>he </a:t>
            </a:r>
            <a:r>
              <a:rPr lang="en-GB" b="1" i="1" dirty="0">
                <a:solidFill>
                  <a:srgbClr val="FF6600"/>
                </a:solidFill>
              </a:rPr>
              <a:t>result of an assignment</a:t>
            </a:r>
            <a:r>
              <a:rPr lang="en-GB" dirty="0">
                <a:solidFill>
                  <a:schemeClr val="tx1"/>
                </a:solidFill>
              </a:rPr>
              <a:t> is the </a:t>
            </a:r>
            <a:r>
              <a:rPr lang="en-GB" b="1" dirty="0">
                <a:solidFill>
                  <a:srgbClr val="FF6600"/>
                </a:solidFill>
              </a:rPr>
              <a:t>assigned value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6A6A1E-6301-B689-16B2-C7B9ED46F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Quad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78201BD-7FE5-CA1B-2C19-059B90A5C78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211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FFCBF-F1B1-D799-2CBA-23E9913D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C6F34D-A47D-22BF-0B45-9616AF0B1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en-GB" b="1" dirty="0">
                <a:solidFill>
                  <a:srgbClr val="00B050"/>
                </a:solidFill>
                <a:latin typeface="APL385 Unicode" panose="020B0709000202000203" pitchFamily="49" charset="0"/>
              </a:rPr>
              <a:t>age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 ← ask 'What is your age?'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What is your age?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⎕: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29+25</a:t>
            </a:r>
          </a:p>
          <a:p>
            <a:pPr marL="0" indent="0">
              <a:spcAft>
                <a:spcPts val="400"/>
              </a:spcAft>
              <a:buNone/>
            </a:pP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</a:t>
            </a:r>
            <a:r>
              <a:rPr lang="en-GB" b="1" dirty="0">
                <a:solidFill>
                  <a:srgbClr val="00B050"/>
                </a:solidFill>
                <a:latin typeface="APL385 Unicode" panose="020B0709000202000203" pitchFamily="49" charset="0"/>
              </a:rPr>
              <a:t>age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+ 1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5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5</a:t>
            </a:r>
          </a:p>
          <a:p>
            <a:pPr marL="0" indent="0">
              <a:spcAft>
                <a:spcPts val="400"/>
              </a:spcAft>
              <a:buNone/>
            </a:pPr>
            <a:endParaRPr lang="da-DK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da-DK" b="1" dirty="0">
                <a:solidFill>
                  <a:schemeClr val="accent3">
                    <a:lumMod val="50000"/>
                  </a:schemeClr>
                </a:solidFill>
              </a:rPr>
              <a:t>Note:</a:t>
            </a:r>
            <a:r>
              <a:rPr lang="da-DK" dirty="0">
                <a:solidFill>
                  <a:schemeClr val="accent3">
                    <a:lumMod val="50000"/>
                  </a:schemeClr>
                </a:solidFill>
              </a:rPr>
              <a:t> You can enter </a:t>
            </a:r>
            <a:r>
              <a:rPr lang="da-DK" dirty="0">
                <a:solidFill>
                  <a:srgbClr val="FF0000"/>
                </a:solidFill>
              </a:rPr>
              <a:t>ANY expression</a:t>
            </a:r>
            <a:r>
              <a:rPr lang="da-DK" dirty="0">
                <a:solidFill>
                  <a:schemeClr val="accent3">
                    <a:lumMod val="50000"/>
                  </a:schemeClr>
                </a:solidFill>
              </a:rPr>
              <a:t> in response to the </a:t>
            </a: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⎕: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</a:rPr>
              <a:t>This makes 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⎕</a:t>
            </a:r>
            <a:r>
              <a:rPr lang="da-DK" dirty="0">
                <a:solidFill>
                  <a:schemeClr val="accent3">
                    <a:lumMod val="50000"/>
                  </a:schemeClr>
                </a:solidFill>
              </a:rPr>
              <a:t> input </a:t>
            </a:r>
            <a:r>
              <a:rPr lang="da-DK" dirty="0">
                <a:solidFill>
                  <a:srgbClr val="FF0000"/>
                </a:solidFill>
              </a:rPr>
              <a:t>inappropriate</a:t>
            </a:r>
            <a:r>
              <a:rPr lang="da-DK" dirty="0">
                <a:solidFill>
                  <a:schemeClr val="accent3">
                    <a:lumMod val="50000"/>
                  </a:schemeClr>
                </a:solidFill>
              </a:rPr>
              <a:t> for deployed applications, but useful for internal models.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120FEF-6C5F-14B5-1354-C9ACE2DF2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Quad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044B7C5-FF78-B4B9-4EFA-20F940577EA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BAA59B-EE80-891F-8422-F9E831107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505" y="1377777"/>
            <a:ext cx="3694626" cy="210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25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13B5B8-2BD5-FF7D-374F-A185D3619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is a similar </a:t>
            </a:r>
            <a:r>
              <a:rPr lang="en-GB" i="1" dirty="0">
                <a:solidFill>
                  <a:srgbClr val="FF6600"/>
                </a:solidFill>
              </a:rPr>
              <a:t>system </a:t>
            </a:r>
            <a:r>
              <a:rPr lang="en-GB" i="1" u="sng" dirty="0">
                <a:solidFill>
                  <a:srgbClr val="FF6600"/>
                </a:solidFill>
              </a:rPr>
              <a:t>variable</a:t>
            </a:r>
            <a:r>
              <a:rPr lang="en-GB" dirty="0"/>
              <a:t>. </a:t>
            </a:r>
          </a:p>
          <a:p>
            <a:pPr marL="0" indent="0">
              <a:buNone/>
            </a:pPr>
            <a:r>
              <a:rPr lang="en-GB" dirty="0"/>
              <a:t>It is intended for </a:t>
            </a:r>
            <a:r>
              <a:rPr lang="en-GB" b="1" dirty="0"/>
              <a:t>character</a:t>
            </a:r>
            <a:r>
              <a:rPr lang="en-GB" dirty="0"/>
              <a:t> input/output.</a:t>
            </a:r>
          </a:p>
          <a:p>
            <a:pPr marL="0" indent="0">
              <a:buNone/>
            </a:pPr>
            <a:r>
              <a:rPr lang="en-GB" dirty="0"/>
              <a:t>It can be used to display results or request input: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⍞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←2+2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096A5-A0BA-165E-6BD0-3990946B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Quote-quad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⍞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91BE1FC-320B-B273-335F-C1F996A2087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619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8990A-73C1-71F2-CEAC-A222A4B2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5D0E1D-0A38-08E3-5426-D60B2B569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200" dirty="0">
                <a:latin typeface="APL385 Unicode" panose="020B0709000202000203" pitchFamily="49" charset="0"/>
              </a:rPr>
              <a:t>⍞</a:t>
            </a:r>
            <a:r>
              <a:rPr lang="en-GB" sz="3200" dirty="0"/>
              <a:t> </a:t>
            </a:r>
            <a:r>
              <a:rPr lang="da-DK" sz="3200" dirty="0"/>
              <a:t>merges the input with the prompt that was issued:</a:t>
            </a:r>
            <a:endParaRPr lang="en-GB" sz="3200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name ← ask  'What is your name?'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What is your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name?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Carlos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⍴⎕←name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What is your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name?Carlos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CC1559-16E0-8D3A-3D44-79B53F19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Quote-quad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⍞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BD4B614-077D-2933-4597-F1249812F82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6B058-6E30-30C7-6EEB-53ABAA7A8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778" y="2640228"/>
            <a:ext cx="3650842" cy="206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85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26E7B3-9F7E-DE9B-F1E6-E62E4748F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Monadic comma is the function </a:t>
            </a:r>
            <a:r>
              <a:rPr lang="en-GB" b="1" i="1" dirty="0">
                <a:solidFill>
                  <a:srgbClr val="FF6600"/>
                </a:solidFill>
              </a:rPr>
              <a:t>ravel</a:t>
            </a:r>
            <a:r>
              <a:rPr lang="en-GB" dirty="0"/>
              <a:t> </a:t>
            </a:r>
            <a:r>
              <a:rPr lang="en-GB" dirty="0">
                <a:latin typeface="APL385 Unicode" panose="020B0709000202000203" pitchFamily="49" charset="0"/>
              </a:rPr>
              <a:t>,⍵</a:t>
            </a:r>
            <a:r>
              <a:rPr lang="en-GB" dirty="0"/>
              <a:t> and it lays out the elements of an array as a vector, one row at a time — a bit like pulling thread from a spool.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C20966-E466-7C30-703A-F6E7D9480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Ravel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9BC76C8-4B03-F1C8-4928-1A6D70909E9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BE8D84-8BB8-9609-180F-727CDB098186}"/>
              </a:ext>
            </a:extLst>
          </p:cNvPr>
          <p:cNvSpPr txBox="1"/>
          <p:nvPr/>
        </p:nvSpPr>
        <p:spPr>
          <a:xfrm>
            <a:off x="2693963" y="2599886"/>
            <a:ext cx="37560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     mat ← 3 3⍴⎕A</a:t>
            </a:r>
          </a:p>
          <a:p>
            <a:r>
              <a:rPr lang="en-GB" dirty="0">
                <a:latin typeface="APL385 Unicode" panose="020B0709000202000203" pitchFamily="49" charset="0"/>
              </a:rPr>
              <a:t>      mat</a:t>
            </a:r>
          </a:p>
          <a:p>
            <a:r>
              <a:rPr lang="en-GB" dirty="0">
                <a:latin typeface="APL385 Unicode" panose="020B0709000202000203" pitchFamily="49" charset="0"/>
              </a:rPr>
              <a:t>ABC</a:t>
            </a:r>
          </a:p>
          <a:p>
            <a:r>
              <a:rPr lang="en-GB" dirty="0">
                <a:latin typeface="APL385 Unicode" panose="020B0709000202000203" pitchFamily="49" charset="0"/>
              </a:rPr>
              <a:t>DEF</a:t>
            </a:r>
          </a:p>
          <a:p>
            <a:r>
              <a:rPr lang="en-GB" dirty="0">
                <a:latin typeface="APL385 Unicode" panose="020B0709000202000203" pitchFamily="49" charset="0"/>
              </a:rPr>
              <a:t>GHI</a:t>
            </a:r>
          </a:p>
          <a:p>
            <a:r>
              <a:rPr lang="en-GB" dirty="0">
                <a:latin typeface="APL385 Unicode" panose="020B0709000202000203" pitchFamily="49" charset="0"/>
              </a:rPr>
              <a:t>      ,mat</a:t>
            </a:r>
          </a:p>
          <a:p>
            <a:r>
              <a:rPr lang="en-GB" dirty="0">
                <a:latin typeface="APL385 Unicode" panose="020B0709000202000203" pitchFamily="49" charset="0"/>
              </a:rPr>
              <a:t>ABCDEFGHI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8368FB0-2DB2-2160-CB06-A8EE7E2EA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4576" y="484532"/>
            <a:ext cx="3429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0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297DE5-D931-411A-DC65-E468957BF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Catenate joins the arguments into a single array: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A←⍳3 ⋄ B←33 ⋄ D←'-rules' ⋄ C←'APL' 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⍴⎕←A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,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B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1 2 3 33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4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C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,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D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APL-rules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FD6DE4-0F30-A3C8-5736-8C7A3E6D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Catenate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,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3CE985A-C7D2-CD5E-CEDF-A36397BCF4D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807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0E413-4637-1AB4-6360-DBA4884C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EF45D2-C122-B381-2C0A-9BDD326C6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Ravel always returns an array of rank 1 (vector)</a:t>
            </a:r>
          </a:p>
          <a:p>
            <a:pPr marL="0" indent="0">
              <a:buNone/>
            </a:pPr>
            <a:r>
              <a:rPr lang="en-GB" dirty="0"/>
              <a:t>Table always returns table / Matrix (rank =2)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⍴⎕←</a:t>
            </a:r>
            <a:r>
              <a:rPr lang="en-GB" sz="3000" dirty="0">
                <a:solidFill>
                  <a:srgbClr val="FF6600"/>
                </a:solidFill>
                <a:latin typeface="APL385 Unicode" panose="020B0709000202000203" pitchFamily="49" charset="0"/>
              </a:rPr>
              <a:t>⍪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'ABC'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B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C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3 1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FB20E7-DABA-3A9B-B4B6-7A56AA38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⍪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5C55D02-4E6E-B57E-930F-4B305AB5C15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347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11AAC-6480-BF50-5263-E4FC31CA3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61FD44-4483-9388-823C-A4680E130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⍴⎕←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⍪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99       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works with scalars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99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⍪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 3⍴⍳6     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no change for matrices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2 3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⍴⎕←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⍪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APL385 Unicode" panose="020B0709000202000203" pitchFamily="49" charset="0"/>
              </a:rPr>
              <a:t>2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3 4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⍴⍳24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preserve 1</a:t>
            </a:r>
            <a:r>
              <a:rPr lang="en-GB" baseline="30000" dirty="0">
                <a:solidFill>
                  <a:srgbClr val="DD6DCD"/>
                </a:solidFill>
                <a:latin typeface="APL385 Unicode" panose="020B0709000202000203" pitchFamily="49" charset="0"/>
              </a:rPr>
              <a:t>st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 dimension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1  2  3  4  5  6  7  8  9 10 11 12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13 14 15 16 17 18 19 20 21 22 23 24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APL385 Unicode" panose="020B0709000202000203" pitchFamily="49" charset="0"/>
              </a:rPr>
              <a:t>2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528399-FA70-1B3E-4DFD-A3D36F22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⍪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0BCA6B9-1F6F-513E-1863-92A880615CB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126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99A7F8-C814-4E75-100E-5E7F9B696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Sometimes you will produce very long output, intentionally or by accident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]rows on -fold=2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Was OFF -fold=3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⍪⍳100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1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···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99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100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2C4690-A4B9-0429-409A-886F8459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]Rows User Command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FC3671B-3D92-7C0D-F823-A18A2C414E9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224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579F4F-88B3-31C0-47E8-19D651E8B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Catenates on the leading dimension: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A←2 4 ⍴ ⍳ 8 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C←'APL*' 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⍴⎕←A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⍪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B 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1 2 3 4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5 6 7 8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 P L *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3 4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15270F-CE6B-F6A7-4008-65977678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Catenate First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⍪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3383EA3-D589-10C9-7710-78D26A4FF06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1108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1D0076-3803-2F0F-E0DA-B3B6CBA47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F ← {⍺+⍵}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1 2 3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∘.F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10 20 30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11 21 31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12 22 32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13 23 33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4D66D-7A1A-3C93-7BC0-48E85D01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Outer Product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∘.F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C908110-1B6A-3001-38FD-6D102730F9B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017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E4350-E74C-957B-FC61-10F956D0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857BA1-BC02-4EEB-5F0C-F55F01877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6" y="1365421"/>
            <a:ext cx="8904848" cy="3141543"/>
          </a:xfrm>
        </p:spPr>
        <p:txBody>
          <a:bodyPr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      </a:t>
            </a: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1 4 9 , 6 5 4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1 4 9 6 5 4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'joined up' , 'text vectors'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joined </a:t>
            </a:r>
            <a:r>
              <a:rPr lang="en-GB" sz="1600" dirty="0" err="1">
                <a:latin typeface="APL385 Unicode" panose="020B0709000202000203" pitchFamily="49" charset="0"/>
              </a:rPr>
              <a:t>uptext</a:t>
            </a:r>
            <a:r>
              <a:rPr lang="en-GB" sz="1600" dirty="0">
                <a:latin typeface="APL385 Unicode" panose="020B0709000202000203" pitchFamily="49" charset="0"/>
              </a:rPr>
              <a:t> vectors</a:t>
            </a:r>
          </a:p>
          <a:p>
            <a:pPr marL="0" indent="0">
              <a:spcAft>
                <a:spcPts val="0"/>
              </a:spcAft>
              <a:buNone/>
            </a:pPr>
            <a:endParaRPr lang="en-GB" sz="1600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'chicken' 'pork' 'vegetable' </a:t>
            </a:r>
            <a:r>
              <a:rPr lang="en-GB" sz="1600" dirty="0">
                <a:solidFill>
                  <a:srgbClr val="FF6600"/>
                </a:solidFill>
                <a:latin typeface="APL385 Unicode" panose="020B0709000202000203" pitchFamily="49" charset="0"/>
              </a:rPr>
              <a:t>∘.,</a:t>
            </a: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 ' chow </a:t>
            </a:r>
            <a:r>
              <a:rPr lang="en-GB" sz="16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mein</a:t>
            </a: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' ' with cashew nuts'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┌───────────────────┬──────────────────────────┐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│chicken chow </a:t>
            </a:r>
            <a:r>
              <a:rPr lang="en-GB" sz="1600" dirty="0" err="1">
                <a:latin typeface="APL385 Unicode" panose="020B0709000202000203" pitchFamily="49" charset="0"/>
              </a:rPr>
              <a:t>mein</a:t>
            </a:r>
            <a:r>
              <a:rPr lang="en-GB" sz="1600" dirty="0">
                <a:latin typeface="APL385 Unicode" panose="020B0709000202000203" pitchFamily="49" charset="0"/>
              </a:rPr>
              <a:t>  │chicken with cashew nuts  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├───────────────────┼──────────────────────────┤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│pork chow </a:t>
            </a:r>
            <a:r>
              <a:rPr lang="en-GB" sz="1600" dirty="0" err="1">
                <a:latin typeface="APL385 Unicode" panose="020B0709000202000203" pitchFamily="49" charset="0"/>
              </a:rPr>
              <a:t>mein</a:t>
            </a:r>
            <a:r>
              <a:rPr lang="en-GB" sz="1600" dirty="0">
                <a:latin typeface="APL385 Unicode" panose="020B0709000202000203" pitchFamily="49" charset="0"/>
              </a:rPr>
              <a:t>     │pork with cashew nuts     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├───────────────────┼──────────────────────────┤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│vegetable chow </a:t>
            </a:r>
            <a:r>
              <a:rPr lang="en-GB" sz="1600" dirty="0" err="1">
                <a:latin typeface="APL385 Unicode" panose="020B0709000202000203" pitchFamily="49" charset="0"/>
              </a:rPr>
              <a:t>mein│vegetable</a:t>
            </a:r>
            <a:r>
              <a:rPr lang="en-GB" sz="1600" dirty="0">
                <a:latin typeface="APL385 Unicode" panose="020B0709000202000203" pitchFamily="49" charset="0"/>
              </a:rPr>
              <a:t> with cashew nuts│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└───────────────────┴──────────────────────────┘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7123F8-8145-ABFC-5362-B95E9F89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Outer Product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∘.F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AAE0F36-8D10-5A9D-9337-511411A055A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03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3C37B7-5ECB-6B2C-305C-BA09DD5E6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have just created a </a:t>
            </a:r>
            <a:r>
              <a:rPr lang="en-GB" b="1" i="1" dirty="0">
                <a:solidFill>
                  <a:srgbClr val="FF6600"/>
                </a:solidFill>
              </a:rPr>
              <a:t>nested array</a:t>
            </a:r>
            <a:r>
              <a:rPr lang="en-GB" dirty="0"/>
              <a:t>. These are arrays in which each element contains another array more complex than a single number or character.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8F3A29-6CBF-035D-7E21-B89A273E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Boxing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3C3E2DF-8105-9DDA-202E-99E8DA09037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7F9B5-611B-271C-9713-EA0B95C1F39B}"/>
              </a:ext>
            </a:extLst>
          </p:cNvPr>
          <p:cNvSpPr txBox="1"/>
          <p:nvPr/>
        </p:nvSpPr>
        <p:spPr>
          <a:xfrm>
            <a:off x="3583589" y="2529712"/>
            <a:ext cx="19768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     ]box on</a:t>
            </a:r>
          </a:p>
          <a:p>
            <a:r>
              <a:rPr lang="en-GB" dirty="0">
                <a:latin typeface="APL385 Unicode" panose="020B0709000202000203" pitchFamily="49" charset="0"/>
              </a:rPr>
              <a:t>Was OFF</a:t>
            </a:r>
          </a:p>
          <a:p>
            <a:r>
              <a:rPr lang="en-GB" dirty="0">
                <a:latin typeface="APL385 Unicode" panose="020B0709000202000203" pitchFamily="49" charset="0"/>
              </a:rPr>
              <a:t>      ⍳2 3</a:t>
            </a:r>
          </a:p>
          <a:p>
            <a:r>
              <a:rPr lang="en-GB" dirty="0">
                <a:latin typeface="APL385 Unicode" panose="020B0709000202000203" pitchFamily="49" charset="0"/>
              </a:rPr>
              <a:t>┌───┬───┬───┐</a:t>
            </a:r>
          </a:p>
          <a:p>
            <a:r>
              <a:rPr lang="en-GB" dirty="0">
                <a:latin typeface="APL385 Unicode" panose="020B0709000202000203" pitchFamily="49" charset="0"/>
              </a:rPr>
              <a:t>│1 1│1 2│1 3│</a:t>
            </a:r>
          </a:p>
          <a:p>
            <a:r>
              <a:rPr lang="en-GB" dirty="0">
                <a:latin typeface="APL385 Unicode" panose="020B0709000202000203" pitchFamily="49" charset="0"/>
              </a:rPr>
              <a:t>├───┼───┼───┤</a:t>
            </a:r>
          </a:p>
          <a:p>
            <a:r>
              <a:rPr lang="en-GB" dirty="0">
                <a:latin typeface="APL385 Unicode" panose="020B0709000202000203" pitchFamily="49" charset="0"/>
              </a:rPr>
              <a:t>│2 1│2 2│2 3│</a:t>
            </a:r>
          </a:p>
          <a:p>
            <a:r>
              <a:rPr lang="en-GB" dirty="0">
                <a:latin typeface="APL385 Unicode" panose="020B0709000202000203" pitchFamily="49" charset="0"/>
              </a:rPr>
              <a:t>└───┴───┴───┘</a:t>
            </a:r>
          </a:p>
        </p:txBody>
      </p:sp>
    </p:spTree>
    <p:extLst>
      <p:ext uri="{BB962C8B-B14F-4D97-AF65-F5344CB8AC3E}">
        <p14:creationId xmlns:p14="http://schemas.microsoft.com/office/powerpoint/2010/main" val="2195197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B31F0-AC68-FAFA-B4F4-E955B78CE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1384A0-8C0C-F15D-65EA-C0D69685E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have just created a </a:t>
            </a:r>
            <a:r>
              <a:rPr lang="en-GB" b="1" i="1" dirty="0">
                <a:solidFill>
                  <a:srgbClr val="FF6600"/>
                </a:solidFill>
              </a:rPr>
              <a:t>nested array</a:t>
            </a:r>
            <a:r>
              <a:rPr lang="en-GB" dirty="0"/>
              <a:t>. These are arrays in which each element contains another array more complex than a single number or character.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will learn more about nested arrays later…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3F610A-1823-9BF9-A517-ECE76DED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Boxing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0BEE839-DBDF-7851-FCE8-40C0B90B735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412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33F381-38CE-F360-6E4F-4F70E9D35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This is not a function, it is a statement separator, similar to </a:t>
            </a:r>
            <a:r>
              <a:rPr lang="en-GB" dirty="0">
                <a:latin typeface="APL385 Unicode" panose="020B0709000202000203" pitchFamily="49" charset="0"/>
              </a:rPr>
              <a:t>;</a:t>
            </a:r>
            <a:r>
              <a:rPr lang="en-GB" dirty="0"/>
              <a:t> in many languages.</a:t>
            </a:r>
          </a:p>
          <a:p>
            <a:pPr marL="0" indent="0">
              <a:buNone/>
            </a:pPr>
            <a:r>
              <a:rPr lang="en-GB" dirty="0"/>
              <a:t>Its sole purpose is to separate statements on a single line. Examples: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V←⍳3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⋄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B←33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⋄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A←'APL' 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V+B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⋄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⍴ A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34 35 36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3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Note that the separated statements are executed from left to right. Diamond acts as a </a:t>
            </a:r>
            <a:r>
              <a:rPr lang="en-GB" dirty="0" err="1"/>
              <a:t>NewLine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8A0D64-78A6-EC74-93F4-50FB3375D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Diamond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⋄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68CA838-A921-988C-A060-B0F50C92CAF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448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63027B-AE98-AE63-CCD4-54A2C765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APL supports complex numbers</a:t>
            </a:r>
          </a:p>
          <a:p>
            <a:r>
              <a:rPr lang="en-GB" dirty="0"/>
              <a:t>Complex numbers are entered using 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J</a:t>
            </a:r>
            <a:r>
              <a:rPr lang="en-GB" dirty="0"/>
              <a:t> between the real and imaginary parts.</a:t>
            </a:r>
          </a:p>
          <a:p>
            <a:r>
              <a:rPr lang="en-GB" dirty="0"/>
              <a:t>For example, the number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3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J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4</a:t>
            </a:r>
            <a:r>
              <a:rPr lang="en-GB" dirty="0"/>
              <a:t>. </a:t>
            </a: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</a:rPr>
              <a:t>     ¯7 * 0.3</a:t>
            </a: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</a:rPr>
              <a:t>1.0537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J</a:t>
            </a:r>
            <a:r>
              <a:rPr lang="en-GB" dirty="0">
                <a:latin typeface="APL385 Unicode" panose="020B0709000202000203" pitchFamily="49" charset="0"/>
              </a:rPr>
              <a:t>1.4503  </a:t>
            </a:r>
          </a:p>
          <a:p>
            <a:pPr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1DD8CC-D654-BEB4-C4D7-A7F2745E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 Numbers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A3E959C-3381-F29D-D24F-1F5742BEEEF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120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099A84-4EDF-6353-7C2E-9146207B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When numbers are too big (or too small) to display “comfortably”, APL uses exponential or engineering notation.</a:t>
            </a:r>
          </a:p>
          <a:p>
            <a:r>
              <a:rPr lang="en-GB" dirty="0"/>
              <a:t>For example, the number 1,000,000,000 can be written in APL as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1E9</a:t>
            </a:r>
            <a:r>
              <a:rPr lang="en-GB" dirty="0"/>
              <a:t>, that is 1x10</a:t>
            </a:r>
            <a:r>
              <a:rPr lang="en-GB" baseline="30000" dirty="0"/>
              <a:t>9</a:t>
            </a:r>
            <a:r>
              <a:rPr lang="en-GB" dirty="0"/>
              <a:t>.</a:t>
            </a:r>
          </a:p>
          <a:p>
            <a:r>
              <a:rPr lang="en-GB" dirty="0"/>
              <a:t>The display form is not necessarily the same as that used to enter a number:</a:t>
            </a:r>
            <a:br>
              <a:rPr lang="en-GB" dirty="0"/>
            </a:br>
            <a:br>
              <a:rPr lang="en-US" dirty="0"/>
            </a:br>
            <a:r>
              <a:rPr lang="en-US" dirty="0">
                <a:latin typeface="APL385 Unicode" panose="020B0709000202000203" pitchFamily="49" charset="0"/>
              </a:rPr>
              <a:t>     </a:t>
            </a:r>
            <a:r>
              <a:rPr lang="en-US" dirty="0">
                <a:solidFill>
                  <a:srgbClr val="00B050"/>
                </a:solidFill>
                <a:latin typeface="APL385 Unicode" panose="020B0709000202000203" pitchFamily="49" charset="0"/>
              </a:rPr>
              <a:t>1E6 1E¯1</a:t>
            </a:r>
            <a:br>
              <a:rPr lang="en-US" dirty="0">
                <a:latin typeface="APL385 Unicode" panose="020B0709000202000203" pitchFamily="49" charset="0"/>
              </a:rPr>
            </a:br>
            <a:r>
              <a:rPr lang="en-US" dirty="0">
                <a:latin typeface="APL385 Unicode" panose="020B0709000202000203" pitchFamily="49" charset="0"/>
              </a:rPr>
              <a:t>1000000 0.1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FC2FAB-5971-9A2C-739C-A0ECAF65E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Engineering Notation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CD2C544-4AD5-BA95-3A33-DB4A2A1B624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87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7280-ECE8-B8FB-C4BC-810EE2F8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F782DF-607F-2CCA-F9ED-DF677426D47F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6200000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3C7017-B48B-8905-AD69-2612689F6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1FD21AF-1211-EB93-7D9C-5F213F36221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566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A3CADC-11BE-FBAB-3B78-8BC9DC1D2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an addition table for the numbers 1 to 9</a:t>
            </a:r>
          </a:p>
          <a:p>
            <a:r>
              <a:rPr lang="en-GB" dirty="0"/>
              <a:t>Add 0 and 100 to the table in one expression</a:t>
            </a:r>
          </a:p>
          <a:p>
            <a:r>
              <a:rPr lang="en-GB" dirty="0"/>
              <a:t>How many dimensions does the result have (what is its shape)?</a:t>
            </a:r>
          </a:p>
          <a:p>
            <a:r>
              <a:rPr lang="en-GB" dirty="0"/>
              <a:t>Calculate 1000000 x 1000000 x 1000000</a:t>
            </a:r>
          </a:p>
          <a:p>
            <a:r>
              <a:rPr lang="en-GB" dirty="0"/>
              <a:t>Write Avogadro’s number (6.02x10</a:t>
            </a:r>
            <a:r>
              <a:rPr lang="en-GB" baseline="30000" dirty="0"/>
              <a:t>23</a:t>
            </a:r>
            <a:r>
              <a:rPr lang="en-GB" dirty="0"/>
              <a:t>) in E notation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479ACE-FB8E-581D-4B0C-3E53A4CA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5CADB48-C77B-2C8A-0DAE-758CB62DD33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809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46FA6-F805-1ADB-8D72-0F1D8FA44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8B525-BB28-4786-DE77-378F9FBE4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dirty="0"/>
              <a:t>These functions compare items of arrays.</a:t>
            </a:r>
          </a:p>
          <a:p>
            <a:pPr>
              <a:buNone/>
            </a:pPr>
            <a:r>
              <a:rPr lang="en-GB" dirty="0"/>
              <a:t>There are 6 relational functions: </a:t>
            </a:r>
          </a:p>
          <a:p>
            <a:pPr>
              <a:buNone/>
            </a:pPr>
            <a:r>
              <a:rPr lang="en-GB" dirty="0"/>
              <a:t>	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=  ≠  &lt;  &gt;  ≤ ≥</a:t>
            </a:r>
          </a:p>
          <a:p>
            <a:pPr>
              <a:buNone/>
            </a:pPr>
            <a:r>
              <a:rPr lang="en-GB" dirty="0"/>
              <a:t>They are scalar functions:</a:t>
            </a:r>
          </a:p>
          <a:p>
            <a:pPr>
              <a:buNone/>
            </a:pPr>
            <a:r>
              <a:rPr lang="en-GB" dirty="0">
                <a:solidFill>
                  <a:schemeClr val="folHlink"/>
                </a:solidFill>
                <a:latin typeface="APL385 Unicode" panose="020B0709000202000203" pitchFamily="49" charset="0"/>
              </a:rPr>
              <a:t>	   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3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7030A0"/>
                </a:solidFill>
                <a:latin typeface="APL385 Unicode" panose="020B0709000202000203" pitchFamily="49" charset="0"/>
              </a:rPr>
              <a:t>5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chemeClr val="hlink"/>
                </a:solidFill>
                <a:latin typeface="APL385 Unicode" panose="020B0709000202000203" pitchFamily="49" charset="0"/>
              </a:rPr>
              <a:t>3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&lt;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5</a:t>
            </a:r>
            <a:r>
              <a:rPr lang="en-GB" dirty="0">
                <a:solidFill>
                  <a:schemeClr val="folHlink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7030A0"/>
                </a:solidFill>
                <a:latin typeface="APL385 Unicode" panose="020B0709000202000203" pitchFamily="49" charset="0"/>
              </a:rPr>
              <a:t>3</a:t>
            </a:r>
            <a:r>
              <a:rPr lang="en-GB" dirty="0">
                <a:solidFill>
                  <a:schemeClr val="tx2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chemeClr val="hlink"/>
                </a:solidFill>
                <a:latin typeface="APL385 Unicode" panose="020B0709000202000203" pitchFamily="49" charset="0"/>
              </a:rPr>
              <a:t>3</a:t>
            </a:r>
          </a:p>
          <a:p>
            <a:pPr>
              <a:buNone/>
            </a:pP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1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7030A0"/>
                </a:solidFill>
                <a:latin typeface="APL385 Unicode" panose="020B0709000202000203" pitchFamily="49" charset="0"/>
              </a:rPr>
              <a:t>0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chemeClr val="hlink"/>
                </a:solidFill>
                <a:latin typeface="APL385 Unicode" panose="020B0709000202000203" pitchFamily="49" charset="0"/>
              </a:rPr>
              <a:t>0</a:t>
            </a:r>
          </a:p>
          <a:p>
            <a:pPr>
              <a:buNone/>
            </a:pPr>
            <a:r>
              <a:rPr lang="en-GB" dirty="0"/>
              <a:t>The result is </a:t>
            </a:r>
            <a:r>
              <a:rPr lang="en-GB" dirty="0">
                <a:solidFill>
                  <a:srgbClr val="FF6600"/>
                </a:solidFill>
              </a:rPr>
              <a:t>1</a:t>
            </a:r>
            <a:r>
              <a:rPr lang="en-GB" dirty="0"/>
              <a:t> for </a:t>
            </a:r>
            <a:r>
              <a:rPr lang="en-GB" dirty="0">
                <a:solidFill>
                  <a:srgbClr val="FF6600"/>
                </a:solidFill>
              </a:rPr>
              <a:t>TRUE</a:t>
            </a:r>
            <a:r>
              <a:rPr lang="en-GB" dirty="0"/>
              <a:t> or </a:t>
            </a:r>
            <a:r>
              <a:rPr lang="en-GB" dirty="0">
                <a:solidFill>
                  <a:srgbClr val="FF6600"/>
                </a:solidFill>
              </a:rPr>
              <a:t>0</a:t>
            </a:r>
            <a:r>
              <a:rPr lang="en-GB" dirty="0"/>
              <a:t> for </a:t>
            </a:r>
            <a:r>
              <a:rPr lang="en-GB" dirty="0">
                <a:solidFill>
                  <a:srgbClr val="FF6600"/>
                </a:solidFill>
              </a:rPr>
              <a:t>FALSE</a:t>
            </a:r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5A4DC6-169D-4303-24E6-377DD33F5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Relational Functions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6AF4007F-2FDC-F8D6-C1AE-DB06CCBA530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72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118F-4651-1360-7E6C-71041937F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13753"/>
            <a:ext cx="8431367" cy="309321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Arrays can also contain character data.</a:t>
            </a:r>
          </a:p>
          <a:p>
            <a:pPr marL="0" indent="0">
              <a:buNone/>
            </a:pPr>
            <a:r>
              <a:rPr lang="en-GB" dirty="0"/>
              <a:t>Character arrays are enclosed in quotes as in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'Z'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625161-1F7E-BC69-F590-FE5CEDA0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Data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B3871E7F-BFF2-3577-0AA2-1125DEB61C2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148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49720-8829-8056-9A17-5B1B6BFB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87706-FD4C-6D5A-0679-86961DBA7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13753"/>
            <a:ext cx="8431367" cy="309321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 list of characters is also possible:</a:t>
            </a:r>
          </a:p>
          <a:p>
            <a:pPr marL="0" indent="0">
              <a:buNone/>
            </a:pPr>
            <a:r>
              <a:rPr lang="en-GB" dirty="0"/>
              <a:t>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'A' 'P' 'L'</a:t>
            </a:r>
            <a:r>
              <a:rPr lang="en-GB" dirty="0">
                <a:solidFill>
                  <a:srgbClr val="00B050"/>
                </a:solidFill>
              </a:rPr>
              <a:t>      </a:t>
            </a:r>
            <a:r>
              <a:rPr lang="en-GB" dirty="0">
                <a:solidFill>
                  <a:schemeClr val="accent4">
                    <a:lumMod val="85000"/>
                    <a:lumOff val="15000"/>
                  </a:schemeClr>
                </a:solidFill>
              </a:rPr>
              <a:t>(a list of 3 “scalar” characters)</a:t>
            </a:r>
          </a:p>
          <a:p>
            <a:pPr marL="0" indent="0">
              <a:buNone/>
            </a:pPr>
            <a:r>
              <a:rPr lang="en-GB" dirty="0"/>
              <a:t>A list of characters does not require each</a:t>
            </a:r>
            <a:br>
              <a:rPr lang="en-GB" dirty="0"/>
            </a:br>
            <a:r>
              <a:rPr lang="en-GB" dirty="0"/>
              <a:t>individual character to be quoted: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'APL is easy'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>
                <a:solidFill>
                  <a:schemeClr val="accent4">
                    <a:lumMod val="85000"/>
                    <a:lumOff val="15000"/>
                  </a:schemeClr>
                </a:solidFill>
              </a:rPr>
              <a:t>(11 characters).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886263-A8CE-8BCE-BD85-90E2FA90A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Data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727C96A9-9D2C-4358-390C-27C0B86DFA3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087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D0DCA-619C-F31B-7329-02F6510A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60F77-B48C-4CA9-F250-69FEB808C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13752"/>
            <a:ext cx="8431367" cy="3242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The character '9' and the number 9 are NOT considered equal: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4">
                    <a:lumMod val="85000"/>
                    <a:lumOff val="15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9 = '9'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0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APL does not distinguish between numeric types: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GB" dirty="0">
                <a:solidFill>
                  <a:schemeClr val="accent4">
                    <a:lumMod val="85000"/>
                    <a:lumOff val="15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9 = 9.0</a:t>
            </a:r>
            <a:br>
              <a:rPr lang="en-GB" dirty="0">
                <a:solidFill>
                  <a:schemeClr val="accent4">
                    <a:lumMod val="85000"/>
                    <a:lumOff val="15000"/>
                  </a:schemeClr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2CD64F-636E-21E0-93B3-E516B6F3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Data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2BD093BB-6990-B0BE-0E75-58E68A9EBF8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706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E9E54-7BC1-6255-A7F1-0BE38F92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1EE6-6F80-AA01-BB64-6C03EF55F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13752"/>
            <a:ext cx="8431367" cy="3242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Quotes are used to delimit a string as in</a:t>
            </a:r>
            <a:br>
              <a:rPr lang="en-GB" sz="2000" dirty="0"/>
            </a:br>
            <a:r>
              <a:rPr lang="en-GB" sz="2000" dirty="0"/>
              <a:t> </a:t>
            </a:r>
            <a:br>
              <a:rPr lang="en-GB" sz="2000" dirty="0"/>
            </a:br>
            <a:r>
              <a:rPr lang="en-GB" sz="2000" dirty="0"/>
              <a:t>      </a:t>
            </a:r>
            <a:r>
              <a:rPr lang="en-GB" sz="2000" b="1" dirty="0">
                <a:solidFill>
                  <a:srgbClr val="FF6600"/>
                </a:solidFill>
                <a:latin typeface="APL385 Unicode" panose="020B0709000202000203" pitchFamily="49" charset="0"/>
              </a:rPr>
              <a:t>'</a:t>
            </a:r>
            <a:r>
              <a:rPr lang="en-GB" sz="2000" dirty="0">
                <a:solidFill>
                  <a:schemeClr val="accent3">
                    <a:lumMod val="65000"/>
                  </a:schemeClr>
                </a:solidFill>
                <a:latin typeface="APL385 Unicode" panose="020B0709000202000203" pitchFamily="49" charset="0"/>
              </a:rPr>
              <a:t>ABC⍋_ (</a:t>
            </a:r>
            <a:r>
              <a:rPr lang="ja-JP" altLang="en-US" sz="2000" dirty="0">
                <a:solidFill>
                  <a:schemeClr val="accent3">
                    <a:lumMod val="65000"/>
                  </a:schemeClr>
                </a:solidFill>
                <a:latin typeface="APL385 Unicode" panose="020B0709000202000203" pitchFamily="49" charset="0"/>
              </a:rPr>
              <a:t>耆耇</a:t>
            </a:r>
            <a:r>
              <a:rPr lang="en-GB" sz="2000" dirty="0">
                <a:solidFill>
                  <a:schemeClr val="accent3">
                    <a:lumMod val="65000"/>
                  </a:schemeClr>
                </a:solidFill>
                <a:latin typeface="APL385 Unicode" panose="020B0709000202000203" pitchFamily="49" charset="0"/>
              </a:rPr>
              <a:t>)</a:t>
            </a:r>
            <a:r>
              <a:rPr lang="en-GB" sz="2000" b="1" dirty="0">
                <a:solidFill>
                  <a:srgbClr val="FF660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4">
                    <a:lumMod val="85000"/>
                    <a:lumOff val="15000"/>
                  </a:schemeClr>
                </a:solidFill>
              </a:rPr>
              <a:t>What about quote itself?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4">
                    <a:lumMod val="85000"/>
                    <a:lumOff val="15000"/>
                  </a:schemeClr>
                </a:solidFill>
              </a:rPr>
              <a:t>You double it inside the string: 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4">
                    <a:lumMod val="85000"/>
                    <a:lumOff val="15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S←'I am what 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</a:t>
            </a:r>
            <a:r>
              <a:rPr lang="en-GB" sz="2000" b="1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''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S   </a:t>
            </a:r>
            <a:r>
              <a:rPr lang="en-GB" sz="2000" dirty="0">
                <a:solidFill>
                  <a:srgbClr val="DD6DCD"/>
                </a:solidFill>
                <a:latin typeface="APL385 Unicode" panose="020B0709000202000203" pitchFamily="49" charset="0"/>
              </a:rPr>
              <a:t>⍝ 13 characters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I am what I</a:t>
            </a:r>
            <a:r>
              <a:rPr lang="en-GB" sz="2000" b="1" dirty="0">
                <a:solidFill>
                  <a:srgbClr val="FF6600"/>
                </a:solidFill>
                <a:latin typeface="APL385 Unicode" panose="020B0709000202000203" pitchFamily="49" charset="0"/>
              </a:rPr>
              <a:t>'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2FDA62-95BB-BCC2-CA1D-6A143A77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Data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BE0AA11E-0387-2943-217D-CB2B60730AE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8521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A4C0E-55EE-0CF2-4B68-252A81B70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26723"/>
            <a:ext cx="8476762" cy="308024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A character vector, just like a numeric vector may be empty.</a:t>
            </a:r>
          </a:p>
          <a:p>
            <a:pPr marL="0" indent="0">
              <a:buNone/>
            </a:pPr>
            <a:r>
              <a:rPr lang="en-GB" dirty="0"/>
              <a:t>An empty character vector has no characters between the quotes: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	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''</a:t>
            </a:r>
            <a:endParaRPr lang="da-DK" altLang="da-DK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/>
              <a:t>The literal character “</a:t>
            </a:r>
            <a:r>
              <a:rPr lang="en-GB" dirty="0" err="1"/>
              <a:t>zilde</a:t>
            </a:r>
            <a:r>
              <a:rPr lang="en-GB" dirty="0"/>
              <a:t>” (</a:t>
            </a:r>
            <a:r>
              <a:rPr lang="en-GB" dirty="0" err="1"/>
              <a:t>zero+tilde</a:t>
            </a:r>
            <a:r>
              <a:rPr lang="en-GB" dirty="0"/>
              <a:t>) represents the empty numeric vector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  <a:latin typeface="APL385 Unicode" panose="020B0709000202000203" pitchFamily="49" charset="0"/>
              </a:rPr>
              <a:t>	⍬</a:t>
            </a:r>
          </a:p>
          <a:p>
            <a:pPr marL="0" indent="0">
              <a:buNone/>
            </a:pPr>
            <a:r>
              <a:rPr lang="en-GB" dirty="0"/>
              <a:t>You can also create empty vectors using reshape:</a:t>
            </a:r>
          </a:p>
          <a:p>
            <a:pPr marL="0" indent="0">
              <a:buNone/>
            </a:pPr>
            <a:r>
              <a:rPr lang="en-GB" alt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da-DK" alt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0⍴'A' </a:t>
            </a:r>
            <a:br>
              <a:rPr lang="da-DK" alt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alt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     0⍴0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014ACC-E0B9-AFC5-3CAB-7E03B105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Empty Vectors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4C66889D-4EFC-967B-63DC-F85FD366249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427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3A195-280C-8795-5423-AC0443B51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Relational functions like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&lt;</a:t>
            </a:r>
            <a:r>
              <a:rPr lang="en-GB" dirty="0"/>
              <a:t> and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&gt;</a:t>
            </a:r>
            <a:r>
              <a:rPr lang="en-GB" dirty="0"/>
              <a:t> can only be applied to numbers but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=</a:t>
            </a:r>
            <a:r>
              <a:rPr lang="en-GB" dirty="0"/>
              <a:t> and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≠</a:t>
            </a:r>
            <a:r>
              <a:rPr lang="en-GB" dirty="0"/>
              <a:t> can also be applied to characters: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A←'APL is easy'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A='s'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0 0 0 0 0 1 0 0 0 1 0</a:t>
            </a:r>
          </a:p>
          <a:p>
            <a:pPr marL="0" indent="0">
              <a:buNone/>
            </a:pPr>
            <a:r>
              <a:rPr lang="en-GB" dirty="0"/>
              <a:t>Here the 1’s denote where A contains an ‘s’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BF5AD4-6AA3-6A03-BEF9-8FB8E69F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Relational Functions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872F2D58-C9F2-BFF2-1E8C-8E7C98C1194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915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3A2E-736F-B8ED-A6E3-78EFF44F9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40C6B-76CD-318C-F85F-DA0AF919D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Outer product is a good tool for exploring relational functions:</a:t>
            </a:r>
            <a:endParaRPr lang="en-GB" dirty="0">
              <a:latin typeface="APL385 Unicode" panose="020B0709000202000203" pitchFamily="49" charset="0"/>
            </a:endParaRP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n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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1 2 3 4</a:t>
            </a: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n∘.&lt;n   </a:t>
            </a:r>
          </a:p>
          <a:p>
            <a:pPr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  <a:t>0 1 1 1</a:t>
            </a:r>
          </a:p>
          <a:p>
            <a:pPr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  <a:t>0 0 1 1</a:t>
            </a:r>
          </a:p>
          <a:p>
            <a:pPr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  <a:t>0 0 0 1</a:t>
            </a:r>
          </a:p>
          <a:p>
            <a:pPr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  <a:t>0 0 0 0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94FA13-C401-803D-CA0C-36B2BDB3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Relational Functions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4566FC37-7B3E-4372-C72A-1686C800553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8793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BC1585-42F3-FA52-8808-D0922F2BE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</a:rPr>
              <a:t>Booleans</a:t>
            </a:r>
            <a:r>
              <a:rPr lang="en-GB" dirty="0"/>
              <a:t> are the values </a:t>
            </a:r>
            <a:r>
              <a:rPr lang="en-GB" dirty="0">
                <a:solidFill>
                  <a:srgbClr val="00B0F0"/>
                </a:solidFill>
              </a:rPr>
              <a:t>true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false</a:t>
            </a:r>
            <a:r>
              <a:rPr lang="en-GB" dirty="0"/>
              <a:t>. A Boolean array consists entirely of </a:t>
            </a:r>
            <a:r>
              <a:rPr lang="en-GB" dirty="0">
                <a:solidFill>
                  <a:srgbClr val="00B0F0"/>
                </a:solidFill>
              </a:rPr>
              <a:t>1</a:t>
            </a:r>
            <a:r>
              <a:rPr lang="en-GB" dirty="0"/>
              <a:t>s and </a:t>
            </a:r>
            <a:r>
              <a:rPr lang="en-GB" dirty="0">
                <a:solidFill>
                  <a:srgbClr val="FF0000"/>
                </a:solidFill>
              </a:rPr>
              <a:t>0</a:t>
            </a:r>
            <a:r>
              <a:rPr lang="en-GB" dirty="0"/>
              <a:t>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APL is very efficient when used with Booleans.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4C6900-9937-BC60-C50A-DFBE7A53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Logic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E39EF20-7360-3D10-BD7F-F4F377FA661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1552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8849-C97A-0DA7-7EE4-3BFA8E88F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17D8ED-E7E0-A3A8-4E94-816447A0A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</a:rPr>
              <a:t>Booleans</a:t>
            </a:r>
            <a:r>
              <a:rPr lang="en-GB" dirty="0"/>
              <a:t> are the values </a:t>
            </a:r>
            <a:r>
              <a:rPr lang="en-GB" dirty="0">
                <a:solidFill>
                  <a:srgbClr val="00B0F0"/>
                </a:solidFill>
              </a:rPr>
              <a:t>true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false</a:t>
            </a:r>
            <a:r>
              <a:rPr lang="en-GB" dirty="0"/>
              <a:t>. A Boolean array consists entirely of </a:t>
            </a:r>
            <a:r>
              <a:rPr lang="en-GB" dirty="0">
                <a:solidFill>
                  <a:srgbClr val="00B0F0"/>
                </a:solidFill>
              </a:rPr>
              <a:t>1</a:t>
            </a:r>
            <a:r>
              <a:rPr lang="en-GB" dirty="0"/>
              <a:t>s and </a:t>
            </a:r>
            <a:r>
              <a:rPr lang="en-GB" dirty="0">
                <a:solidFill>
                  <a:srgbClr val="FF0000"/>
                </a:solidFill>
              </a:rPr>
              <a:t>0</a:t>
            </a:r>
            <a:r>
              <a:rPr lang="en-GB" dirty="0"/>
              <a:t>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APL is very efficient when used with Booleans.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C66053-B3B0-C926-2396-6D5847286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Logic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0940D1E-A887-6281-863D-5C33A080896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4180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8BEFF-6ACA-0121-ECE4-A98D67EEC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C912A7-8380-CB75-9101-713E16D6F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There are 16 Boolean logical functions for two inputs.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B07A0C-7356-DCFE-47F1-62463870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Logic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42A97D7-65FD-F037-78B8-5EB6A323A9B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01925-5262-327B-6B65-2099AFCD351B}"/>
              </a:ext>
            </a:extLst>
          </p:cNvPr>
          <p:cNvSpPr txBox="1"/>
          <p:nvPr/>
        </p:nvSpPr>
        <p:spPr>
          <a:xfrm>
            <a:off x="252919" y="2250333"/>
            <a:ext cx="8567554" cy="2308324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1⍨</a:t>
            </a:r>
          </a:p>
          <a:p>
            <a:r>
              <a:rPr lang="en-GB" dirty="0">
                <a:latin typeface="APL385 Unicode" panose="020B0709000202000203" pitchFamily="49" charset="0"/>
              </a:rPr>
              <a:t>0⍨</a:t>
            </a:r>
          </a:p>
          <a:p>
            <a:r>
              <a:rPr lang="en-GB" dirty="0">
                <a:latin typeface="APL385 Unicode" panose="020B0709000202000203" pitchFamily="49" charset="0"/>
              </a:rPr>
              <a:t>⊣</a:t>
            </a:r>
          </a:p>
          <a:p>
            <a:r>
              <a:rPr lang="en-GB" dirty="0">
                <a:latin typeface="APL385 Unicode" panose="020B0709000202000203" pitchFamily="49" charset="0"/>
              </a:rPr>
              <a:t>⊢</a:t>
            </a:r>
          </a:p>
          <a:p>
            <a:r>
              <a:rPr lang="en-GB" dirty="0">
                <a:latin typeface="APL385 Unicode" panose="020B0709000202000203" pitchFamily="49" charset="0"/>
              </a:rPr>
              <a:t>~⍤⊣</a:t>
            </a:r>
          </a:p>
          <a:p>
            <a:r>
              <a:rPr lang="en-GB" dirty="0">
                <a:latin typeface="APL385 Unicode" panose="020B0709000202000203" pitchFamily="49" charset="0"/>
              </a:rPr>
              <a:t>~⍤⊢</a:t>
            </a:r>
          </a:p>
          <a:p>
            <a:r>
              <a:rPr lang="en-GB" dirty="0">
                <a:latin typeface="APL385 Unicode" panose="020B0709000202000203" pitchFamily="49" charset="0"/>
              </a:rPr>
              <a:t>∧</a:t>
            </a:r>
          </a:p>
          <a:p>
            <a:r>
              <a:rPr lang="en-GB" dirty="0">
                <a:latin typeface="APL385 Unicode" panose="020B0709000202000203" pitchFamily="49" charset="0"/>
              </a:rPr>
              <a:t>⍲</a:t>
            </a:r>
          </a:p>
          <a:p>
            <a:r>
              <a:rPr lang="en-GB" dirty="0">
                <a:latin typeface="+mj-lt"/>
              </a:rPr>
              <a:t>True</a:t>
            </a:r>
          </a:p>
          <a:p>
            <a:r>
              <a:rPr lang="en-GB" dirty="0">
                <a:latin typeface="+mj-lt"/>
              </a:rPr>
              <a:t>False</a:t>
            </a:r>
          </a:p>
          <a:p>
            <a:r>
              <a:rPr lang="en-GB" dirty="0">
                <a:latin typeface="+mj-lt"/>
              </a:rPr>
              <a:t>Left</a:t>
            </a:r>
          </a:p>
          <a:p>
            <a:r>
              <a:rPr lang="en-GB" dirty="0">
                <a:latin typeface="+mj-lt"/>
              </a:rPr>
              <a:t>Right</a:t>
            </a:r>
          </a:p>
          <a:p>
            <a:r>
              <a:rPr lang="en-GB" dirty="0">
                <a:latin typeface="+mj-lt"/>
              </a:rPr>
              <a:t>Not left</a:t>
            </a:r>
          </a:p>
          <a:p>
            <a:r>
              <a:rPr lang="en-GB" dirty="0">
                <a:latin typeface="+mj-lt"/>
              </a:rPr>
              <a:t>Not right</a:t>
            </a:r>
          </a:p>
          <a:p>
            <a:r>
              <a:rPr lang="en-GB" dirty="0">
                <a:latin typeface="+mj-lt"/>
              </a:rPr>
              <a:t>AND</a:t>
            </a:r>
          </a:p>
          <a:p>
            <a:r>
              <a:rPr lang="en-GB" dirty="0">
                <a:latin typeface="+mj-lt"/>
              </a:rPr>
              <a:t>NAND</a:t>
            </a:r>
          </a:p>
          <a:p>
            <a:r>
              <a:rPr lang="en-GB" dirty="0">
                <a:latin typeface="APL385 Unicode" panose="020B0709000202000203" pitchFamily="49" charset="0"/>
              </a:rPr>
              <a:t>∨</a:t>
            </a:r>
          </a:p>
          <a:p>
            <a:r>
              <a:rPr lang="en-GB" dirty="0">
                <a:latin typeface="APL385 Unicode" panose="020B0709000202000203" pitchFamily="49" charset="0"/>
              </a:rPr>
              <a:t>⍱</a:t>
            </a:r>
          </a:p>
          <a:p>
            <a:r>
              <a:rPr lang="en-GB" dirty="0">
                <a:latin typeface="APL385 Unicode" panose="020B0709000202000203" pitchFamily="49" charset="0"/>
              </a:rPr>
              <a:t>&gt;</a:t>
            </a:r>
          </a:p>
          <a:p>
            <a:r>
              <a:rPr lang="en-GB" dirty="0">
                <a:latin typeface="APL385 Unicode" panose="020B0709000202000203" pitchFamily="49" charset="0"/>
              </a:rPr>
              <a:t>&lt;</a:t>
            </a:r>
          </a:p>
          <a:p>
            <a:r>
              <a:rPr lang="en-GB" dirty="0">
                <a:latin typeface="APL385 Unicode" panose="020B0709000202000203" pitchFamily="49" charset="0"/>
              </a:rPr>
              <a:t>≥</a:t>
            </a:r>
          </a:p>
          <a:p>
            <a:r>
              <a:rPr lang="en-GB" dirty="0">
                <a:latin typeface="APL385 Unicode" panose="020B0709000202000203" pitchFamily="49" charset="0"/>
              </a:rPr>
              <a:t>≤</a:t>
            </a:r>
          </a:p>
          <a:p>
            <a:r>
              <a:rPr lang="en-GB" dirty="0">
                <a:latin typeface="APL385 Unicode" panose="020B0709000202000203" pitchFamily="49" charset="0"/>
              </a:rPr>
              <a:t>≠</a:t>
            </a:r>
          </a:p>
          <a:p>
            <a:r>
              <a:rPr lang="en-GB" dirty="0">
                <a:latin typeface="APL385 Unicode" panose="020B0709000202000203" pitchFamily="49" charset="0"/>
              </a:rPr>
              <a:t>=</a:t>
            </a:r>
          </a:p>
          <a:p>
            <a:r>
              <a:rPr lang="en-GB" dirty="0">
                <a:latin typeface="+mj-lt"/>
              </a:rPr>
              <a:t>OR</a:t>
            </a:r>
          </a:p>
          <a:p>
            <a:r>
              <a:rPr lang="en-GB" dirty="0">
                <a:latin typeface="+mj-lt"/>
              </a:rPr>
              <a:t>NOR</a:t>
            </a:r>
          </a:p>
          <a:p>
            <a:r>
              <a:rPr lang="en-GB" dirty="0">
                <a:latin typeface="+mj-lt"/>
              </a:rPr>
              <a:t>Left but not right</a:t>
            </a:r>
          </a:p>
          <a:p>
            <a:r>
              <a:rPr lang="en-GB" dirty="0">
                <a:latin typeface="+mj-lt"/>
              </a:rPr>
              <a:t>Right but not left</a:t>
            </a:r>
          </a:p>
          <a:p>
            <a:r>
              <a:rPr lang="en-GB" dirty="0">
                <a:latin typeface="+mj-lt"/>
              </a:rPr>
              <a:t>Left OR not right</a:t>
            </a:r>
          </a:p>
          <a:p>
            <a:r>
              <a:rPr lang="en-GB" dirty="0">
                <a:latin typeface="+mj-lt"/>
              </a:rPr>
              <a:t>Right OR not left</a:t>
            </a:r>
          </a:p>
          <a:p>
            <a:r>
              <a:rPr lang="en-GB" dirty="0">
                <a:latin typeface="+mj-lt"/>
              </a:rPr>
              <a:t>Exclusive OR</a:t>
            </a:r>
          </a:p>
          <a:p>
            <a:r>
              <a:rPr lang="en-GB" dirty="0">
                <a:latin typeface="+mj-lt"/>
              </a:rPr>
              <a:t>Exclusive NOR</a:t>
            </a:r>
          </a:p>
        </p:txBody>
      </p:sp>
    </p:spTree>
    <p:extLst>
      <p:ext uri="{BB962C8B-B14F-4D97-AF65-F5344CB8AC3E}">
        <p14:creationId xmlns:p14="http://schemas.microsoft.com/office/powerpoint/2010/main" val="321747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F0097-3D92-A571-9217-E45EBBA9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D2F90E-F5CD-DC57-C3B7-23DB85643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There are 16 Boolean logical functions for two inputs.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FA36F0-B804-F1EF-9A88-D1BFDFB27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Logic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B8866F8-8715-CEF8-C285-4ED788F4E7E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48A10-5BB6-B386-CAEE-E3C99B3E68F7}"/>
              </a:ext>
            </a:extLst>
          </p:cNvPr>
          <p:cNvSpPr txBox="1"/>
          <p:nvPr/>
        </p:nvSpPr>
        <p:spPr>
          <a:xfrm>
            <a:off x="252919" y="2250333"/>
            <a:ext cx="8567554" cy="2308324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1⍨</a:t>
            </a:r>
          </a:p>
          <a:p>
            <a:r>
              <a:rPr lang="en-GB" dirty="0">
                <a:latin typeface="APL385 Unicode" panose="020B0709000202000203" pitchFamily="49" charset="0"/>
              </a:rPr>
              <a:t>0⍨</a:t>
            </a:r>
          </a:p>
          <a:p>
            <a:r>
              <a:rPr lang="en-GB" dirty="0">
                <a:latin typeface="APL385 Unicode" panose="020B0709000202000203" pitchFamily="49" charset="0"/>
              </a:rPr>
              <a:t>⊣</a:t>
            </a:r>
          </a:p>
          <a:p>
            <a:r>
              <a:rPr lang="en-GB" dirty="0">
                <a:latin typeface="APL385 Unicode" panose="020B0709000202000203" pitchFamily="49" charset="0"/>
              </a:rPr>
              <a:t>⊢</a:t>
            </a:r>
          </a:p>
          <a:p>
            <a:r>
              <a:rPr lang="en-GB" dirty="0">
                <a:latin typeface="APL385 Unicode" panose="020B0709000202000203" pitchFamily="49" charset="0"/>
              </a:rPr>
              <a:t>~⍤⊣</a:t>
            </a:r>
          </a:p>
          <a:p>
            <a:r>
              <a:rPr lang="en-GB" dirty="0">
                <a:latin typeface="APL385 Unicode" panose="020B0709000202000203" pitchFamily="49" charset="0"/>
              </a:rPr>
              <a:t>~⍤⊢</a:t>
            </a:r>
          </a:p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∧</a:t>
            </a:r>
          </a:p>
          <a:p>
            <a:r>
              <a:rPr lang="en-GB" dirty="0">
                <a:latin typeface="APL385 Unicode" panose="020B0709000202000203" pitchFamily="49" charset="0"/>
              </a:rPr>
              <a:t>⍲</a:t>
            </a:r>
          </a:p>
          <a:p>
            <a:r>
              <a:rPr lang="en-GB" dirty="0">
                <a:latin typeface="+mj-lt"/>
              </a:rPr>
              <a:t>True</a:t>
            </a:r>
          </a:p>
          <a:p>
            <a:r>
              <a:rPr lang="en-GB" dirty="0">
                <a:latin typeface="+mj-lt"/>
              </a:rPr>
              <a:t>False</a:t>
            </a:r>
          </a:p>
          <a:p>
            <a:r>
              <a:rPr lang="en-GB" dirty="0">
                <a:latin typeface="+mj-lt"/>
              </a:rPr>
              <a:t>Left</a:t>
            </a:r>
          </a:p>
          <a:p>
            <a:r>
              <a:rPr lang="en-GB" dirty="0">
                <a:latin typeface="+mj-lt"/>
              </a:rPr>
              <a:t>Right</a:t>
            </a:r>
          </a:p>
          <a:p>
            <a:r>
              <a:rPr lang="en-GB" dirty="0">
                <a:latin typeface="+mj-lt"/>
              </a:rPr>
              <a:t>Not left</a:t>
            </a:r>
          </a:p>
          <a:p>
            <a:r>
              <a:rPr lang="en-GB" dirty="0">
                <a:latin typeface="+mj-lt"/>
              </a:rPr>
              <a:t>Not right</a:t>
            </a:r>
          </a:p>
          <a:p>
            <a:r>
              <a:rPr lang="en-GB" dirty="0">
                <a:solidFill>
                  <a:srgbClr val="FF6600"/>
                </a:solidFill>
                <a:latin typeface="+mj-lt"/>
              </a:rPr>
              <a:t>AND</a:t>
            </a:r>
          </a:p>
          <a:p>
            <a:r>
              <a:rPr lang="en-GB" dirty="0">
                <a:latin typeface="+mj-lt"/>
              </a:rPr>
              <a:t>NAND</a:t>
            </a:r>
          </a:p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∨</a:t>
            </a:r>
          </a:p>
          <a:p>
            <a:r>
              <a:rPr lang="en-GB" dirty="0">
                <a:latin typeface="APL385 Unicode" panose="020B0709000202000203" pitchFamily="49" charset="0"/>
              </a:rPr>
              <a:t>⍱</a:t>
            </a:r>
          </a:p>
          <a:p>
            <a:r>
              <a:rPr lang="en-GB" dirty="0">
                <a:latin typeface="APL385 Unicode" panose="020B0709000202000203" pitchFamily="49" charset="0"/>
              </a:rPr>
              <a:t>&gt;</a:t>
            </a:r>
          </a:p>
          <a:p>
            <a:r>
              <a:rPr lang="en-GB" dirty="0">
                <a:latin typeface="APL385 Unicode" panose="020B0709000202000203" pitchFamily="49" charset="0"/>
              </a:rPr>
              <a:t>&lt;</a:t>
            </a:r>
          </a:p>
          <a:p>
            <a:r>
              <a:rPr lang="en-GB" dirty="0">
                <a:latin typeface="APL385 Unicode" panose="020B0709000202000203" pitchFamily="49" charset="0"/>
              </a:rPr>
              <a:t>≥</a:t>
            </a:r>
          </a:p>
          <a:p>
            <a:r>
              <a:rPr lang="en-GB" dirty="0">
                <a:latin typeface="APL385 Unicode" panose="020B0709000202000203" pitchFamily="49" charset="0"/>
              </a:rPr>
              <a:t>≤</a:t>
            </a:r>
          </a:p>
          <a:p>
            <a:r>
              <a:rPr lang="en-GB" dirty="0">
                <a:latin typeface="APL385 Unicode" panose="020B0709000202000203" pitchFamily="49" charset="0"/>
              </a:rPr>
              <a:t>≠</a:t>
            </a:r>
          </a:p>
          <a:p>
            <a:r>
              <a:rPr lang="en-GB" dirty="0">
                <a:latin typeface="APL385 Unicode" panose="020B0709000202000203" pitchFamily="49" charset="0"/>
              </a:rPr>
              <a:t>=</a:t>
            </a:r>
          </a:p>
          <a:p>
            <a:r>
              <a:rPr lang="en-GB" dirty="0">
                <a:solidFill>
                  <a:srgbClr val="FF6600"/>
                </a:solidFill>
                <a:latin typeface="+mj-lt"/>
              </a:rPr>
              <a:t>OR</a:t>
            </a:r>
          </a:p>
          <a:p>
            <a:r>
              <a:rPr lang="en-GB" dirty="0">
                <a:latin typeface="+mj-lt"/>
              </a:rPr>
              <a:t>NOR</a:t>
            </a:r>
          </a:p>
          <a:p>
            <a:r>
              <a:rPr lang="en-GB" dirty="0">
                <a:latin typeface="+mj-lt"/>
              </a:rPr>
              <a:t>Left but not right</a:t>
            </a:r>
          </a:p>
          <a:p>
            <a:r>
              <a:rPr lang="en-GB" dirty="0">
                <a:latin typeface="+mj-lt"/>
              </a:rPr>
              <a:t>Right but not left</a:t>
            </a:r>
          </a:p>
          <a:p>
            <a:r>
              <a:rPr lang="en-GB" dirty="0">
                <a:latin typeface="+mj-lt"/>
              </a:rPr>
              <a:t>Left OR not right</a:t>
            </a:r>
          </a:p>
          <a:p>
            <a:r>
              <a:rPr lang="en-GB" dirty="0">
                <a:latin typeface="+mj-lt"/>
              </a:rPr>
              <a:t>Right OR not left</a:t>
            </a:r>
          </a:p>
          <a:p>
            <a:r>
              <a:rPr lang="en-GB" dirty="0">
                <a:latin typeface="+mj-lt"/>
              </a:rPr>
              <a:t>Exclusive OR</a:t>
            </a:r>
          </a:p>
          <a:p>
            <a:r>
              <a:rPr lang="en-GB" dirty="0">
                <a:latin typeface="+mj-lt"/>
              </a:rPr>
              <a:t>Exclusive NOR</a:t>
            </a:r>
          </a:p>
        </p:txBody>
      </p:sp>
    </p:spTree>
    <p:extLst>
      <p:ext uri="{BB962C8B-B14F-4D97-AF65-F5344CB8AC3E}">
        <p14:creationId xmlns:p14="http://schemas.microsoft.com/office/powerpoint/2010/main" val="14097241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CA538C-10F6-92CD-CE9F-DD9377F76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Scan applies reduction to successive prefixes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,\⍳5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┌─┬───┬─────┬───────┬─────────┐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│1│1 2│1 2 3│1 2 3 4│1 2 3 4 5│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└─┴───┴─────┴───────┴─────────┘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AB3F52-AA93-A716-BF22-57DBB4F0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F\⍵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78A62A5-D379-254C-1B90-9CA28715A91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190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5B645-0EDF-7E08-5740-BEA5A2D9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22F73B-EE6D-4E0F-F00A-9D268E9EC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Scan applies reduction to successive prefixes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,\⍳5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┌─┬───┬─────┬───────┬─────────┐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│1│1,2│1,2,3│1,2,3,4│1,2,3,4,5│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└─┴───┴─────┴───────┴─────────┘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9D4023-E2A1-02F8-45ED-0A54D876A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F\⍵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291B877-30FA-CE6C-BF0B-1B41EB2B4F6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1908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4624D-1350-5576-5334-809A0007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55FA5D-49DD-8FCF-18C6-BB3D65F70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Scan applies reduction to successive prefixes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+\⍳5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┌─┬───┬─────┬───────┬─────────┐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│1│1+2│1+2+3│1+2+3+4│1+2+3+4+5│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└─┴───┴─────┴───────┴─────────┘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35873A-5AAF-EBF6-4130-D385A8DE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F\⍵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5003715-E826-02BA-9654-474BE1AE882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3781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5ABB-2DA9-F4D0-AA86-1D4EFC466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F40104-6B20-09DC-3E16-FF5583D91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Scan applies reduction to successive prefixes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+\⍳5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1 3 6 10 15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AFD716-96E3-DFCE-1EE6-CCBE2627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F\⍵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72A04E3-D48F-2C1F-3AF8-13BA1772786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898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8200-6289-BD18-8D72-C8683E71B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E37DAC-C003-BD97-6371-0FA3EEEB6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Scan applies reduction to successive prefixes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0AA300-34E6-4CA6-E564-F09CE99F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F\⍵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AD7CC71-01DE-DAB4-8458-401BA43F60A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4D98C-3244-C648-B562-D70CEFD7DB29}"/>
              </a:ext>
            </a:extLst>
          </p:cNvPr>
          <p:cNvSpPr txBox="1"/>
          <p:nvPr/>
        </p:nvSpPr>
        <p:spPr>
          <a:xfrm>
            <a:off x="2014265" y="2198452"/>
            <a:ext cx="1563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1  2  3  4</a:t>
            </a:r>
          </a:p>
          <a:p>
            <a:r>
              <a:rPr lang="en-GB" dirty="0">
                <a:latin typeface="APL385 Unicode" panose="020B0709000202000203" pitchFamily="49" charset="0"/>
              </a:rPr>
              <a:t>5  6  7  8</a:t>
            </a:r>
          </a:p>
          <a:p>
            <a:r>
              <a:rPr lang="en-GB" dirty="0">
                <a:latin typeface="APL385 Unicode" panose="020B0709000202000203" pitchFamily="49" charset="0"/>
              </a:rPr>
              <a:t>9 10 11 12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DA31C-9533-CF51-EA6B-04A4B0B57D25}"/>
              </a:ext>
            </a:extLst>
          </p:cNvPr>
          <p:cNvSpPr txBox="1"/>
          <p:nvPr/>
        </p:nvSpPr>
        <p:spPr>
          <a:xfrm>
            <a:off x="4410512" y="2198452"/>
            <a:ext cx="1563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1  3  6 10</a:t>
            </a:r>
          </a:p>
          <a:p>
            <a:r>
              <a:rPr lang="en-GB" dirty="0">
                <a:latin typeface="APL385 Unicode" panose="020B0709000202000203" pitchFamily="49" charset="0"/>
              </a:rPr>
              <a:t>5 11 18 26</a:t>
            </a:r>
          </a:p>
          <a:p>
            <a:r>
              <a:rPr lang="en-GB" dirty="0">
                <a:latin typeface="APL385 Unicode" panose="020B0709000202000203" pitchFamily="49" charset="0"/>
              </a:rPr>
              <a:t>9 19 30 42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44414-3375-669F-C663-4C61CF18BCE9}"/>
              </a:ext>
            </a:extLst>
          </p:cNvPr>
          <p:cNvSpPr txBox="1"/>
          <p:nvPr/>
        </p:nvSpPr>
        <p:spPr>
          <a:xfrm>
            <a:off x="1876406" y="3519701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1  2  3  4</a:t>
            </a:r>
          </a:p>
          <a:p>
            <a:r>
              <a:rPr lang="en-GB" dirty="0">
                <a:latin typeface="APL385 Unicode" panose="020B0709000202000203" pitchFamily="49" charset="0"/>
              </a:rPr>
              <a:t> 6  8 10 12</a:t>
            </a:r>
          </a:p>
          <a:p>
            <a:r>
              <a:rPr lang="en-GB" dirty="0">
                <a:latin typeface="APL385 Unicode" panose="020B0709000202000203" pitchFamily="49" charset="0"/>
              </a:rPr>
              <a:t>15 18 21 24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3A6D05-6CB7-102D-FEFA-FDC587807D4C}"/>
              </a:ext>
            </a:extLst>
          </p:cNvPr>
          <p:cNvSpPr txBox="1"/>
          <p:nvPr/>
        </p:nvSpPr>
        <p:spPr>
          <a:xfrm>
            <a:off x="3789761" y="229078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+\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50DC8F-B036-C40A-1E14-F6E35873A87B}"/>
              </a:ext>
            </a:extLst>
          </p:cNvPr>
          <p:cNvCxnSpPr/>
          <p:nvPr/>
        </p:nvCxnSpPr>
        <p:spPr>
          <a:xfrm>
            <a:off x="3669756" y="2743200"/>
            <a:ext cx="700392" cy="0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8935B9-64FA-3BA5-9047-4BBBA9A60F53}"/>
              </a:ext>
            </a:extLst>
          </p:cNvPr>
          <p:cNvCxnSpPr>
            <a:cxnSpLocks/>
          </p:cNvCxnSpPr>
          <p:nvPr/>
        </p:nvCxnSpPr>
        <p:spPr>
          <a:xfrm>
            <a:off x="2528349" y="3121782"/>
            <a:ext cx="0" cy="457997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C7BF0F6-1792-F3F2-343F-DDBC02614D14}"/>
              </a:ext>
            </a:extLst>
          </p:cNvPr>
          <p:cNvSpPr txBox="1"/>
          <p:nvPr/>
        </p:nvSpPr>
        <p:spPr>
          <a:xfrm>
            <a:off x="2752892" y="313607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+⍀</a:t>
            </a:r>
          </a:p>
        </p:txBody>
      </p:sp>
    </p:spTree>
    <p:extLst>
      <p:ext uri="{BB962C8B-B14F-4D97-AF65-F5344CB8AC3E}">
        <p14:creationId xmlns:p14="http://schemas.microsoft.com/office/powerpoint/2010/main" val="1742449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84288-5386-E82B-5A76-96E5742B1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06B265-473D-1C98-9177-8AC8CCE23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Scan applies reduction to successive prefixes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C17B02-3F3A-9C91-E0C1-2CE9A131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F\⍵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16D86DD-2FD2-580A-E446-FE39CB83833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8F52C-ABBE-F030-B313-7C6A75421E74}"/>
              </a:ext>
            </a:extLst>
          </p:cNvPr>
          <p:cNvSpPr txBox="1"/>
          <p:nvPr/>
        </p:nvSpPr>
        <p:spPr>
          <a:xfrm>
            <a:off x="2014265" y="2198452"/>
            <a:ext cx="1563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1  2  3  4</a:t>
            </a:r>
          </a:p>
          <a:p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5  6  7  8</a:t>
            </a: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9 10 11 12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625A5-7FDE-1E04-7CCB-4451EB7E562B}"/>
              </a:ext>
            </a:extLst>
          </p:cNvPr>
          <p:cNvSpPr txBox="1"/>
          <p:nvPr/>
        </p:nvSpPr>
        <p:spPr>
          <a:xfrm>
            <a:off x="4410512" y="2198452"/>
            <a:ext cx="1563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1  3  6 10</a:t>
            </a:r>
          </a:p>
          <a:p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5 11 18 26</a:t>
            </a: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9 19 30 42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2F0819-BF5A-98CD-C38E-E6B1D50BDB6D}"/>
              </a:ext>
            </a:extLst>
          </p:cNvPr>
          <p:cNvSpPr txBox="1"/>
          <p:nvPr/>
        </p:nvSpPr>
        <p:spPr>
          <a:xfrm>
            <a:off x="1876406" y="3519701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1  2  3  4</a:t>
            </a:r>
          </a:p>
          <a:p>
            <a:r>
              <a:rPr lang="en-GB" dirty="0">
                <a:latin typeface="APL385 Unicode" panose="020B0709000202000203" pitchFamily="49" charset="0"/>
              </a:rPr>
              <a:t> 6  8 10 12</a:t>
            </a:r>
          </a:p>
          <a:p>
            <a:r>
              <a:rPr lang="en-GB" dirty="0">
                <a:latin typeface="APL385 Unicode" panose="020B0709000202000203" pitchFamily="49" charset="0"/>
              </a:rPr>
              <a:t>15 18 21 24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CCA4CD-E6C6-80F3-DF4B-53E373B41FE9}"/>
              </a:ext>
            </a:extLst>
          </p:cNvPr>
          <p:cNvSpPr txBox="1"/>
          <p:nvPr/>
        </p:nvSpPr>
        <p:spPr>
          <a:xfrm>
            <a:off x="3789761" y="229078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+\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3B005B-84B0-8A65-CCE9-7BD3A721C607}"/>
              </a:ext>
            </a:extLst>
          </p:cNvPr>
          <p:cNvCxnSpPr/>
          <p:nvPr/>
        </p:nvCxnSpPr>
        <p:spPr>
          <a:xfrm>
            <a:off x="3669756" y="2743200"/>
            <a:ext cx="700392" cy="0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AAD07F-9DE0-E46A-DD0F-82BA468F8FC8}"/>
              </a:ext>
            </a:extLst>
          </p:cNvPr>
          <p:cNvCxnSpPr>
            <a:cxnSpLocks/>
          </p:cNvCxnSpPr>
          <p:nvPr/>
        </p:nvCxnSpPr>
        <p:spPr>
          <a:xfrm>
            <a:off x="2528349" y="3121782"/>
            <a:ext cx="0" cy="457997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FC14D42-2957-E483-A697-A6802C36BD47}"/>
              </a:ext>
            </a:extLst>
          </p:cNvPr>
          <p:cNvSpPr txBox="1"/>
          <p:nvPr/>
        </p:nvSpPr>
        <p:spPr>
          <a:xfrm>
            <a:off x="2752892" y="313607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+⍀</a:t>
            </a:r>
          </a:p>
        </p:txBody>
      </p:sp>
    </p:spTree>
    <p:extLst>
      <p:ext uri="{BB962C8B-B14F-4D97-AF65-F5344CB8AC3E}">
        <p14:creationId xmlns:p14="http://schemas.microsoft.com/office/powerpoint/2010/main" val="1175112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24B87-925B-9E81-E08C-C7FF441DA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8F840F-A1D7-8E08-8298-AC588BFB5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Scan applies reduction to successive prefixes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A0C4A4-B938-5B7C-A828-A11D072E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F\⍵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F41D2C6-6AB0-F987-A104-328CA8C66CC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0300F-CFB4-A5A2-2B5C-FB36E69F1957}"/>
              </a:ext>
            </a:extLst>
          </p:cNvPr>
          <p:cNvSpPr txBox="1"/>
          <p:nvPr/>
        </p:nvSpPr>
        <p:spPr>
          <a:xfrm>
            <a:off x="2014265" y="2198452"/>
            <a:ext cx="1563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 2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 3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 4</a:t>
            </a: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5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 6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 7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 8</a:t>
            </a: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9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10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11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AB9A9-04B4-9A2A-AC6E-4A3BB38C908C}"/>
              </a:ext>
            </a:extLst>
          </p:cNvPr>
          <p:cNvSpPr txBox="1"/>
          <p:nvPr/>
        </p:nvSpPr>
        <p:spPr>
          <a:xfrm>
            <a:off x="4410512" y="2198452"/>
            <a:ext cx="1563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1  3  6 10</a:t>
            </a:r>
          </a:p>
          <a:p>
            <a:r>
              <a:rPr lang="en-GB" dirty="0">
                <a:latin typeface="APL385 Unicode" panose="020B0709000202000203" pitchFamily="49" charset="0"/>
              </a:rPr>
              <a:t>5 11 18 26</a:t>
            </a:r>
          </a:p>
          <a:p>
            <a:r>
              <a:rPr lang="en-GB" dirty="0">
                <a:latin typeface="APL385 Unicode" panose="020B0709000202000203" pitchFamily="49" charset="0"/>
              </a:rPr>
              <a:t>9 19 30 42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DB55A-E3E1-58BB-9A90-E2E275810847}"/>
              </a:ext>
            </a:extLst>
          </p:cNvPr>
          <p:cNvSpPr txBox="1"/>
          <p:nvPr/>
        </p:nvSpPr>
        <p:spPr>
          <a:xfrm>
            <a:off x="1876406" y="3519701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 1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 2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 3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 4</a:t>
            </a: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 6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 8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10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12</a:t>
            </a:r>
          </a:p>
          <a:p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15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18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21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highlight>
                  <a:srgbClr val="00FFFF"/>
                </a:highlight>
                <a:latin typeface="APL385 Unicode" panose="020B0709000202000203" pitchFamily="49" charset="0"/>
              </a:rPr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02378B-D06A-5397-311A-003AF4FF2029}"/>
              </a:ext>
            </a:extLst>
          </p:cNvPr>
          <p:cNvSpPr txBox="1"/>
          <p:nvPr/>
        </p:nvSpPr>
        <p:spPr>
          <a:xfrm>
            <a:off x="3789761" y="229078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+\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A64583-A94A-4555-7D4F-FE429184334D}"/>
              </a:ext>
            </a:extLst>
          </p:cNvPr>
          <p:cNvCxnSpPr/>
          <p:nvPr/>
        </p:nvCxnSpPr>
        <p:spPr>
          <a:xfrm>
            <a:off x="3669756" y="2743200"/>
            <a:ext cx="700392" cy="0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AF1C5E-F26F-F043-83AC-5CEA8381FF1C}"/>
              </a:ext>
            </a:extLst>
          </p:cNvPr>
          <p:cNvCxnSpPr>
            <a:cxnSpLocks/>
          </p:cNvCxnSpPr>
          <p:nvPr/>
        </p:nvCxnSpPr>
        <p:spPr>
          <a:xfrm>
            <a:off x="2528349" y="3121782"/>
            <a:ext cx="0" cy="457997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B51EA05-0B60-0AA7-3460-F12B0678B882}"/>
              </a:ext>
            </a:extLst>
          </p:cNvPr>
          <p:cNvSpPr txBox="1"/>
          <p:nvPr/>
        </p:nvSpPr>
        <p:spPr>
          <a:xfrm>
            <a:off x="2752892" y="313607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+⍀</a:t>
            </a:r>
          </a:p>
        </p:txBody>
      </p:sp>
    </p:spTree>
    <p:extLst>
      <p:ext uri="{BB962C8B-B14F-4D97-AF65-F5344CB8AC3E}">
        <p14:creationId xmlns:p14="http://schemas.microsoft.com/office/powerpoint/2010/main" val="11525477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7191C0-4CBE-BD09-1438-5DEC375CA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8"/>
            <a:ext cx="8474484" cy="1605371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Maximum of a list</a:t>
            </a:r>
          </a:p>
          <a:p>
            <a:pPr marL="0" indent="0">
              <a:buNone/>
            </a:pPr>
            <a:r>
              <a:rPr lang="en-GB" dirty="0"/>
              <a:t>Minimum of a list</a:t>
            </a:r>
          </a:p>
          <a:p>
            <a:pPr marL="0" indent="0">
              <a:buNone/>
            </a:pPr>
            <a:r>
              <a:rPr lang="en-GB" dirty="0"/>
              <a:t>Are ALL true?</a:t>
            </a:r>
          </a:p>
          <a:p>
            <a:pPr marL="0" indent="0">
              <a:buNone/>
            </a:pPr>
            <a:r>
              <a:rPr lang="en-GB" dirty="0"/>
              <a:t>Are ANY true?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⌈/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⌊/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∧/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∨/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622CDB-7D27-5DAC-20CF-1ADFFDBD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Scans and </a:t>
            </a:r>
            <a:r>
              <a:rPr lang="en-GB" dirty="0">
                <a:solidFill>
                  <a:srgbClr val="FF6600"/>
                </a:solidFill>
              </a:rPr>
              <a:t>Reductions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1D0DFCB-768C-C9B1-9F76-875DE4C8D86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4991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A80DE-BDC5-AE91-8C1C-9F0F928AE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B6E02C-C546-FA6C-DAA1-F07FABDF4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8"/>
            <a:ext cx="8474484" cy="1605371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Maximum of a list</a:t>
            </a:r>
          </a:p>
          <a:p>
            <a:pPr marL="0" indent="0">
              <a:buNone/>
            </a:pPr>
            <a:r>
              <a:rPr lang="en-GB" dirty="0"/>
              <a:t>Minimum of a list</a:t>
            </a:r>
          </a:p>
          <a:p>
            <a:pPr marL="0" indent="0">
              <a:buNone/>
            </a:pPr>
            <a:r>
              <a:rPr lang="en-GB" dirty="0"/>
              <a:t>Are ALL true?</a:t>
            </a:r>
          </a:p>
          <a:p>
            <a:pPr marL="0" indent="0">
              <a:buNone/>
            </a:pPr>
            <a:r>
              <a:rPr lang="en-GB" dirty="0"/>
              <a:t>Are ANY true?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⌈\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⌊\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∧\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∨\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EBC066-6DC2-4728-17DA-B48B5EBB9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</a:t>
            </a:r>
            <a:r>
              <a:rPr lang="en-GB" dirty="0">
                <a:solidFill>
                  <a:srgbClr val="FF6600"/>
                </a:solidFill>
              </a:rPr>
              <a:t>Scans</a:t>
            </a:r>
            <a:r>
              <a:rPr lang="en-GB" dirty="0"/>
              <a:t> and Reductions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9F223C2-0A93-0762-EBBE-CE2F7892E61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701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A09417-7405-9CAC-BC03-D83264A80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8"/>
            <a:ext cx="8561069" cy="3129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⌈\ 2 4 3 5 3 2 8 1   ⍝ Highest so far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2 4 4 5 5 5 8 8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⌊\ 2 4 3 5 3 2 8 1   ⍝ Lowest so far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2 2 2 2 2 2 2 1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∨\ 0 0 1 1 0 1       ⍝ Keep after first 1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0 0 1 1 1 1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∧\ 1 1 1 0 0 1       ⍝ Keep only leading 1s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1 1 1 0 0 0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F7D879-BD37-BBDE-05A2-303C5DC6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Scans and Reductions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846B7C5-6574-72A3-7C49-10B06D166DE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7692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DD256-D2B1-2349-ADD4-C1486A023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86C271-B3DA-31D6-50A2-0133BBBB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8"/>
            <a:ext cx="8561069" cy="3129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{⍵⌿⍨~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∧\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'-'=⍵}'---some text---'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some text---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{⍵⌿⍨~⌽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∧\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⌽'-'=⍵}'---some text---'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---some text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D4FAA9-C431-5C5A-A4B4-798EE7D8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Scans and Reductions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231B068-F8F9-AC68-3549-C0B00455372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0249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6576A-959F-E3AE-2364-75844E3F0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64A341-ADBF-5C46-E66C-0C8527EFEA6E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4011075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CFD97C-A087-34E1-D875-7B21A819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0F23ECF-5CF5-EE2F-DD87-82ECDE57EFE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86863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E9EED6-425C-2D09-4EB8-9546B855D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Define a variable containing the characters</a:t>
            </a:r>
            <a:br>
              <a:rPr lang="en-GB" dirty="0"/>
            </a:br>
            <a:r>
              <a:rPr lang="en-GB" dirty="0">
                <a:solidFill>
                  <a:srgbClr val="FF6600"/>
                </a:solidFill>
              </a:rPr>
              <a:t>A</a:t>
            </a:r>
            <a:r>
              <a:rPr lang="en-GB" dirty="0"/>
              <a:t>, </a:t>
            </a:r>
            <a:r>
              <a:rPr lang="en-GB" dirty="0">
                <a:solidFill>
                  <a:srgbClr val="FF6600"/>
                </a:solidFill>
              </a:rPr>
              <a:t>P</a:t>
            </a:r>
            <a:r>
              <a:rPr lang="en-GB" dirty="0"/>
              <a:t> and </a:t>
            </a:r>
            <a:r>
              <a:rPr lang="en-GB" dirty="0">
                <a:solidFill>
                  <a:srgbClr val="FF6600"/>
                </a:solidFill>
              </a:rPr>
              <a:t>L</a:t>
            </a:r>
          </a:p>
          <a:p>
            <a:r>
              <a:rPr lang="en-GB" dirty="0"/>
              <a:t>Compare it (using =) to another 3 character string containing </a:t>
            </a:r>
            <a:r>
              <a:rPr lang="en-GB" dirty="0">
                <a:solidFill>
                  <a:srgbClr val="FF6600"/>
                </a:solidFill>
              </a:rPr>
              <a:t>a</a:t>
            </a:r>
            <a:r>
              <a:rPr lang="en-GB" dirty="0"/>
              <a:t>, </a:t>
            </a:r>
            <a:r>
              <a:rPr lang="en-GB" dirty="0">
                <a:solidFill>
                  <a:srgbClr val="FF6600"/>
                </a:solidFill>
              </a:rPr>
              <a:t>p</a:t>
            </a:r>
            <a:r>
              <a:rPr lang="en-GB" dirty="0"/>
              <a:t> and</a:t>
            </a:r>
            <a:r>
              <a:rPr lang="en-GB" dirty="0">
                <a:solidFill>
                  <a:srgbClr val="FF6600"/>
                </a:solidFill>
              </a:rPr>
              <a:t> l</a:t>
            </a:r>
          </a:p>
          <a:p>
            <a:r>
              <a:rPr lang="en-GB" dirty="0"/>
              <a:t>Explain why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321='321'</a:t>
            </a:r>
            <a:r>
              <a:rPr lang="en-GB" dirty="0">
                <a:solidFill>
                  <a:srgbClr val="FF6600"/>
                </a:solidFill>
              </a:rPr>
              <a:t> </a:t>
            </a:r>
            <a:r>
              <a:rPr lang="en-GB" dirty="0"/>
              <a:t>yields 3 results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FE0A6-521B-6908-67B0-D3105E42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1DBF3C6-5466-34B0-74E1-E82285CC185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432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16AD81-8CA6-FA6F-E6A5-B2DC510C4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b="1" i="1" dirty="0">
                <a:solidFill>
                  <a:srgbClr val="FF6600"/>
                </a:solidFill>
              </a:rPr>
              <a:t>replicate</a:t>
            </a:r>
            <a:r>
              <a:rPr lang="en-GB" dirty="0"/>
              <a:t> function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/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</a:p>
          <a:p>
            <a:pPr marL="0" indent="0">
              <a:buNone/>
            </a:pPr>
            <a:r>
              <a:rPr lang="en-GB" dirty="0"/>
              <a:t>(some symbols have multiple meanings)</a:t>
            </a:r>
          </a:p>
          <a:p>
            <a:pPr marL="0" indent="0">
              <a:buNone/>
            </a:pPr>
            <a:r>
              <a:rPr lang="en-GB" dirty="0"/>
              <a:t>repeats elements of an array along rows.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3E8B7A-82DD-43AA-59BE-1DDE7A075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Replicate / Compress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C5A42DC-DFDB-4203-DFF8-BD62850D277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9724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88D95-93B4-99F6-FBF9-EC05D278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6DDEE6-1AB4-19F6-240D-20E5FC7BE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2 3/'ABC'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ABBCCC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2 3/2 3⍴'DYALOG'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DYYAAA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LOOGGG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¯2 3/2 3⍴'DYALOG'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D  AAA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L  GGG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1C61A6-B4D8-FED8-69AC-64BF2D866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Replicate / Compress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15D2D3D-2C4A-90A8-6FE4-597E86F9C52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39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47E5-527F-6335-164E-7144E9055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9130F5-62D2-315C-0219-DE3FFA01F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/>
              <a:t>When used with a Boolean array, the function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/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 is called </a:t>
            </a:r>
            <a:r>
              <a:rPr lang="en-GB" b="1" i="1" dirty="0">
                <a:solidFill>
                  <a:srgbClr val="FF6600"/>
                </a:solidFill>
              </a:rPr>
              <a:t>compress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 3⍴'DYALOG'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D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Y</a:t>
            </a:r>
            <a:r>
              <a:rPr lang="en-GB" dirty="0">
                <a:latin typeface="APL385 Unicode" panose="020B0709000202000203" pitchFamily="49" charset="0"/>
              </a:rPr>
              <a:t>A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L</a:t>
            </a:r>
            <a:r>
              <a:rPr lang="en-GB" dirty="0">
                <a:highlight>
                  <a:srgbClr val="FFFF00"/>
                </a:highlight>
                <a:latin typeface="APL385 Unicode" panose="020B0709000202000203" pitchFamily="49" charset="0"/>
              </a:rPr>
              <a:t>O</a:t>
            </a:r>
            <a:r>
              <a:rPr lang="en-GB" dirty="0">
                <a:latin typeface="APL385 Unicode" panose="020B0709000202000203" pitchFamily="49" charset="0"/>
              </a:rPr>
              <a:t>G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0 1 0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/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 3⍴'DYALOG'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Y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225DF3-3698-610B-C3AC-117E9700E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Replicate / Compress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EFACFBF-1625-002C-7908-71368D97DBF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4638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6F996A-0760-FE4A-3C9A-17106DDD3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Select from arrays with square brackets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'APPLE'[4]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2D91AD-D3A9-DE55-B40E-73A5B8BC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83BF6C2-6AA3-475C-5200-3BE3647F82F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57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57AE-D42F-0ACA-F566-7AFCB369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CC4531-4FAD-7104-79A4-04633031D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Select from arrays with other arrays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'APPLE'[1 3 4]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APL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83F313-BFD9-EA77-7407-4C722D0C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367503B-97F0-7CBF-C60E-3F1D864FEB0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1694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3D2B2-162F-8930-9FB7-E255FC48F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F1C7AA-A213-779D-A652-619A4C520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Select from arrays with other arrays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'APPLE'[1 3 5]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APE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39A8DF-3C14-17E0-D9B2-ADC50C0DD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1365002-9DE1-F2B2-00D7-258C5695D12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2883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E4DF8-5330-66EF-89B0-20D222E8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7B5169-5C38-F703-01E1-D86BCD0D4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Select from arrays with other arrays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'APPLE'[1 3 5 5 5 5 5 5 5]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APEEEEEEE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93E5FB-745E-C81B-1142-25A74772E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F63860A-A512-2622-3C9B-8A9C5B914F7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118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3C3E35-E0B1-90FE-6B35-9653C157B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Tx/>
              <a:buNone/>
              <a:defRPr/>
            </a:pPr>
            <a:r>
              <a:rPr lang="en-GB" dirty="0"/>
              <a:t>APL provides an easy way to find where an element is located in a vector (list).</a:t>
            </a:r>
          </a:p>
          <a:p>
            <a:pPr>
              <a:buFontTx/>
              <a:buNone/>
              <a:defRPr/>
            </a:pPr>
            <a:r>
              <a:rPr lang="en-GB" dirty="0"/>
              <a:t>The primitive </a:t>
            </a:r>
            <a:r>
              <a:rPr lang="en-GB" b="1" dirty="0"/>
              <a:t>dyadic</a:t>
            </a:r>
            <a:r>
              <a:rPr lang="en-GB" dirty="0"/>
              <a:t> </a:t>
            </a:r>
            <a:r>
              <a:rPr lang="en-GB" sz="3000" dirty="0">
                <a:solidFill>
                  <a:srgbClr val="FF6600"/>
                </a:solidFill>
                <a:latin typeface="APL385 Unicode" pitchFamily="49" charset="0"/>
              </a:rPr>
              <a:t>⍳</a:t>
            </a:r>
            <a:r>
              <a:rPr lang="en-GB" dirty="0"/>
              <a:t> (iota) finds where the scalar to its right is found in the vector to its left: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'ABCDEFG'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'E'</a:t>
            </a:r>
          </a:p>
          <a:p>
            <a:pPr>
              <a:buFontTx/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5</a:t>
            </a:r>
          </a:p>
          <a:p>
            <a:pPr>
              <a:buFontTx/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'ABCD</a:t>
            </a:r>
            <a:r>
              <a:rPr lang="en-GB" dirty="0">
                <a:solidFill>
                  <a:srgbClr val="C00000"/>
                </a:solidFill>
                <a:latin typeface="APL385 Unicode" panose="020B0709000202000203" pitchFamily="49" charset="0"/>
              </a:rPr>
              <a:t>E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FG'</a:t>
            </a:r>
            <a:r>
              <a:rPr lang="en-GB" dirty="0">
                <a:solidFill>
                  <a:srgbClr val="C00000"/>
                </a:solidFill>
                <a:latin typeface="APL385 Unicode" panose="020B0709000202000203" pitchFamily="49" charset="0"/>
              </a:rPr>
              <a:t>[5]</a:t>
            </a:r>
          </a:p>
          <a:p>
            <a:pPr>
              <a:buFontTx/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1E0F7C-98B7-DA2D-CD73-D4CEFBB66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EF595B8-D48D-5D27-3DAC-DB2D5F342A8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202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94622-B0ED-27C5-0670-3A7D3E58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AF310-ABF6-6BEA-A5B1-BA293DE57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Tx/>
              <a:buNone/>
              <a:defRPr/>
            </a:pPr>
            <a:r>
              <a:rPr lang="en-GB" dirty="0"/>
              <a:t>If an element is not found, </a:t>
            </a:r>
            <a:r>
              <a:rPr lang="en-GB" dirty="0">
                <a:latin typeface="APL385 Unicode" panose="020B0709000202000203" pitchFamily="49" charset="0"/>
              </a:rPr>
              <a:t>1+≢</a:t>
            </a:r>
            <a:r>
              <a:rPr lang="en-GB" dirty="0"/>
              <a:t> left argument is returned: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'ABCDEFG'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⍳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dirty="0">
                <a:solidFill>
                  <a:srgbClr val="7030A0"/>
                </a:solidFill>
                <a:latin typeface="APL385 Unicode" panose="020B0709000202000203" pitchFamily="49" charset="0"/>
              </a:rPr>
              <a:t>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AGE'</a:t>
            </a:r>
          </a:p>
          <a:p>
            <a:pPr>
              <a:buFontTx/>
              <a:buNone/>
              <a:defRPr/>
            </a:pPr>
            <a:r>
              <a:rPr lang="en-GB" dirty="0">
                <a:solidFill>
                  <a:srgbClr val="7030A0"/>
                </a:solidFill>
                <a:latin typeface="APL385 Unicode" panose="020B0709000202000203" pitchFamily="49" charset="0"/>
              </a:rPr>
              <a:t>8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1 7 5</a:t>
            </a:r>
          </a:p>
          <a:p>
            <a:pPr>
              <a:buFontTx/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'ABCDEFG' [8 1 7 5]</a:t>
            </a:r>
          </a:p>
          <a:p>
            <a:pPr>
              <a:buFontTx/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INDEX ERROR</a:t>
            </a:r>
          </a:p>
          <a:p>
            <a:pPr>
              <a:buFontTx/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'ABCDEFG'[8 1 7 5]</a:t>
            </a:r>
          </a:p>
          <a:p>
            <a:pPr>
              <a:buFontTx/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         ^</a:t>
            </a:r>
          </a:p>
          <a:p>
            <a:pPr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'ABCDEFG*' [8 1 7 5]</a:t>
            </a:r>
          </a:p>
          <a:p>
            <a:pPr>
              <a:buFontTx/>
              <a:buNone/>
              <a:defRPr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*AGE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E02C55-0709-36B9-E5F4-8DE41488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Of (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⍳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088DCD7-D59F-7A33-A89F-687E687CF26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7889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26C636-8801-F9D1-84D7-4D644C44D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Converts between replications and indices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0 0 0 3 1 / 'DYALOG'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DOOOG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'DYALOG'[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⍸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0 0 0 3 1]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DOOOG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24025-3CCD-ECA1-6BF8-73A26956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⍸⍵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70FF0CD-945B-07E7-B405-B7C938CEA25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393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36EB2-6A1F-D48F-096B-8182B6AA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F1EB6B-F768-3EEA-C782-B5A2C0C90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Converts between replications and indices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[1 0 0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 0 3 1] /⍥, ['DYA'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             'LOG']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DOOOG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(2 3⍴'DYALOG')[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⍸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 3⍴1 0 0 0 3 1]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DOOOG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235D64-0807-2531-E1A9-47C068265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⍸⍵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CFE9CEF-3F71-C2C7-D002-EC5818A10E1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xplosion: 8 Points 4">
            <a:extLst>
              <a:ext uri="{FF2B5EF4-FFF2-40B4-BE49-F238E27FC236}">
                <a16:creationId xmlns:a16="http://schemas.microsoft.com/office/drawing/2014/main" id="{B3927161-871E-CBB6-D932-C76C8A4CD6D0}"/>
              </a:ext>
            </a:extLst>
          </p:cNvPr>
          <p:cNvSpPr/>
          <p:nvPr/>
        </p:nvSpPr>
        <p:spPr>
          <a:xfrm>
            <a:off x="5405100" y="1653703"/>
            <a:ext cx="3415373" cy="1945532"/>
          </a:xfrm>
          <a:prstGeom prst="irregularSeal1">
            <a:avLst/>
          </a:prstGeom>
          <a:solidFill>
            <a:srgbClr val="FF66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Array notation in v20.0</a:t>
            </a:r>
          </a:p>
        </p:txBody>
      </p:sp>
    </p:spTree>
    <p:extLst>
      <p:ext uri="{BB962C8B-B14F-4D97-AF65-F5344CB8AC3E}">
        <p14:creationId xmlns:p14="http://schemas.microsoft.com/office/powerpoint/2010/main" val="1503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7280-ECE8-B8FB-C4BC-810EE2F8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F782DF-607F-2CCA-F9ED-DF677426D47F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250831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3C7017-B48B-8905-AD69-2612689F6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1FD21AF-1211-EB93-7D9C-5F213F36221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1894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EFFB2D-7857-5CAE-6213-8B46E1AA0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https://rikedyp.uk/APLBootcamp</a:t>
            </a:r>
          </a:p>
          <a:p>
            <a:pPr marL="0" indent="0">
              <a:buNone/>
            </a:pPr>
            <a:r>
              <a:rPr lang="en-GB" dirty="0"/>
              <a:t>Part 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501BE2-2491-8AF1-859C-9DB975CE4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C786ADF-101D-A4DD-55F8-EC61C505BCB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377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alog">
      <a:dk1>
        <a:srgbClr val="3B475E"/>
      </a:dk1>
      <a:lt1>
        <a:sysClr val="window" lastClr="FFFFFF"/>
      </a:lt1>
      <a:dk2>
        <a:srgbClr val="5A6D8F"/>
      </a:dk2>
      <a:lt2>
        <a:srgbClr val="F6F6D9"/>
      </a:lt2>
      <a:accent1>
        <a:srgbClr val="ED7F00"/>
      </a:accent1>
      <a:accent2>
        <a:srgbClr val="928ABD"/>
      </a:accent2>
      <a:accent3>
        <a:srgbClr val="2C5656"/>
      </a:accent3>
      <a:accent4>
        <a:srgbClr val="FFA336"/>
      </a:accent4>
      <a:accent5>
        <a:srgbClr val="BBB5D6"/>
      </a:accent5>
      <a:accent6>
        <a:srgbClr val="231F20"/>
      </a:accent6>
      <a:hlink>
        <a:srgbClr val="5A6D8F"/>
      </a:hlink>
      <a:folHlink>
        <a:srgbClr val="928ABD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alog19_template_bold_calibri.potx" id="{F0C38D23-3AC9-47E9-8D0D-BEDB5EAFCAD2}" vid="{35320D08-F00A-4224-9D94-CDC48BBB4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5327</TotalTime>
  <Words>2818</Words>
  <Application>Microsoft Office PowerPoint</Application>
  <PresentationFormat>On-screen Show (16:9)</PresentationFormat>
  <Paragraphs>498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Calibri</vt:lpstr>
      <vt:lpstr>Wingdings 2</vt:lpstr>
      <vt:lpstr>Arial</vt:lpstr>
      <vt:lpstr>Wingdings</vt:lpstr>
      <vt:lpstr>Dyalog Std TT</vt:lpstr>
      <vt:lpstr>Sarabun</vt:lpstr>
      <vt:lpstr>APL385 Unicode</vt:lpstr>
      <vt:lpstr>Office Theme</vt:lpstr>
      <vt:lpstr>APL Bootcamp – Part 2</vt:lpstr>
      <vt:lpstr>Tables (matrices)</vt:lpstr>
      <vt:lpstr>Tables (matrices)</vt:lpstr>
      <vt:lpstr>Shape and Reshape (⍴)</vt:lpstr>
      <vt:lpstr>Rank</vt:lpstr>
      <vt:lpstr>Rank</vt:lpstr>
      <vt:lpstr>Rank</vt:lpstr>
      <vt:lpstr>Rank</vt:lpstr>
      <vt:lpstr>Quad (⎕)</vt:lpstr>
      <vt:lpstr>Quad (⎕)</vt:lpstr>
      <vt:lpstr>Quad (⎕)</vt:lpstr>
      <vt:lpstr>Quote-quad (⍞)</vt:lpstr>
      <vt:lpstr>Quote-quad (⍞)</vt:lpstr>
      <vt:lpstr>Ravel</vt:lpstr>
      <vt:lpstr>Catenate (⍺,⍵)</vt:lpstr>
      <vt:lpstr>Table (⍪⍵)</vt:lpstr>
      <vt:lpstr>Table (⍪⍵)</vt:lpstr>
      <vt:lpstr>]Rows User Command</vt:lpstr>
      <vt:lpstr>Catenate First (⍺⍪⍵)</vt:lpstr>
      <vt:lpstr>Outer Product (∘.F)</vt:lpstr>
      <vt:lpstr>Outer Product (∘.F)</vt:lpstr>
      <vt:lpstr>Boxing</vt:lpstr>
      <vt:lpstr>Boxing</vt:lpstr>
      <vt:lpstr>Diamond (⋄)</vt:lpstr>
      <vt:lpstr>Complex Numbers</vt:lpstr>
      <vt:lpstr>Engineering Notation</vt:lpstr>
      <vt:lpstr>Questions?</vt:lpstr>
      <vt:lpstr>Exercises</vt:lpstr>
      <vt:lpstr>Relational Functions</vt:lpstr>
      <vt:lpstr>Character Data</vt:lpstr>
      <vt:lpstr>Character Data</vt:lpstr>
      <vt:lpstr>Character Data</vt:lpstr>
      <vt:lpstr>Character Data</vt:lpstr>
      <vt:lpstr>Empty Vectors</vt:lpstr>
      <vt:lpstr>Relational Functions</vt:lpstr>
      <vt:lpstr>Relational Functions</vt:lpstr>
      <vt:lpstr>Boolean Logic</vt:lpstr>
      <vt:lpstr>Boolean Logic</vt:lpstr>
      <vt:lpstr>Boolean Logic</vt:lpstr>
      <vt:lpstr>Boolean Logic</vt:lpstr>
      <vt:lpstr>Scan (F\⍵)</vt:lpstr>
      <vt:lpstr>Scan (F\⍵)</vt:lpstr>
      <vt:lpstr>Scan (F\⍵)</vt:lpstr>
      <vt:lpstr>Scan (F\⍵)</vt:lpstr>
      <vt:lpstr>Scan (F\⍵)</vt:lpstr>
      <vt:lpstr>Scan (F\⍵)</vt:lpstr>
      <vt:lpstr>Scan (F\⍵)</vt:lpstr>
      <vt:lpstr>Useful Scans and Reductions</vt:lpstr>
      <vt:lpstr>Useful Scans and Reductions</vt:lpstr>
      <vt:lpstr>Useful Scans and Reductions</vt:lpstr>
      <vt:lpstr>Useful Scans and Reductions</vt:lpstr>
      <vt:lpstr>Questions?</vt:lpstr>
      <vt:lpstr>Exercises</vt:lpstr>
      <vt:lpstr>Replicate / Compress</vt:lpstr>
      <vt:lpstr>Replicate / Compress</vt:lpstr>
      <vt:lpstr>Replicate / Compress</vt:lpstr>
      <vt:lpstr>Indexing</vt:lpstr>
      <vt:lpstr>Indexing</vt:lpstr>
      <vt:lpstr>Indexing</vt:lpstr>
      <vt:lpstr>Indexing</vt:lpstr>
      <vt:lpstr>Index Of (⍺⍳⍵)</vt:lpstr>
      <vt:lpstr>Index Of (⍺⍳⍵)</vt:lpstr>
      <vt:lpstr>Where (⍸⍵)</vt:lpstr>
      <vt:lpstr>Where (⍸⍵)</vt:lpstr>
      <vt:lpstr>Questions?</vt:lpstr>
      <vt:lpstr>Exercises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Fiona Smith</dc:creator>
  <cp:lastModifiedBy>Rich Park</cp:lastModifiedBy>
  <cp:revision>321</cp:revision>
  <dcterms:created xsi:type="dcterms:W3CDTF">2019-07-25T11:46:05Z</dcterms:created>
  <dcterms:modified xsi:type="dcterms:W3CDTF">2025-08-10T16:04:47Z</dcterms:modified>
</cp:coreProperties>
</file>